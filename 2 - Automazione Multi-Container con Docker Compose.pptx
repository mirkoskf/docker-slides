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19"/>
  </p:notesMasterIdLst>
  <p:handoutMasterIdLst>
    <p:handoutMasterId r:id="rId20"/>
  </p:handoutMasterIdLst>
  <p:sldIdLst>
    <p:sldId id="262" r:id="rId5"/>
    <p:sldId id="259" r:id="rId6"/>
    <p:sldId id="258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61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FE2"/>
    <a:srgbClr val="0C0C0D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33" autoAdjust="0"/>
    <p:restoredTop sz="92907" autoAdjust="0"/>
  </p:normalViewPr>
  <p:slideViewPr>
    <p:cSldViewPr snapToGrid="0" showGuides="1">
      <p:cViewPr varScale="1">
        <p:scale>
          <a:sx n="66" d="100"/>
          <a:sy n="66" d="100"/>
        </p:scale>
        <p:origin x="60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190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BF59EF6-0FF4-3C26-C2BB-DB4C816469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A684938-E2E5-17C8-EF87-D39DC23A0C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67D21-D55F-4A7B-94FF-7608FD989819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1588DC1-54E0-DA10-6330-B5B85E54BE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BF496F1-A8FC-84F6-A381-661BDD027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F2323-8915-4474-89BB-0944B80755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145869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B2B73-14A8-482F-9803-A95CC73B5B34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FDE81-C331-4896-AC61-55381248B1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680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7248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g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pic>
        <p:nvPicPr>
          <p:cNvPr id="3" name="Logo">
            <a:extLst>
              <a:ext uri="{FF2B5EF4-FFF2-40B4-BE49-F238E27FC236}">
                <a16:creationId xmlns:a16="http://schemas.microsoft.com/office/drawing/2014/main" id="{4C834844-A2F7-AC9C-2087-6061FCF61E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38E5D1B6-A890-892D-9858-91BBCF4C4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316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olo della 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3BCE473-8FC3-9F4F-E292-BFC28ABE7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498" b="7498"/>
          <a:stretch/>
        </p:blipFill>
        <p:spPr>
          <a:xfrm>
            <a:off x="8" y="4"/>
            <a:ext cx="12191984" cy="685799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46FDB36-122C-6ED3-0E68-A044407591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49604" y="2315869"/>
            <a:ext cx="2692791" cy="5580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j-ea"/>
                <a:cs typeface="+mj-cs"/>
              </a:defRPr>
            </a:lvl1pPr>
          </a:lstStyle>
          <a:p>
            <a:r>
              <a:rPr lang="it-IT" dirty="0"/>
              <a:t>Lezione 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0F8F589-6BFD-59A4-6E34-32CA9C30E5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152912"/>
            <a:ext cx="10515600" cy="67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TITOLO DELLA LEZIONE</a:t>
            </a:r>
          </a:p>
        </p:txBody>
      </p:sp>
      <p:sp>
        <p:nvSpPr>
          <p:cNvPr id="7" name="Autore">
            <a:extLst>
              <a:ext uri="{FF2B5EF4-FFF2-40B4-BE49-F238E27FC236}">
                <a16:creationId xmlns:a16="http://schemas.microsoft.com/office/drawing/2014/main" id="{21C9F551-AFE9-0973-2117-C6CBF8585A06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bg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C4425D4D-A67B-8DB9-9A03-E768C2FD3E34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  <p:sp>
        <p:nvSpPr>
          <p:cNvPr id="13" name="Segnaposto numero diapositiva 6" hidden="1">
            <a:extLst>
              <a:ext uri="{FF2B5EF4-FFF2-40B4-BE49-F238E27FC236}">
                <a16:creationId xmlns:a16="http://schemas.microsoft.com/office/drawing/2014/main" id="{F8AAF250-B3FA-F808-9996-FA310B7EE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481FF4BB-6EC3-F2A7-6542-58D51086A02D}"/>
              </a:ext>
            </a:extLst>
          </p:cNvPr>
          <p:cNvPicPr preferRelativeResize="0"/>
          <p:nvPr userDrawn="1"/>
        </p:nvPicPr>
        <p:blipFill rotWithShape="1">
          <a:blip r:embed="rId5" cstate="print"/>
          <a:srcRect l="1386" t="187" r="342" b="95555"/>
          <a:stretch/>
        </p:blipFill>
        <p:spPr>
          <a:xfrm>
            <a:off x="0" y="0"/>
            <a:ext cx="12191992" cy="20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8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rgbClr val="171FE2"/>
                </a:solidFill>
                <a:latin typeface="Neue Haas Grotesk Text Pro" panose="020B0504020202020204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Contenuto della lezione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rgbClr val="171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62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borato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5DB3A6F7-B730-F638-2762-1FD1042E5D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r>
              <a:rPr lang="it-IT" dirty="0"/>
              <a:t>Titolo del laboratorio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Traccia del laboratorio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Nome Cognome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8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128854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736105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fondo">
            <a:extLst>
              <a:ext uri="{FF2B5EF4-FFF2-40B4-BE49-F238E27FC236}">
                <a16:creationId xmlns:a16="http://schemas.microsoft.com/office/drawing/2014/main" id="{0871CBC8-6163-D253-2648-0C5B2A35DA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7" name="bg object 16">
              <a:extLst>
                <a:ext uri="{FF2B5EF4-FFF2-40B4-BE49-F238E27FC236}">
                  <a16:creationId xmlns:a16="http://schemas.microsoft.com/office/drawing/2014/main" id="{D3B481F3-FDD2-E9B0-AAF0-6B05C97B7493}"/>
                </a:ext>
              </a:extLst>
            </p:cNvPr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8" name="Sfondo nero">
              <a:extLst>
                <a:ext uri="{FF2B5EF4-FFF2-40B4-BE49-F238E27FC236}">
                  <a16:creationId xmlns:a16="http://schemas.microsoft.com/office/drawing/2014/main" id="{2B2124EE-D2EC-EB26-C788-2D1671E2C0D4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6" name="Segnaposto numero diapositiva 5" hidden="1">
            <a:extLst>
              <a:ext uri="{FF2B5EF4-FFF2-40B4-BE49-F238E27FC236}">
                <a16:creationId xmlns:a16="http://schemas.microsoft.com/office/drawing/2014/main" id="{8BF62DA6-567D-9738-C9B4-B35130FB0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08AF4DDA-AF5C-9192-0A90-B2EE16B197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1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1" r:id="rId2"/>
    <p:sldLayoutId id="2147483674" r:id="rId3"/>
    <p:sldLayoutId id="2147483692" r:id="rId4"/>
    <p:sldLayoutId id="2147483678" r:id="rId5"/>
    <p:sldLayoutId id="214748369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65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14AE908-95ED-7A3B-515A-275CA8318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795046"/>
            <a:ext cx="10515600" cy="1445982"/>
          </a:xfrm>
        </p:spPr>
        <p:txBody>
          <a:bodyPr/>
          <a:lstStyle/>
          <a:p>
            <a:r>
              <a:rPr lang="it-IT" dirty="0"/>
              <a:t>MODULO 2: Automazione Multi-Container con Docker Compose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DAC5512-E772-1D07-1956-6544F2732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5E91E-B103-4211-9892-B5CF4BF06646}" type="slidenum">
              <a:rPr lang="it-IT" smtClean="0">
                <a:solidFill>
                  <a:srgbClr val="0C0C0D"/>
                </a:solidFill>
              </a:rPr>
              <a:pPr/>
              <a:t>2</a:t>
            </a:fld>
            <a:endParaRPr lang="it-IT" dirty="0">
              <a:solidFill>
                <a:srgbClr val="0C0C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C232A863-9AB2-F1DD-0EBE-01D055E0C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1: I Pilastri delle Reti Docker: Il Driver Bridge Virtuale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B7AE27A-7139-F647-C23C-B014C3A3B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Fino a questo momento abbiamo gestito il ciclo di vita dei container attraverso l'uso diretto della Docker CLI, eseguendo comandi atomici come </a:t>
            </a:r>
            <a:r>
              <a:rPr lang="it-IT" dirty="0" err="1"/>
              <a:t>docker</a:t>
            </a:r>
            <a:r>
              <a:rPr lang="it-IT" dirty="0"/>
              <a:t> build, </a:t>
            </a:r>
            <a:r>
              <a:rPr lang="it-IT" dirty="0" err="1"/>
              <a:t>docker</a:t>
            </a:r>
            <a:r>
              <a:rPr lang="it-IT" dirty="0"/>
              <a:t> network create, </a:t>
            </a:r>
            <a:r>
              <a:rPr lang="it-IT" dirty="0" err="1"/>
              <a:t>docker</a:t>
            </a:r>
            <a:r>
              <a:rPr lang="it-IT" dirty="0"/>
              <a:t> volume create e infine </a:t>
            </a:r>
            <a:r>
              <a:rPr lang="it-IT" dirty="0" err="1"/>
              <a:t>docker</a:t>
            </a:r>
            <a:r>
              <a:rPr lang="it-IT" dirty="0"/>
              <a:t> </a:t>
            </a:r>
            <a:r>
              <a:rPr lang="it-IT" dirty="0" err="1"/>
              <a:t>run</a:t>
            </a:r>
            <a:r>
              <a:rPr lang="it-IT" dirty="0"/>
              <a:t>. </a:t>
            </a:r>
          </a:p>
          <a:p>
            <a:r>
              <a:rPr lang="it-IT" dirty="0"/>
              <a:t>Sebbene questo approccio sia perfetto per comprendere i meccanismi di basso livello del motore, esso mostra limiti strutturali drammatici non appena l'architettura software si espande. </a:t>
            </a:r>
          </a:p>
          <a:p>
            <a:r>
              <a:rPr lang="it-IT" dirty="0"/>
              <a:t>Per avviare un ecosistema standard composto da un </a:t>
            </a:r>
            <a:r>
              <a:rPr lang="it-IT" dirty="0" err="1"/>
              <a:t>frontend</a:t>
            </a:r>
            <a:r>
              <a:rPr lang="it-IT" dirty="0"/>
              <a:t> React, un </a:t>
            </a:r>
            <a:r>
              <a:rPr lang="it-IT" dirty="0" err="1"/>
              <a:t>backend</a:t>
            </a:r>
            <a:r>
              <a:rPr lang="it-IT" dirty="0"/>
              <a:t> Spring Boot, un database </a:t>
            </a:r>
            <a:r>
              <a:rPr lang="it-IT" dirty="0" err="1"/>
              <a:t>MariaDB</a:t>
            </a:r>
            <a:r>
              <a:rPr lang="it-IT" dirty="0"/>
              <a:t> e un Reverse Proxy </a:t>
            </a:r>
            <a:r>
              <a:rPr lang="it-IT" dirty="0" err="1"/>
              <a:t>Nginx</a:t>
            </a:r>
            <a:r>
              <a:rPr lang="it-IT" dirty="0"/>
              <a:t>, lo sviluppatore sarebbe costretto a digitare manualmente stringhe di comandi chilometriche, memorizzando a mente l'esatto ordine sequenziale di avvio, i </a:t>
            </a:r>
            <a:r>
              <a:rPr lang="it-IT" dirty="0" err="1"/>
              <a:t>binding</a:t>
            </a:r>
            <a:r>
              <a:rPr lang="it-IT" dirty="0"/>
              <a:t> delle porte hardware, i nomi delle reti virtuali e i percorsi dei volumi. </a:t>
            </a:r>
          </a:p>
          <a:p>
            <a:r>
              <a:rPr lang="it-IT" dirty="0"/>
              <a:t>Questo processo manuale è intrinsecamente incline a errori di battitura, non è </a:t>
            </a:r>
            <a:r>
              <a:rPr lang="it-IT" dirty="0" err="1"/>
              <a:t>versionabile</a:t>
            </a:r>
            <a:r>
              <a:rPr lang="it-IT" dirty="0"/>
              <a:t> e rende la collaborazione tra sviluppatori estremamente complessa.</a:t>
            </a:r>
          </a:p>
          <a:p>
            <a:r>
              <a:rPr lang="it-IT" dirty="0"/>
              <a:t>"Cosa succede se un nuovo sviluppatore entra nel team? Deve ricevere un file di testo con 10 comandi </a:t>
            </a:r>
            <a:r>
              <a:rPr lang="it-IT" dirty="0" err="1"/>
              <a:t>docker</a:t>
            </a:r>
            <a:r>
              <a:rPr lang="it-IT" dirty="0"/>
              <a:t> </a:t>
            </a:r>
            <a:r>
              <a:rPr lang="it-IT" dirty="0" err="1"/>
              <a:t>run</a:t>
            </a:r>
            <a:r>
              <a:rPr lang="it-IT" dirty="0"/>
              <a:t> da copiare e incollare a mano?". </a:t>
            </a:r>
          </a:p>
          <a:p>
            <a:r>
              <a:rPr lang="it-IT" dirty="0"/>
              <a:t>Docker Compose è la soluzione a questo caos operativo.</a:t>
            </a:r>
            <a:endParaRPr lang="it-IT" b="1" dirty="0">
              <a:solidFill>
                <a:srgbClr val="171FE2"/>
              </a:solidFill>
            </a:endParaRP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0A34DE43-08B1-290A-D6C2-1F28E294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617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B73D8-8DE5-69E0-20B1-F39EA8C67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17F37757-ADE6-4633-973A-071870C37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2: Cos'è Docker Compose ed il Paradigma dello "Stato Desiderato"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3C98C296-8110-8D96-1023-AB41B958D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Docker Compose è lo strumento ufficiale progettato per definire, automatizzare ed eseguire applicazioni multi-container complesse. </a:t>
            </a:r>
          </a:p>
          <a:p>
            <a:r>
              <a:rPr lang="it-IT" dirty="0"/>
              <a:t>A livello metodologico, si passa dal </a:t>
            </a:r>
            <a:r>
              <a:rPr lang="it-IT" b="1" dirty="0"/>
              <a:t>paradigma imperativo </a:t>
            </a:r>
            <a:r>
              <a:rPr lang="it-IT" dirty="0"/>
              <a:t>(in cui l'operatore impartisce manualmente una sequenza di comandi di azione alla CLI) al </a:t>
            </a:r>
            <a:r>
              <a:rPr lang="it-IT" b="1" dirty="0"/>
              <a:t>paradigma dichiarativo</a:t>
            </a:r>
            <a:r>
              <a:rPr lang="it-IT" dirty="0"/>
              <a:t>.</a:t>
            </a:r>
          </a:p>
          <a:p>
            <a:r>
              <a:rPr lang="it-IT" dirty="0"/>
              <a:t>Attraverso un unico file di configurazione centralizzato, lo sviluppatore non descrive le azioni da compiere, ma dichiara formalmente lo </a:t>
            </a:r>
            <a:r>
              <a:rPr lang="it-IT" b="1" dirty="0">
                <a:solidFill>
                  <a:srgbClr val="171FE2"/>
                </a:solidFill>
              </a:rPr>
              <a:t>Stato Desiderato dell'intera infrastruttura </a:t>
            </a:r>
            <a:r>
              <a:rPr lang="it-IT" dirty="0"/>
              <a:t>(quali servizi devono esistere, come sono interconnessi, quali risorse consumano). </a:t>
            </a:r>
          </a:p>
          <a:p>
            <a:r>
              <a:rPr lang="it-IT" dirty="0"/>
              <a:t>Sarà poi il motore di Docker Compose a farsi carico di analizzare questo file, calcolare le dipendenze, interrogare il Docker Daemon e lanciare i comandi di basso livello necessari per allineare la realtà del sistema alla descrizione teorica fornita.</a:t>
            </a:r>
          </a:p>
          <a:p>
            <a:r>
              <a:rPr lang="it-IT" dirty="0">
                <a:solidFill>
                  <a:srgbClr val="171FE2"/>
                </a:solidFill>
              </a:rPr>
              <a:t>Docker Compose è un orchestratore locale che siede sopra il Daemon e usa le stesse identiche API REST</a:t>
            </a:r>
            <a:r>
              <a:rPr lang="it-IT" dirty="0"/>
              <a:t>.</a:t>
            </a:r>
            <a:endParaRPr lang="it-IT" b="1" dirty="0">
              <a:solidFill>
                <a:srgbClr val="171FE2"/>
              </a:solidFill>
            </a:endParaRP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3CBDF56D-A292-A5E0-02A4-9F0B1230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41996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6398B-179F-D3E2-68FA-EA693977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71D5027D-85C8-A9EA-0AC6-19DCF5BBA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3: L'Anatomia del File </a:t>
            </a:r>
            <a:r>
              <a:rPr lang="it-IT" dirty="0" err="1"/>
              <a:t>docker-compose.yml</a:t>
            </a:r>
            <a:r>
              <a:rPr lang="it-IT" dirty="0"/>
              <a:t> e la Sintassi YAML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52B5251A-3374-D820-A307-384607AAC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L'intera configurazione di un'architettura guidata da Docker Compose risiede in un documento di testo denominato tassativamente </a:t>
            </a:r>
            <a:r>
              <a:rPr lang="it-IT" dirty="0" err="1"/>
              <a:t>docker-compose.yml</a:t>
            </a:r>
            <a:r>
              <a:rPr lang="it-IT" dirty="0"/>
              <a:t>. </a:t>
            </a:r>
          </a:p>
          <a:p>
            <a:r>
              <a:rPr lang="it-IT" dirty="0"/>
              <a:t>Questo file adotta lo standard di serializzazione YAML (</a:t>
            </a:r>
            <a:r>
              <a:rPr lang="it-IT" dirty="0" err="1"/>
              <a:t>Yet</a:t>
            </a:r>
            <a:r>
              <a:rPr lang="it-IT" dirty="0"/>
              <a:t> </a:t>
            </a:r>
            <a:r>
              <a:rPr lang="it-IT" dirty="0" err="1"/>
              <a:t>Another</a:t>
            </a:r>
            <a:r>
              <a:rPr lang="it-IT" dirty="0"/>
              <a:t> Markup Language), una sintassi nativamente ottimizzata per la leggibilità umana che elimina parentesi graffe o tag di chiusura, affidando la gerarchia dei dati esclusivamente all'indentazione geometrica tramite spazi bianchi. </a:t>
            </a:r>
          </a:p>
          <a:p>
            <a:r>
              <a:rPr lang="it-IT" dirty="0"/>
              <a:t>Un file Compose si articola sempre su quattro </a:t>
            </a:r>
            <a:r>
              <a:rPr lang="it-IT" b="1" dirty="0"/>
              <a:t>macro-sezioni chiave</a:t>
            </a:r>
            <a:r>
              <a:rPr lang="it-IT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la radice </a:t>
            </a:r>
            <a:r>
              <a:rPr lang="it-IT" b="1" dirty="0" err="1"/>
              <a:t>version</a:t>
            </a:r>
            <a:r>
              <a:rPr lang="it-IT" dirty="0"/>
              <a:t> (che definisce la specifica delle funzionalità supportate);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la sezione core </a:t>
            </a:r>
            <a:r>
              <a:rPr lang="it-IT" b="1" dirty="0"/>
              <a:t>services</a:t>
            </a:r>
            <a:r>
              <a:rPr lang="it-IT" dirty="0"/>
              <a:t> (all'interno della quale ogni container viene configurato come un servizio indipendente);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la sezione globale </a:t>
            </a:r>
            <a:r>
              <a:rPr lang="it-IT" b="1" dirty="0"/>
              <a:t>networks</a:t>
            </a:r>
            <a:r>
              <a:rPr lang="it-IT" dirty="0"/>
              <a:t> (per la dichiarazione delle reti bridge isolate);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la sezione globale </a:t>
            </a:r>
            <a:r>
              <a:rPr lang="it-IT" b="1" dirty="0" err="1"/>
              <a:t>volumes</a:t>
            </a:r>
            <a:r>
              <a:rPr lang="it-IT" dirty="0"/>
              <a:t> (per l'allocazione dello storage persistente).</a:t>
            </a:r>
          </a:p>
          <a:p>
            <a:r>
              <a:rPr lang="it-IT" dirty="0">
                <a:solidFill>
                  <a:srgbClr val="171FE2"/>
                </a:solidFill>
              </a:rPr>
              <a:t>Lo YAML è estremamente severo con gli spazi bianchi. L'uso errato del tasto "Tabulazione" (Tab) invece degli spazi singoli invaliderà la sintassi, bloccando l'esecuzione.</a:t>
            </a:r>
            <a:endParaRPr lang="it-IT" b="1" dirty="0">
              <a:solidFill>
                <a:srgbClr val="171FE2"/>
              </a:solidFill>
            </a:endParaRP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87FCEAEA-2E4D-D32A-6E55-3275A011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30685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5F7A3-EE16-2656-57F8-029198C0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5E20668B-5FA8-089E-6B63-CB6EE252B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4: Analisi Pratica: Configurazione Dichiarativa del Servizio Database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7E4C70A5-35A9-A6AA-2184-8821ED75A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Esaminiamo la traduzione dichiarativa del container </a:t>
            </a:r>
            <a:r>
              <a:rPr lang="it-IT" dirty="0" err="1"/>
              <a:t>MariaDB</a:t>
            </a:r>
            <a:r>
              <a:rPr lang="it-IT" dirty="0"/>
              <a:t> all'interno del file </a:t>
            </a:r>
            <a:r>
              <a:rPr lang="it-IT" dirty="0" err="1"/>
              <a:t>docker-compose.yml</a:t>
            </a:r>
            <a:r>
              <a:rPr lang="it-IT" dirty="0"/>
              <a:t>. Invece di lanciare un comando imperativo, scriviamo il seguente blocco di codice:</a:t>
            </a:r>
          </a:p>
          <a:p>
            <a:r>
              <a:rPr lang="it-IT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version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 '3.8'</a:t>
            </a:r>
          </a:p>
          <a:p>
            <a:r>
              <a:rPr lang="it-IT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services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database-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mariadb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image: mariadb:10.11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container_name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mdb_local</a:t>
            </a:r>
            <a:endParaRPr lang="it-IT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restart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always</a:t>
            </a:r>
            <a:endParaRPr lang="it-IT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environment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  MYSQL_ROOT_PASSWORD: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root_password</a:t>
            </a:r>
            <a:endParaRPr lang="it-IT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  MYSQL_DATABASE: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skillbook_db</a:t>
            </a:r>
            <a:endParaRPr lang="it-IT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it-IT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volumes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  -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mariadb_data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:/var/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lib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/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mysql</a:t>
            </a:r>
            <a:endParaRPr lang="it-IT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it-IT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networks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  - rete-interna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A298E26A-A719-815C-9CB1-45A2CE41C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6991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B703B-D363-A831-BFB3-8F4185E10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1C44D6B5-AAB8-A0D4-1A29-722448D77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5: Analisi Pratica: Configurazione Dichiarativa del Servizio Database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DC6B4915-525E-45DC-180B-34630765E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Esaminiamo la traduzione dichiarativa del container </a:t>
            </a:r>
            <a:r>
              <a:rPr lang="it-IT" dirty="0" err="1"/>
              <a:t>MariaDB</a:t>
            </a:r>
            <a:r>
              <a:rPr lang="it-IT" dirty="0"/>
              <a:t> all'interno del file </a:t>
            </a:r>
            <a:r>
              <a:rPr lang="it-IT" dirty="0" err="1"/>
              <a:t>docker-compose.yml</a:t>
            </a:r>
            <a:r>
              <a:rPr lang="it-IT" dirty="0"/>
              <a:t>. Invece di lanciare un comando imperativo, scriviamo il seguente blocco di codice:</a:t>
            </a:r>
          </a:p>
          <a:p>
            <a:r>
              <a:rPr lang="it-IT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version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 '3.8'</a:t>
            </a:r>
          </a:p>
          <a:p>
            <a:r>
              <a:rPr lang="it-IT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services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database-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mariadb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image: mariadb:10.11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container_name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mdb_local</a:t>
            </a:r>
            <a:endParaRPr lang="it-IT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restart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always</a:t>
            </a:r>
            <a:endParaRPr lang="it-IT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environment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  MYSQL_ROOT_PASSWORD: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root_password</a:t>
            </a:r>
            <a:endParaRPr lang="it-IT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  MYSQL_DATABASE: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skillbook_db</a:t>
            </a:r>
            <a:endParaRPr lang="it-IT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it-IT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volumes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  -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mariadb_data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:/var/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lib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/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mysql</a:t>
            </a:r>
            <a:endParaRPr lang="it-IT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it-IT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networks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  - rete-interna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5D316687-EAEB-1DA0-8887-EA8A33AEA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5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513FCD7-2807-9268-BA1F-0205B1ABC17D}"/>
              </a:ext>
            </a:extLst>
          </p:cNvPr>
          <p:cNvSpPr txBox="1"/>
          <p:nvPr/>
        </p:nvSpPr>
        <p:spPr>
          <a:xfrm>
            <a:off x="5922245" y="2333475"/>
            <a:ext cx="54315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Neue Haas Grotesk Text Pro" panose="020B0504020202020204" pitchFamily="34" charset="0"/>
              </a:rPr>
              <a:t>In questo blocco stiamo dicendo a Compose di scaricare l'immagine ufficiale di </a:t>
            </a:r>
            <a:r>
              <a:rPr lang="it-IT" dirty="0" err="1">
                <a:latin typeface="Neue Haas Grotesk Text Pro" panose="020B0504020202020204" pitchFamily="34" charset="0"/>
              </a:rPr>
              <a:t>MariaDB</a:t>
            </a:r>
            <a:r>
              <a:rPr lang="it-IT" dirty="0">
                <a:latin typeface="Neue Haas Grotesk Text Pro" panose="020B0504020202020204" pitchFamily="34" charset="0"/>
              </a:rPr>
              <a:t>, assegnare un nome fisso al processo, impostare la politica di </a:t>
            </a:r>
            <a:r>
              <a:rPr lang="it-IT" dirty="0">
                <a:solidFill>
                  <a:srgbClr val="171FE2"/>
                </a:solidFill>
                <a:latin typeface="Neue Haas Grotesk Text Pro" panose="020B0504020202020204" pitchFamily="34" charset="0"/>
              </a:rPr>
              <a:t>riavvio automatico in caso di crash </a:t>
            </a:r>
            <a:r>
              <a:rPr lang="it-IT" dirty="0">
                <a:latin typeface="Neue Haas Grotesk Text Pro" panose="020B0504020202020204" pitchFamily="34" charset="0"/>
              </a:rPr>
              <a:t>(</a:t>
            </a:r>
            <a:r>
              <a:rPr lang="it-IT" b="1" dirty="0" err="1">
                <a:solidFill>
                  <a:srgbClr val="171FE2"/>
                </a:solidFill>
                <a:latin typeface="Neue Haas Grotesk Text Pro" panose="020B0504020202020204" pitchFamily="34" charset="0"/>
              </a:rPr>
              <a:t>restart</a:t>
            </a:r>
            <a:r>
              <a:rPr lang="it-IT" b="1" dirty="0">
                <a:solidFill>
                  <a:srgbClr val="171FE2"/>
                </a:solidFill>
                <a:latin typeface="Neue Haas Grotesk Text Pro" panose="020B0504020202020204" pitchFamily="34" charset="0"/>
              </a:rPr>
              <a:t>: </a:t>
            </a:r>
            <a:r>
              <a:rPr lang="it-IT" b="1" dirty="0" err="1">
                <a:solidFill>
                  <a:srgbClr val="171FE2"/>
                </a:solidFill>
                <a:latin typeface="Neue Haas Grotesk Text Pro" panose="020B0504020202020204" pitchFamily="34" charset="0"/>
              </a:rPr>
              <a:t>always</a:t>
            </a:r>
            <a:r>
              <a:rPr lang="it-IT" dirty="0">
                <a:latin typeface="Neue Haas Grotesk Text Pro" panose="020B0504020202020204" pitchFamily="34" charset="0"/>
              </a:rPr>
              <a:t>), iniettare le variabili d'ambiente per l'autenticazione, agganciare il volume per non perdere i dati e inserire il container nel perimetro della rete virtuale privata.</a:t>
            </a:r>
          </a:p>
          <a:p>
            <a:endParaRPr lang="it-IT" dirty="0">
              <a:latin typeface="Neue Haas Grotesk Text Pro" panose="020B0504020202020204" pitchFamily="34" charset="0"/>
            </a:endParaRPr>
          </a:p>
          <a:p>
            <a:r>
              <a:rPr lang="it-IT" dirty="0">
                <a:latin typeface="Neue Haas Grotesk Text Pro" panose="020B0504020202020204" pitchFamily="34" charset="0"/>
              </a:rPr>
              <a:t>La sintassi è auto-esplicativa. </a:t>
            </a:r>
          </a:p>
          <a:p>
            <a:endParaRPr lang="it-IT" dirty="0">
              <a:latin typeface="Neue Haas Grotesk Text Pro" panose="020B0504020202020204" pitchFamily="34" charset="0"/>
            </a:endParaRPr>
          </a:p>
          <a:p>
            <a:r>
              <a:rPr lang="it-IT" dirty="0">
                <a:solidFill>
                  <a:srgbClr val="171FE2"/>
                </a:solidFill>
                <a:latin typeface="Neue Haas Grotesk Text Pro" panose="020B0504020202020204" pitchFamily="34" charset="0"/>
              </a:rPr>
              <a:t>Le variabili sotto la voce </a:t>
            </a:r>
            <a:r>
              <a:rPr lang="it-IT" dirty="0" err="1">
                <a:solidFill>
                  <a:srgbClr val="171FE2"/>
                </a:solidFill>
                <a:latin typeface="Neue Haas Grotesk Text Pro" panose="020B0504020202020204" pitchFamily="34" charset="0"/>
              </a:rPr>
              <a:t>environment</a:t>
            </a:r>
            <a:r>
              <a:rPr lang="it-IT" dirty="0">
                <a:solidFill>
                  <a:srgbClr val="171FE2"/>
                </a:solidFill>
                <a:latin typeface="Neue Haas Grotesk Text Pro" panose="020B0504020202020204" pitchFamily="34" charset="0"/>
              </a:rPr>
              <a:t> sostituiscono i vecchi flag -e usati nella CLI tradizionale.</a:t>
            </a:r>
          </a:p>
        </p:txBody>
      </p:sp>
    </p:spTree>
    <p:extLst>
      <p:ext uri="{BB962C8B-B14F-4D97-AF65-F5344CB8AC3E}">
        <p14:creationId xmlns:p14="http://schemas.microsoft.com/office/powerpoint/2010/main" val="1769836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43AD1-7BF1-60DF-3745-9BBACB0A8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43227771-7EBA-F5F5-8779-04524420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6: Automazione del Build: Collegare il </a:t>
            </a:r>
            <a:r>
              <a:rPr lang="it-IT" dirty="0" err="1"/>
              <a:t>Dockerfile</a:t>
            </a:r>
            <a:r>
              <a:rPr lang="it-IT" dirty="0"/>
              <a:t> a Docker Compose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F0648E1A-35AF-BE3F-E45A-615367C11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Docker Compose non si limita a scaricare immagini preesistenti da Docker Hub, ma è in grado di coordinare e avviare la compilazione dei </a:t>
            </a:r>
            <a:r>
              <a:rPr lang="it-IT" dirty="0" err="1"/>
              <a:t>Dockerfile</a:t>
            </a:r>
            <a:r>
              <a:rPr lang="it-IT" dirty="0"/>
              <a:t> personalizzati.</a:t>
            </a:r>
          </a:p>
          <a:p>
            <a:r>
              <a:rPr lang="it-IT" dirty="0"/>
              <a:t>Possiamo istruire Compose a gestire la fase di build e quella di </a:t>
            </a:r>
            <a:r>
              <a:rPr lang="it-IT" dirty="0" err="1"/>
              <a:t>run</a:t>
            </a:r>
            <a:r>
              <a:rPr lang="it-IT" dirty="0"/>
              <a:t> in un unico flusso automatizzato inserendo la direttiva build:</a:t>
            </a:r>
          </a:p>
          <a:p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backend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-app: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build: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context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 ./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backend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-folder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dockerfile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Dockerfile</a:t>
            </a:r>
            <a:endParaRPr lang="it-IT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container_name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spring_backend</a:t>
            </a:r>
            <a:endParaRPr lang="it-IT" sz="1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ports: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- "8098:8098"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networks: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- rete-interna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depends_on</a:t>
            </a:r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chemeClr val="tx2"/>
                </a:solidFill>
                <a:latin typeface="Consolas" panose="020B0609020204030204" pitchFamily="49" charset="0"/>
              </a:rPr>
              <a:t>    - database-</a:t>
            </a:r>
            <a:r>
              <a:rPr lang="it-IT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mariadb</a:t>
            </a:r>
            <a:endParaRPr lang="it-IT" sz="14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F52045D1-F18D-CD99-BAE0-45611AAC6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6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1960BF0-7487-A428-84EA-F70941113F9E}"/>
              </a:ext>
            </a:extLst>
          </p:cNvPr>
          <p:cNvSpPr txBox="1"/>
          <p:nvPr/>
        </p:nvSpPr>
        <p:spPr>
          <a:xfrm>
            <a:off x="5894822" y="2663030"/>
            <a:ext cx="54315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Neue Haas Grotesk Text Pro" panose="020B0504020202020204" pitchFamily="34" charset="0"/>
              </a:rPr>
              <a:t>La </a:t>
            </a:r>
            <a:r>
              <a:rPr lang="it-IT" dirty="0">
                <a:solidFill>
                  <a:srgbClr val="171FE2"/>
                </a:solidFill>
                <a:latin typeface="Neue Haas Grotesk Text Pro" panose="020B0504020202020204" pitchFamily="34" charset="0"/>
              </a:rPr>
              <a:t>direttiva </a:t>
            </a:r>
            <a:r>
              <a:rPr lang="it-IT" dirty="0" err="1">
                <a:solidFill>
                  <a:srgbClr val="171FE2"/>
                </a:solidFill>
                <a:latin typeface="Neue Haas Grotesk Text Pro" panose="020B0504020202020204" pitchFamily="34" charset="0"/>
              </a:rPr>
              <a:t>context</a:t>
            </a:r>
            <a:r>
              <a:rPr lang="it-IT" dirty="0">
                <a:solidFill>
                  <a:srgbClr val="171FE2"/>
                </a:solidFill>
                <a:latin typeface="Neue Haas Grotesk Text Pro" panose="020B0504020202020204" pitchFamily="34" charset="0"/>
              </a:rPr>
              <a:t> </a:t>
            </a:r>
            <a:r>
              <a:rPr lang="it-IT" dirty="0">
                <a:latin typeface="Neue Haas Grotesk Text Pro" panose="020B0504020202020204" pitchFamily="34" charset="0"/>
              </a:rPr>
              <a:t>indica la cartella in cui si trovano i sorgenti, mentre </a:t>
            </a:r>
            <a:r>
              <a:rPr lang="it-IT" dirty="0" err="1">
                <a:latin typeface="Neue Haas Grotesk Text Pro" panose="020B0504020202020204" pitchFamily="34" charset="0"/>
              </a:rPr>
              <a:t>dockerfile</a:t>
            </a:r>
            <a:r>
              <a:rPr lang="it-IT" dirty="0">
                <a:latin typeface="Neue Haas Grotesk Text Pro" panose="020B0504020202020204" pitchFamily="34" charset="0"/>
              </a:rPr>
              <a:t> punta al file di istruzioni. </a:t>
            </a:r>
          </a:p>
          <a:p>
            <a:endParaRPr lang="it-IT" dirty="0">
              <a:latin typeface="Neue Haas Grotesk Text Pro" panose="020B0504020202020204" pitchFamily="34" charset="0"/>
            </a:endParaRPr>
          </a:p>
          <a:p>
            <a:r>
              <a:rPr lang="it-IT" dirty="0">
                <a:latin typeface="Neue Haas Grotesk Text Pro" panose="020B0504020202020204" pitchFamily="34" charset="0"/>
              </a:rPr>
              <a:t>Quando avvieremo Compose, il sistema verificherà la presenza dell'immagine locale e, se necessario, avvierà autonomamente </a:t>
            </a:r>
            <a:r>
              <a:rPr lang="it-IT" dirty="0" err="1">
                <a:latin typeface="Neue Haas Grotesk Text Pro" panose="020B0504020202020204" pitchFamily="34" charset="0"/>
              </a:rPr>
              <a:t>BuildKit</a:t>
            </a:r>
            <a:r>
              <a:rPr lang="it-IT" dirty="0">
                <a:latin typeface="Neue Haas Grotesk Text Pro" panose="020B0504020202020204" pitchFamily="34" charset="0"/>
              </a:rPr>
              <a:t>.</a:t>
            </a:r>
          </a:p>
          <a:p>
            <a:endParaRPr lang="it-IT" dirty="0">
              <a:latin typeface="Neue Haas Grotesk Text Pro" panose="020B0504020202020204" pitchFamily="34" charset="0"/>
            </a:endParaRPr>
          </a:p>
          <a:p>
            <a:r>
              <a:rPr lang="it-IT" dirty="0">
                <a:latin typeface="Neue Haas Grotesk Text Pro" panose="020B0504020202020204" pitchFamily="34" charset="0"/>
              </a:rPr>
              <a:t>Questa integrazione riduce l'intero ciclo di sviluppo a un solo comando.</a:t>
            </a:r>
          </a:p>
          <a:p>
            <a:r>
              <a:rPr lang="it-IT" dirty="0">
                <a:latin typeface="Neue Haas Grotesk Text Pro" panose="020B0504020202020204" pitchFamily="34" charset="0"/>
              </a:rPr>
              <a:t> </a:t>
            </a:r>
          </a:p>
          <a:p>
            <a:r>
              <a:rPr lang="it-IT" dirty="0">
                <a:latin typeface="Neue Haas Grotesk Text Pro" panose="020B0504020202020204" pitchFamily="34" charset="0"/>
              </a:rPr>
              <a:t>Se modifichiamo il codice Java, Compose capirà che deve ricostruire l'immagine prima di avviare il container.</a:t>
            </a:r>
            <a:endParaRPr lang="it-IT" dirty="0">
              <a:solidFill>
                <a:srgbClr val="171FE2"/>
              </a:solidFill>
              <a:latin typeface="Neue Haas Grotesk Tex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937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AB8D-2DF1-FA85-0F7C-9274A15D1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AA4D078C-3880-E2CE-33BE-762880D5E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7: Controllo Sequenziale di Avvio: La Direttiva </a:t>
            </a:r>
            <a:r>
              <a:rPr lang="it-IT" dirty="0" err="1"/>
              <a:t>depends_on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D366B3EB-363C-4272-7C2A-9B2CB5B29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In un'architettura a microservizi, l'ordine cronologico di avvio dei processi è un fattore critico per la stabilità del sistema. </a:t>
            </a:r>
          </a:p>
          <a:p>
            <a:r>
              <a:rPr lang="it-IT" dirty="0"/>
              <a:t>Se l'applicazione Spring Boot si accende e tenta di eseguire le migrazioni del database o di stabilire una connessione JDBC prima che il processo interno di </a:t>
            </a:r>
            <a:r>
              <a:rPr lang="it-IT" dirty="0" err="1"/>
              <a:t>MariaDB</a:t>
            </a:r>
            <a:r>
              <a:rPr lang="it-IT" dirty="0"/>
              <a:t> sia pronto a ricevere connessioni sulla porta 3306, l'applicazione Java andrà immediatamente in crash, arrestando il container. </a:t>
            </a:r>
          </a:p>
          <a:p>
            <a:r>
              <a:rPr lang="it-IT" dirty="0"/>
              <a:t>Per governare questa sequenza, Docker Compose introduce la direttiva </a:t>
            </a:r>
            <a:r>
              <a:rPr lang="it-IT" b="1" dirty="0" err="1">
                <a:solidFill>
                  <a:srgbClr val="171FE2"/>
                </a:solidFill>
              </a:rPr>
              <a:t>depends_on</a:t>
            </a:r>
            <a:r>
              <a:rPr lang="it-IT" dirty="0"/>
              <a:t>.</a:t>
            </a:r>
          </a:p>
          <a:p>
            <a:r>
              <a:rPr lang="it-IT" dirty="0"/>
              <a:t>Scrivendo </a:t>
            </a:r>
            <a:r>
              <a:rPr lang="it-IT" dirty="0" err="1">
                <a:solidFill>
                  <a:srgbClr val="171FE2"/>
                </a:solidFill>
              </a:rPr>
              <a:t>depends_on</a:t>
            </a:r>
            <a:r>
              <a:rPr lang="it-IT" dirty="0">
                <a:solidFill>
                  <a:srgbClr val="171FE2"/>
                </a:solidFill>
              </a:rPr>
              <a:t>: - database-</a:t>
            </a:r>
            <a:r>
              <a:rPr lang="it-IT" dirty="0" err="1">
                <a:solidFill>
                  <a:srgbClr val="171FE2"/>
                </a:solidFill>
              </a:rPr>
              <a:t>mariadb</a:t>
            </a:r>
            <a:r>
              <a:rPr lang="it-IT" dirty="0">
                <a:solidFill>
                  <a:srgbClr val="171FE2"/>
                </a:solidFill>
              </a:rPr>
              <a:t> </a:t>
            </a:r>
          </a:p>
          <a:p>
            <a:r>
              <a:rPr lang="it-IT" dirty="0"/>
              <a:t>all'interno del servizio </a:t>
            </a:r>
            <a:r>
              <a:rPr lang="it-IT" dirty="0" err="1"/>
              <a:t>backend</a:t>
            </a:r>
            <a:r>
              <a:rPr lang="it-IT" dirty="0"/>
              <a:t>, indichiamo a Compose una priorità ferrea: il container del database deve essere creato e avviato per primo; solo quando il suo processo è in stato attivo, Compose procederà a sollevare il container del </a:t>
            </a:r>
            <a:r>
              <a:rPr lang="it-IT" dirty="0" err="1"/>
              <a:t>backend</a:t>
            </a:r>
            <a:r>
              <a:rPr lang="it-IT" dirty="0"/>
              <a:t>.</a:t>
            </a:r>
          </a:p>
          <a:p>
            <a:r>
              <a:rPr lang="it-IT" dirty="0" err="1">
                <a:solidFill>
                  <a:srgbClr val="171FE2"/>
                </a:solidFill>
              </a:rPr>
              <a:t>depends_on</a:t>
            </a:r>
            <a:r>
              <a:rPr lang="it-IT" dirty="0">
                <a:solidFill>
                  <a:srgbClr val="171FE2"/>
                </a:solidFill>
              </a:rPr>
              <a:t> </a:t>
            </a:r>
            <a:r>
              <a:rPr lang="it-IT" dirty="0"/>
              <a:t>controlla l'avvio del container a livello di Docker Daemon, ma non sa se il software dentro (il server </a:t>
            </a:r>
            <a:r>
              <a:rPr lang="it-IT" dirty="0" err="1"/>
              <a:t>MariaDB</a:t>
            </a:r>
            <a:r>
              <a:rPr lang="it-IT" dirty="0"/>
              <a:t>) è effettivamente pronto a rispondere alle query</a:t>
            </a:r>
            <a:r>
              <a:rPr lang="it-IT" dirty="0">
                <a:solidFill>
                  <a:srgbClr val="171FE2"/>
                </a:solidFill>
              </a:rPr>
              <a:t>. Per una precisione assoluta, si usano gli "</a:t>
            </a:r>
            <a:r>
              <a:rPr lang="it-IT" dirty="0" err="1">
                <a:solidFill>
                  <a:srgbClr val="171FE2"/>
                </a:solidFill>
              </a:rPr>
              <a:t>healthcheck</a:t>
            </a:r>
            <a:r>
              <a:rPr lang="it-IT" dirty="0">
                <a:solidFill>
                  <a:srgbClr val="171FE2"/>
                </a:solidFill>
              </a:rPr>
              <a:t>"</a:t>
            </a:r>
            <a:r>
              <a:rPr lang="it-IT" dirty="0"/>
              <a:t>, che vedremo più avanti.</a:t>
            </a:r>
            <a:endParaRPr lang="it-IT" sz="14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A63B4EAD-1E35-F473-6E87-A32D4ABC0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51837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7FD1B-DCEF-6748-6B1B-CD2242013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9053A96D-0A56-FDAF-B9C5-A691232C4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8: Isolamento di Rete Automatico e la Rete di Default di Compose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F421B153-F659-116D-A537-A225C59AB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Uno dei vantaggi più straordinari ed eleganti di Docker Compose risiede nella gestione automatizzata delle reti virtuali. </a:t>
            </a:r>
          </a:p>
          <a:p>
            <a:r>
              <a:rPr lang="it-IT" dirty="0"/>
              <a:t>Quando lanciamo un file Compose, lo strumento esegue un'operazione implicita in background: crea automaticamente una rete bridge dedicata il cui nome deriva dalla cartella del progetto (es. </a:t>
            </a:r>
            <a:r>
              <a:rPr lang="it-IT" dirty="0" err="1"/>
              <a:t>cartella_default</a:t>
            </a:r>
            <a:r>
              <a:rPr lang="it-IT" dirty="0"/>
              <a:t>). </a:t>
            </a:r>
          </a:p>
          <a:p>
            <a:r>
              <a:rPr lang="it-IT" dirty="0"/>
              <a:t>Tutti i servizi dichiarati in quel file vengono inseriti d'ufficio e contemporaneamente all'interno di questa rete. Questo sblocca istantaneamente il Service Discovery totale tramite il DNS interno</a:t>
            </a:r>
            <a:r>
              <a:rPr lang="it-IT" dirty="0">
                <a:solidFill>
                  <a:srgbClr val="171FE2"/>
                </a:solidFill>
              </a:rPr>
              <a:t>: il </a:t>
            </a:r>
            <a:r>
              <a:rPr lang="it-IT" dirty="0" err="1">
                <a:solidFill>
                  <a:srgbClr val="171FE2"/>
                </a:solidFill>
              </a:rPr>
              <a:t>backend</a:t>
            </a:r>
            <a:r>
              <a:rPr lang="it-IT" dirty="0">
                <a:solidFill>
                  <a:srgbClr val="171FE2"/>
                </a:solidFill>
              </a:rPr>
              <a:t> Spring Boot può comunicare con il database semplicemente usando la stringa database-</a:t>
            </a:r>
            <a:r>
              <a:rPr lang="it-IT" dirty="0" err="1">
                <a:solidFill>
                  <a:srgbClr val="171FE2"/>
                </a:solidFill>
              </a:rPr>
              <a:t>mariadb</a:t>
            </a:r>
            <a:r>
              <a:rPr lang="it-IT" dirty="0">
                <a:solidFill>
                  <a:srgbClr val="171FE2"/>
                </a:solidFill>
              </a:rPr>
              <a:t> (il nome del servizio) come </a:t>
            </a:r>
            <a:r>
              <a:rPr lang="it-IT" dirty="0" err="1">
                <a:solidFill>
                  <a:srgbClr val="171FE2"/>
                </a:solidFill>
              </a:rPr>
              <a:t>hostname</a:t>
            </a:r>
            <a:r>
              <a:rPr lang="it-IT" dirty="0">
                <a:solidFill>
                  <a:srgbClr val="171FE2"/>
                </a:solidFill>
              </a:rPr>
              <a:t>. </a:t>
            </a:r>
          </a:p>
          <a:p>
            <a:r>
              <a:rPr lang="it-IT" dirty="0"/>
              <a:t>I container sono così isolati dal mondo esterno ma perfettamente interconnessi tra loro, </a:t>
            </a:r>
            <a:r>
              <a:rPr lang="it-IT" dirty="0">
                <a:solidFill>
                  <a:srgbClr val="171FE2"/>
                </a:solidFill>
              </a:rPr>
              <a:t>senza che lo sviluppatore debba configurare una sola riga nella sezione reti</a:t>
            </a:r>
            <a:r>
              <a:rPr lang="it-IT" dirty="0"/>
              <a:t>.</a:t>
            </a:r>
          </a:p>
          <a:p>
            <a:r>
              <a:rPr lang="it-IT" dirty="0"/>
              <a:t>Ogni progetto gestito con un file </a:t>
            </a:r>
            <a:r>
              <a:rPr lang="it-IT" dirty="0" err="1"/>
              <a:t>docker-compose.yml</a:t>
            </a:r>
            <a:r>
              <a:rPr lang="it-IT" dirty="0"/>
              <a:t> separato avrà la sua rete isolata, impedendo a container di progetti diversi di disturbarsi a vicenda.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7623CBC4-DCEF-9902-612C-DC0887AF4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38771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F0DA0-11FB-7768-B3D5-98D6F43C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362FB4C1-F6DA-C267-A637-F093E85D2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9: Gestione Centralizzata dello Storage: Volumi Dichiarati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C6C3EC60-15AE-9A25-D27A-E29CC992A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Per garantire la persistenza dei dati ed evitare il paradosso dell'effimerità nel caso dello spegnimento e rimozione di un container, Docker Compose richiede la centralizzazione dei volumi. </a:t>
            </a:r>
          </a:p>
          <a:p>
            <a:r>
              <a:rPr lang="it-IT" dirty="0"/>
              <a:t>Se più container hanno bisogno di accedere agli stessi dati (come nel caso del laboratorio in cui </a:t>
            </a:r>
            <a:r>
              <a:rPr lang="it-IT" dirty="0" err="1"/>
              <a:t>Nginx</a:t>
            </a:r>
            <a:r>
              <a:rPr lang="it-IT" dirty="0"/>
              <a:t> e </a:t>
            </a:r>
            <a:r>
              <a:rPr lang="it-IT" dirty="0" err="1"/>
              <a:t>Certbot</a:t>
            </a:r>
            <a:r>
              <a:rPr lang="it-IT" dirty="0"/>
              <a:t> devono condividere le chiavi SSL), o se il database deve salvare i record stabilmente, si dichiarano i volumi in fondo al file e si mappano nei singoli servizi: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services: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-proxy: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  image: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nginx:alpine</a:t>
            </a:r>
            <a:endParaRPr lang="it-IT" sz="16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 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volumes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    -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certificati_ssl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:/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etc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letsencrypt</a:t>
            </a:r>
            <a:endParaRPr lang="it-IT" sz="16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sz="16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volumes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mariadb_data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certificati_ssl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: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3C8D15C1-512E-196C-3EE5-84DFC5E0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9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EC2DFF3-1409-31C4-0969-4A801A87CB1D}"/>
              </a:ext>
            </a:extLst>
          </p:cNvPr>
          <p:cNvSpPr txBox="1"/>
          <p:nvPr/>
        </p:nvSpPr>
        <p:spPr>
          <a:xfrm>
            <a:off x="6451927" y="3164681"/>
            <a:ext cx="472770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sezione </a:t>
            </a:r>
            <a:r>
              <a:rPr lang="it-IT" dirty="0" err="1"/>
              <a:t>volumes</a:t>
            </a:r>
            <a:r>
              <a:rPr lang="it-IT" dirty="0"/>
              <a:t>: isolata in fondo indica a Compose di creare questi blocchi di storage persistente sul disco </a:t>
            </a:r>
            <a:r>
              <a:rPr lang="it-IT" dirty="0" err="1"/>
              <a:t>dell'host</a:t>
            </a:r>
            <a:r>
              <a:rPr lang="it-IT" dirty="0"/>
              <a:t> (sotto /var/</a:t>
            </a:r>
            <a:r>
              <a:rPr lang="it-IT" dirty="0" err="1"/>
              <a:t>lib</a:t>
            </a:r>
            <a:r>
              <a:rPr lang="it-IT" dirty="0"/>
              <a:t>/</a:t>
            </a:r>
            <a:r>
              <a:rPr lang="it-IT" dirty="0" err="1"/>
              <a:t>docker</a:t>
            </a:r>
            <a:r>
              <a:rPr lang="it-IT" dirty="0"/>
              <a:t>/</a:t>
            </a:r>
            <a:r>
              <a:rPr lang="it-IT" dirty="0" err="1"/>
              <a:t>volumes</a:t>
            </a:r>
            <a:r>
              <a:rPr lang="it-IT" dirty="0"/>
              <a:t>/) prima di avviare i container, garantendo che i dati persistano anche se l'intera infrastruttura viene spenta e smantellata.</a:t>
            </a:r>
          </a:p>
          <a:p>
            <a:endParaRPr lang="it-IT" dirty="0"/>
          </a:p>
          <a:p>
            <a:r>
              <a:rPr lang="it-IT" dirty="0"/>
              <a:t>La sezione in fondo crea fisicamente l'hard disk virtuale, mentre la voce </a:t>
            </a:r>
            <a:r>
              <a:rPr lang="it-IT" dirty="0" err="1"/>
              <a:t>volumes</a:t>
            </a:r>
            <a:r>
              <a:rPr lang="it-IT" dirty="0"/>
              <a:t> dentro il singolo servizio stende il cavo di collegamento per montarlo dentro una specifica cartella del container (collego il disco alla cartella </a:t>
            </a:r>
            <a:r>
              <a:rPr lang="it-IT" dirty="0" err="1"/>
              <a:t>etc</a:t>
            </a:r>
            <a:r>
              <a:rPr lang="it-IT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30121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98442-715E-DEAA-EC4A-0860E721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BEF54EA2-F0F5-ED41-ACB8-CB88F1B76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10: I Comandi Operativi Fondamentali: up, down e </a:t>
            </a:r>
            <a:r>
              <a:rPr lang="it-IT" dirty="0" err="1"/>
              <a:t>ps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6E55D045-EA4C-9C07-CB0A-B5961278B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La gestione quotidiana di un'infrastruttura complessa tramite Docker Compose si riassume in tre comandi operativi fondamentali da digitare nel terminale posizionandosi nella cartella contenente il file .</a:t>
            </a:r>
            <a:r>
              <a:rPr lang="it-IT" dirty="0" err="1"/>
              <a:t>yml</a:t>
            </a:r>
            <a:r>
              <a:rPr lang="it-IT" dirty="0"/>
              <a:t>. </a:t>
            </a:r>
          </a:p>
          <a:p>
            <a:r>
              <a:rPr lang="it-IT" dirty="0"/>
              <a:t>Il comando sovrano è </a:t>
            </a:r>
            <a:r>
              <a:rPr lang="it-IT" dirty="0" err="1"/>
              <a:t>docker</a:t>
            </a:r>
            <a:r>
              <a:rPr lang="it-IT" dirty="0"/>
              <a:t> compose up: legge il file, esegue i pull, compila i </a:t>
            </a:r>
            <a:r>
              <a:rPr lang="it-IT" dirty="0" err="1"/>
              <a:t>Dockerfile</a:t>
            </a:r>
            <a:r>
              <a:rPr lang="it-IT" dirty="0"/>
              <a:t>, crea reti e volumi e avvia tutti i container visualizzando i log in tempo reale. Aggiungendo il flag -d (</a:t>
            </a:r>
            <a:r>
              <a:rPr lang="it-IT" dirty="0" err="1"/>
              <a:t>docker</a:t>
            </a:r>
            <a:r>
              <a:rPr lang="it-IT" dirty="0"/>
              <a:t> compose up -d), l'infrastruttura viene lanciata in modalità </a:t>
            </a:r>
            <a:r>
              <a:rPr lang="it-IT" dirty="0" err="1"/>
              <a:t>Detached</a:t>
            </a:r>
            <a:r>
              <a:rPr lang="it-IT" dirty="0"/>
              <a:t> (in background), restituendo il controllo del terminale all'utente. </a:t>
            </a:r>
          </a:p>
          <a:p>
            <a:r>
              <a:rPr lang="it-IT" dirty="0"/>
              <a:t>Il comando </a:t>
            </a:r>
            <a:r>
              <a:rPr lang="it-IT" dirty="0" err="1"/>
              <a:t>docker</a:t>
            </a:r>
            <a:r>
              <a:rPr lang="it-IT" dirty="0"/>
              <a:t> compose </a:t>
            </a:r>
            <a:r>
              <a:rPr lang="it-IT" dirty="0" err="1"/>
              <a:t>ps</a:t>
            </a:r>
            <a:r>
              <a:rPr lang="it-IT" dirty="0"/>
              <a:t> offre una panoramica tabellare dello stato di salute dei soli container legati a quel file. </a:t>
            </a:r>
          </a:p>
          <a:p>
            <a:r>
              <a:rPr lang="it-IT" dirty="0"/>
              <a:t>Infine, il comando </a:t>
            </a:r>
            <a:r>
              <a:rPr lang="it-IT" dirty="0" err="1"/>
              <a:t>docker</a:t>
            </a:r>
            <a:r>
              <a:rPr lang="it-IT" dirty="0"/>
              <a:t> compose down esegue la pulizia totale: spegne i processi, rimuove i container e distrugge le reti virtuali, lasciando il sistema ospitante perfettamente pulito.</a:t>
            </a:r>
          </a:p>
          <a:p>
            <a:r>
              <a:rPr lang="it-IT" dirty="0"/>
              <a:t>Il </a:t>
            </a:r>
            <a:r>
              <a:rPr lang="it-IT" dirty="0" err="1">
                <a:solidFill>
                  <a:srgbClr val="171FE2"/>
                </a:solidFill>
              </a:rPr>
              <a:t>docker</a:t>
            </a:r>
            <a:r>
              <a:rPr lang="it-IT" dirty="0">
                <a:solidFill>
                  <a:srgbClr val="171FE2"/>
                </a:solidFill>
              </a:rPr>
              <a:t> compose down </a:t>
            </a:r>
            <a:r>
              <a:rPr lang="it-IT" dirty="0"/>
              <a:t>non cancella i volumi persistenti di default. Questa è una protezione di sicurezza per evitare che lo spegnimento dell'infrastruttura causi la perdita involontaria dei dati del database. Per cancellare anche i volumi, serve il </a:t>
            </a:r>
            <a:r>
              <a:rPr lang="it-IT" dirty="0">
                <a:solidFill>
                  <a:srgbClr val="171FE2"/>
                </a:solidFill>
              </a:rPr>
              <a:t>flag --</a:t>
            </a:r>
            <a:r>
              <a:rPr lang="it-IT" dirty="0" err="1">
                <a:solidFill>
                  <a:srgbClr val="171FE2"/>
                </a:solidFill>
              </a:rPr>
              <a:t>volumes</a:t>
            </a:r>
            <a:r>
              <a:rPr lang="it-IT" dirty="0"/>
              <a:t>.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E3F62416-9ED3-3E4F-7581-062ABF6E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171669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6DCCF-8B91-5636-6723-3CCC81D5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003A4688-877A-A008-3247-1ABF3512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11: Sintesi Grafica e Flusso di Lavoro in Aula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AD965DB2-53E1-E8A2-32D5-B44E9DA96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Per consolidare la conoscenza di Docker Compose prima di entrare nel vivo del laboratorio pratico, ricapitoliamo il flusso di lavoro ingegneristico standard adottato nelle aziende: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Si scrive il codice sorgente dell'applicazione e si confeziona il suo </a:t>
            </a:r>
            <a:r>
              <a:rPr lang="it-IT" dirty="0" err="1"/>
              <a:t>Dockerfile</a:t>
            </a:r>
            <a:r>
              <a:rPr lang="it-IT" dirty="0"/>
              <a:t> dedicato per renderla containerizzabile.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Si definisce l'ecosistema di contorno (database, cache, proxy) all'interno del file </a:t>
            </a:r>
            <a:r>
              <a:rPr lang="it-IT" dirty="0" err="1"/>
              <a:t>docker-compose.yml</a:t>
            </a:r>
            <a:r>
              <a:rPr lang="it-IT" dirty="0"/>
              <a:t>, orchestrando le porte e le dipendenze.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Si esegue il comando </a:t>
            </a:r>
            <a:r>
              <a:rPr lang="it-IT" dirty="0" err="1"/>
              <a:t>docker</a:t>
            </a:r>
            <a:r>
              <a:rPr lang="it-IT" dirty="0"/>
              <a:t> compose up -d per materializzare l'intera architettura in un colpo solo.</a:t>
            </a:r>
          </a:p>
          <a:p>
            <a:r>
              <a:rPr lang="it-IT" dirty="0"/>
              <a:t>Grazie a questo approccio, l'ambiente di sviluppo locale diventa una replica esatta, matematica e deterministica dell'ambiente di </a:t>
            </a:r>
            <a:r>
              <a:rPr lang="it-IT" dirty="0" err="1"/>
              <a:t>staging</a:t>
            </a:r>
            <a:r>
              <a:rPr lang="it-IT" dirty="0"/>
              <a:t> e di produzione, abbattendo definitivamente le barriere sistemistiche e accelerando il ciclo di rilascio del software.</a:t>
            </a:r>
          </a:p>
          <a:p>
            <a:endParaRPr lang="it-IT" dirty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13629C26-6467-2A38-27CB-142E263CD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929800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E02355-4941-9C10-CA1D-649F04DB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pc="0" dirty="0">
                <a:latin typeface="Neue Haas Grotesk Text Pro" panose="020B0504020202020204" pitchFamily="34" charset="0"/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3003246572"/>
      </p:ext>
    </p:extLst>
  </p:cSld>
  <p:clrMapOvr>
    <a:masterClrMapping/>
  </p:clrMapOvr>
</p:sld>
</file>

<file path=ppt/theme/theme1.xml><?xml version="1.0" encoding="utf-8"?>
<a:theme xmlns:a="http://schemas.openxmlformats.org/drawingml/2006/main" name="Intr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55C6CD0B9BF4DB2CA3009677D9668" ma:contentTypeVersion="17" ma:contentTypeDescription="Create a new document." ma:contentTypeScope="" ma:versionID="6361f2605a906a42d9630ca59d277a8b">
  <xsd:schema xmlns:xsd="http://www.w3.org/2001/XMLSchema" xmlns:xs="http://www.w3.org/2001/XMLSchema" xmlns:p="http://schemas.microsoft.com/office/2006/metadata/properties" xmlns:ns2="8b3acf13-3a58-43b2-a29e-f23503de136d" xmlns:ns3="21b72fd8-e7d0-49ac-9795-d1b0bc6b7e1c" targetNamespace="http://schemas.microsoft.com/office/2006/metadata/properties" ma:root="true" ma:fieldsID="ae4eb9e2c998b5efed80ec6126f835fa" ns2:_="" ns3:_="">
    <xsd:import namespace="8b3acf13-3a58-43b2-a29e-f23503de136d"/>
    <xsd:import namespace="21b72fd8-e7d0-49ac-9795-d1b0bc6b7e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Argoment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3acf13-3a58-43b2-a29e-f23503de1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f31c764-9f90-46cb-b927-e7c76de067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gomento" ma:index="24" nillable="true" ma:displayName="Argomento" ma:format="Dropdown" ma:internalName="Argoment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72fd8-e7d0-49ac-9795-d1b0bc6b7e1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0603bf2-5c45-4900-ad6d-aa2e93470d68}" ma:internalName="TaxCatchAll" ma:showField="CatchAllData" ma:web="21b72fd8-e7d0-49ac-9795-d1b0bc6b7e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1b72fd8-e7d0-49ac-9795-d1b0bc6b7e1c" xsi:nil="true"/>
    <lcf76f155ced4ddcb4097134ff3c332f xmlns="8b3acf13-3a58-43b2-a29e-f23503de136d">
      <Terms xmlns="http://schemas.microsoft.com/office/infopath/2007/PartnerControls"/>
    </lcf76f155ced4ddcb4097134ff3c332f>
    <Argomento xmlns="8b3acf13-3a58-43b2-a29e-f23503de136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468F63-B318-4D5F-A1DF-86BE98AC22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3acf13-3a58-43b2-a29e-f23503de136d"/>
    <ds:schemaRef ds:uri="21b72fd8-e7d0-49ac-9795-d1b0bc6b7e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66878A-54ED-4867-B478-72A29DC19B89}">
  <ds:schemaRefs>
    <ds:schemaRef ds:uri="http://schemas.microsoft.com/office/2006/metadata/properties"/>
    <ds:schemaRef ds:uri="http://schemas.microsoft.com/office/infopath/2007/PartnerControls"/>
    <ds:schemaRef ds:uri="21b72fd8-e7d0-49ac-9795-d1b0bc6b7e1c"/>
    <ds:schemaRef ds:uri="8b3acf13-3a58-43b2-a29e-f23503de136d"/>
  </ds:schemaRefs>
</ds:datastoreItem>
</file>

<file path=customXml/itemProps3.xml><?xml version="1.0" encoding="utf-8"?>
<ds:datastoreItem xmlns:ds="http://schemas.openxmlformats.org/officeDocument/2006/customXml" ds:itemID="{67C65656-B2D8-4C19-A873-091B25A521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1060</TotalTime>
  <Words>1959</Words>
  <Application>Microsoft Office PowerPoint</Application>
  <PresentationFormat>Widescreen</PresentationFormat>
  <Paragraphs>133</Paragraphs>
  <Slides>14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Neue Haas Grotesk Display Pro</vt:lpstr>
      <vt:lpstr>Neue Haas Grotesk Text Pro</vt:lpstr>
      <vt:lpstr>Intro</vt:lpstr>
      <vt:lpstr>Presentazione standard di PowerPoint</vt:lpstr>
      <vt:lpstr>Presentazione standard di PowerPoint</vt:lpstr>
      <vt:lpstr>Slide 1: I Pilastri delle Reti Docker: Il Driver Bridge Virtuale</vt:lpstr>
      <vt:lpstr>Slide 2: Cos'è Docker Compose ed il Paradigma dello "Stato Desiderato"</vt:lpstr>
      <vt:lpstr>Slide 3: L'Anatomia del File docker-compose.yml e la Sintassi YAML</vt:lpstr>
      <vt:lpstr>Slide 4: Analisi Pratica: Configurazione Dichiarativa del Servizio Database</vt:lpstr>
      <vt:lpstr>Slide 5: Analisi Pratica: Configurazione Dichiarativa del Servizio Database</vt:lpstr>
      <vt:lpstr>Slide 6: Automazione del Build: Collegare il Dockerfile a Docker Compose</vt:lpstr>
      <vt:lpstr>Slide 7: Controllo Sequenziale di Avvio: La Direttiva depends_on</vt:lpstr>
      <vt:lpstr>Slide 8: Isolamento di Rete Automatico e la Rete di Default di Compose</vt:lpstr>
      <vt:lpstr>Slide 9: Gestione Centralizzata dello Storage: Volumi Dichiarati</vt:lpstr>
      <vt:lpstr>Slide 10: I Comandi Operativi Fondamentali: up, down e ps</vt:lpstr>
      <vt:lpstr>Slide 11: Sintesi Grafica e Flusso di Lavoro in Aula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Davide Grillo</dc:creator>
  <cp:lastModifiedBy>Mirko Onorato</cp:lastModifiedBy>
  <cp:revision>152</cp:revision>
  <dcterms:created xsi:type="dcterms:W3CDTF">2023-09-21T07:59:23Z</dcterms:created>
  <dcterms:modified xsi:type="dcterms:W3CDTF">2026-06-08T15:49:06Z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0x010100D3455C6CD0B9BF4DB2CA3009677D9668</vt:lpwstr>
  </property>
</Properties>
</file>