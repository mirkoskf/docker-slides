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0"/>
  </p:notesMasterIdLst>
  <p:handoutMasterIdLst>
    <p:handoutMasterId r:id="rId31"/>
  </p:handoutMasterIdLst>
  <p:sldIdLst>
    <p:sldId id="262" r:id="rId5"/>
    <p:sldId id="259" r:id="rId6"/>
    <p:sldId id="258"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61" r:id="rId2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FE2"/>
    <a:srgbClr val="0C0C0D"/>
    <a:srgbClr val="FFD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3" autoAdjust="0"/>
    <p:restoredTop sz="92907" autoAdjust="0"/>
  </p:normalViewPr>
  <p:slideViewPr>
    <p:cSldViewPr snapToGrid="0" showGuides="1">
      <p:cViewPr varScale="1">
        <p:scale>
          <a:sx n="66" d="100"/>
          <a:sy n="66" d="100"/>
        </p:scale>
        <p:origin x="60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6" d="100"/>
          <a:sy n="56" d="100"/>
        </p:scale>
        <p:origin x="190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BF59EF6-0FF4-3C26-C2BB-DB4C816469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A684938-E2E5-17C8-EF87-D39DC23A0C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567D21-D55F-4A7B-94FF-7608FD989819}" type="datetimeFigureOut">
              <a:rPr lang="it-IT" smtClean="0"/>
              <a:t>12/06/2026</a:t>
            </a:fld>
            <a:endParaRPr lang="it-IT"/>
          </a:p>
        </p:txBody>
      </p:sp>
      <p:sp>
        <p:nvSpPr>
          <p:cNvPr id="4" name="Segnaposto piè di pagina 3">
            <a:extLst>
              <a:ext uri="{FF2B5EF4-FFF2-40B4-BE49-F238E27FC236}">
                <a16:creationId xmlns:a16="http://schemas.microsoft.com/office/drawing/2014/main" id="{71588DC1-54E0-DA10-6330-B5B85E54BE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4BF496F1-A8FC-84F6-A381-661BDD027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1F2323-8915-4474-89BB-0944B80755B1}" type="slidenum">
              <a:rPr lang="it-IT" smtClean="0"/>
              <a:t>‹N›</a:t>
            </a:fld>
            <a:endParaRPr lang="it-IT"/>
          </a:p>
        </p:txBody>
      </p:sp>
    </p:spTree>
    <p:extLst>
      <p:ext uri="{BB962C8B-B14F-4D97-AF65-F5344CB8AC3E}">
        <p14:creationId xmlns:p14="http://schemas.microsoft.com/office/powerpoint/2010/main" val="451458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B2B73-14A8-482F-9803-A95CC73B5B34}" type="datetimeFigureOut">
              <a:rPr lang="it-IT" smtClean="0"/>
              <a:t>12/06/2026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FDE81-C331-4896-AC61-55381248B14B}" type="slidenum">
              <a:rPr lang="it-IT" smtClean="0"/>
              <a:t>‹N›</a:t>
            </a:fld>
            <a:endParaRPr lang="it-IT"/>
          </a:p>
        </p:txBody>
      </p:sp>
    </p:spTree>
    <p:extLst>
      <p:ext uri="{BB962C8B-B14F-4D97-AF65-F5344CB8AC3E}">
        <p14:creationId xmlns:p14="http://schemas.microsoft.com/office/powerpoint/2010/main" val="44680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88FDE81-C331-4896-AC61-55381248B14B}" type="slidenum">
              <a:rPr lang="it-IT" smtClean="0"/>
              <a:t>2</a:t>
            </a:fld>
            <a:endParaRPr lang="it-IT"/>
          </a:p>
        </p:txBody>
      </p:sp>
    </p:spTree>
    <p:extLst>
      <p:ext uri="{BB962C8B-B14F-4D97-AF65-F5344CB8AC3E}">
        <p14:creationId xmlns:p14="http://schemas.microsoft.com/office/powerpoint/2010/main" val="1347248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jpg"/><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pic>
        <p:nvPicPr>
          <p:cNvPr id="3" name="Logo">
            <a:extLst>
              <a:ext uri="{FF2B5EF4-FFF2-40B4-BE49-F238E27FC236}">
                <a16:creationId xmlns:a16="http://schemas.microsoft.com/office/drawing/2014/main" id="{4C834844-A2F7-AC9C-2087-6061FCF61E4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81312" y="3055807"/>
            <a:ext cx="6429375" cy="746384"/>
          </a:xfrm>
          <a:prstGeom prst="rect">
            <a:avLst/>
          </a:prstGeom>
        </p:spPr>
      </p:pic>
      <p:sp>
        <p:nvSpPr>
          <p:cNvPr id="2" name="Segnaposto numero diapositiva 1">
            <a:extLst>
              <a:ext uri="{FF2B5EF4-FFF2-40B4-BE49-F238E27FC236}">
                <a16:creationId xmlns:a16="http://schemas.microsoft.com/office/drawing/2014/main" id="{38E5D1B6-A890-892D-9858-91BBCF4C4D74}"/>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tx1"/>
                </a:solidFill>
              </a:defRPr>
            </a:lvl1pPr>
          </a:lstStyle>
          <a:p>
            <a:fld id="{EE05E91E-B103-4211-9892-B5CF4BF06646}" type="slidenum">
              <a:rPr lang="it-IT" smtClean="0"/>
              <a:pPr/>
              <a:t>‹N›</a:t>
            </a:fld>
            <a:endParaRPr lang="it-IT"/>
          </a:p>
        </p:txBody>
      </p:sp>
    </p:spTree>
    <p:extLst>
      <p:ext uri="{BB962C8B-B14F-4D97-AF65-F5344CB8AC3E}">
        <p14:creationId xmlns:p14="http://schemas.microsoft.com/office/powerpoint/2010/main" val="318316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olo della lezione">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03BCE473-8FC3-9F4F-E292-BFC28ABE7B2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100000"/>
                    </a14:imgEffect>
                    <a14:imgEffect>
                      <a14:saturation sat="66000"/>
                    </a14:imgEffect>
                  </a14:imgLayer>
                </a14:imgProps>
              </a:ext>
              <a:ext uri="{28A0092B-C50C-407E-A947-70E740481C1C}">
                <a14:useLocalDpi xmlns:a14="http://schemas.microsoft.com/office/drawing/2010/main" val="0"/>
              </a:ext>
            </a:extLst>
          </a:blip>
          <a:srcRect t="7498" b="7498"/>
          <a:stretch/>
        </p:blipFill>
        <p:spPr>
          <a:xfrm>
            <a:off x="8" y="4"/>
            <a:ext cx="12191984" cy="6857991"/>
          </a:xfrm>
          <a:prstGeom prst="rect">
            <a:avLst/>
          </a:prstGeom>
        </p:spPr>
      </p:pic>
      <p:sp>
        <p:nvSpPr>
          <p:cNvPr id="2" name="Titolo 1">
            <a:extLst>
              <a:ext uri="{FF2B5EF4-FFF2-40B4-BE49-F238E27FC236}">
                <a16:creationId xmlns:a16="http://schemas.microsoft.com/office/drawing/2014/main" id="{D46FDB36-122C-6ED3-0E68-A04440759196}"/>
              </a:ext>
            </a:extLst>
          </p:cNvPr>
          <p:cNvSpPr>
            <a:spLocks noGrp="1"/>
          </p:cNvSpPr>
          <p:nvPr>
            <p:ph type="ctrTitle" hasCustomPrompt="1"/>
          </p:nvPr>
        </p:nvSpPr>
        <p:spPr>
          <a:xfrm>
            <a:off x="4749604" y="2315869"/>
            <a:ext cx="2692791" cy="55802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2800" b="1" kern="1200">
                <a:solidFill>
                  <a:schemeClr val="bg1"/>
                </a:solidFill>
                <a:latin typeface="Neue Haas Grotesk Display Pro" panose="020D0304030502050203" pitchFamily="34" charset="0"/>
                <a:ea typeface="+mj-ea"/>
                <a:cs typeface="+mj-cs"/>
              </a:defRPr>
            </a:lvl1pPr>
          </a:lstStyle>
          <a:p>
            <a:r>
              <a:rPr lang="it-IT" dirty="0"/>
              <a:t>Lezione n</a:t>
            </a:r>
          </a:p>
        </p:txBody>
      </p:sp>
      <p:sp>
        <p:nvSpPr>
          <p:cNvPr id="3" name="Sottotitolo 2">
            <a:extLst>
              <a:ext uri="{FF2B5EF4-FFF2-40B4-BE49-F238E27FC236}">
                <a16:creationId xmlns:a16="http://schemas.microsoft.com/office/drawing/2014/main" id="{C0F8F589-6BFD-59A4-6E34-32CA9C30E50B}"/>
              </a:ext>
            </a:extLst>
          </p:cNvPr>
          <p:cNvSpPr>
            <a:spLocks noGrp="1"/>
          </p:cNvSpPr>
          <p:nvPr>
            <p:ph type="subTitle" idx="1" hasCustomPrompt="1"/>
          </p:nvPr>
        </p:nvSpPr>
        <p:spPr>
          <a:xfrm>
            <a:off x="838200" y="3152912"/>
            <a:ext cx="10515600" cy="6728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4400" b="1" kern="1200">
                <a:solidFill>
                  <a:schemeClr val="bg1"/>
                </a:solidFill>
                <a:latin typeface="Neue Haas Grotesk Display Pro" panose="020D030403050205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TITOLO DELLA LEZIONE</a:t>
            </a:r>
          </a:p>
        </p:txBody>
      </p:sp>
      <p:sp>
        <p:nvSpPr>
          <p:cNvPr id="7" name="Autore">
            <a:extLst>
              <a:ext uri="{FF2B5EF4-FFF2-40B4-BE49-F238E27FC236}">
                <a16:creationId xmlns:a16="http://schemas.microsoft.com/office/drawing/2014/main" id="{21C9F551-AFE9-0973-2117-C6CBF8585A06}"/>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bg1"/>
                </a:solidFill>
                <a:latin typeface="Arial"/>
                <a:cs typeface="Arial"/>
              </a:rPr>
              <a:t>Autore: Mirko Onorato</a:t>
            </a:r>
            <a:endParaRPr lang="it-IT" sz="950" spc="300" dirty="0">
              <a:solidFill>
                <a:schemeClr val="bg1"/>
              </a:solidFill>
              <a:latin typeface="Arial"/>
              <a:cs typeface="Arial"/>
            </a:endParaRPr>
          </a:p>
        </p:txBody>
      </p:sp>
      <p:pic>
        <p:nvPicPr>
          <p:cNvPr id="8" name="Logo">
            <a:extLst>
              <a:ext uri="{FF2B5EF4-FFF2-40B4-BE49-F238E27FC236}">
                <a16:creationId xmlns:a16="http://schemas.microsoft.com/office/drawing/2014/main" id="{C4425D4D-A67B-8DB9-9A03-E768C2FD3E34}"/>
              </a:ext>
            </a:extLst>
          </p:cNvPr>
          <p:cNvPicPr>
            <a:picLocks noChangeAspect="1"/>
          </p:cNvPicPr>
          <p:nvPr userDrawn="1"/>
        </p:nvPicPr>
        <p:blipFill>
          <a:blip>
            <a:lum bright="10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8488" y="285335"/>
            <a:ext cx="2211023" cy="314198"/>
          </a:xfrm>
          <a:prstGeom prst="rect">
            <a:avLst/>
          </a:prstGeom>
        </p:spPr>
      </p:pic>
      <p:sp>
        <p:nvSpPr>
          <p:cNvPr id="13" name="Segnaposto numero diapositiva 6" hidden="1">
            <a:extLst>
              <a:ext uri="{FF2B5EF4-FFF2-40B4-BE49-F238E27FC236}">
                <a16:creationId xmlns:a16="http://schemas.microsoft.com/office/drawing/2014/main" id="{F8AAF250-B3FA-F808-9996-FA310B7EEAE0}"/>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bg1"/>
                </a:solidFill>
              </a:defRPr>
            </a:lvl1pPr>
          </a:lstStyle>
          <a:p>
            <a:fld id="{EE05E91E-B103-4211-9892-B5CF4BF06646}" type="slidenum">
              <a:rPr lang="it-IT" smtClean="0"/>
              <a:pPr/>
              <a:t>‹N›</a:t>
            </a:fld>
            <a:endParaRPr lang="it-IT"/>
          </a:p>
        </p:txBody>
      </p:sp>
      <p:pic>
        <p:nvPicPr>
          <p:cNvPr id="4" name="object 2">
            <a:extLst>
              <a:ext uri="{FF2B5EF4-FFF2-40B4-BE49-F238E27FC236}">
                <a16:creationId xmlns:a16="http://schemas.microsoft.com/office/drawing/2014/main" id="{481FF4BB-6EC3-F2A7-6542-58D51086A02D}"/>
              </a:ext>
            </a:extLst>
          </p:cNvPr>
          <p:cNvPicPr preferRelativeResize="0"/>
          <p:nvPr userDrawn="1"/>
        </p:nvPicPr>
        <p:blipFill rotWithShape="1">
          <a:blip r:embed="rId5" cstate="print"/>
          <a:srcRect l="1386" t="187" r="342" b="95555"/>
          <a:stretch/>
        </p:blipFill>
        <p:spPr>
          <a:xfrm>
            <a:off x="0" y="0"/>
            <a:ext cx="12191992" cy="203059"/>
          </a:xfrm>
          <a:prstGeom prst="rect">
            <a:avLst/>
          </a:prstGeom>
        </p:spPr>
      </p:pic>
    </p:spTree>
    <p:extLst>
      <p:ext uri="{BB962C8B-B14F-4D97-AF65-F5344CB8AC3E}">
        <p14:creationId xmlns:p14="http://schemas.microsoft.com/office/powerpoint/2010/main" val="368228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L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98DC6F-CD43-0811-A979-B271C0C3AF9E}"/>
              </a:ext>
            </a:extLst>
          </p:cNvPr>
          <p:cNvSpPr>
            <a:spLocks noGrp="1"/>
          </p:cNvSpPr>
          <p:nvPr>
            <p:ph type="title"/>
          </p:nvPr>
        </p:nvSpPr>
        <p:spPr>
          <a:xfrm>
            <a:off x="838200" y="831206"/>
            <a:ext cx="10515600" cy="314198"/>
          </a:xfrm>
          <a:prstGeom prst="rect">
            <a:avLst/>
          </a:prstGeom>
        </p:spPr>
        <p:txBody>
          <a:bodyPr/>
          <a:lstStyle>
            <a:lvl1pPr>
              <a:defRPr sz="2200" b="1">
                <a:solidFill>
                  <a:srgbClr val="171FE2"/>
                </a:solidFill>
                <a:latin typeface="Neue Haas Grotesk Text Pro" panose="020B0504020202020204" pitchFamily="34" charset="0"/>
              </a:defRPr>
            </a:lvl1pPr>
          </a:lstStyle>
          <a:p>
            <a:endParaRPr lang="it-IT" dirty="0"/>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Contenuto della lezione</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dirty="0"/>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rgbClr val="171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Mirko Onorato</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402256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Laboratorio">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5DB3A6F7-B730-F638-2762-1FD1042E5DD4}"/>
              </a:ext>
            </a:extLst>
          </p:cNvPr>
          <p:cNvSpPr/>
          <p:nvPr userDrawn="1"/>
        </p:nvSpPr>
        <p:spPr>
          <a:xfrm>
            <a:off x="0" y="0"/>
            <a:ext cx="12192000" cy="6858000"/>
          </a:xfrm>
          <a:prstGeom prst="rect">
            <a:avLst/>
          </a:prstGeom>
          <a:solidFill>
            <a:srgbClr val="FFD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98DC6F-CD43-0811-A979-B271C0C3AF9E}"/>
              </a:ext>
            </a:extLst>
          </p:cNvPr>
          <p:cNvSpPr>
            <a:spLocks noGrp="1"/>
          </p:cNvSpPr>
          <p:nvPr>
            <p:ph type="title" hasCustomPrompt="1"/>
          </p:nvPr>
        </p:nvSpPr>
        <p:spPr>
          <a:xfrm>
            <a:off x="838200" y="831206"/>
            <a:ext cx="10515600" cy="314198"/>
          </a:xfrm>
          <a:prstGeom prst="rect">
            <a:avLst/>
          </a:prstGeom>
        </p:spPr>
        <p:txBody>
          <a:bodyPr/>
          <a:lstStyle>
            <a:lvl1pPr>
              <a:defRPr sz="2200" b="1">
                <a:solidFill>
                  <a:schemeClr val="tx1"/>
                </a:solidFill>
                <a:latin typeface="Neue Haas Grotesk Text Pro" panose="020B0504020202020204" pitchFamily="34" charset="0"/>
              </a:defRPr>
            </a:lvl1pPr>
          </a:lstStyle>
          <a:p>
            <a:r>
              <a:rPr lang="it-IT" dirty="0"/>
              <a:t>Titolo del laboratorio</a:t>
            </a:r>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Traccia del laboratorio</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Nome Cognome</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23827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Ou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GRAZIE PER L’ATTENZIONE</a:t>
            </a:r>
          </a:p>
        </p:txBody>
      </p:sp>
    </p:spTree>
    <p:extLst>
      <p:ext uri="{BB962C8B-B14F-4D97-AF65-F5344CB8AC3E}">
        <p14:creationId xmlns:p14="http://schemas.microsoft.com/office/powerpoint/2010/main" val="128854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Break">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BREAK</a:t>
            </a:r>
          </a:p>
        </p:txBody>
      </p:sp>
    </p:spTree>
    <p:extLst>
      <p:ext uri="{BB962C8B-B14F-4D97-AF65-F5344CB8AC3E}">
        <p14:creationId xmlns:p14="http://schemas.microsoft.com/office/powerpoint/2010/main" val="736105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9" name="Sfondo">
            <a:extLst>
              <a:ext uri="{FF2B5EF4-FFF2-40B4-BE49-F238E27FC236}">
                <a16:creationId xmlns:a16="http://schemas.microsoft.com/office/drawing/2014/main" id="{0871CBC8-6163-D253-2648-0C5B2A35DADC}"/>
              </a:ext>
            </a:extLst>
          </p:cNvPr>
          <p:cNvGrpSpPr/>
          <p:nvPr userDrawn="1"/>
        </p:nvGrpSpPr>
        <p:grpSpPr>
          <a:xfrm>
            <a:off x="0" y="0"/>
            <a:ext cx="12191999" cy="6857998"/>
            <a:chOff x="0" y="0"/>
            <a:chExt cx="12191999" cy="6857998"/>
          </a:xfrm>
        </p:grpSpPr>
        <p:pic>
          <p:nvPicPr>
            <p:cNvPr id="7" name="bg object 16">
              <a:extLst>
                <a:ext uri="{FF2B5EF4-FFF2-40B4-BE49-F238E27FC236}">
                  <a16:creationId xmlns:a16="http://schemas.microsoft.com/office/drawing/2014/main" id="{D3B481F3-FDD2-E9B0-AAF0-6B05C97B7493}"/>
                </a:ext>
              </a:extLst>
            </p:cNvPr>
            <p:cNvPicPr/>
            <p:nvPr userDrawn="1"/>
          </p:nvPicPr>
          <p:blipFill>
            <a:blip r:embed="rId8" cstate="print"/>
            <a:stretch>
              <a:fillRect/>
            </a:stretch>
          </p:blipFill>
          <p:spPr>
            <a:xfrm>
              <a:off x="0" y="0"/>
              <a:ext cx="12191999" cy="6857998"/>
            </a:xfrm>
            <a:prstGeom prst="rect">
              <a:avLst/>
            </a:prstGeom>
          </p:spPr>
        </p:pic>
        <p:sp>
          <p:nvSpPr>
            <p:cNvPr id="8" name="Sfondo nero">
              <a:extLst>
                <a:ext uri="{FF2B5EF4-FFF2-40B4-BE49-F238E27FC236}">
                  <a16:creationId xmlns:a16="http://schemas.microsoft.com/office/drawing/2014/main" id="{2B2124EE-D2EC-EB26-C788-2D1671E2C0D4}"/>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6" name="Segnaposto numero diapositiva 5" hidden="1">
            <a:extLst>
              <a:ext uri="{FF2B5EF4-FFF2-40B4-BE49-F238E27FC236}">
                <a16:creationId xmlns:a16="http://schemas.microsoft.com/office/drawing/2014/main" id="{8BF62DA6-567D-9738-C9B4-B35130FB0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latin typeface="Neue Haas Grotesk Text Pro" panose="020B0504020202020204" pitchFamily="34" charset="0"/>
              </a:defRPr>
            </a:lvl1pPr>
          </a:lstStyle>
          <a:p>
            <a:fld id="{EE05E91E-B103-4211-9892-B5CF4BF06646}" type="slidenum">
              <a:rPr lang="it-IT" smtClean="0"/>
              <a:pPr/>
              <a:t>‹N›</a:t>
            </a:fld>
            <a:endParaRPr lang="it-IT"/>
          </a:p>
        </p:txBody>
      </p:sp>
      <p:pic>
        <p:nvPicPr>
          <p:cNvPr id="10" name="Logo">
            <a:extLst>
              <a:ext uri="{FF2B5EF4-FFF2-40B4-BE49-F238E27FC236}">
                <a16:creationId xmlns:a16="http://schemas.microsoft.com/office/drawing/2014/main" id="{08AF4DDA-AF5C-9192-0A90-B2EE16B1979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81312" y="3055807"/>
            <a:ext cx="6429375" cy="746384"/>
          </a:xfrm>
          <a:prstGeom prst="rect">
            <a:avLst/>
          </a:prstGeom>
        </p:spPr>
      </p:pic>
    </p:spTree>
    <p:extLst>
      <p:ext uri="{BB962C8B-B14F-4D97-AF65-F5344CB8AC3E}">
        <p14:creationId xmlns:p14="http://schemas.microsoft.com/office/powerpoint/2010/main" val="3447315000"/>
      </p:ext>
    </p:extLst>
  </p:cSld>
  <p:clrMap bg1="lt1" tx1="dk1" bg2="lt2" tx2="dk2" accent1="accent1" accent2="accent2" accent3="accent3" accent4="accent4" accent5="accent5" accent6="accent6" hlink="hlink" folHlink="folHlink"/>
  <p:sldLayoutIdLst>
    <p:sldLayoutId id="2147483693" r:id="rId1"/>
    <p:sldLayoutId id="2147483691" r:id="rId2"/>
    <p:sldLayoutId id="2147483674" r:id="rId3"/>
    <p:sldLayoutId id="2147483692" r:id="rId4"/>
    <p:sldLayoutId id="2147483678" r:id="rId5"/>
    <p:sldLayoutId id="214748369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65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614AE908-95ED-7A3B-515A-275CA8318424}"/>
              </a:ext>
            </a:extLst>
          </p:cNvPr>
          <p:cNvSpPr>
            <a:spLocks noGrp="1"/>
          </p:cNvSpPr>
          <p:nvPr>
            <p:ph type="subTitle" idx="1"/>
          </p:nvPr>
        </p:nvSpPr>
        <p:spPr>
          <a:xfrm>
            <a:off x="838200" y="2795046"/>
            <a:ext cx="10515600" cy="1445982"/>
          </a:xfrm>
        </p:spPr>
        <p:txBody>
          <a:bodyPr/>
          <a:lstStyle/>
          <a:p>
            <a:r>
              <a:rPr lang="it-IT" dirty="0"/>
              <a:t>MODULO 4: </a:t>
            </a:r>
            <a:r>
              <a:rPr lang="it-IT" dirty="0" err="1"/>
              <a:t>Kubernates</a:t>
            </a:r>
            <a:r>
              <a:rPr lang="it-IT" dirty="0"/>
              <a:t>. IL PASSAGGIO DA DOCKER COMPOSE ALL'ORCHESTRAZIONE ENTERPRISE</a:t>
            </a:r>
          </a:p>
        </p:txBody>
      </p:sp>
      <p:sp>
        <p:nvSpPr>
          <p:cNvPr id="7" name="Segnaposto numero diapositiva 6">
            <a:extLst>
              <a:ext uri="{FF2B5EF4-FFF2-40B4-BE49-F238E27FC236}">
                <a16:creationId xmlns:a16="http://schemas.microsoft.com/office/drawing/2014/main" id="{EDAC5512-E772-1D07-1956-6544F2732AF4}"/>
              </a:ext>
            </a:extLst>
          </p:cNvPr>
          <p:cNvSpPr>
            <a:spLocks noGrp="1"/>
          </p:cNvSpPr>
          <p:nvPr>
            <p:ph type="sldNum" sz="quarter" idx="10"/>
          </p:nvPr>
        </p:nvSpPr>
        <p:spPr/>
        <p:txBody>
          <a:bodyPr/>
          <a:lstStyle/>
          <a:p>
            <a:fld id="{EE05E91E-B103-4211-9892-B5CF4BF06646}" type="slidenum">
              <a:rPr lang="it-IT" smtClean="0">
                <a:solidFill>
                  <a:srgbClr val="0C0C0D"/>
                </a:solidFill>
              </a:rPr>
              <a:pPr/>
              <a:t>2</a:t>
            </a:fld>
            <a:endParaRPr lang="it-IT" dirty="0">
              <a:solidFill>
                <a:srgbClr val="0C0C0D"/>
              </a:solidFill>
            </a:endParaRPr>
          </a:p>
        </p:txBody>
      </p:sp>
    </p:spTree>
    <p:extLst>
      <p:ext uri="{BB962C8B-B14F-4D97-AF65-F5344CB8AC3E}">
        <p14:creationId xmlns:p14="http://schemas.microsoft.com/office/powerpoint/2010/main" val="339079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della lezione">
            <a:extLst>
              <a:ext uri="{FF2B5EF4-FFF2-40B4-BE49-F238E27FC236}">
                <a16:creationId xmlns:a16="http://schemas.microsoft.com/office/drawing/2014/main" id="{C232A863-9AB2-F1DD-0EBE-01D055E0CAD3}"/>
              </a:ext>
            </a:extLst>
          </p:cNvPr>
          <p:cNvSpPr>
            <a:spLocks noGrp="1"/>
          </p:cNvSpPr>
          <p:nvPr>
            <p:ph type="title"/>
          </p:nvPr>
        </p:nvSpPr>
        <p:spPr>
          <a:xfrm>
            <a:off x="838200" y="831206"/>
            <a:ext cx="10515600" cy="314198"/>
          </a:xfrm>
        </p:spPr>
        <p:txBody>
          <a:bodyPr/>
          <a:lstStyle/>
          <a:p>
            <a:r>
              <a:rPr lang="it-IT" dirty="0"/>
              <a:t>SLIDE 1: PERCHÉ KUBERNETES? IL PASSAGGIO DA DOCKER COMPOSE ALL'ORCHESTRAZIONE ENTERPRISE</a:t>
            </a:r>
          </a:p>
        </p:txBody>
      </p:sp>
      <p:sp>
        <p:nvSpPr>
          <p:cNvPr id="3" name="Contenuto della lezione">
            <a:extLst>
              <a:ext uri="{FF2B5EF4-FFF2-40B4-BE49-F238E27FC236}">
                <a16:creationId xmlns:a16="http://schemas.microsoft.com/office/drawing/2014/main" id="{4B7AE27A-7139-F647-C23C-B014C3A3B6AE}"/>
              </a:ext>
            </a:extLst>
          </p:cNvPr>
          <p:cNvSpPr>
            <a:spLocks noGrp="1"/>
          </p:cNvSpPr>
          <p:nvPr>
            <p:ph idx="1"/>
          </p:nvPr>
        </p:nvSpPr>
        <p:spPr>
          <a:xfrm>
            <a:off x="1317319" y="1735543"/>
            <a:ext cx="9557362" cy="4803369"/>
          </a:xfrm>
        </p:spPr>
        <p:txBody>
          <a:bodyPr/>
          <a:lstStyle/>
          <a:p>
            <a:r>
              <a:rPr lang="it-IT" dirty="0"/>
              <a:t>Con Docker Compose abbiamo visto come un singolo file YAML sia in grado di avviare una flotta di container. </a:t>
            </a:r>
          </a:p>
          <a:p>
            <a:r>
              <a:rPr lang="it-IT" dirty="0"/>
              <a:t>A questo punto, però, dobbiamo proiettarci all'interno di una vera infrastruttura aziendale che deve servire milioni di utenti in tutto il mondo, prevedendo un aumento periodico del traffico (un evento come il Black Friday). </a:t>
            </a:r>
          </a:p>
          <a:p>
            <a:r>
              <a:rPr lang="it-IT" dirty="0"/>
              <a:t>Il container del </a:t>
            </a:r>
            <a:r>
              <a:rPr lang="it-IT" dirty="0" err="1"/>
              <a:t>backend</a:t>
            </a:r>
            <a:r>
              <a:rPr lang="it-IT" dirty="0"/>
              <a:t> Java inizia a saturare la CPU del server. </a:t>
            </a:r>
          </a:p>
          <a:p>
            <a:r>
              <a:rPr lang="it-IT" dirty="0">
                <a:solidFill>
                  <a:srgbClr val="171FE2"/>
                </a:solidFill>
              </a:rPr>
              <a:t>Con Docker Compose dovremmo </a:t>
            </a:r>
            <a:r>
              <a:rPr lang="it-IT" dirty="0"/>
              <a:t>connetterci manualmente al server, lanciare comandi per duplicare il container (riscrivendo lo stesso servizio ma con porte diverse) e </a:t>
            </a:r>
            <a:r>
              <a:rPr lang="it-IT" dirty="0">
                <a:solidFill>
                  <a:srgbClr val="171FE2"/>
                </a:solidFill>
              </a:rPr>
              <a:t>configurare a mano un bilanciatore di carico</a:t>
            </a:r>
            <a:r>
              <a:rPr lang="it-IT" dirty="0"/>
              <a:t>. </a:t>
            </a:r>
          </a:p>
          <a:p>
            <a:r>
              <a:rPr lang="it-IT" dirty="0"/>
              <a:t>E se il server fisico su cui girano i container dovesse subire un guasto hardware e spegnersi improvvisamente nella notte, il nostro sistema andrebbe offline fino all'intervento manuale di un sistemista.</a:t>
            </a:r>
          </a:p>
        </p:txBody>
      </p:sp>
    </p:spTree>
    <p:extLst>
      <p:ext uri="{BB962C8B-B14F-4D97-AF65-F5344CB8AC3E}">
        <p14:creationId xmlns:p14="http://schemas.microsoft.com/office/powerpoint/2010/main" val="526178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C3D31-57A6-1F2C-9C04-8DF60A8E995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6FF9C1A-B8D7-2357-A2EB-4B23568F8C28}"/>
              </a:ext>
            </a:extLst>
          </p:cNvPr>
          <p:cNvSpPr>
            <a:spLocks noGrp="1"/>
          </p:cNvSpPr>
          <p:nvPr>
            <p:ph type="title"/>
          </p:nvPr>
        </p:nvSpPr>
        <p:spPr>
          <a:xfrm>
            <a:off x="838200" y="831206"/>
            <a:ext cx="10515600" cy="314198"/>
          </a:xfrm>
        </p:spPr>
        <p:txBody>
          <a:bodyPr/>
          <a:lstStyle/>
          <a:p>
            <a:r>
              <a:rPr lang="it-IT" dirty="0"/>
              <a:t>SLIDE 2: PERCHÉ KUBERNETES? IL PASSAGGIO DA DOCKER COMPOSE ALL'ORCHESTRAZIONE ENTERPRISE</a:t>
            </a:r>
          </a:p>
        </p:txBody>
      </p:sp>
      <p:sp>
        <p:nvSpPr>
          <p:cNvPr id="3" name="Contenuto della lezione">
            <a:extLst>
              <a:ext uri="{FF2B5EF4-FFF2-40B4-BE49-F238E27FC236}">
                <a16:creationId xmlns:a16="http://schemas.microsoft.com/office/drawing/2014/main" id="{CAFD354D-C96B-6F46-A286-4223B61819BF}"/>
              </a:ext>
            </a:extLst>
          </p:cNvPr>
          <p:cNvSpPr>
            <a:spLocks noGrp="1"/>
          </p:cNvSpPr>
          <p:nvPr>
            <p:ph idx="1"/>
          </p:nvPr>
        </p:nvSpPr>
        <p:spPr>
          <a:xfrm>
            <a:off x="1317319" y="1735543"/>
            <a:ext cx="9557362" cy="4803369"/>
          </a:xfrm>
        </p:spPr>
        <p:txBody>
          <a:bodyPr/>
          <a:lstStyle/>
          <a:p>
            <a:r>
              <a:rPr lang="it-IT" dirty="0"/>
              <a:t>Docker Compose è un </a:t>
            </a:r>
            <a:r>
              <a:rPr lang="it-IT" b="1" dirty="0" err="1"/>
              <a:t>monodirettore</a:t>
            </a:r>
            <a:r>
              <a:rPr lang="it-IT" dirty="0"/>
              <a:t>, lavora su una singola macchina. </a:t>
            </a:r>
          </a:p>
          <a:p>
            <a:r>
              <a:rPr lang="it-IT" dirty="0"/>
              <a:t>Non possiede l'intelligenza artificiale o i meccanismi per gestire la resilienza, l'auto-riparazione (Self-Healing) e la scalabilità automatica su una flotta di server differenti. </a:t>
            </a:r>
          </a:p>
          <a:p>
            <a:r>
              <a:rPr lang="it-IT" dirty="0"/>
              <a:t>Per risolvere queste sfide a livello globale, Google ha sviluppato e poi donato </a:t>
            </a:r>
            <a:r>
              <a:rPr lang="it-IT" b="1" dirty="0" err="1"/>
              <a:t>Kubernetes</a:t>
            </a:r>
            <a:r>
              <a:rPr lang="it-IT" dirty="0"/>
              <a:t> (spesso abbreviato in </a:t>
            </a:r>
            <a:r>
              <a:rPr lang="it-IT" b="1" dirty="0"/>
              <a:t>K8s</a:t>
            </a:r>
            <a:r>
              <a:rPr lang="it-IT" dirty="0"/>
              <a:t>, dove l'8 rappresenta le otto lettere tra la K e la S). </a:t>
            </a:r>
          </a:p>
          <a:p>
            <a:r>
              <a:rPr lang="it-IT" dirty="0" err="1">
                <a:solidFill>
                  <a:srgbClr val="171FE2"/>
                </a:solidFill>
              </a:rPr>
              <a:t>Kubernetes</a:t>
            </a:r>
            <a:r>
              <a:rPr lang="it-IT" dirty="0">
                <a:solidFill>
                  <a:srgbClr val="171FE2"/>
                </a:solidFill>
              </a:rPr>
              <a:t> non si cura del singolo computer, ma prende un gruppo di server fisici o virtuali (chiamati Cluster) e li trasforma in un unico immenso supercomputer. </a:t>
            </a:r>
          </a:p>
          <a:p>
            <a:r>
              <a:rPr lang="it-IT" dirty="0"/>
              <a:t>Sarà K8s a decidere dove far girare i container, a spostarli se un server si rompe, e a duplicarli automaticamente se il traffico aumenta, garantendo che l'applicazione sia raggiungibile il 100% del tempo </a:t>
            </a:r>
            <a:r>
              <a:rPr lang="it-IT" b="1" dirty="0">
                <a:solidFill>
                  <a:srgbClr val="171FE2"/>
                </a:solidFill>
              </a:rPr>
              <a:t>senza alcun intervento umano.</a:t>
            </a:r>
          </a:p>
          <a:p>
            <a:r>
              <a:rPr lang="it-IT" i="1" dirty="0"/>
              <a:t>Docker si occupa di impacchettare l'applicazione nel container, </a:t>
            </a:r>
            <a:r>
              <a:rPr lang="it-IT" i="1" dirty="0" err="1"/>
              <a:t>Kubernetes</a:t>
            </a:r>
            <a:r>
              <a:rPr lang="it-IT" i="1" dirty="0"/>
              <a:t> si occupa di gestire dove e come quei container girano su cento server diversi"</a:t>
            </a:r>
            <a:r>
              <a:rPr lang="it-IT" dirty="0"/>
              <a:t>. K8s è il gestore, Docker è l'operaio.</a:t>
            </a:r>
            <a:endParaRPr lang="it-IT" b="1" dirty="0">
              <a:solidFill>
                <a:srgbClr val="171FE2"/>
              </a:solidFill>
            </a:endParaRPr>
          </a:p>
          <a:p>
            <a:endParaRPr lang="it-IT" b="1" dirty="0">
              <a:solidFill>
                <a:srgbClr val="171FE2"/>
              </a:solidFill>
            </a:endParaRPr>
          </a:p>
        </p:txBody>
      </p:sp>
    </p:spTree>
    <p:extLst>
      <p:ext uri="{BB962C8B-B14F-4D97-AF65-F5344CB8AC3E}">
        <p14:creationId xmlns:p14="http://schemas.microsoft.com/office/powerpoint/2010/main" val="2789793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27E33-F4B3-37EE-BCFE-DAF71C291C9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864D020-B78B-339F-D441-7563246F730A}"/>
              </a:ext>
            </a:extLst>
          </p:cNvPr>
          <p:cNvSpPr>
            <a:spLocks noGrp="1"/>
          </p:cNvSpPr>
          <p:nvPr>
            <p:ph type="title"/>
          </p:nvPr>
        </p:nvSpPr>
        <p:spPr>
          <a:xfrm>
            <a:off x="838200" y="831206"/>
            <a:ext cx="10515600" cy="314198"/>
          </a:xfrm>
        </p:spPr>
        <p:txBody>
          <a:bodyPr/>
          <a:lstStyle/>
          <a:p>
            <a:r>
              <a:rPr lang="it-IT" dirty="0"/>
              <a:t>SLIDE 3: L'ARCHITETTURA DI KUBERNETES – CONTROL PLANE E WORKER NODES</a:t>
            </a:r>
          </a:p>
        </p:txBody>
      </p:sp>
      <p:sp>
        <p:nvSpPr>
          <p:cNvPr id="3" name="Contenuto della lezione">
            <a:extLst>
              <a:ext uri="{FF2B5EF4-FFF2-40B4-BE49-F238E27FC236}">
                <a16:creationId xmlns:a16="http://schemas.microsoft.com/office/drawing/2014/main" id="{A07BEE68-D39A-254D-5234-34F7342AC3C7}"/>
              </a:ext>
            </a:extLst>
          </p:cNvPr>
          <p:cNvSpPr>
            <a:spLocks noGrp="1"/>
          </p:cNvSpPr>
          <p:nvPr>
            <p:ph idx="1"/>
          </p:nvPr>
        </p:nvSpPr>
        <p:spPr>
          <a:xfrm>
            <a:off x="1317319" y="1735543"/>
            <a:ext cx="9557362" cy="4803369"/>
          </a:xfrm>
        </p:spPr>
        <p:txBody>
          <a:bodyPr/>
          <a:lstStyle/>
          <a:p>
            <a:r>
              <a:rPr lang="it-IT" dirty="0"/>
              <a:t>Per capire come fa </a:t>
            </a:r>
            <a:r>
              <a:rPr lang="it-IT" dirty="0" err="1"/>
              <a:t>Kubernetes</a:t>
            </a:r>
            <a:r>
              <a:rPr lang="it-IT" dirty="0"/>
              <a:t> a gestire migliaia di container senza sbagliare un colpo, dobbiamo esplorare la sua architettura interna. </a:t>
            </a:r>
          </a:p>
          <a:p>
            <a:r>
              <a:rPr lang="it-IT" dirty="0"/>
              <a:t>Un </a:t>
            </a:r>
            <a:r>
              <a:rPr lang="it-IT" b="1" dirty="0"/>
              <a:t>cluster </a:t>
            </a:r>
            <a:r>
              <a:rPr lang="it-IT" b="1" dirty="0" err="1"/>
              <a:t>Kubernetes</a:t>
            </a:r>
            <a:r>
              <a:rPr lang="it-IT" dirty="0"/>
              <a:t> è un insieme di macchine (fisiche o virtuali) che lavorano insieme per eseguire e gestire applicazioni containerizzate in modo automatico.</a:t>
            </a:r>
          </a:p>
          <a:p>
            <a:r>
              <a:rPr lang="it-IT" dirty="0"/>
              <a:t>Il Cluster è diviso nettamente in due fazioni: </a:t>
            </a:r>
          </a:p>
          <a:p>
            <a:pPr marL="285750" indent="-285750">
              <a:buFont typeface="Arial" panose="020B0604020202020204" pitchFamily="34" charset="0"/>
              <a:buChar char="•"/>
            </a:pPr>
            <a:r>
              <a:rPr lang="it-IT" dirty="0"/>
              <a:t>il </a:t>
            </a:r>
            <a:r>
              <a:rPr lang="it-IT" b="1" dirty="0"/>
              <a:t>Control Plane (il Cervello o la Direzione Generale)</a:t>
            </a:r>
            <a:r>
              <a:rPr lang="it-IT" dirty="0"/>
              <a:t> </a:t>
            </a:r>
          </a:p>
          <a:p>
            <a:pPr marL="285750" indent="-285750">
              <a:buFont typeface="Arial" panose="020B0604020202020204" pitchFamily="34" charset="0"/>
              <a:buChar char="•"/>
            </a:pPr>
            <a:r>
              <a:rPr lang="it-IT" dirty="0"/>
              <a:t>i </a:t>
            </a:r>
            <a:r>
              <a:rPr lang="it-IT" b="1" dirty="0"/>
              <a:t>Worker Nodes (gli Operai o i Magazzini)</a:t>
            </a:r>
            <a:r>
              <a:rPr lang="it-IT" dirty="0"/>
              <a:t>.</a:t>
            </a:r>
          </a:p>
          <a:p>
            <a:r>
              <a:rPr lang="it-IT" dirty="0"/>
              <a:t> I Worker Nodes sono i server effettivi, macchine cariche di RAM e CPU, il cui unico scopo nella vita è </a:t>
            </a:r>
            <a:r>
              <a:rPr lang="it-IT" dirty="0">
                <a:solidFill>
                  <a:srgbClr val="171FE2"/>
                </a:solidFill>
              </a:rPr>
              <a:t>ospitare i nostri container e farli girare</a:t>
            </a:r>
            <a:r>
              <a:rPr lang="it-IT" dirty="0"/>
              <a:t>. </a:t>
            </a:r>
          </a:p>
          <a:p>
            <a:r>
              <a:rPr lang="it-IT" dirty="0"/>
              <a:t>Il Control Plane, invece, è il centro di comando che risiede su server dedicati e prende tutte le decisioni strategiche.</a:t>
            </a:r>
            <a:endParaRPr lang="it-IT" b="1" dirty="0">
              <a:solidFill>
                <a:srgbClr val="171FE2"/>
              </a:solidFill>
            </a:endParaRPr>
          </a:p>
        </p:txBody>
      </p:sp>
    </p:spTree>
    <p:extLst>
      <p:ext uri="{BB962C8B-B14F-4D97-AF65-F5344CB8AC3E}">
        <p14:creationId xmlns:p14="http://schemas.microsoft.com/office/powerpoint/2010/main" val="67791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056C3-AF39-99DD-F0E4-F3C1A609571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16A816B4-3CA8-1AA5-B7F3-C19369DDC67B}"/>
              </a:ext>
            </a:extLst>
          </p:cNvPr>
          <p:cNvSpPr>
            <a:spLocks noGrp="1"/>
          </p:cNvSpPr>
          <p:nvPr>
            <p:ph type="title"/>
          </p:nvPr>
        </p:nvSpPr>
        <p:spPr>
          <a:xfrm>
            <a:off x="838200" y="831206"/>
            <a:ext cx="10515600" cy="314198"/>
          </a:xfrm>
        </p:spPr>
        <p:txBody>
          <a:bodyPr/>
          <a:lstStyle/>
          <a:p>
            <a:r>
              <a:rPr lang="it-IT" dirty="0"/>
              <a:t>SLIDE 4: L'ARCHITETTURA DI KUBERNETES – CONTROL PLANE E WORKER NODES</a:t>
            </a:r>
          </a:p>
        </p:txBody>
      </p:sp>
      <p:sp>
        <p:nvSpPr>
          <p:cNvPr id="3" name="Contenuto della lezione">
            <a:extLst>
              <a:ext uri="{FF2B5EF4-FFF2-40B4-BE49-F238E27FC236}">
                <a16:creationId xmlns:a16="http://schemas.microsoft.com/office/drawing/2014/main" id="{2C57B058-680B-5435-B495-41DC83383A23}"/>
              </a:ext>
            </a:extLst>
          </p:cNvPr>
          <p:cNvSpPr>
            <a:spLocks noGrp="1"/>
          </p:cNvSpPr>
          <p:nvPr>
            <p:ph idx="1"/>
          </p:nvPr>
        </p:nvSpPr>
        <p:spPr>
          <a:xfrm>
            <a:off x="1317319" y="1735543"/>
            <a:ext cx="9557362" cy="4803369"/>
          </a:xfrm>
        </p:spPr>
        <p:txBody>
          <a:bodyPr/>
          <a:lstStyle/>
          <a:p>
            <a:r>
              <a:rPr lang="it-IT" dirty="0"/>
              <a:t>Un cluster è composto principalmente da:</a:t>
            </a:r>
          </a:p>
          <a:p>
            <a:r>
              <a:rPr lang="it-IT" b="1" dirty="0"/>
              <a:t>1. Control Plane (Master </a:t>
            </a:r>
            <a:r>
              <a:rPr lang="it-IT" b="1" dirty="0" err="1"/>
              <a:t>Node</a:t>
            </a:r>
            <a:r>
              <a:rPr lang="it-IT" b="1" dirty="0"/>
              <a:t>)</a:t>
            </a:r>
          </a:p>
          <a:p>
            <a:r>
              <a:rPr lang="it-IT" dirty="0"/>
              <a:t>È la parte che coordina tutto il cluster. Si occupa di:</a:t>
            </a:r>
          </a:p>
          <a:p>
            <a:pPr marL="285750" indent="-285750">
              <a:buFont typeface="Arial" panose="020B0604020202020204" pitchFamily="34" charset="0"/>
              <a:buChar char="•"/>
            </a:pPr>
            <a:r>
              <a:rPr lang="it-IT" dirty="0"/>
              <a:t>decidere dove eseguire i container; </a:t>
            </a:r>
          </a:p>
          <a:p>
            <a:pPr marL="285750" indent="-285750">
              <a:buFont typeface="Arial" panose="020B0604020202020204" pitchFamily="34" charset="0"/>
              <a:buChar char="•"/>
            </a:pPr>
            <a:r>
              <a:rPr lang="it-IT" dirty="0"/>
              <a:t>monitorare lo stato dei nodi; </a:t>
            </a:r>
          </a:p>
          <a:p>
            <a:pPr marL="285750" indent="-285750">
              <a:buFont typeface="Arial" panose="020B0604020202020204" pitchFamily="34" charset="0"/>
              <a:buChar char="•"/>
            </a:pPr>
            <a:r>
              <a:rPr lang="it-IT" dirty="0"/>
              <a:t>gestire la configurazione e le risorse; </a:t>
            </a:r>
          </a:p>
          <a:p>
            <a:pPr marL="285750" indent="-285750">
              <a:buFont typeface="Arial" panose="020B0604020202020204" pitchFamily="34" charset="0"/>
              <a:buChar char="•"/>
            </a:pPr>
            <a:r>
              <a:rPr lang="it-IT" dirty="0"/>
              <a:t>garantire che il numero desiderato di istanze dell'applicazione sia sempre disponibile. </a:t>
            </a:r>
          </a:p>
          <a:p>
            <a:r>
              <a:rPr lang="it-IT" dirty="0"/>
              <a:t>Componenti principali:</a:t>
            </a:r>
          </a:p>
          <a:p>
            <a:r>
              <a:rPr lang="it-IT" b="1" dirty="0"/>
              <a:t>API Server</a:t>
            </a:r>
            <a:r>
              <a:rPr lang="it-IT" dirty="0"/>
              <a:t> </a:t>
            </a:r>
          </a:p>
          <a:p>
            <a:r>
              <a:rPr lang="it-IT" b="1" dirty="0" err="1"/>
              <a:t>Scheduler</a:t>
            </a:r>
            <a:r>
              <a:rPr lang="it-IT" dirty="0"/>
              <a:t> </a:t>
            </a:r>
          </a:p>
          <a:p>
            <a:r>
              <a:rPr lang="it-IT" b="1" dirty="0"/>
              <a:t>Controller Manager</a:t>
            </a:r>
            <a:r>
              <a:rPr lang="it-IT" dirty="0"/>
              <a:t> </a:t>
            </a:r>
          </a:p>
          <a:p>
            <a:r>
              <a:rPr lang="it-IT" b="1" dirty="0" err="1"/>
              <a:t>etcd</a:t>
            </a:r>
            <a:r>
              <a:rPr lang="it-IT" dirty="0"/>
              <a:t> (database che conserva lo stato del cluster) </a:t>
            </a:r>
          </a:p>
        </p:txBody>
      </p:sp>
    </p:spTree>
    <p:extLst>
      <p:ext uri="{BB962C8B-B14F-4D97-AF65-F5344CB8AC3E}">
        <p14:creationId xmlns:p14="http://schemas.microsoft.com/office/powerpoint/2010/main" val="2435131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B13F-D99E-895A-EB69-C6823E1E4E4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6A34ED4-7FE3-4F14-BD8C-8A6CA9D483FB}"/>
              </a:ext>
            </a:extLst>
          </p:cNvPr>
          <p:cNvSpPr>
            <a:spLocks noGrp="1"/>
          </p:cNvSpPr>
          <p:nvPr>
            <p:ph type="title"/>
          </p:nvPr>
        </p:nvSpPr>
        <p:spPr>
          <a:xfrm>
            <a:off x="838200" y="831206"/>
            <a:ext cx="10515600" cy="314198"/>
          </a:xfrm>
        </p:spPr>
        <p:txBody>
          <a:bodyPr/>
          <a:lstStyle/>
          <a:p>
            <a:r>
              <a:rPr lang="it-IT" dirty="0"/>
              <a:t>SLIDE 5: L'ARCHITETTURA DI KUBERNETES – CONTROL PLANE E WORKER NODES</a:t>
            </a:r>
          </a:p>
        </p:txBody>
      </p:sp>
      <p:sp>
        <p:nvSpPr>
          <p:cNvPr id="3" name="Contenuto della lezione">
            <a:extLst>
              <a:ext uri="{FF2B5EF4-FFF2-40B4-BE49-F238E27FC236}">
                <a16:creationId xmlns:a16="http://schemas.microsoft.com/office/drawing/2014/main" id="{DB71F4AD-D8AB-1FE2-0CFB-FCE5D82BB196}"/>
              </a:ext>
            </a:extLst>
          </p:cNvPr>
          <p:cNvSpPr>
            <a:spLocks noGrp="1"/>
          </p:cNvSpPr>
          <p:nvPr>
            <p:ph idx="1"/>
          </p:nvPr>
        </p:nvSpPr>
        <p:spPr>
          <a:xfrm>
            <a:off x="1317319" y="1735543"/>
            <a:ext cx="9557362" cy="4803369"/>
          </a:xfrm>
        </p:spPr>
        <p:txBody>
          <a:bodyPr/>
          <a:lstStyle/>
          <a:p>
            <a:r>
              <a:rPr lang="it-IT" b="1" dirty="0"/>
              <a:t>2. Worker </a:t>
            </a:r>
            <a:r>
              <a:rPr lang="it-IT" b="1" dirty="0" err="1"/>
              <a:t>Node</a:t>
            </a:r>
            <a:endParaRPr lang="it-IT" b="1" dirty="0"/>
          </a:p>
          <a:p>
            <a:r>
              <a:rPr lang="it-IT" dirty="0"/>
              <a:t>Sono le macchine che eseguono realmente le applicazioni.</a:t>
            </a:r>
          </a:p>
          <a:p>
            <a:r>
              <a:rPr lang="it-IT" dirty="0"/>
              <a:t>Ogni nodo contiene:</a:t>
            </a:r>
          </a:p>
          <a:p>
            <a:pPr marL="285750" indent="-285750">
              <a:buFont typeface="Arial" panose="020B0604020202020204" pitchFamily="34" charset="0"/>
              <a:buChar char="•"/>
            </a:pPr>
            <a:r>
              <a:rPr lang="it-IT" b="1" dirty="0" err="1"/>
              <a:t>kubelet</a:t>
            </a:r>
            <a:r>
              <a:rPr lang="it-IT" dirty="0"/>
              <a:t> → comunica con il Control Plane; </a:t>
            </a:r>
          </a:p>
          <a:p>
            <a:pPr marL="285750" indent="-285750">
              <a:buFont typeface="Arial" panose="020B0604020202020204" pitchFamily="34" charset="0"/>
              <a:buChar char="•"/>
            </a:pPr>
            <a:r>
              <a:rPr lang="it-IT" b="1" dirty="0"/>
              <a:t>container </a:t>
            </a:r>
            <a:r>
              <a:rPr lang="it-IT" b="1" dirty="0" err="1"/>
              <a:t>runtime</a:t>
            </a:r>
            <a:r>
              <a:rPr lang="it-IT" dirty="0"/>
              <a:t> (Docker, </a:t>
            </a:r>
            <a:r>
              <a:rPr lang="it-IT" dirty="0" err="1"/>
              <a:t>containerd</a:t>
            </a:r>
            <a:r>
              <a:rPr lang="it-IT" dirty="0"/>
              <a:t>, ecc.) → esegue i container; </a:t>
            </a:r>
          </a:p>
          <a:p>
            <a:pPr marL="285750" indent="-285750">
              <a:buFont typeface="Arial" panose="020B0604020202020204" pitchFamily="34" charset="0"/>
              <a:buChar char="•"/>
            </a:pPr>
            <a:r>
              <a:rPr lang="it-IT" b="1" dirty="0" err="1"/>
              <a:t>kube</a:t>
            </a:r>
            <a:r>
              <a:rPr lang="it-IT" b="1" dirty="0"/>
              <a:t>-proxy</a:t>
            </a:r>
            <a:r>
              <a:rPr lang="it-IT" dirty="0"/>
              <a:t> → gestisce la rete. </a:t>
            </a:r>
          </a:p>
          <a:p>
            <a:r>
              <a:rPr lang="it-IT" dirty="0"/>
              <a:t>All'interno dei nodi vengono eseguiti i </a:t>
            </a:r>
            <a:r>
              <a:rPr lang="it-IT" b="1" dirty="0"/>
              <a:t>Pod</a:t>
            </a:r>
            <a:r>
              <a:rPr lang="it-IT" dirty="0"/>
              <a:t>, che rappresentano l'unità minima di distribuzione in </a:t>
            </a:r>
            <a:r>
              <a:rPr lang="it-IT" dirty="0" err="1"/>
              <a:t>Kubernetes</a:t>
            </a:r>
            <a:r>
              <a:rPr lang="it-IT" dirty="0"/>
              <a:t> e possono contenere uno o più container.</a:t>
            </a:r>
          </a:p>
        </p:txBody>
      </p:sp>
    </p:spTree>
    <p:extLst>
      <p:ext uri="{BB962C8B-B14F-4D97-AF65-F5344CB8AC3E}">
        <p14:creationId xmlns:p14="http://schemas.microsoft.com/office/powerpoint/2010/main" val="1271995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597AD-90CD-B35D-1CBD-63A8B636351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446AFEC-7D46-B075-373C-629F2CC14564}"/>
              </a:ext>
            </a:extLst>
          </p:cNvPr>
          <p:cNvSpPr>
            <a:spLocks noGrp="1"/>
          </p:cNvSpPr>
          <p:nvPr>
            <p:ph type="title"/>
          </p:nvPr>
        </p:nvSpPr>
        <p:spPr>
          <a:xfrm>
            <a:off x="838200" y="831206"/>
            <a:ext cx="10515600" cy="314198"/>
          </a:xfrm>
        </p:spPr>
        <p:txBody>
          <a:bodyPr/>
          <a:lstStyle/>
          <a:p>
            <a:r>
              <a:rPr lang="it-IT" dirty="0"/>
              <a:t>SLIDE 6: L'ARCHITETTURA DI KUBERNETES – CONTROL PLANE E WORKER NODES</a:t>
            </a:r>
          </a:p>
        </p:txBody>
      </p:sp>
      <p:sp>
        <p:nvSpPr>
          <p:cNvPr id="3" name="Contenuto della lezione">
            <a:extLst>
              <a:ext uri="{FF2B5EF4-FFF2-40B4-BE49-F238E27FC236}">
                <a16:creationId xmlns:a16="http://schemas.microsoft.com/office/drawing/2014/main" id="{9BDAAEFD-71F6-D41B-52D6-F4A75D3188D7}"/>
              </a:ext>
            </a:extLst>
          </p:cNvPr>
          <p:cNvSpPr>
            <a:spLocks noGrp="1"/>
          </p:cNvSpPr>
          <p:nvPr>
            <p:ph idx="1"/>
          </p:nvPr>
        </p:nvSpPr>
        <p:spPr>
          <a:xfrm>
            <a:off x="1317319" y="1735543"/>
            <a:ext cx="9557362" cy="4803369"/>
          </a:xfrm>
        </p:spPr>
        <p:txBody>
          <a:bodyPr/>
          <a:lstStyle/>
          <a:p>
            <a:r>
              <a:rPr lang="it-IT" dirty="0"/>
              <a:t>All'interno del Control Plane:</a:t>
            </a:r>
          </a:p>
          <a:p>
            <a:r>
              <a:rPr lang="it-IT" b="1" dirty="0"/>
              <a:t>API Server</a:t>
            </a:r>
            <a:r>
              <a:rPr lang="it-IT" dirty="0"/>
              <a:t>, che possiamo immaginare come la segreteria: fa da tramite per qualsiasi comando che diamo a </a:t>
            </a:r>
            <a:r>
              <a:rPr lang="it-IT" dirty="0" err="1"/>
              <a:t>Kubernetes</a:t>
            </a:r>
            <a:r>
              <a:rPr lang="it-IT" dirty="0"/>
              <a:t> (tramite la riga di comando), passa tassativamente da qui. </a:t>
            </a:r>
          </a:p>
          <a:p>
            <a:r>
              <a:rPr lang="it-IT" dirty="0"/>
              <a:t>L'</a:t>
            </a:r>
            <a:r>
              <a:rPr lang="it-IT" b="1" dirty="0" err="1"/>
              <a:t>etcd</a:t>
            </a:r>
            <a:r>
              <a:rPr lang="it-IT" b="1" dirty="0"/>
              <a:t> </a:t>
            </a:r>
            <a:r>
              <a:rPr lang="it-IT" dirty="0"/>
              <a:t>(</a:t>
            </a:r>
            <a:r>
              <a:rPr lang="it-IT" i="1" dirty="0"/>
              <a:t>et-sì-</a:t>
            </a:r>
            <a:r>
              <a:rPr lang="it-IT" i="1" dirty="0" err="1"/>
              <a:t>dî</a:t>
            </a:r>
            <a:r>
              <a:rPr lang="it-IT" dirty="0"/>
              <a:t>), è un database di tipo chiave-valore all’interno del cluster dove K8s annota lo stato di ogni singolo elemento (quali container sono vivi, quanta memoria rimane, ecc.). </a:t>
            </a:r>
            <a:r>
              <a:rPr lang="it-IT" dirty="0">
                <a:solidFill>
                  <a:srgbClr val="171FE2"/>
                </a:solidFill>
              </a:rPr>
              <a:t>Se </a:t>
            </a:r>
            <a:r>
              <a:rPr lang="it-IT" dirty="0" err="1">
                <a:solidFill>
                  <a:srgbClr val="171FE2"/>
                </a:solidFill>
              </a:rPr>
              <a:t>etcd</a:t>
            </a:r>
            <a:r>
              <a:rPr lang="it-IT" dirty="0">
                <a:solidFill>
                  <a:srgbClr val="171FE2"/>
                </a:solidFill>
              </a:rPr>
              <a:t> si corrompe, il cluster muore</a:t>
            </a:r>
            <a:r>
              <a:rPr lang="it-IT" dirty="0"/>
              <a:t>. </a:t>
            </a:r>
          </a:p>
          <a:p>
            <a:r>
              <a:rPr lang="it-IT" dirty="0"/>
              <a:t>Lo </a:t>
            </a:r>
            <a:r>
              <a:rPr lang="it-IT" b="1" dirty="0" err="1"/>
              <a:t>Scheduler</a:t>
            </a:r>
            <a:r>
              <a:rPr lang="it-IT" dirty="0"/>
              <a:t>, è il responsabile delle risorse: quando chiediamo di avviare un nuovo container, lo </a:t>
            </a:r>
            <a:r>
              <a:rPr lang="it-IT" dirty="0" err="1"/>
              <a:t>Scheduler</a:t>
            </a:r>
            <a:r>
              <a:rPr lang="it-IT" dirty="0"/>
              <a:t> controlla i Worker Nodes, vede quale ha più RAM libera e "prenota" il posto. </a:t>
            </a:r>
          </a:p>
          <a:p>
            <a:r>
              <a:rPr lang="it-IT" dirty="0"/>
              <a:t>Il </a:t>
            </a:r>
            <a:r>
              <a:rPr lang="it-IT" b="1" dirty="0"/>
              <a:t>Controller Manager</a:t>
            </a:r>
            <a:r>
              <a:rPr lang="it-IT" dirty="0"/>
              <a:t>, è il supervisore; verifica che lo "stato desiderato" coincida sempre con lo "stato reale". Se noi diciamo a </a:t>
            </a:r>
            <a:r>
              <a:rPr lang="it-IT" dirty="0" err="1"/>
              <a:t>Kubernetes</a:t>
            </a:r>
            <a:r>
              <a:rPr lang="it-IT" dirty="0"/>
              <a:t> </a:t>
            </a:r>
            <a:r>
              <a:rPr lang="it-IT" i="1" dirty="0"/>
              <a:t>"Voglio 3 copie del </a:t>
            </a:r>
            <a:r>
              <a:rPr lang="it-IT" i="1" dirty="0" err="1"/>
              <a:t>backend</a:t>
            </a:r>
            <a:r>
              <a:rPr lang="it-IT" i="1" dirty="0"/>
              <a:t>"</a:t>
            </a:r>
            <a:r>
              <a:rPr lang="it-IT" dirty="0"/>
              <a:t>, il Controller Manager controlla la situazione ogni secondo; se una copia crasha, lui se ne accorge e ordina immediatamente allo </a:t>
            </a:r>
            <a:r>
              <a:rPr lang="it-IT" dirty="0" err="1"/>
              <a:t>Scheduler</a:t>
            </a:r>
            <a:r>
              <a:rPr lang="it-IT" dirty="0"/>
              <a:t> di avviarne una nuova su un altro nodo.</a:t>
            </a:r>
          </a:p>
          <a:p>
            <a:r>
              <a:rPr lang="it-IT" dirty="0"/>
              <a:t>Questa separazione totale tra chi pensa (Control Plane) e chi lavora (Worker </a:t>
            </a:r>
            <a:r>
              <a:rPr lang="it-IT" dirty="0" err="1"/>
              <a:t>Node</a:t>
            </a:r>
            <a:r>
              <a:rPr lang="it-IT" dirty="0"/>
              <a:t>) è il segreto della stabilità di </a:t>
            </a:r>
            <a:r>
              <a:rPr lang="it-IT" dirty="0" err="1"/>
              <a:t>Kubernetes</a:t>
            </a:r>
            <a:r>
              <a:rPr lang="it-IT" dirty="0"/>
              <a:t>.</a:t>
            </a:r>
          </a:p>
        </p:txBody>
      </p:sp>
    </p:spTree>
    <p:extLst>
      <p:ext uri="{BB962C8B-B14F-4D97-AF65-F5344CB8AC3E}">
        <p14:creationId xmlns:p14="http://schemas.microsoft.com/office/powerpoint/2010/main" val="257534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A0C80-59A3-3043-4618-23B9A0BAE0C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D9DF965-D266-7772-7D26-1B5CDB4612DD}"/>
              </a:ext>
            </a:extLst>
          </p:cNvPr>
          <p:cNvSpPr>
            <a:spLocks noGrp="1"/>
          </p:cNvSpPr>
          <p:nvPr>
            <p:ph type="title"/>
          </p:nvPr>
        </p:nvSpPr>
        <p:spPr>
          <a:xfrm>
            <a:off x="838200" y="831206"/>
            <a:ext cx="10515600" cy="314198"/>
          </a:xfrm>
        </p:spPr>
        <p:txBody>
          <a:bodyPr/>
          <a:lstStyle/>
          <a:p>
            <a:r>
              <a:rPr lang="it-IT" dirty="0"/>
              <a:t>SLIDE 7: ABILITARE KUBERNETES LOCALE E PRIMI COMANDI CON CUBECTL</a:t>
            </a:r>
          </a:p>
        </p:txBody>
      </p:sp>
      <p:sp>
        <p:nvSpPr>
          <p:cNvPr id="3" name="Contenuto della lezione">
            <a:extLst>
              <a:ext uri="{FF2B5EF4-FFF2-40B4-BE49-F238E27FC236}">
                <a16:creationId xmlns:a16="http://schemas.microsoft.com/office/drawing/2014/main" id="{B425932B-418A-658A-B0C8-AF294041479B}"/>
              </a:ext>
            </a:extLst>
          </p:cNvPr>
          <p:cNvSpPr>
            <a:spLocks noGrp="1"/>
          </p:cNvSpPr>
          <p:nvPr>
            <p:ph idx="1"/>
          </p:nvPr>
        </p:nvSpPr>
        <p:spPr>
          <a:xfrm>
            <a:off x="1317319" y="1735543"/>
            <a:ext cx="9557362" cy="4803369"/>
          </a:xfrm>
        </p:spPr>
        <p:txBody>
          <a:bodyPr/>
          <a:lstStyle/>
          <a:p>
            <a:r>
              <a:rPr lang="it-IT" dirty="0"/>
              <a:t>Configurare un cluster </a:t>
            </a:r>
            <a:r>
              <a:rPr lang="it-IT" dirty="0" err="1"/>
              <a:t>Kubernetes</a:t>
            </a:r>
            <a:r>
              <a:rPr lang="it-IT" dirty="0"/>
              <a:t> da zero in produzione richiede ore, ma noi utilizzeremo una scorciatoia integrata direttamente in: </a:t>
            </a:r>
            <a:r>
              <a:rPr lang="it-IT" b="1" dirty="0"/>
              <a:t>Docker Desktop</a:t>
            </a:r>
            <a:r>
              <a:rPr lang="it-IT" dirty="0"/>
              <a:t>. </a:t>
            </a:r>
          </a:p>
          <a:p>
            <a:r>
              <a:rPr lang="it-IT" dirty="0"/>
              <a:t>Gli sviluppatori di Docker hanno inserito un intero cluster </a:t>
            </a:r>
            <a:r>
              <a:rPr lang="it-IT" dirty="0" err="1"/>
              <a:t>Kubernetes</a:t>
            </a:r>
            <a:r>
              <a:rPr lang="it-IT" dirty="0"/>
              <a:t> a "singolo nodo" all'interno dell'applicazione.</a:t>
            </a:r>
          </a:p>
          <a:p>
            <a:r>
              <a:rPr lang="it-IT" dirty="0"/>
              <a:t>Per </a:t>
            </a:r>
            <a:r>
              <a:rPr lang="it-IT" b="1" dirty="0"/>
              <a:t>cluster </a:t>
            </a:r>
            <a:r>
              <a:rPr lang="it-IT" b="1" dirty="0" err="1"/>
              <a:t>Kubernetes</a:t>
            </a:r>
            <a:r>
              <a:rPr lang="it-IT" b="1" dirty="0"/>
              <a:t> a singolo nodo</a:t>
            </a:r>
            <a:r>
              <a:rPr lang="it-IT" dirty="0"/>
              <a:t> si intende un cluster composto da </a:t>
            </a:r>
            <a:r>
              <a:rPr lang="it-IT" b="1" dirty="0"/>
              <a:t>una sola macchina che svolge contemporaneamente il ruolo di Control Plane e di Worker </a:t>
            </a:r>
            <a:r>
              <a:rPr lang="it-IT" b="1" dirty="0" err="1"/>
              <a:t>Node</a:t>
            </a:r>
            <a:r>
              <a:rPr lang="it-IT" dirty="0"/>
              <a:t>.</a:t>
            </a:r>
          </a:p>
          <a:p>
            <a:r>
              <a:rPr lang="it-IT" dirty="0"/>
              <a:t>Apriamo l'interfaccia grafica di Docker Desktop, clicchiamo sull'icona dell'ingranaggio in alto a destra per entrare nelle </a:t>
            </a:r>
            <a:r>
              <a:rPr lang="it-IT" b="1" dirty="0"/>
              <a:t>Settings</a:t>
            </a:r>
            <a:r>
              <a:rPr lang="it-IT" dirty="0"/>
              <a:t> (Impostazioni). </a:t>
            </a:r>
          </a:p>
          <a:p>
            <a:r>
              <a:rPr lang="it-IT" dirty="0"/>
              <a:t>Nel menu laterale a sinistra, troveremo la voce </a:t>
            </a:r>
            <a:r>
              <a:rPr lang="it-IT" b="1" dirty="0"/>
              <a:t>"</a:t>
            </a:r>
            <a:r>
              <a:rPr lang="it-IT" b="1" dirty="0" err="1"/>
              <a:t>Kubernetes</a:t>
            </a:r>
            <a:r>
              <a:rPr lang="it-IT" b="1" dirty="0"/>
              <a:t>"</a:t>
            </a:r>
            <a:r>
              <a:rPr lang="it-IT" dirty="0"/>
              <a:t>. Mettiamo la spunta sulla casella </a:t>
            </a:r>
            <a:r>
              <a:rPr lang="it-IT" b="1" dirty="0"/>
              <a:t>"</a:t>
            </a:r>
            <a:r>
              <a:rPr lang="it-IT" b="1" dirty="0" err="1"/>
              <a:t>Enable</a:t>
            </a:r>
            <a:r>
              <a:rPr lang="it-IT" b="1" dirty="0"/>
              <a:t> </a:t>
            </a:r>
            <a:r>
              <a:rPr lang="it-IT" b="1" dirty="0" err="1"/>
              <a:t>Kubernetes</a:t>
            </a:r>
            <a:r>
              <a:rPr lang="it-IT" b="1" dirty="0"/>
              <a:t>"</a:t>
            </a:r>
            <a:r>
              <a:rPr lang="it-IT" dirty="0"/>
              <a:t> e confermiamo </a:t>
            </a:r>
            <a:r>
              <a:rPr lang="it-IT" b="1" dirty="0"/>
              <a:t>"</a:t>
            </a:r>
            <a:r>
              <a:rPr lang="it-IT" b="1" dirty="0" err="1"/>
              <a:t>Apply</a:t>
            </a:r>
            <a:r>
              <a:rPr lang="it-IT" b="1" dirty="0"/>
              <a:t> &amp; </a:t>
            </a:r>
            <a:r>
              <a:rPr lang="it-IT" b="1" dirty="0" err="1"/>
              <a:t>Restart</a:t>
            </a:r>
            <a:r>
              <a:rPr lang="it-IT" b="1" dirty="0"/>
              <a:t>"</a:t>
            </a:r>
            <a:r>
              <a:rPr lang="it-IT" dirty="0"/>
              <a:t>. </a:t>
            </a:r>
          </a:p>
          <a:p>
            <a:r>
              <a:rPr lang="it-IT" dirty="0"/>
              <a:t>Windows vi chiederà una conferma di sicurezza e Docker Desktop inizierà a scaricare i componenti del Control Plane in background. </a:t>
            </a:r>
          </a:p>
          <a:p>
            <a:r>
              <a:rPr lang="it-IT" dirty="0"/>
              <a:t>Ci vorranno un paio di minuti: </a:t>
            </a:r>
            <a:r>
              <a:rPr lang="it-IT" dirty="0">
                <a:solidFill>
                  <a:srgbClr val="171FE2"/>
                </a:solidFill>
              </a:rPr>
              <a:t>capiremo che tutto è pronto quando vedremo l'iconcina di </a:t>
            </a:r>
            <a:r>
              <a:rPr lang="it-IT" dirty="0" err="1">
                <a:solidFill>
                  <a:srgbClr val="171FE2"/>
                </a:solidFill>
              </a:rPr>
              <a:t>Kubernetes</a:t>
            </a:r>
            <a:r>
              <a:rPr lang="it-IT" dirty="0">
                <a:solidFill>
                  <a:srgbClr val="171FE2"/>
                </a:solidFill>
              </a:rPr>
              <a:t> in basso a sinistra diventare di colore verde fisso.</a:t>
            </a:r>
          </a:p>
          <a:p>
            <a:endParaRPr lang="it-IT" dirty="0">
              <a:solidFill>
                <a:srgbClr val="171FE2"/>
              </a:solidFill>
            </a:endParaRPr>
          </a:p>
        </p:txBody>
      </p:sp>
      <p:pic>
        <p:nvPicPr>
          <p:cNvPr id="5" name="Immagine 4">
            <a:extLst>
              <a:ext uri="{FF2B5EF4-FFF2-40B4-BE49-F238E27FC236}">
                <a16:creationId xmlns:a16="http://schemas.microsoft.com/office/drawing/2014/main" id="{3B5181B3-8A2E-AB77-54E1-098F87D77044}"/>
              </a:ext>
            </a:extLst>
          </p:cNvPr>
          <p:cNvPicPr>
            <a:picLocks noChangeAspect="1"/>
          </p:cNvPicPr>
          <p:nvPr/>
        </p:nvPicPr>
        <p:blipFill>
          <a:blip r:embed="rId2"/>
          <a:stretch>
            <a:fillRect/>
          </a:stretch>
        </p:blipFill>
        <p:spPr>
          <a:xfrm>
            <a:off x="1317319" y="6405543"/>
            <a:ext cx="4963218" cy="266737"/>
          </a:xfrm>
          <a:prstGeom prst="rect">
            <a:avLst/>
          </a:prstGeom>
        </p:spPr>
      </p:pic>
    </p:spTree>
    <p:extLst>
      <p:ext uri="{BB962C8B-B14F-4D97-AF65-F5344CB8AC3E}">
        <p14:creationId xmlns:p14="http://schemas.microsoft.com/office/powerpoint/2010/main" val="2634141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D1AED-1088-195D-1432-22365069575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D9D3DF1-186B-847E-5CA4-2080E00CC4FB}"/>
              </a:ext>
            </a:extLst>
          </p:cNvPr>
          <p:cNvSpPr>
            <a:spLocks noGrp="1"/>
          </p:cNvSpPr>
          <p:nvPr>
            <p:ph type="title"/>
          </p:nvPr>
        </p:nvSpPr>
        <p:spPr>
          <a:xfrm>
            <a:off x="838200" y="831206"/>
            <a:ext cx="10515600" cy="314198"/>
          </a:xfrm>
        </p:spPr>
        <p:txBody>
          <a:bodyPr/>
          <a:lstStyle/>
          <a:p>
            <a:r>
              <a:rPr lang="it-IT" dirty="0"/>
              <a:t>SLIDE 8: ABILITARE KUBERNETES LOCALE E PRIMI COMANDI CON CUBECTL</a:t>
            </a:r>
          </a:p>
        </p:txBody>
      </p:sp>
      <p:sp>
        <p:nvSpPr>
          <p:cNvPr id="3" name="Contenuto della lezione">
            <a:extLst>
              <a:ext uri="{FF2B5EF4-FFF2-40B4-BE49-F238E27FC236}">
                <a16:creationId xmlns:a16="http://schemas.microsoft.com/office/drawing/2014/main" id="{17F096D3-B791-9D1D-F84A-2E04F1B31F8F}"/>
              </a:ext>
            </a:extLst>
          </p:cNvPr>
          <p:cNvSpPr>
            <a:spLocks noGrp="1"/>
          </p:cNvSpPr>
          <p:nvPr>
            <p:ph idx="1"/>
          </p:nvPr>
        </p:nvSpPr>
        <p:spPr>
          <a:xfrm>
            <a:off x="1317319" y="1735543"/>
            <a:ext cx="9557362" cy="4803369"/>
          </a:xfrm>
        </p:spPr>
        <p:txBody>
          <a:bodyPr/>
          <a:lstStyle/>
          <a:p>
            <a:r>
              <a:rPr lang="it-IT" dirty="0"/>
              <a:t>Ora che </a:t>
            </a:r>
            <a:r>
              <a:rPr lang="it-IT" dirty="0" err="1"/>
              <a:t>Kubernetes</a:t>
            </a:r>
            <a:r>
              <a:rPr lang="it-IT" dirty="0"/>
              <a:t> è attivo, abbiamo bisogno dello strumento per parlarci. </a:t>
            </a:r>
          </a:p>
          <a:p>
            <a:r>
              <a:rPr lang="it-IT" dirty="0"/>
              <a:t>Questo strumento è la </a:t>
            </a:r>
            <a:r>
              <a:rPr lang="it-IT" dirty="0">
                <a:solidFill>
                  <a:srgbClr val="171FE2"/>
                </a:solidFill>
              </a:rPr>
              <a:t>CLI (</a:t>
            </a:r>
            <a:r>
              <a:rPr lang="it-IT" dirty="0" err="1">
                <a:solidFill>
                  <a:srgbClr val="171FE2"/>
                </a:solidFill>
              </a:rPr>
              <a:t>Command</a:t>
            </a:r>
            <a:r>
              <a:rPr lang="it-IT" dirty="0">
                <a:solidFill>
                  <a:srgbClr val="171FE2"/>
                </a:solidFill>
              </a:rPr>
              <a:t> Line Interface) ufficiale di </a:t>
            </a:r>
            <a:r>
              <a:rPr lang="it-IT" dirty="0" err="1">
                <a:solidFill>
                  <a:srgbClr val="171FE2"/>
                </a:solidFill>
              </a:rPr>
              <a:t>Kubernetes</a:t>
            </a:r>
            <a:r>
              <a:rPr lang="it-IT" dirty="0"/>
              <a:t>, chiamata </a:t>
            </a:r>
            <a:r>
              <a:rPr lang="it-IT" b="1" dirty="0" err="1">
                <a:solidFill>
                  <a:srgbClr val="171FE2"/>
                </a:solidFill>
              </a:rPr>
              <a:t>kubectl</a:t>
            </a:r>
            <a:r>
              <a:rPr lang="it-IT" dirty="0"/>
              <a:t> (</a:t>
            </a:r>
            <a:r>
              <a:rPr lang="it-IT" i="1" dirty="0" err="1"/>
              <a:t>koob</a:t>
            </a:r>
            <a:r>
              <a:rPr lang="it-IT" i="1" dirty="0"/>
              <a:t>-control</a:t>
            </a:r>
            <a:r>
              <a:rPr lang="it-IT" dirty="0"/>
              <a:t>). </a:t>
            </a:r>
          </a:p>
          <a:p>
            <a:r>
              <a:rPr lang="it-IT" dirty="0"/>
              <a:t>Apriamo il terminale (</a:t>
            </a:r>
            <a:r>
              <a:rPr lang="it-IT" dirty="0" err="1"/>
              <a:t>Git</a:t>
            </a:r>
            <a:r>
              <a:rPr lang="it-IT" dirty="0"/>
              <a:t> Bash o la </a:t>
            </a:r>
            <a:r>
              <a:rPr lang="it-IT" dirty="0" err="1"/>
              <a:t>PowerShell</a:t>
            </a:r>
            <a:r>
              <a:rPr lang="it-IT" dirty="0"/>
              <a:t>). </a:t>
            </a:r>
          </a:p>
          <a:p>
            <a:r>
              <a:rPr lang="it-IT" dirty="0"/>
              <a:t>Per verificare la corretta comunicazione con il cluster appena nato, digitiamo il comando: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cluster-info </a:t>
            </a:r>
          </a:p>
          <a:p>
            <a:r>
              <a:rPr lang="it-IT" dirty="0"/>
              <a:t>Il terminale risponderà dicendoci che il Control Plane è in esecuzione su un indirizzo locale (https://kubernetes.docker.internal:...):</a:t>
            </a:r>
          </a:p>
          <a:p>
            <a:r>
              <a:rPr lang="en-US" dirty="0">
                <a:solidFill>
                  <a:srgbClr val="FF0000"/>
                </a:solidFill>
                <a:latin typeface="Consolas" panose="020B0609020204030204" pitchFamily="49" charset="0"/>
              </a:rPr>
              <a:t>Kubernetes control plane is running at https://127.0.0.1:57848</a:t>
            </a:r>
            <a:endParaRPr lang="it-IT" dirty="0">
              <a:solidFill>
                <a:srgbClr val="FF0000"/>
              </a:solidFill>
              <a:latin typeface="Consolas" panose="020B0609020204030204" pitchFamily="49" charset="0"/>
            </a:endParaRPr>
          </a:p>
          <a:p>
            <a:r>
              <a:rPr lang="it-IT" dirty="0"/>
              <a:t>Subito dopo, lanciamo il nostro secondo comando per censire l'hardware a disposizione:</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nodes</a:t>
            </a:r>
            <a:endParaRPr lang="it-IT" dirty="0"/>
          </a:p>
          <a:p>
            <a:r>
              <a:rPr lang="it-IT" dirty="0"/>
              <a:t>Il terminale mostrerà una tabella con una riga contenente un nodo chiamato </a:t>
            </a:r>
            <a:r>
              <a:rPr lang="it-IT" dirty="0" err="1"/>
              <a:t>docker</a:t>
            </a:r>
            <a:r>
              <a:rPr lang="it-IT" dirty="0"/>
              <a:t>-desktop, con lo stato Ready. </a:t>
            </a:r>
          </a:p>
          <a:p>
            <a:endParaRPr lang="it-IT" dirty="0">
              <a:solidFill>
                <a:srgbClr val="171FE2"/>
              </a:solidFill>
            </a:endParaRPr>
          </a:p>
        </p:txBody>
      </p:sp>
      <p:pic>
        <p:nvPicPr>
          <p:cNvPr id="6" name="Immagine 5">
            <a:extLst>
              <a:ext uri="{FF2B5EF4-FFF2-40B4-BE49-F238E27FC236}">
                <a16:creationId xmlns:a16="http://schemas.microsoft.com/office/drawing/2014/main" id="{2FE6B05A-0C22-CB22-C843-066CEC0F72D7}"/>
              </a:ext>
            </a:extLst>
          </p:cNvPr>
          <p:cNvPicPr>
            <a:picLocks noChangeAspect="1"/>
          </p:cNvPicPr>
          <p:nvPr/>
        </p:nvPicPr>
        <p:blipFill>
          <a:blip r:embed="rId2"/>
          <a:stretch>
            <a:fillRect/>
          </a:stretch>
        </p:blipFill>
        <p:spPr>
          <a:xfrm>
            <a:off x="4645312" y="5986880"/>
            <a:ext cx="5630061" cy="390580"/>
          </a:xfrm>
          <a:prstGeom prst="rect">
            <a:avLst/>
          </a:prstGeom>
        </p:spPr>
      </p:pic>
    </p:spTree>
    <p:extLst>
      <p:ext uri="{BB962C8B-B14F-4D97-AF65-F5344CB8AC3E}">
        <p14:creationId xmlns:p14="http://schemas.microsoft.com/office/powerpoint/2010/main" val="2878107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668A0-54FE-3E99-C4B6-3C60D9B7147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79562E2-E896-C26E-6330-C8B39070B1D3}"/>
              </a:ext>
            </a:extLst>
          </p:cNvPr>
          <p:cNvSpPr>
            <a:spLocks noGrp="1"/>
          </p:cNvSpPr>
          <p:nvPr>
            <p:ph type="title"/>
          </p:nvPr>
        </p:nvSpPr>
        <p:spPr>
          <a:xfrm>
            <a:off x="838200" y="831206"/>
            <a:ext cx="10515600" cy="314198"/>
          </a:xfrm>
        </p:spPr>
        <p:txBody>
          <a:bodyPr/>
          <a:lstStyle/>
          <a:p>
            <a:r>
              <a:rPr lang="it-IT" dirty="0"/>
              <a:t>SLIDE 9: IL CONCETTO DI POD – L'ATOMO DI KUBERNETES</a:t>
            </a:r>
          </a:p>
        </p:txBody>
      </p:sp>
      <p:sp>
        <p:nvSpPr>
          <p:cNvPr id="3" name="Contenuto della lezione">
            <a:extLst>
              <a:ext uri="{FF2B5EF4-FFF2-40B4-BE49-F238E27FC236}">
                <a16:creationId xmlns:a16="http://schemas.microsoft.com/office/drawing/2014/main" id="{A1497315-06EE-2CB4-9742-F3A76B1E177F}"/>
              </a:ext>
            </a:extLst>
          </p:cNvPr>
          <p:cNvSpPr>
            <a:spLocks noGrp="1"/>
          </p:cNvSpPr>
          <p:nvPr>
            <p:ph idx="1"/>
          </p:nvPr>
        </p:nvSpPr>
        <p:spPr>
          <a:xfrm>
            <a:off x="1317319" y="1735543"/>
            <a:ext cx="9557362" cy="4803369"/>
          </a:xfrm>
        </p:spPr>
        <p:txBody>
          <a:bodyPr/>
          <a:lstStyle/>
          <a:p>
            <a:r>
              <a:rPr lang="it-IT" b="1" dirty="0" err="1"/>
              <a:t>Kubernetes</a:t>
            </a:r>
            <a:r>
              <a:rPr lang="it-IT" b="1" dirty="0"/>
              <a:t> non fa girare mai i container </a:t>
            </a:r>
            <a:r>
              <a:rPr lang="it-IT" b="1" u="sng" dirty="0">
                <a:solidFill>
                  <a:srgbClr val="171FE2"/>
                </a:solidFill>
              </a:rPr>
              <a:t>direttamente</a:t>
            </a:r>
            <a:r>
              <a:rPr lang="it-IT" b="1" dirty="0"/>
              <a:t> sul server</a:t>
            </a:r>
            <a:r>
              <a:rPr lang="it-IT" dirty="0"/>
              <a:t>. </a:t>
            </a:r>
          </a:p>
          <a:p>
            <a:r>
              <a:rPr lang="it-IT" dirty="0"/>
              <a:t>Li avvolge sempre all'interno di un oggetto intermedio più grande chiamato </a:t>
            </a:r>
            <a:r>
              <a:rPr lang="it-IT" b="1" dirty="0"/>
              <a:t>Pod</a:t>
            </a:r>
            <a:r>
              <a:rPr lang="it-IT" dirty="0"/>
              <a:t>. </a:t>
            </a:r>
          </a:p>
          <a:p>
            <a:r>
              <a:rPr lang="it-IT" dirty="0"/>
              <a:t>Il Pod è l'atomo di </a:t>
            </a:r>
            <a:r>
              <a:rPr lang="it-IT" dirty="0" err="1"/>
              <a:t>Kubernetes</a:t>
            </a:r>
            <a:r>
              <a:rPr lang="it-IT" dirty="0"/>
              <a:t>, l'unità di misura minima e più piccola che il cluster è in grado di creare, pianificare e gestire. </a:t>
            </a:r>
          </a:p>
          <a:p>
            <a:r>
              <a:rPr lang="it-IT" dirty="0"/>
              <a:t>Un Pod rappresenta un singolo computer virtuale all'interno del nostro cluster. </a:t>
            </a:r>
          </a:p>
          <a:p>
            <a:r>
              <a:rPr lang="it-IT" dirty="0"/>
              <a:t>Nella stragrande maggioranza dei casi la regola è </a:t>
            </a:r>
            <a:r>
              <a:rPr lang="it-IT" b="1" dirty="0"/>
              <a:t>"Un Container per ogni Pod".</a:t>
            </a:r>
          </a:p>
          <a:p>
            <a:r>
              <a:rPr lang="it-IT" dirty="0"/>
              <a:t>Ad esempio, il </a:t>
            </a:r>
            <a:r>
              <a:rPr lang="it-IT" dirty="0" err="1"/>
              <a:t>backend</a:t>
            </a:r>
            <a:r>
              <a:rPr lang="it-IT" dirty="0"/>
              <a:t> in Spring Boot girerà dentro il suo Pod dedicato, e il database </a:t>
            </a:r>
            <a:r>
              <a:rPr lang="it-IT" dirty="0" err="1"/>
              <a:t>MariaDB</a:t>
            </a:r>
            <a:r>
              <a:rPr lang="it-IT" dirty="0"/>
              <a:t> girerà dentro un altro Pod separato. </a:t>
            </a:r>
          </a:p>
          <a:p>
            <a:r>
              <a:rPr lang="it-IT" dirty="0">
                <a:solidFill>
                  <a:srgbClr val="171FE2"/>
                </a:solidFill>
              </a:rPr>
              <a:t>Tuttavia, </a:t>
            </a:r>
            <a:r>
              <a:rPr lang="it-IT" dirty="0" err="1">
                <a:solidFill>
                  <a:srgbClr val="171FE2"/>
                </a:solidFill>
              </a:rPr>
              <a:t>Kubernetes</a:t>
            </a:r>
            <a:r>
              <a:rPr lang="it-IT" dirty="0">
                <a:solidFill>
                  <a:srgbClr val="171FE2"/>
                </a:solidFill>
              </a:rPr>
              <a:t> permette di inserire più container nello stesso identico Pod se e solo se questi sono strettamente interdipendenti (co-locati). </a:t>
            </a:r>
          </a:p>
          <a:p>
            <a:r>
              <a:rPr lang="it-IT" dirty="0"/>
              <a:t>Il Pod fornisce ai container al suo interno: lo stesso indirizzo IP; la stessa rete locale (</a:t>
            </a:r>
            <a:r>
              <a:rPr lang="it-IT" dirty="0" err="1"/>
              <a:t>localhost</a:t>
            </a:r>
            <a:r>
              <a:rPr lang="it-IT" dirty="0"/>
              <a:t>); eventuali volumi condivisi.</a:t>
            </a:r>
          </a:p>
          <a:p>
            <a:endParaRPr lang="it-IT" dirty="0">
              <a:solidFill>
                <a:srgbClr val="171FE2"/>
              </a:solidFill>
            </a:endParaRPr>
          </a:p>
        </p:txBody>
      </p:sp>
    </p:spTree>
    <p:extLst>
      <p:ext uri="{BB962C8B-B14F-4D97-AF65-F5344CB8AC3E}">
        <p14:creationId xmlns:p14="http://schemas.microsoft.com/office/powerpoint/2010/main" val="939780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2A23-E6EE-AED1-E648-2FF77634D10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A1617E5-9B96-A10A-4B14-8558E2ABA3D3}"/>
              </a:ext>
            </a:extLst>
          </p:cNvPr>
          <p:cNvSpPr>
            <a:spLocks noGrp="1"/>
          </p:cNvSpPr>
          <p:nvPr>
            <p:ph type="title"/>
          </p:nvPr>
        </p:nvSpPr>
        <p:spPr>
          <a:xfrm>
            <a:off x="838200" y="831206"/>
            <a:ext cx="10515600" cy="314198"/>
          </a:xfrm>
        </p:spPr>
        <p:txBody>
          <a:bodyPr/>
          <a:lstStyle/>
          <a:p>
            <a:r>
              <a:rPr lang="it-IT" dirty="0"/>
              <a:t>SLIDE 10: IL CONCETTO DI POD – L'ATOMO DI KUBERNETES</a:t>
            </a:r>
          </a:p>
        </p:txBody>
      </p:sp>
      <p:sp>
        <p:nvSpPr>
          <p:cNvPr id="3" name="Contenuto della lezione">
            <a:extLst>
              <a:ext uri="{FF2B5EF4-FFF2-40B4-BE49-F238E27FC236}">
                <a16:creationId xmlns:a16="http://schemas.microsoft.com/office/drawing/2014/main" id="{70D7A732-0F16-494E-F0E7-4BCBB793566E}"/>
              </a:ext>
            </a:extLst>
          </p:cNvPr>
          <p:cNvSpPr>
            <a:spLocks noGrp="1"/>
          </p:cNvSpPr>
          <p:nvPr>
            <p:ph idx="1"/>
          </p:nvPr>
        </p:nvSpPr>
        <p:spPr>
          <a:xfrm>
            <a:off x="1317319" y="1735543"/>
            <a:ext cx="9557362" cy="4803369"/>
          </a:xfrm>
        </p:spPr>
        <p:txBody>
          <a:bodyPr/>
          <a:lstStyle/>
          <a:p>
            <a:r>
              <a:rPr lang="it-IT" dirty="0"/>
              <a:t>Il Pod fornisce ai container al suo interno: lo stesso indirizzo IP; la stessa rete locale (</a:t>
            </a:r>
            <a:r>
              <a:rPr lang="it-IT" dirty="0" err="1"/>
              <a:t>localhost</a:t>
            </a:r>
            <a:r>
              <a:rPr lang="it-IT" dirty="0"/>
              <a:t>); eventuali volumi condivisi.</a:t>
            </a:r>
          </a:p>
          <a:p>
            <a:r>
              <a:rPr lang="it-IT" dirty="0"/>
              <a:t>Possono parlarsi tra loro semplicemente usando la parola </a:t>
            </a:r>
            <a:r>
              <a:rPr lang="it-IT" dirty="0" err="1"/>
              <a:t>localhost</a:t>
            </a:r>
            <a:r>
              <a:rPr lang="it-IT" dirty="0"/>
              <a:t>, esattamente come se fossero programmi diversi che girano sullo stesso computer fisico. </a:t>
            </a:r>
          </a:p>
          <a:p>
            <a:r>
              <a:rPr lang="it-IT" dirty="0"/>
              <a:t>Dettaglio fondamentale per l'architettura: i Pod sono </a:t>
            </a:r>
            <a:r>
              <a:rPr lang="it-IT" b="1" dirty="0"/>
              <a:t>effimeri e mortali</a:t>
            </a:r>
            <a:r>
              <a:rPr lang="it-IT" dirty="0"/>
              <a:t>. </a:t>
            </a:r>
          </a:p>
          <a:p>
            <a:r>
              <a:rPr lang="it-IT" dirty="0">
                <a:solidFill>
                  <a:srgbClr val="171FE2"/>
                </a:solidFill>
              </a:rPr>
              <a:t>Se un nodo si rompe, il Pod viene distrutto e ricreato altrove</a:t>
            </a:r>
          </a:p>
          <a:p>
            <a:r>
              <a:rPr lang="it-IT" dirty="0"/>
              <a:t>Immaginiamo di avere un cluster così composto:</a:t>
            </a:r>
          </a:p>
          <a:p>
            <a:r>
              <a:rPr lang="it-IT" dirty="0">
                <a:solidFill>
                  <a:srgbClr val="171FE2"/>
                </a:solidFill>
              </a:rPr>
              <a:t>Worker </a:t>
            </a:r>
            <a:r>
              <a:rPr lang="it-IT" dirty="0" err="1">
                <a:solidFill>
                  <a:srgbClr val="171FE2"/>
                </a:solidFill>
              </a:rPr>
              <a:t>Node</a:t>
            </a:r>
            <a:r>
              <a:rPr lang="it-IT" dirty="0">
                <a:solidFill>
                  <a:srgbClr val="171FE2"/>
                </a:solidFill>
              </a:rPr>
              <a:t> 1 (PC A)</a:t>
            </a:r>
          </a:p>
          <a:p>
            <a:r>
              <a:rPr lang="it-IT" dirty="0">
                <a:solidFill>
                  <a:srgbClr val="171FE2"/>
                </a:solidFill>
              </a:rPr>
              <a:t>Worker </a:t>
            </a:r>
            <a:r>
              <a:rPr lang="it-IT" dirty="0" err="1">
                <a:solidFill>
                  <a:srgbClr val="171FE2"/>
                </a:solidFill>
              </a:rPr>
              <a:t>Node</a:t>
            </a:r>
            <a:r>
              <a:rPr lang="it-IT" dirty="0">
                <a:solidFill>
                  <a:srgbClr val="171FE2"/>
                </a:solidFill>
              </a:rPr>
              <a:t> 2 (PC B)</a:t>
            </a:r>
          </a:p>
          <a:p>
            <a:r>
              <a:rPr lang="it-IT" dirty="0">
                <a:solidFill>
                  <a:srgbClr val="171FE2"/>
                </a:solidFill>
              </a:rPr>
              <a:t>Worker </a:t>
            </a:r>
            <a:r>
              <a:rPr lang="it-IT" dirty="0" err="1">
                <a:solidFill>
                  <a:srgbClr val="171FE2"/>
                </a:solidFill>
              </a:rPr>
              <a:t>Node</a:t>
            </a:r>
            <a:r>
              <a:rPr lang="it-IT" dirty="0">
                <a:solidFill>
                  <a:srgbClr val="171FE2"/>
                </a:solidFill>
              </a:rPr>
              <a:t> 3 (PC C)</a:t>
            </a:r>
          </a:p>
          <a:p>
            <a:endParaRPr lang="it-IT" dirty="0">
              <a:solidFill>
                <a:srgbClr val="171FE2"/>
              </a:solidFill>
            </a:endParaRPr>
          </a:p>
        </p:txBody>
      </p:sp>
    </p:spTree>
    <p:extLst>
      <p:ext uri="{BB962C8B-B14F-4D97-AF65-F5344CB8AC3E}">
        <p14:creationId xmlns:p14="http://schemas.microsoft.com/office/powerpoint/2010/main" val="646877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23E44-BEAA-3A68-3995-74335584BAC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55C42AA-F7A4-29FA-A83B-8F8400D49A3B}"/>
              </a:ext>
            </a:extLst>
          </p:cNvPr>
          <p:cNvSpPr>
            <a:spLocks noGrp="1"/>
          </p:cNvSpPr>
          <p:nvPr>
            <p:ph type="title"/>
          </p:nvPr>
        </p:nvSpPr>
        <p:spPr>
          <a:xfrm>
            <a:off x="838200" y="831206"/>
            <a:ext cx="10515600" cy="314198"/>
          </a:xfrm>
        </p:spPr>
        <p:txBody>
          <a:bodyPr/>
          <a:lstStyle/>
          <a:p>
            <a:r>
              <a:rPr lang="it-IT" dirty="0"/>
              <a:t>SLIDE 11: IL CONCETTO DI POD – L'ATOMO DI KUBERNETES</a:t>
            </a:r>
          </a:p>
        </p:txBody>
      </p:sp>
      <p:sp>
        <p:nvSpPr>
          <p:cNvPr id="3" name="Contenuto della lezione">
            <a:extLst>
              <a:ext uri="{FF2B5EF4-FFF2-40B4-BE49-F238E27FC236}">
                <a16:creationId xmlns:a16="http://schemas.microsoft.com/office/drawing/2014/main" id="{D7D01BEC-B905-E731-227F-4323B9BC0DAD}"/>
              </a:ext>
            </a:extLst>
          </p:cNvPr>
          <p:cNvSpPr>
            <a:spLocks noGrp="1"/>
          </p:cNvSpPr>
          <p:nvPr>
            <p:ph idx="1"/>
          </p:nvPr>
        </p:nvSpPr>
        <p:spPr>
          <a:xfrm>
            <a:off x="1317319" y="1735543"/>
            <a:ext cx="9557362" cy="4803369"/>
          </a:xfrm>
        </p:spPr>
        <p:txBody>
          <a:bodyPr/>
          <a:lstStyle/>
          <a:p>
            <a:r>
              <a:rPr lang="it-IT" dirty="0"/>
              <a:t>Un Pod (ad esempio una applicazione web) sta girando su </a:t>
            </a:r>
            <a:r>
              <a:rPr lang="it-IT" b="1" dirty="0"/>
              <a:t>PC A</a:t>
            </a:r>
            <a:r>
              <a:rPr lang="it-IT" dirty="0"/>
              <a:t>. </a:t>
            </a:r>
          </a:p>
          <a:p>
            <a:r>
              <a:rPr lang="it-IT" dirty="0"/>
              <a:t>Se </a:t>
            </a:r>
            <a:r>
              <a:rPr lang="it-IT" b="1" dirty="0"/>
              <a:t>PC A si guasta</a:t>
            </a:r>
            <a:r>
              <a:rPr lang="it-IT" dirty="0"/>
              <a:t> (si spegne, perde la rete, si rompe il disco, ecc.), anche il Pod che era in esecuzione su quel server smette di esistere. </a:t>
            </a:r>
          </a:p>
          <a:p>
            <a:r>
              <a:rPr lang="it-IT" dirty="0" err="1"/>
              <a:t>Kubernetes</a:t>
            </a:r>
            <a:r>
              <a:rPr lang="it-IT" dirty="0"/>
              <a:t> rileva il problema e, se hai definito un </a:t>
            </a:r>
            <a:r>
              <a:rPr lang="it-IT" b="1" dirty="0"/>
              <a:t>Deployment</a:t>
            </a:r>
            <a:r>
              <a:rPr lang="it-IT" dirty="0"/>
              <a:t>, crea automaticamente un nuovo Pod su un altro nodo disponibile, ad esempio </a:t>
            </a:r>
            <a:r>
              <a:rPr lang="it-IT" b="1" dirty="0"/>
              <a:t>PC B</a:t>
            </a:r>
            <a:r>
              <a:rPr lang="it-IT" dirty="0"/>
              <a:t>. </a:t>
            </a:r>
          </a:p>
          <a:p>
            <a:r>
              <a:rPr lang="it-IT" dirty="0"/>
              <a:t>Poiché i Pod sono entità temporanee, il nuovo Pod riceve </a:t>
            </a:r>
            <a:r>
              <a:rPr lang="it-IT" b="1" dirty="0"/>
              <a:t>un nuovo indirizzo IP</a:t>
            </a:r>
            <a:r>
              <a:rPr lang="it-IT" dirty="0"/>
              <a:t>.</a:t>
            </a:r>
          </a:p>
          <a:p>
            <a:r>
              <a:rPr lang="it-IT" dirty="0"/>
              <a:t>Per questo motivo </a:t>
            </a:r>
            <a:r>
              <a:rPr lang="it-IT" b="1" dirty="0"/>
              <a:t>non si accede mai direttamente all'IP di un Pod</a:t>
            </a:r>
            <a:r>
              <a:rPr lang="it-IT" dirty="0"/>
              <a:t>. Si usa invece un </a:t>
            </a:r>
            <a:r>
              <a:rPr lang="it-IT" b="1" dirty="0"/>
              <a:t>Service</a:t>
            </a:r>
            <a:r>
              <a:rPr lang="it-IT" dirty="0"/>
              <a:t>, che fornisce un indirizzo stabile e reindirizza il traffico verso il Pod attualmente in esecuzione.</a:t>
            </a:r>
          </a:p>
          <a:p>
            <a:r>
              <a:rPr lang="it-IT" dirty="0"/>
              <a:t>In breve:</a:t>
            </a:r>
          </a:p>
          <a:p>
            <a:r>
              <a:rPr lang="it-IT" b="1" dirty="0"/>
              <a:t>Nodo = PC/server</a:t>
            </a:r>
            <a:r>
              <a:rPr lang="it-IT" dirty="0"/>
              <a:t>. </a:t>
            </a:r>
          </a:p>
          <a:p>
            <a:r>
              <a:rPr lang="it-IT" b="1" dirty="0"/>
              <a:t>Pod = insieme dei processi/container che gira su quel PC</a:t>
            </a:r>
            <a:r>
              <a:rPr lang="it-IT" dirty="0"/>
              <a:t>. </a:t>
            </a:r>
          </a:p>
          <a:p>
            <a:r>
              <a:rPr lang="it-IT" dirty="0"/>
              <a:t>Se il PC si rompe, </a:t>
            </a:r>
            <a:r>
              <a:rPr lang="it-IT" dirty="0" err="1"/>
              <a:t>Kubernetes</a:t>
            </a:r>
            <a:r>
              <a:rPr lang="it-IT" dirty="0"/>
              <a:t> sposta il Pod su un altro PC. </a:t>
            </a:r>
          </a:p>
          <a:p>
            <a:r>
              <a:rPr lang="it-IT" dirty="0"/>
              <a:t>Il nuovo Pod ha un IP diverso, ma il Service continua a renderlo raggiungibile senza che gli utenti se ne accorgano.</a:t>
            </a:r>
          </a:p>
          <a:p>
            <a:endParaRPr lang="it-IT" dirty="0">
              <a:solidFill>
                <a:srgbClr val="171FE2"/>
              </a:solidFill>
            </a:endParaRPr>
          </a:p>
        </p:txBody>
      </p:sp>
    </p:spTree>
    <p:extLst>
      <p:ext uri="{BB962C8B-B14F-4D97-AF65-F5344CB8AC3E}">
        <p14:creationId xmlns:p14="http://schemas.microsoft.com/office/powerpoint/2010/main" val="2910307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2FFAC-0E8E-A15E-2DE5-68A4F8E0F6B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B5371B8-6CB0-58EF-F08D-846C42C93711}"/>
              </a:ext>
            </a:extLst>
          </p:cNvPr>
          <p:cNvSpPr>
            <a:spLocks noGrp="1"/>
          </p:cNvSpPr>
          <p:nvPr>
            <p:ph type="title"/>
          </p:nvPr>
        </p:nvSpPr>
        <p:spPr>
          <a:xfrm>
            <a:off x="838200" y="831206"/>
            <a:ext cx="10515600" cy="314198"/>
          </a:xfrm>
        </p:spPr>
        <p:txBody>
          <a:bodyPr/>
          <a:lstStyle/>
          <a:p>
            <a:r>
              <a:rPr lang="it-IT" dirty="0"/>
              <a:t>SLIDE 12: Stesso IP POD ma porte diverse</a:t>
            </a:r>
          </a:p>
        </p:txBody>
      </p:sp>
      <p:sp>
        <p:nvSpPr>
          <p:cNvPr id="3" name="Contenuto della lezione">
            <a:extLst>
              <a:ext uri="{FF2B5EF4-FFF2-40B4-BE49-F238E27FC236}">
                <a16:creationId xmlns:a16="http://schemas.microsoft.com/office/drawing/2014/main" id="{89DA13AF-33E4-FB56-3C92-C00B63C64475}"/>
              </a:ext>
            </a:extLst>
          </p:cNvPr>
          <p:cNvSpPr>
            <a:spLocks noGrp="1"/>
          </p:cNvSpPr>
          <p:nvPr>
            <p:ph idx="1"/>
          </p:nvPr>
        </p:nvSpPr>
        <p:spPr>
          <a:xfrm>
            <a:off x="1317319" y="1735543"/>
            <a:ext cx="9557362" cy="4803369"/>
          </a:xfrm>
        </p:spPr>
        <p:txBody>
          <a:bodyPr/>
          <a:lstStyle/>
          <a:p>
            <a:r>
              <a:rPr lang="it-IT" i="1" dirty="0"/>
              <a:t>Se i container nel Pod condividono il </a:t>
            </a:r>
            <a:r>
              <a:rPr lang="it-IT" i="1" dirty="0" err="1"/>
              <a:t>localhost</a:t>
            </a:r>
            <a:r>
              <a:rPr lang="it-IT" i="1" dirty="0"/>
              <a:t>, due container possono ascoltare sulla porta 8080 nello stesso Pod?"</a:t>
            </a:r>
            <a:r>
              <a:rPr lang="it-IT" dirty="0"/>
              <a:t>. La risposta è </a:t>
            </a:r>
            <a:r>
              <a:rPr lang="it-IT" b="1" dirty="0"/>
              <a:t>NO</a:t>
            </a:r>
            <a:r>
              <a:rPr lang="it-IT" dirty="0"/>
              <a:t>, andrebbero in conflitto proprio perché dividono la stessa interfaccia di rete (Network </a:t>
            </a:r>
            <a:r>
              <a:rPr lang="it-IT" dirty="0" err="1"/>
              <a:t>Namespace</a:t>
            </a:r>
            <a:r>
              <a:rPr lang="it-IT" dirty="0"/>
              <a:t>). </a:t>
            </a:r>
          </a:p>
          <a:p>
            <a:r>
              <a:rPr lang="it-IT" dirty="0"/>
              <a:t>Ogni container nel medesimo Pod deve avere una porta unica.</a:t>
            </a:r>
          </a:p>
          <a:p>
            <a:r>
              <a:rPr lang="it-IT" dirty="0"/>
              <a:t>Supponiamo di avere un Pod con due container:</a:t>
            </a:r>
          </a:p>
          <a:p>
            <a:r>
              <a:rPr lang="it-IT" dirty="0"/>
              <a:t>Pod (IP: 10.0.0.5)</a:t>
            </a:r>
            <a:br>
              <a:rPr lang="it-IT" dirty="0"/>
            </a:br>
            <a:br>
              <a:rPr lang="it-IT" dirty="0"/>
            </a:br>
            <a:r>
              <a:rPr lang="it-IT" dirty="0"/>
              <a:t>├── Container A (Spring Boot)</a:t>
            </a:r>
            <a:br>
              <a:rPr lang="it-IT" dirty="0"/>
            </a:br>
            <a:r>
              <a:rPr lang="it-IT" dirty="0"/>
              <a:t>└── Container B (</a:t>
            </a:r>
            <a:r>
              <a:rPr lang="it-IT" dirty="0" err="1"/>
              <a:t>Nginx</a:t>
            </a:r>
            <a:r>
              <a:rPr lang="it-IT" dirty="0"/>
              <a:t>)</a:t>
            </a:r>
          </a:p>
          <a:p>
            <a:r>
              <a:rPr lang="it-IT" dirty="0"/>
              <a:t>Se il Container A apre la porta </a:t>
            </a:r>
            <a:r>
              <a:rPr lang="it-IT" b="1" dirty="0"/>
              <a:t>8080</a:t>
            </a:r>
            <a:r>
              <a:rPr lang="it-IT" dirty="0"/>
              <a:t>, quella porta appartiene all'IP del Pod (10.0.0.5:8080).</a:t>
            </a:r>
          </a:p>
          <a:p>
            <a:r>
              <a:rPr lang="it-IT" dirty="0"/>
              <a:t>Se anche il Container B provasse ad aprire la </a:t>
            </a:r>
            <a:r>
              <a:rPr lang="it-IT" b="1" dirty="0"/>
              <a:t>stessa porta 8080</a:t>
            </a:r>
            <a:r>
              <a:rPr lang="it-IT" dirty="0"/>
              <a:t>, avresti un conflitto:</a:t>
            </a:r>
          </a:p>
          <a:p>
            <a:r>
              <a:rPr lang="it-IT" dirty="0"/>
              <a:t>10.0.0.5:8080 ← già occupata da Container A</a:t>
            </a:r>
            <a:br>
              <a:rPr lang="it-IT" dirty="0"/>
            </a:br>
            <a:r>
              <a:rPr lang="it-IT" dirty="0"/>
              <a:t>10.0.0.5:8080 ← Container B → ERRORE</a:t>
            </a:r>
          </a:p>
          <a:p>
            <a:endParaRPr lang="it-IT" dirty="0">
              <a:solidFill>
                <a:srgbClr val="171FE2"/>
              </a:solidFill>
            </a:endParaRPr>
          </a:p>
        </p:txBody>
      </p:sp>
    </p:spTree>
    <p:extLst>
      <p:ext uri="{BB962C8B-B14F-4D97-AF65-F5344CB8AC3E}">
        <p14:creationId xmlns:p14="http://schemas.microsoft.com/office/powerpoint/2010/main" val="2913139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9335-9144-1ED2-6AA3-C0A7C5ED473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F37C3DF-C172-7798-24D7-136450734883}"/>
              </a:ext>
            </a:extLst>
          </p:cNvPr>
          <p:cNvSpPr>
            <a:spLocks noGrp="1"/>
          </p:cNvSpPr>
          <p:nvPr>
            <p:ph type="title"/>
          </p:nvPr>
        </p:nvSpPr>
        <p:spPr>
          <a:xfrm>
            <a:off x="838200" y="831206"/>
            <a:ext cx="10515600" cy="314198"/>
          </a:xfrm>
        </p:spPr>
        <p:txBody>
          <a:bodyPr/>
          <a:lstStyle/>
          <a:p>
            <a:r>
              <a:rPr lang="it-IT" dirty="0"/>
              <a:t>SLIDE 13: Stesso IP POD ma porte diverse</a:t>
            </a:r>
          </a:p>
        </p:txBody>
      </p:sp>
      <p:sp>
        <p:nvSpPr>
          <p:cNvPr id="3" name="Contenuto della lezione">
            <a:extLst>
              <a:ext uri="{FF2B5EF4-FFF2-40B4-BE49-F238E27FC236}">
                <a16:creationId xmlns:a16="http://schemas.microsoft.com/office/drawing/2014/main" id="{4E32F945-CD48-FC70-B051-79BDB3869B81}"/>
              </a:ext>
            </a:extLst>
          </p:cNvPr>
          <p:cNvSpPr>
            <a:spLocks noGrp="1"/>
          </p:cNvSpPr>
          <p:nvPr>
            <p:ph idx="1"/>
          </p:nvPr>
        </p:nvSpPr>
        <p:spPr>
          <a:xfrm>
            <a:off x="1317319" y="1735543"/>
            <a:ext cx="9557362" cy="4803369"/>
          </a:xfrm>
        </p:spPr>
        <p:txBody>
          <a:bodyPr/>
          <a:lstStyle/>
          <a:p>
            <a:r>
              <a:rPr lang="it-IT" dirty="0"/>
              <a:t>Perciò i due container devono usare porte diverse:</a:t>
            </a:r>
          </a:p>
          <a:p>
            <a:r>
              <a:rPr lang="it-IT" dirty="0"/>
              <a:t>Container A → 8080</a:t>
            </a:r>
            <a:br>
              <a:rPr lang="it-IT" dirty="0"/>
            </a:br>
            <a:r>
              <a:rPr lang="it-IT" dirty="0"/>
              <a:t>Container B → 9090</a:t>
            </a:r>
          </a:p>
          <a:p>
            <a:r>
              <a:rPr lang="it-IT" dirty="0"/>
              <a:t>e possono parlarsi così:</a:t>
            </a:r>
          </a:p>
          <a:p>
            <a:r>
              <a:rPr lang="it-IT" dirty="0"/>
              <a:t>Container A chiama localhost:9090</a:t>
            </a:r>
            <a:br>
              <a:rPr lang="it-IT" dirty="0"/>
            </a:br>
            <a:r>
              <a:rPr lang="it-IT" dirty="0"/>
              <a:t>Container B chiama localhost:8080</a:t>
            </a:r>
          </a:p>
          <a:p>
            <a:r>
              <a:rPr lang="it-IT" b="1" dirty="0"/>
              <a:t>Confronto con Docker "normale"</a:t>
            </a:r>
          </a:p>
          <a:p>
            <a:r>
              <a:rPr lang="it-IT" dirty="0">
                <a:solidFill>
                  <a:srgbClr val="171FE2"/>
                </a:solidFill>
              </a:rPr>
              <a:t>Se avessi due container Docker separati (non nello stesso Pod), ciascuno avrebbe il proprio indirizzo IP e potrebbero entrambi ascoltare sulla porta 8080</a:t>
            </a:r>
            <a:r>
              <a:rPr lang="it-IT" dirty="0"/>
              <a:t>:</a:t>
            </a:r>
          </a:p>
          <a:p>
            <a:r>
              <a:rPr lang="it-IT" dirty="0"/>
              <a:t>Container 1 → 172.17.0.2:8080</a:t>
            </a:r>
            <a:br>
              <a:rPr lang="it-IT" dirty="0"/>
            </a:br>
            <a:r>
              <a:rPr lang="it-IT" dirty="0"/>
              <a:t>Container 2 → 172.17.0.3:8080</a:t>
            </a:r>
          </a:p>
          <a:p>
            <a:r>
              <a:rPr lang="it-IT" dirty="0"/>
              <a:t>Nello stesso Pod, invece, c'è </a:t>
            </a:r>
            <a:r>
              <a:rPr lang="it-IT" b="1" dirty="0"/>
              <a:t>un solo IP condiviso</a:t>
            </a:r>
            <a:r>
              <a:rPr lang="it-IT" dirty="0"/>
              <a:t>, quindi una sola porta 8080 disponibile.</a:t>
            </a:r>
          </a:p>
          <a:p>
            <a:r>
              <a:rPr lang="it-IT" dirty="0"/>
              <a:t>I container appartenenti allo stesso Pod condividono lo stesso indirizzo IP e lo stesso </a:t>
            </a:r>
            <a:r>
              <a:rPr lang="it-IT" dirty="0" err="1"/>
              <a:t>namespace</a:t>
            </a:r>
            <a:r>
              <a:rPr lang="it-IT" dirty="0"/>
              <a:t> di rete; di conseguenza non possono utilizzare contemporaneamente la stessa porta, altrimenti si verifica un conflitto.</a:t>
            </a:r>
          </a:p>
          <a:p>
            <a:endParaRPr lang="it-IT" dirty="0">
              <a:solidFill>
                <a:srgbClr val="171FE2"/>
              </a:solidFill>
            </a:endParaRPr>
          </a:p>
        </p:txBody>
      </p:sp>
    </p:spTree>
    <p:extLst>
      <p:ext uri="{BB962C8B-B14F-4D97-AF65-F5344CB8AC3E}">
        <p14:creationId xmlns:p14="http://schemas.microsoft.com/office/powerpoint/2010/main" val="3854004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CD8A-E46D-E2EE-7D93-493AA31AA6B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35928EC-B0D7-0A2E-1AAC-830558969E1A}"/>
              </a:ext>
            </a:extLst>
          </p:cNvPr>
          <p:cNvSpPr>
            <a:spLocks noGrp="1"/>
          </p:cNvSpPr>
          <p:nvPr>
            <p:ph type="title"/>
          </p:nvPr>
        </p:nvSpPr>
        <p:spPr>
          <a:xfrm>
            <a:off x="838200" y="831206"/>
            <a:ext cx="10515600" cy="314198"/>
          </a:xfrm>
        </p:spPr>
        <p:txBody>
          <a:bodyPr/>
          <a:lstStyle/>
          <a:p>
            <a:r>
              <a:rPr lang="it-IT" dirty="0"/>
              <a:t>SLIDE 14: Il network </a:t>
            </a:r>
            <a:r>
              <a:rPr lang="it-IT" dirty="0" err="1"/>
              <a:t>namespace</a:t>
            </a:r>
            <a:r>
              <a:rPr lang="it-IT" dirty="0"/>
              <a:t> </a:t>
            </a:r>
          </a:p>
        </p:txBody>
      </p:sp>
      <p:sp>
        <p:nvSpPr>
          <p:cNvPr id="3" name="Contenuto della lezione">
            <a:extLst>
              <a:ext uri="{FF2B5EF4-FFF2-40B4-BE49-F238E27FC236}">
                <a16:creationId xmlns:a16="http://schemas.microsoft.com/office/drawing/2014/main" id="{3AD78820-8096-4E2C-E3B1-9A11B067D64F}"/>
              </a:ext>
            </a:extLst>
          </p:cNvPr>
          <p:cNvSpPr>
            <a:spLocks noGrp="1"/>
          </p:cNvSpPr>
          <p:nvPr>
            <p:ph idx="1"/>
          </p:nvPr>
        </p:nvSpPr>
        <p:spPr>
          <a:xfrm>
            <a:off x="1317319" y="1358172"/>
            <a:ext cx="9557362" cy="4803369"/>
          </a:xfrm>
        </p:spPr>
        <p:txBody>
          <a:bodyPr/>
          <a:lstStyle/>
          <a:p>
            <a:r>
              <a:rPr lang="it-IT" dirty="0"/>
              <a:t>Il </a:t>
            </a:r>
            <a:r>
              <a:rPr lang="it-IT" b="1" dirty="0"/>
              <a:t>network </a:t>
            </a:r>
            <a:r>
              <a:rPr lang="it-IT" b="1" dirty="0" err="1"/>
              <a:t>namespace</a:t>
            </a:r>
            <a:r>
              <a:rPr lang="it-IT" dirty="0"/>
              <a:t> è un meccanismo del kernel Linux che isola le risorse di rete. </a:t>
            </a:r>
          </a:p>
          <a:p>
            <a:r>
              <a:rPr lang="it-IT" dirty="0"/>
              <a:t>Al suo interno ci sono:</a:t>
            </a:r>
          </a:p>
          <a:p>
            <a:pPr marL="285750" indent="-285750">
              <a:buFont typeface="Arial" panose="020B0604020202020204" pitchFamily="34" charset="0"/>
              <a:buChar char="•"/>
            </a:pPr>
            <a:r>
              <a:rPr lang="it-IT" dirty="0"/>
              <a:t>interfacce di rete; </a:t>
            </a:r>
          </a:p>
          <a:p>
            <a:pPr marL="285750" indent="-285750">
              <a:buFont typeface="Arial" panose="020B0604020202020204" pitchFamily="34" charset="0"/>
              <a:buChar char="•"/>
            </a:pPr>
            <a:r>
              <a:rPr lang="it-IT" dirty="0"/>
              <a:t>indirizzi IP; </a:t>
            </a:r>
          </a:p>
          <a:p>
            <a:pPr marL="285750" indent="-285750">
              <a:buFont typeface="Arial" panose="020B0604020202020204" pitchFamily="34" charset="0"/>
              <a:buChar char="•"/>
            </a:pPr>
            <a:r>
              <a:rPr lang="it-IT" dirty="0"/>
              <a:t>tabella di </a:t>
            </a:r>
            <a:r>
              <a:rPr lang="it-IT" dirty="0" err="1"/>
              <a:t>routing</a:t>
            </a:r>
            <a:r>
              <a:rPr lang="it-IT" dirty="0"/>
              <a:t>; </a:t>
            </a:r>
          </a:p>
          <a:p>
            <a:pPr marL="285750" indent="-285750">
              <a:buFont typeface="Arial" panose="020B0604020202020204" pitchFamily="34" charset="0"/>
              <a:buChar char="•"/>
            </a:pPr>
            <a:r>
              <a:rPr lang="it-IT" dirty="0"/>
              <a:t>porte TCP/UDP; </a:t>
            </a:r>
          </a:p>
          <a:p>
            <a:pPr marL="285750" indent="-285750">
              <a:buFont typeface="Arial" panose="020B0604020202020204" pitchFamily="34" charset="0"/>
              <a:buChar char="•"/>
            </a:pPr>
            <a:r>
              <a:rPr lang="it-IT" dirty="0"/>
              <a:t>l'interfaccia di </a:t>
            </a:r>
            <a:r>
              <a:rPr lang="it-IT" dirty="0" err="1"/>
              <a:t>loopback</a:t>
            </a:r>
            <a:r>
              <a:rPr lang="it-IT" dirty="0"/>
              <a:t> (</a:t>
            </a:r>
            <a:r>
              <a:rPr lang="it-IT" dirty="0" err="1"/>
              <a:t>localhost</a:t>
            </a:r>
            <a:r>
              <a:rPr lang="it-IT" dirty="0"/>
              <a:t> o 127.0.0.1). </a:t>
            </a:r>
          </a:p>
          <a:p>
            <a:r>
              <a:rPr lang="it-IT" dirty="0"/>
              <a:t>Quando </a:t>
            </a:r>
            <a:r>
              <a:rPr lang="it-IT" dirty="0" err="1"/>
              <a:t>Kubernetes</a:t>
            </a:r>
            <a:r>
              <a:rPr lang="it-IT" dirty="0"/>
              <a:t> crea un Pod, crea </a:t>
            </a:r>
            <a:r>
              <a:rPr lang="it-IT" b="1" dirty="0"/>
              <a:t>un unico network </a:t>
            </a:r>
            <a:r>
              <a:rPr lang="it-IT" b="1" dirty="0" err="1"/>
              <a:t>namespace</a:t>
            </a:r>
            <a:r>
              <a:rPr lang="it-IT" b="1" dirty="0"/>
              <a:t> per quel Pod</a:t>
            </a:r>
            <a:r>
              <a:rPr lang="it-IT" dirty="0"/>
              <a:t>. Tutti i container del Pod vengono inseriti nello stesso </a:t>
            </a:r>
            <a:r>
              <a:rPr lang="it-IT" dirty="0" err="1"/>
              <a:t>namespace</a:t>
            </a:r>
            <a:r>
              <a:rPr lang="it-IT" dirty="0"/>
              <a:t>, quindi:</a:t>
            </a:r>
          </a:p>
          <a:p>
            <a:r>
              <a:rPr lang="it-IT" dirty="0"/>
              <a:t>condividono lo stesso IP del Pod; </a:t>
            </a:r>
          </a:p>
          <a:p>
            <a:r>
              <a:rPr lang="it-IT" dirty="0"/>
              <a:t>condividono le stesse porte; </a:t>
            </a:r>
          </a:p>
          <a:p>
            <a:r>
              <a:rPr lang="it-IT" dirty="0"/>
              <a:t>condividono anche la stessa interfaccia </a:t>
            </a:r>
            <a:r>
              <a:rPr lang="it-IT" dirty="0" err="1"/>
              <a:t>localhost</a:t>
            </a:r>
            <a:r>
              <a:rPr lang="it-IT" dirty="0"/>
              <a:t>. </a:t>
            </a:r>
          </a:p>
          <a:p>
            <a:r>
              <a:rPr lang="it-IT" dirty="0"/>
              <a:t>Per questo un container può contattarne un altro usando:</a:t>
            </a:r>
          </a:p>
          <a:p>
            <a:r>
              <a:rPr lang="it-IT" dirty="0"/>
              <a:t>localhost:8080</a:t>
            </a:r>
          </a:p>
          <a:p>
            <a:r>
              <a:rPr lang="it-IT" dirty="0"/>
              <a:t>perché entrambi stanno guardando lo stesso ambiente di rete.</a:t>
            </a:r>
          </a:p>
          <a:p>
            <a:endParaRPr lang="it-IT" dirty="0">
              <a:solidFill>
                <a:srgbClr val="171FE2"/>
              </a:solidFill>
            </a:endParaRPr>
          </a:p>
        </p:txBody>
      </p:sp>
    </p:spTree>
    <p:extLst>
      <p:ext uri="{BB962C8B-B14F-4D97-AF65-F5344CB8AC3E}">
        <p14:creationId xmlns:p14="http://schemas.microsoft.com/office/powerpoint/2010/main" val="924159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4FC02-C555-D66F-C955-36E328AA986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2E6697F-E71B-2198-B9CB-2F482593FDDE}"/>
              </a:ext>
            </a:extLst>
          </p:cNvPr>
          <p:cNvSpPr>
            <a:spLocks noGrp="1"/>
          </p:cNvSpPr>
          <p:nvPr>
            <p:ph type="title"/>
          </p:nvPr>
        </p:nvSpPr>
        <p:spPr>
          <a:xfrm>
            <a:off x="838200" y="831206"/>
            <a:ext cx="10515600" cy="314198"/>
          </a:xfrm>
        </p:spPr>
        <p:txBody>
          <a:bodyPr/>
          <a:lstStyle/>
          <a:p>
            <a:r>
              <a:rPr lang="it-IT" dirty="0"/>
              <a:t>SLIDE 15: LAB PRACTICAL – AVVIARE E ISPEZIONARE IL PRIMO POD IMPERATIVO</a:t>
            </a:r>
          </a:p>
        </p:txBody>
      </p:sp>
      <p:sp>
        <p:nvSpPr>
          <p:cNvPr id="3" name="Contenuto della lezione">
            <a:extLst>
              <a:ext uri="{FF2B5EF4-FFF2-40B4-BE49-F238E27FC236}">
                <a16:creationId xmlns:a16="http://schemas.microsoft.com/office/drawing/2014/main" id="{B19A1D1B-F2D2-CA19-3AC6-45D487D3B59E}"/>
              </a:ext>
            </a:extLst>
          </p:cNvPr>
          <p:cNvSpPr>
            <a:spLocks noGrp="1"/>
          </p:cNvSpPr>
          <p:nvPr>
            <p:ph idx="1"/>
          </p:nvPr>
        </p:nvSpPr>
        <p:spPr>
          <a:xfrm>
            <a:off x="1317319" y="1735543"/>
            <a:ext cx="9557362" cy="4803369"/>
          </a:xfrm>
        </p:spPr>
        <p:txBody>
          <a:bodyPr/>
          <a:lstStyle/>
          <a:p>
            <a:r>
              <a:rPr lang="it-IT" dirty="0"/>
              <a:t>Esistono due modi per dare ordini a </a:t>
            </a:r>
            <a:r>
              <a:rPr lang="it-IT" dirty="0" err="1"/>
              <a:t>Kubernetes</a:t>
            </a:r>
            <a:r>
              <a:rPr lang="it-IT" dirty="0"/>
              <a:t>: </a:t>
            </a:r>
          </a:p>
          <a:p>
            <a:pPr marL="285750" indent="-285750">
              <a:buFont typeface="Arial" panose="020B0604020202020204" pitchFamily="34" charset="0"/>
              <a:buChar char="•"/>
            </a:pPr>
            <a:r>
              <a:rPr lang="it-IT" dirty="0"/>
              <a:t>la modalità imperativa (eseguire comandi diretti al volo dal terminale);</a:t>
            </a:r>
          </a:p>
          <a:p>
            <a:pPr marL="285750" indent="-285750">
              <a:buFont typeface="Arial" panose="020B0604020202020204" pitchFamily="34" charset="0"/>
              <a:buChar char="•"/>
            </a:pPr>
            <a:r>
              <a:rPr lang="it-IT" dirty="0"/>
              <a:t>la modalità dichiarativa (scrivere file YAML). </a:t>
            </a:r>
          </a:p>
          <a:p>
            <a:r>
              <a:rPr lang="it-IT" dirty="0"/>
              <a:t>La modalità imperativa è perfetta per fare test rapidi o attività di debug. </a:t>
            </a:r>
          </a:p>
          <a:p>
            <a:r>
              <a:rPr lang="it-IT" dirty="0"/>
              <a:t>Chiediamo ad esempio a </a:t>
            </a:r>
            <a:r>
              <a:rPr lang="it-IT" dirty="0" err="1"/>
              <a:t>Kubernetes</a:t>
            </a:r>
            <a:r>
              <a:rPr lang="it-IT" dirty="0"/>
              <a:t> di scaricare un'immagine web standard di </a:t>
            </a:r>
            <a:r>
              <a:rPr lang="it-IT" dirty="0" err="1"/>
              <a:t>Nginx</a:t>
            </a:r>
            <a:r>
              <a:rPr lang="it-IT" dirty="0"/>
              <a:t> e di iniettarla all'interno del nostro primo Pod. </a:t>
            </a:r>
          </a:p>
          <a:p>
            <a:r>
              <a:rPr lang="it-IT" dirty="0"/>
              <a:t>Da terminale: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run</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-test --image=</a:t>
            </a:r>
            <a:r>
              <a:rPr lang="it-IT" dirty="0" err="1">
                <a:solidFill>
                  <a:srgbClr val="171FE2"/>
                </a:solidFill>
                <a:latin typeface="Consolas" panose="020B0609020204030204" pitchFamily="49" charset="0"/>
              </a:rPr>
              <a:t>nginx</a:t>
            </a:r>
            <a:endParaRPr lang="it-IT" dirty="0">
              <a:solidFill>
                <a:srgbClr val="171FE2"/>
              </a:solidFill>
              <a:latin typeface="Consolas" panose="020B0609020204030204" pitchFamily="49" charset="0"/>
            </a:endParaRPr>
          </a:p>
          <a:p>
            <a:r>
              <a:rPr lang="it-IT" dirty="0"/>
              <a:t>Con questa singola riga stiamo dicendo all'API Server: </a:t>
            </a:r>
            <a:r>
              <a:rPr lang="it-IT" i="1" dirty="0"/>
              <a:t>"Crea un Pod, chiamalo </a:t>
            </a:r>
            <a:r>
              <a:rPr lang="it-IT" i="1" dirty="0" err="1"/>
              <a:t>pod</a:t>
            </a:r>
            <a:r>
              <a:rPr lang="it-IT" i="1" dirty="0"/>
              <a:t>-test e usa l'immagine ufficiale di </a:t>
            </a:r>
            <a:r>
              <a:rPr lang="it-IT" i="1" dirty="0" err="1"/>
              <a:t>Nginx</a:t>
            </a:r>
            <a:r>
              <a:rPr lang="it-IT" i="1" dirty="0"/>
              <a:t>"</a:t>
            </a:r>
            <a:r>
              <a:rPr lang="it-IT" dirty="0"/>
              <a:t>. </a:t>
            </a:r>
          </a:p>
          <a:p>
            <a:r>
              <a:rPr lang="it-IT" dirty="0"/>
              <a:t>Il terminale risponderà: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-test </a:t>
            </a:r>
            <a:r>
              <a:rPr lang="it-IT" dirty="0" err="1">
                <a:solidFill>
                  <a:srgbClr val="171FE2"/>
                </a:solidFill>
                <a:latin typeface="Consolas" panose="020B0609020204030204" pitchFamily="49" charset="0"/>
              </a:rPr>
              <a:t>created</a:t>
            </a:r>
            <a:endParaRPr lang="it-IT" dirty="0">
              <a:solidFill>
                <a:srgbClr val="171FE2"/>
              </a:solidFill>
            </a:endParaRPr>
          </a:p>
        </p:txBody>
      </p:sp>
    </p:spTree>
    <p:extLst>
      <p:ext uri="{BB962C8B-B14F-4D97-AF65-F5344CB8AC3E}">
        <p14:creationId xmlns:p14="http://schemas.microsoft.com/office/powerpoint/2010/main" val="458121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B18DE-C845-5DF9-08DE-BC528B72DD0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7C2AAC1-A708-B42A-4445-5367838F2126}"/>
              </a:ext>
            </a:extLst>
          </p:cNvPr>
          <p:cNvSpPr>
            <a:spLocks noGrp="1"/>
          </p:cNvSpPr>
          <p:nvPr>
            <p:ph type="title"/>
          </p:nvPr>
        </p:nvSpPr>
        <p:spPr>
          <a:xfrm>
            <a:off x="838200" y="831206"/>
            <a:ext cx="10515600" cy="314198"/>
          </a:xfrm>
        </p:spPr>
        <p:txBody>
          <a:bodyPr/>
          <a:lstStyle/>
          <a:p>
            <a:r>
              <a:rPr lang="it-IT" dirty="0"/>
              <a:t>SLIDE 16: LAB PRACTICAL – AVVIARE E ISPEZIONARE IL PRIMO POD IMPERATIVO</a:t>
            </a:r>
          </a:p>
        </p:txBody>
      </p:sp>
      <p:sp>
        <p:nvSpPr>
          <p:cNvPr id="3" name="Contenuto della lezione">
            <a:extLst>
              <a:ext uri="{FF2B5EF4-FFF2-40B4-BE49-F238E27FC236}">
                <a16:creationId xmlns:a16="http://schemas.microsoft.com/office/drawing/2014/main" id="{B40173DC-5B3E-B4E0-A161-09707902A6F1}"/>
              </a:ext>
            </a:extLst>
          </p:cNvPr>
          <p:cNvSpPr>
            <a:spLocks noGrp="1"/>
          </p:cNvSpPr>
          <p:nvPr>
            <p:ph idx="1"/>
          </p:nvPr>
        </p:nvSpPr>
        <p:spPr>
          <a:xfrm>
            <a:off x="1317319" y="1633943"/>
            <a:ext cx="9557362" cy="4803369"/>
          </a:xfrm>
        </p:spPr>
        <p:txBody>
          <a:bodyPr/>
          <a:lstStyle/>
          <a:p>
            <a:r>
              <a:rPr lang="it-IT" dirty="0"/>
              <a:t>Cosa sta succedendo dietro le quinte? </a:t>
            </a:r>
          </a:p>
          <a:p>
            <a:r>
              <a:rPr lang="it-IT" dirty="0"/>
              <a:t>Lo </a:t>
            </a:r>
            <a:r>
              <a:rPr lang="it-IT" dirty="0" err="1"/>
              <a:t>Scheduler</a:t>
            </a:r>
            <a:r>
              <a:rPr lang="it-IT" dirty="0"/>
              <a:t> ha visto la richiesta, ha scelto il nostro nodo </a:t>
            </a:r>
            <a:r>
              <a:rPr lang="it-IT" dirty="0" err="1"/>
              <a:t>docker</a:t>
            </a:r>
            <a:r>
              <a:rPr lang="it-IT" dirty="0"/>
              <a:t>-desktop e ha ordinato al motore Docker sottostante di scaricare l'immagine e accendere il container. </a:t>
            </a:r>
          </a:p>
          <a:p>
            <a:r>
              <a:rPr lang="it-IT" dirty="0"/>
              <a:t>Per verificare lo stato di salute del nostro Pod, digitate il comando di censimento: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pods</a:t>
            </a:r>
            <a:endParaRPr lang="it-IT" dirty="0">
              <a:solidFill>
                <a:srgbClr val="171FE2"/>
              </a:solidFill>
              <a:latin typeface="Consolas" panose="020B0609020204030204" pitchFamily="49" charset="0"/>
            </a:endParaRPr>
          </a:p>
          <a:p>
            <a:r>
              <a:rPr lang="it-IT" dirty="0"/>
              <a:t>Vedremo una tabella che vi mostra il nome </a:t>
            </a:r>
            <a:r>
              <a:rPr lang="it-IT" dirty="0" err="1"/>
              <a:t>pod</a:t>
            </a:r>
            <a:r>
              <a:rPr lang="it-IT" dirty="0"/>
              <a:t>-test, la colonna READY (1/1, ovvero un container previsto e un container attivo) e la colonna STATUS che passerà da </a:t>
            </a:r>
            <a:r>
              <a:rPr lang="it-IT" i="1" dirty="0" err="1"/>
              <a:t>ContainerCreating</a:t>
            </a:r>
            <a:r>
              <a:rPr lang="it-IT" dirty="0"/>
              <a:t> a </a:t>
            </a:r>
            <a:r>
              <a:rPr lang="it-IT" b="1" dirty="0"/>
              <a:t>Running</a:t>
            </a:r>
            <a:r>
              <a:rPr lang="it-IT" dirty="0"/>
              <a:t>. </a:t>
            </a:r>
          </a:p>
          <a:p>
            <a:r>
              <a:rPr lang="it-IT" dirty="0"/>
              <a:t>Se vogliamo esplorare il Pod per vedere il suo indirizzo IP interno e i log di sistema, digitiamo il comando diagnostico: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describe</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-test </a:t>
            </a:r>
          </a:p>
          <a:p>
            <a:r>
              <a:rPr lang="it-IT" dirty="0"/>
              <a:t>Apparirà un lunghissimo report dettagliato. </a:t>
            </a:r>
          </a:p>
          <a:p>
            <a:r>
              <a:rPr lang="it-IT" dirty="0"/>
              <a:t>Per concludere il test, eliminiamo il Pod digitando: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delete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-test</a:t>
            </a:r>
          </a:p>
          <a:p>
            <a:r>
              <a:rPr lang="it-IT" dirty="0" err="1"/>
              <a:t>Kubernetes</a:t>
            </a:r>
            <a:r>
              <a:rPr lang="it-IT" dirty="0"/>
              <a:t> spegnerà il container in modo pulito e rimuoverà l'oggetto dal registro (</a:t>
            </a:r>
            <a:r>
              <a:rPr lang="it-IT" b="1" dirty="0" err="1"/>
              <a:t>etcd</a:t>
            </a:r>
            <a:r>
              <a:rPr lang="it-IT" dirty="0"/>
              <a:t>).</a:t>
            </a:r>
            <a:endParaRPr lang="it-IT" dirty="0">
              <a:solidFill>
                <a:srgbClr val="171FE2"/>
              </a:solidFill>
            </a:endParaRPr>
          </a:p>
        </p:txBody>
      </p:sp>
    </p:spTree>
    <p:extLst>
      <p:ext uri="{BB962C8B-B14F-4D97-AF65-F5344CB8AC3E}">
        <p14:creationId xmlns:p14="http://schemas.microsoft.com/office/powerpoint/2010/main" val="2344503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F46F-29B9-D598-3B69-908CAAC228F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C6B975F-84F9-E7DF-DFBF-9506996032F4}"/>
              </a:ext>
            </a:extLst>
          </p:cNvPr>
          <p:cNvSpPr>
            <a:spLocks noGrp="1"/>
          </p:cNvSpPr>
          <p:nvPr>
            <p:ph type="title"/>
          </p:nvPr>
        </p:nvSpPr>
        <p:spPr>
          <a:xfrm>
            <a:off x="838200" y="831206"/>
            <a:ext cx="10515600" cy="314198"/>
          </a:xfrm>
        </p:spPr>
        <p:txBody>
          <a:bodyPr/>
          <a:lstStyle/>
          <a:p>
            <a:r>
              <a:rPr lang="it-IT" dirty="0"/>
              <a:t>SLIDE 17: LA FILOSOFIA DICHIARATIVA - IL MANIFESTO YAML IN KUBERNETES</a:t>
            </a:r>
          </a:p>
        </p:txBody>
      </p:sp>
      <p:sp>
        <p:nvSpPr>
          <p:cNvPr id="3" name="Contenuto della lezione">
            <a:extLst>
              <a:ext uri="{FF2B5EF4-FFF2-40B4-BE49-F238E27FC236}">
                <a16:creationId xmlns:a16="http://schemas.microsoft.com/office/drawing/2014/main" id="{FC53408B-CB9D-41EC-F277-8ABE6555547B}"/>
              </a:ext>
            </a:extLst>
          </p:cNvPr>
          <p:cNvSpPr>
            <a:spLocks noGrp="1"/>
          </p:cNvSpPr>
          <p:nvPr>
            <p:ph idx="1"/>
          </p:nvPr>
        </p:nvSpPr>
        <p:spPr>
          <a:xfrm>
            <a:off x="1317319" y="1633943"/>
            <a:ext cx="9557362" cy="4803369"/>
          </a:xfrm>
        </p:spPr>
        <p:txBody>
          <a:bodyPr/>
          <a:lstStyle/>
          <a:p>
            <a:r>
              <a:rPr lang="it-IT" dirty="0"/>
              <a:t>Sebbene i comandi rapidi come </a:t>
            </a:r>
            <a:r>
              <a:rPr lang="it-IT" dirty="0" err="1"/>
              <a:t>kubectl</a:t>
            </a:r>
            <a:r>
              <a:rPr lang="it-IT" dirty="0"/>
              <a:t> </a:t>
            </a:r>
            <a:r>
              <a:rPr lang="it-IT" dirty="0" err="1"/>
              <a:t>run</a:t>
            </a:r>
            <a:r>
              <a:rPr lang="it-IT" dirty="0"/>
              <a:t> visti nel laboratorio precedente siano utilissimi per fare test al volo, </a:t>
            </a:r>
            <a:r>
              <a:rPr lang="it-IT" dirty="0" err="1"/>
              <a:t>Kubernetes</a:t>
            </a:r>
            <a:r>
              <a:rPr lang="it-IT" dirty="0"/>
              <a:t> sposa in pieno la filosofia dell'</a:t>
            </a:r>
            <a:r>
              <a:rPr lang="it-IT" b="1" dirty="0"/>
              <a:t>Infrastruttura come Codice (</a:t>
            </a:r>
            <a:r>
              <a:rPr lang="it-IT" b="1" dirty="0" err="1"/>
              <a:t>IaC</a:t>
            </a:r>
            <a:r>
              <a:rPr lang="it-IT" b="1" dirty="0"/>
              <a:t>)</a:t>
            </a:r>
            <a:r>
              <a:rPr lang="it-IT" dirty="0"/>
              <a:t> attraverso l'approccio </a:t>
            </a:r>
            <a:r>
              <a:rPr lang="it-IT" b="1" dirty="0"/>
              <a:t>Dichiarativo</a:t>
            </a:r>
            <a:r>
              <a:rPr lang="it-IT" dirty="0"/>
              <a:t>. </a:t>
            </a:r>
          </a:p>
          <a:p>
            <a:r>
              <a:rPr lang="it-IT" dirty="0"/>
              <a:t>Invece di dire a </a:t>
            </a:r>
            <a:r>
              <a:rPr lang="it-IT" dirty="0" err="1"/>
              <a:t>Kubernetes</a:t>
            </a:r>
            <a:r>
              <a:rPr lang="it-IT" dirty="0"/>
              <a:t> </a:t>
            </a:r>
            <a:r>
              <a:rPr lang="it-IT" i="1" dirty="0"/>
              <a:t>cosa fare</a:t>
            </a:r>
            <a:r>
              <a:rPr lang="it-IT" dirty="0"/>
              <a:t> passo dopo passo (approccio imperativo), noi scriviamo un file di testo in formato YAML (chiamato </a:t>
            </a:r>
            <a:r>
              <a:rPr lang="it-IT" b="1" dirty="0"/>
              <a:t>Manifesto</a:t>
            </a:r>
            <a:r>
              <a:rPr lang="it-IT" dirty="0"/>
              <a:t>) in cui descriviamo lo </a:t>
            </a:r>
            <a:r>
              <a:rPr lang="it-IT" i="1" dirty="0"/>
              <a:t>stato desiderato</a:t>
            </a:r>
            <a:r>
              <a:rPr lang="it-IT" dirty="0"/>
              <a:t> della nostra infrastruttura. </a:t>
            </a:r>
          </a:p>
          <a:p>
            <a:r>
              <a:rPr lang="it-IT" dirty="0"/>
              <a:t>Consegniamo il foglio a </a:t>
            </a:r>
            <a:r>
              <a:rPr lang="it-IT" dirty="0" err="1"/>
              <a:t>Kubernetes</a:t>
            </a:r>
            <a:r>
              <a:rPr lang="it-IT" dirty="0"/>
              <a:t> e sarà lui a fare tutto il lavoro necessario per adeguare la realtà alla nostra descrizione.</a:t>
            </a:r>
            <a:endParaRPr lang="it-IT" dirty="0">
              <a:solidFill>
                <a:srgbClr val="171FE2"/>
              </a:solidFill>
            </a:endParaRPr>
          </a:p>
        </p:txBody>
      </p:sp>
    </p:spTree>
    <p:extLst>
      <p:ext uri="{BB962C8B-B14F-4D97-AF65-F5344CB8AC3E}">
        <p14:creationId xmlns:p14="http://schemas.microsoft.com/office/powerpoint/2010/main" val="1009941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2E6C7-EE5C-5A4D-1EE2-C18B1F17429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AE77F15-ECEC-0155-129B-2B1F20C5C552}"/>
              </a:ext>
            </a:extLst>
          </p:cNvPr>
          <p:cNvSpPr>
            <a:spLocks noGrp="1"/>
          </p:cNvSpPr>
          <p:nvPr>
            <p:ph type="title"/>
          </p:nvPr>
        </p:nvSpPr>
        <p:spPr>
          <a:xfrm>
            <a:off x="838200" y="831206"/>
            <a:ext cx="10515600" cy="314198"/>
          </a:xfrm>
        </p:spPr>
        <p:txBody>
          <a:bodyPr/>
          <a:lstStyle/>
          <a:p>
            <a:r>
              <a:rPr lang="it-IT" dirty="0"/>
              <a:t>SLIDE 18: LA FILOSOFIA DICHIARATIVA - IL MANIFESTO YAML IN KUBERNETES</a:t>
            </a:r>
          </a:p>
        </p:txBody>
      </p:sp>
      <p:sp>
        <p:nvSpPr>
          <p:cNvPr id="3" name="Contenuto della lezione">
            <a:extLst>
              <a:ext uri="{FF2B5EF4-FFF2-40B4-BE49-F238E27FC236}">
                <a16:creationId xmlns:a16="http://schemas.microsoft.com/office/drawing/2014/main" id="{4FC4AD41-F9BF-91AA-D098-2B9FDAA06515}"/>
              </a:ext>
            </a:extLst>
          </p:cNvPr>
          <p:cNvSpPr>
            <a:spLocks noGrp="1"/>
          </p:cNvSpPr>
          <p:nvPr>
            <p:ph idx="1"/>
          </p:nvPr>
        </p:nvSpPr>
        <p:spPr>
          <a:xfrm>
            <a:off x="1317319" y="1633943"/>
            <a:ext cx="9557362" cy="4803369"/>
          </a:xfrm>
        </p:spPr>
        <p:txBody>
          <a:bodyPr/>
          <a:lstStyle/>
          <a:p>
            <a:r>
              <a:rPr lang="it-IT" dirty="0"/>
              <a:t>Ogni singolo file di configurazione YAML di </a:t>
            </a:r>
            <a:r>
              <a:rPr lang="it-IT" dirty="0" err="1"/>
              <a:t>Kubernetes</a:t>
            </a:r>
            <a:r>
              <a:rPr lang="it-IT" dirty="0"/>
              <a:t> è un contratto formale che deve contenere obbligatoriamente quattro sezioni strutturali (le "quattro colonne portanti"):</a:t>
            </a:r>
          </a:p>
          <a:p>
            <a:r>
              <a:rPr lang="it-IT" b="1" dirty="0" err="1"/>
              <a:t>apiVersion</a:t>
            </a:r>
            <a:r>
              <a:rPr lang="it-IT" dirty="0"/>
              <a:t>: Indica la versione del modulo interno (es. il Pod) di </a:t>
            </a:r>
            <a:r>
              <a:rPr lang="it-IT" dirty="0" err="1"/>
              <a:t>Kubernetes</a:t>
            </a:r>
            <a:r>
              <a:rPr lang="it-IT" dirty="0"/>
              <a:t> con cui vogliamo parlare (per i Pod standard si usa la versione v1).</a:t>
            </a:r>
          </a:p>
          <a:p>
            <a:r>
              <a:rPr lang="it-IT" b="1" dirty="0" err="1"/>
              <a:t>kind</a:t>
            </a:r>
            <a:r>
              <a:rPr lang="it-IT" dirty="0"/>
              <a:t>: Definisce il tipo di oggetto che stiamo creando (in questo caso, la parola con la lettera maiuscola Pod).</a:t>
            </a:r>
          </a:p>
          <a:p>
            <a:r>
              <a:rPr lang="it-IT" b="1" dirty="0"/>
              <a:t>metadata</a:t>
            </a:r>
            <a:r>
              <a:rPr lang="it-IT" dirty="0"/>
              <a:t>: Contiene le informazioni identificative dell'oggetto, come il suo name (il nome del Pod) ed eventuali etichette (Labels) utili per raggrupparlo.</a:t>
            </a:r>
          </a:p>
          <a:p>
            <a:r>
              <a:rPr lang="it-IT" b="1" dirty="0" err="1"/>
              <a:t>spec</a:t>
            </a:r>
            <a:r>
              <a:rPr lang="it-IT" dirty="0"/>
              <a:t>: È il cuore del file, le specifiche tecniche. Qui andiamo a definire l'elenco dei container che vogliamo far girare, specificando per ognuno il nome (name) e l'immagine Docker di partenza (image). </a:t>
            </a:r>
            <a:r>
              <a:rPr lang="it-IT" dirty="0">
                <a:solidFill>
                  <a:srgbClr val="171FE2"/>
                </a:solidFill>
              </a:rPr>
              <a:t>Questo approccio dichiarativo ci permette di salvare i nostri file di configurazione su </a:t>
            </a:r>
            <a:r>
              <a:rPr lang="it-IT" dirty="0" err="1">
                <a:solidFill>
                  <a:srgbClr val="171FE2"/>
                </a:solidFill>
              </a:rPr>
              <a:t>Git</a:t>
            </a:r>
            <a:r>
              <a:rPr lang="it-IT" dirty="0">
                <a:solidFill>
                  <a:srgbClr val="171FE2"/>
                </a:solidFill>
              </a:rPr>
              <a:t>, tenendo traccia della storia dell'infrastruttura esattamente come facciamo per il codice sorgente.</a:t>
            </a:r>
          </a:p>
          <a:p>
            <a:r>
              <a:rPr lang="it-IT" dirty="0"/>
              <a:t>Attenzione agli spazi nello YAML. </a:t>
            </a:r>
            <a:r>
              <a:rPr lang="it-IT" b="1" dirty="0"/>
              <a:t>Non</a:t>
            </a:r>
            <a:r>
              <a:rPr lang="it-IT" dirty="0"/>
              <a:t> </a:t>
            </a:r>
            <a:r>
              <a:rPr lang="it-IT" b="1" dirty="0"/>
              <a:t>si deve mai usare il tasto TAB</a:t>
            </a:r>
            <a:r>
              <a:rPr lang="it-IT" dirty="0"/>
              <a:t> nei file </a:t>
            </a:r>
            <a:r>
              <a:rPr lang="it-IT" dirty="0" err="1"/>
              <a:t>Kubernetes</a:t>
            </a:r>
            <a:r>
              <a:rPr lang="it-IT" dirty="0"/>
              <a:t>, ma solo la barra spaziatrice (solitamente 2 spazi per ogni livello di rientro).</a:t>
            </a:r>
          </a:p>
          <a:p>
            <a:r>
              <a:rPr lang="it-IT" dirty="0">
                <a:solidFill>
                  <a:srgbClr val="171FE2"/>
                </a:solidFill>
              </a:rPr>
              <a:t>Un singolo TAB rompe il file e genera un errore criptico durante il </a:t>
            </a:r>
            <a:r>
              <a:rPr lang="it-IT" dirty="0" err="1">
                <a:solidFill>
                  <a:srgbClr val="171FE2"/>
                </a:solidFill>
              </a:rPr>
              <a:t>deploy</a:t>
            </a:r>
            <a:r>
              <a:rPr lang="it-IT" dirty="0">
                <a:solidFill>
                  <a:srgbClr val="171FE2"/>
                </a:solidFill>
              </a:rPr>
              <a:t>.</a:t>
            </a:r>
          </a:p>
        </p:txBody>
      </p:sp>
    </p:spTree>
    <p:extLst>
      <p:ext uri="{BB962C8B-B14F-4D97-AF65-F5344CB8AC3E}">
        <p14:creationId xmlns:p14="http://schemas.microsoft.com/office/powerpoint/2010/main" val="2977668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D4C-A5D1-AC34-BA85-019243DFA11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9EFBB05-441B-D334-EE97-8875183F510C}"/>
              </a:ext>
            </a:extLst>
          </p:cNvPr>
          <p:cNvSpPr>
            <a:spLocks noGrp="1"/>
          </p:cNvSpPr>
          <p:nvPr>
            <p:ph type="title"/>
          </p:nvPr>
        </p:nvSpPr>
        <p:spPr>
          <a:xfrm>
            <a:off x="838200" y="831206"/>
            <a:ext cx="10515600" cy="314198"/>
          </a:xfrm>
        </p:spPr>
        <p:txBody>
          <a:bodyPr/>
          <a:lstStyle/>
          <a:p>
            <a:r>
              <a:rPr lang="it-IT" dirty="0"/>
              <a:t>SLIDE 19: LAB PRACTICAL – SCRIVERE E DEPLOYARE IL PRIMO MANIFESTO YAML PER IL BACKEND</a:t>
            </a:r>
          </a:p>
        </p:txBody>
      </p:sp>
      <p:sp>
        <p:nvSpPr>
          <p:cNvPr id="3" name="Contenuto della lezione">
            <a:extLst>
              <a:ext uri="{FF2B5EF4-FFF2-40B4-BE49-F238E27FC236}">
                <a16:creationId xmlns:a16="http://schemas.microsoft.com/office/drawing/2014/main" id="{A8E10CF6-FE14-D7AF-CAAE-C7AA34FE69D8}"/>
              </a:ext>
            </a:extLst>
          </p:cNvPr>
          <p:cNvSpPr>
            <a:spLocks noGrp="1"/>
          </p:cNvSpPr>
          <p:nvPr>
            <p:ph idx="1"/>
          </p:nvPr>
        </p:nvSpPr>
        <p:spPr>
          <a:xfrm>
            <a:off x="1317319" y="1633943"/>
            <a:ext cx="9557362" cy="4803369"/>
          </a:xfrm>
        </p:spPr>
        <p:txBody>
          <a:bodyPr/>
          <a:lstStyle/>
          <a:p>
            <a:r>
              <a:rPr lang="it-IT" dirty="0"/>
              <a:t>Creare il nostro primo manifesto YAML per ospitare un </a:t>
            </a:r>
            <a:r>
              <a:rPr lang="it-IT" dirty="0" err="1"/>
              <a:t>backend</a:t>
            </a:r>
            <a:r>
              <a:rPr lang="it-IT" dirty="0"/>
              <a:t> aziendale (useremo un'immagine di test pubblica). </a:t>
            </a:r>
          </a:p>
          <a:p>
            <a:r>
              <a:rPr lang="it-IT" dirty="0"/>
              <a:t>Creiamo una cartella di lavoro sul desktop ed il file </a:t>
            </a:r>
            <a:r>
              <a:rPr lang="it-IT" b="1" dirty="0" err="1"/>
              <a:t>pod-backend.yaml</a:t>
            </a:r>
            <a:r>
              <a:rPr lang="it-IT" dirty="0"/>
              <a:t>. </a:t>
            </a:r>
          </a:p>
          <a:p>
            <a:r>
              <a:rPr lang="it-IT" dirty="0"/>
              <a:t>Apriamolo con un editor di codice (come VS Code o il Blocco Note) e incolliamo:</a:t>
            </a:r>
          </a:p>
          <a:p>
            <a:r>
              <a:rPr lang="it-IT" dirty="0" err="1">
                <a:solidFill>
                  <a:srgbClr val="171FE2"/>
                </a:solidFill>
                <a:latin typeface="Consolas" panose="020B0609020204030204" pitchFamily="49" charset="0"/>
              </a:rPr>
              <a:t>apiVersion</a:t>
            </a:r>
            <a:r>
              <a:rPr lang="it-IT" dirty="0">
                <a:solidFill>
                  <a:srgbClr val="171FE2"/>
                </a:solidFill>
                <a:latin typeface="Consolas" panose="020B0609020204030204" pitchFamily="49" charset="0"/>
              </a:rPr>
              <a:t>: v1</a:t>
            </a:r>
          </a:p>
          <a:p>
            <a:r>
              <a:rPr lang="it-IT" dirty="0" err="1">
                <a:solidFill>
                  <a:srgbClr val="171FE2"/>
                </a:solidFill>
                <a:latin typeface="Consolas" panose="020B0609020204030204" pitchFamily="49" charset="0"/>
              </a:rPr>
              <a:t>kind</a:t>
            </a:r>
            <a:r>
              <a:rPr lang="it-IT" dirty="0">
                <a:solidFill>
                  <a:srgbClr val="171FE2"/>
                </a:solidFill>
                <a:latin typeface="Consolas" panose="020B0609020204030204" pitchFamily="49" charset="0"/>
              </a:rPr>
              <a:t>: Pod</a:t>
            </a:r>
          </a:p>
          <a:p>
            <a:r>
              <a:rPr lang="it-IT" dirty="0">
                <a:solidFill>
                  <a:srgbClr val="171FE2"/>
                </a:solidFill>
                <a:latin typeface="Consolas" panose="020B0609020204030204" pitchFamily="49" charset="0"/>
              </a:rPr>
              <a:t>metadata:</a:t>
            </a:r>
          </a:p>
          <a:p>
            <a:r>
              <a:rPr lang="it-IT" dirty="0">
                <a:solidFill>
                  <a:srgbClr val="171FE2"/>
                </a:solidFill>
                <a:latin typeface="Consolas" panose="020B0609020204030204" pitchFamily="49" charset="0"/>
              </a:rPr>
              <a:t>  name: </a:t>
            </a:r>
            <a:r>
              <a:rPr lang="it-IT" dirty="0" err="1">
                <a:solidFill>
                  <a:srgbClr val="171FE2"/>
                </a:solidFill>
                <a:latin typeface="Consolas" panose="020B0609020204030204" pitchFamily="49" charset="0"/>
              </a:rPr>
              <a:t>backend-enterprise</a:t>
            </a:r>
            <a:r>
              <a:rPr lang="it-IT" dirty="0">
                <a:solidFill>
                  <a:srgbClr val="171FE2"/>
                </a:solidFill>
                <a:latin typeface="Consolas" panose="020B0609020204030204" pitchFamily="49" charset="0"/>
              </a:rPr>
              <a:t> # nome del Pod</a:t>
            </a:r>
          </a:p>
          <a:p>
            <a:r>
              <a:rPr lang="it-IT" dirty="0" err="1">
                <a:solidFill>
                  <a:srgbClr val="171FE2"/>
                </a:solidFill>
                <a:latin typeface="Consolas" panose="020B0609020204030204" pitchFamily="49" charset="0"/>
              </a:rPr>
              <a:t>spec</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containers:</a:t>
            </a:r>
          </a:p>
          <a:p>
            <a:r>
              <a:rPr lang="it-IT" dirty="0">
                <a:solidFill>
                  <a:srgbClr val="171FE2"/>
                </a:solidFill>
                <a:latin typeface="Consolas" panose="020B0609020204030204" pitchFamily="49" charset="0"/>
              </a:rPr>
              <a:t>  - name: spring-api</a:t>
            </a:r>
          </a:p>
          <a:p>
            <a:r>
              <a:rPr lang="it-IT" dirty="0">
                <a:solidFill>
                  <a:srgbClr val="171FE2"/>
                </a:solidFill>
                <a:latin typeface="Consolas" panose="020B0609020204030204" pitchFamily="49" charset="0"/>
              </a:rPr>
              <a:t>    image: </a:t>
            </a:r>
            <a:r>
              <a:rPr lang="it-IT" dirty="0" err="1">
                <a:solidFill>
                  <a:srgbClr val="171FE2"/>
                </a:solidFill>
                <a:latin typeface="Consolas" panose="020B0609020204030204" pitchFamily="49" charset="0"/>
              </a:rPr>
              <a:t>nginx</a:t>
            </a:r>
            <a:endParaRPr lang="it-IT" dirty="0">
              <a:solidFill>
                <a:srgbClr val="171FE2"/>
              </a:solidFill>
              <a:latin typeface="Consolas" panose="020B0609020204030204" pitchFamily="49" charset="0"/>
            </a:endParaRPr>
          </a:p>
          <a:p>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4235522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757A-A1DC-57C4-3266-AB964D1832D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075B645-A7C6-6A0B-9059-8A60E3AF6A32}"/>
              </a:ext>
            </a:extLst>
          </p:cNvPr>
          <p:cNvSpPr>
            <a:spLocks noGrp="1"/>
          </p:cNvSpPr>
          <p:nvPr>
            <p:ph type="title"/>
          </p:nvPr>
        </p:nvSpPr>
        <p:spPr>
          <a:xfrm>
            <a:off x="838200" y="831206"/>
            <a:ext cx="10515600" cy="314198"/>
          </a:xfrm>
        </p:spPr>
        <p:txBody>
          <a:bodyPr/>
          <a:lstStyle/>
          <a:p>
            <a:r>
              <a:rPr lang="it-IT" dirty="0"/>
              <a:t>SLIDE 20: LAB PRACTICAL – SCRIVERE E DEPLOYARE IL PRIMO MANIFESTO YAML PER IL BACKEND</a:t>
            </a:r>
          </a:p>
        </p:txBody>
      </p:sp>
      <p:sp>
        <p:nvSpPr>
          <p:cNvPr id="3" name="Contenuto della lezione">
            <a:extLst>
              <a:ext uri="{FF2B5EF4-FFF2-40B4-BE49-F238E27FC236}">
                <a16:creationId xmlns:a16="http://schemas.microsoft.com/office/drawing/2014/main" id="{B47A9A5C-4DA0-C457-353B-3865724BDCDF}"/>
              </a:ext>
            </a:extLst>
          </p:cNvPr>
          <p:cNvSpPr>
            <a:spLocks noGrp="1"/>
          </p:cNvSpPr>
          <p:nvPr>
            <p:ph idx="1"/>
          </p:nvPr>
        </p:nvSpPr>
        <p:spPr>
          <a:xfrm>
            <a:off x="1317319" y="1633943"/>
            <a:ext cx="9557362" cy="4803369"/>
          </a:xfrm>
        </p:spPr>
        <p:txBody>
          <a:bodyPr/>
          <a:lstStyle/>
          <a:p>
            <a:r>
              <a:rPr lang="it-IT" dirty="0"/>
              <a:t>Apriamo il terminale nella cartella dove risiede il file YAML ed eseguiamo: </a:t>
            </a:r>
          </a:p>
          <a:p>
            <a:r>
              <a:rPr lang="it-IT" b="1" dirty="0" err="1">
                <a:solidFill>
                  <a:srgbClr val="171FE2"/>
                </a:solidFill>
                <a:latin typeface="Consolas" panose="020B0609020204030204" pitchFamily="49" charset="0"/>
              </a:rPr>
              <a:t>kubectl</a:t>
            </a:r>
            <a:r>
              <a:rPr lang="it-IT" b="1" dirty="0">
                <a:solidFill>
                  <a:srgbClr val="171FE2"/>
                </a:solidFill>
                <a:latin typeface="Consolas" panose="020B0609020204030204" pitchFamily="49" charset="0"/>
              </a:rPr>
              <a:t> </a:t>
            </a:r>
            <a:r>
              <a:rPr lang="it-IT" b="1" dirty="0" err="1">
                <a:solidFill>
                  <a:srgbClr val="171FE2"/>
                </a:solidFill>
                <a:latin typeface="Consolas" panose="020B0609020204030204" pitchFamily="49" charset="0"/>
              </a:rPr>
              <a:t>apply</a:t>
            </a:r>
            <a:r>
              <a:rPr lang="it-IT" b="1" dirty="0">
                <a:solidFill>
                  <a:srgbClr val="171FE2"/>
                </a:solidFill>
                <a:latin typeface="Consolas" panose="020B0609020204030204" pitchFamily="49" charset="0"/>
              </a:rPr>
              <a:t> -f </a:t>
            </a:r>
            <a:r>
              <a:rPr lang="it-IT" b="1" dirty="0" err="1">
                <a:solidFill>
                  <a:srgbClr val="171FE2"/>
                </a:solidFill>
                <a:latin typeface="Consolas" panose="020B0609020204030204" pitchFamily="49" charset="0"/>
              </a:rPr>
              <a:t>pod-backend.yaml</a:t>
            </a:r>
            <a:r>
              <a:rPr lang="it-IT" dirty="0">
                <a:solidFill>
                  <a:srgbClr val="171FE2"/>
                </a:solidFill>
                <a:latin typeface="Consolas" panose="020B0609020204030204" pitchFamily="49" charset="0"/>
              </a:rPr>
              <a:t> </a:t>
            </a:r>
            <a:r>
              <a:rPr lang="it-IT" dirty="0"/>
              <a:t>(il flag -f sta per "file"). </a:t>
            </a:r>
          </a:p>
          <a:p>
            <a:r>
              <a:rPr lang="it-IT" dirty="0" err="1"/>
              <a:t>Kubernetes</a:t>
            </a:r>
            <a:r>
              <a:rPr lang="it-IT" dirty="0"/>
              <a:t> leggerà il file, verificherà nella sua cassaforte </a:t>
            </a:r>
            <a:r>
              <a:rPr lang="it-IT" dirty="0" err="1"/>
              <a:t>etcd</a:t>
            </a:r>
            <a:r>
              <a:rPr lang="it-IT" dirty="0"/>
              <a:t> che non esiste nessun </a:t>
            </a:r>
            <a:r>
              <a:rPr lang="it-IT" dirty="0" err="1"/>
              <a:t>pod</a:t>
            </a:r>
            <a:r>
              <a:rPr lang="it-IT" dirty="0"/>
              <a:t> con quel nome e lo creerà, rispondendoci:</a:t>
            </a:r>
          </a:p>
          <a:p>
            <a:r>
              <a:rPr lang="it-IT" dirty="0">
                <a:solidFill>
                  <a:srgbClr val="FF0000"/>
                </a:solidFill>
              </a:rPr>
              <a:t> </a:t>
            </a:r>
            <a:r>
              <a:rPr lang="it-IT" dirty="0" err="1">
                <a:solidFill>
                  <a:srgbClr val="FF0000"/>
                </a:solidFill>
                <a:latin typeface="Consolas" panose="020B0609020204030204" pitchFamily="49" charset="0"/>
              </a:rPr>
              <a:t>pod</a:t>
            </a:r>
            <a:r>
              <a:rPr lang="it-IT" dirty="0">
                <a:solidFill>
                  <a:srgbClr val="FF0000"/>
                </a:solidFill>
                <a:latin typeface="Consolas" panose="020B0609020204030204" pitchFamily="49" charset="0"/>
              </a:rPr>
              <a:t>/</a:t>
            </a:r>
            <a:r>
              <a:rPr lang="it-IT" dirty="0" err="1">
                <a:solidFill>
                  <a:srgbClr val="FF0000"/>
                </a:solidFill>
                <a:latin typeface="Consolas" panose="020B0609020204030204" pitchFamily="49" charset="0"/>
              </a:rPr>
              <a:t>backend-enterprise</a:t>
            </a:r>
            <a:r>
              <a:rPr lang="it-IT" dirty="0">
                <a:solidFill>
                  <a:srgbClr val="FF0000"/>
                </a:solidFill>
                <a:latin typeface="Consolas" panose="020B0609020204030204" pitchFamily="49" charset="0"/>
              </a:rPr>
              <a:t> </a:t>
            </a:r>
            <a:r>
              <a:rPr lang="it-IT" dirty="0" err="1">
                <a:solidFill>
                  <a:srgbClr val="FF0000"/>
                </a:solidFill>
                <a:latin typeface="Consolas" panose="020B0609020204030204" pitchFamily="49" charset="0"/>
              </a:rPr>
              <a:t>created</a:t>
            </a:r>
            <a:endParaRPr lang="it-IT" dirty="0">
              <a:solidFill>
                <a:srgbClr val="FF0000"/>
              </a:solidFill>
            </a:endParaRPr>
          </a:p>
          <a:p>
            <a:r>
              <a:rPr lang="it-IT" dirty="0"/>
              <a:t>Per verificare che il </a:t>
            </a:r>
            <a:r>
              <a:rPr lang="it-IT" dirty="0" err="1"/>
              <a:t>pod</a:t>
            </a:r>
            <a:r>
              <a:rPr lang="it-IT" dirty="0"/>
              <a:t> sia effettivamente nato lanciamo il comando di controllo: </a:t>
            </a:r>
          </a:p>
          <a:p>
            <a:r>
              <a:rPr lang="it-IT" b="1" dirty="0" err="1">
                <a:solidFill>
                  <a:srgbClr val="171FE2"/>
                </a:solidFill>
                <a:latin typeface="Consolas" panose="020B0609020204030204" pitchFamily="49" charset="0"/>
              </a:rPr>
              <a:t>kubectl</a:t>
            </a:r>
            <a:r>
              <a:rPr lang="it-IT" b="1" dirty="0">
                <a:solidFill>
                  <a:srgbClr val="171FE2"/>
                </a:solidFill>
                <a:latin typeface="Consolas" panose="020B0609020204030204" pitchFamily="49" charset="0"/>
              </a:rPr>
              <a:t> </a:t>
            </a:r>
            <a:r>
              <a:rPr lang="it-IT" b="1" dirty="0" err="1">
                <a:solidFill>
                  <a:srgbClr val="171FE2"/>
                </a:solidFill>
                <a:latin typeface="Consolas" panose="020B0609020204030204" pitchFamily="49" charset="0"/>
              </a:rPr>
              <a:t>get</a:t>
            </a:r>
            <a:r>
              <a:rPr lang="it-IT" b="1" dirty="0">
                <a:solidFill>
                  <a:srgbClr val="171FE2"/>
                </a:solidFill>
                <a:latin typeface="Consolas" panose="020B0609020204030204" pitchFamily="49" charset="0"/>
              </a:rPr>
              <a:t> </a:t>
            </a:r>
            <a:r>
              <a:rPr lang="it-IT" b="1" dirty="0" err="1">
                <a:solidFill>
                  <a:srgbClr val="171FE2"/>
                </a:solidFill>
                <a:latin typeface="Consolas" panose="020B0609020204030204" pitchFamily="49" charset="0"/>
              </a:rPr>
              <a:t>pods</a:t>
            </a:r>
            <a:endParaRPr lang="it-IT" b="1" dirty="0">
              <a:solidFill>
                <a:srgbClr val="171FE2"/>
              </a:solidFill>
              <a:latin typeface="Consolas" panose="020B0609020204030204" pitchFamily="49" charset="0"/>
            </a:endParaRPr>
          </a:p>
          <a:p>
            <a:r>
              <a:rPr lang="it-IT" dirty="0"/>
              <a:t>Vedrete la riga </a:t>
            </a:r>
            <a:r>
              <a:rPr lang="it-IT" dirty="0" err="1"/>
              <a:t>backend-enterprise</a:t>
            </a:r>
            <a:r>
              <a:rPr lang="it-IT" dirty="0"/>
              <a:t> nello stato Running. </a:t>
            </a:r>
          </a:p>
          <a:p>
            <a:endParaRPr lang="it-IT" dirty="0"/>
          </a:p>
          <a:p>
            <a:r>
              <a:rPr lang="it-IT" dirty="0"/>
              <a:t>Se modifichiamo il file YAML cambiando un parametro, eseguendo di nuovo </a:t>
            </a:r>
            <a:r>
              <a:rPr lang="it-IT" dirty="0" err="1">
                <a:solidFill>
                  <a:srgbClr val="171FE2"/>
                </a:solidFill>
              </a:rPr>
              <a:t>kubectl</a:t>
            </a:r>
            <a:r>
              <a:rPr lang="it-IT" dirty="0">
                <a:solidFill>
                  <a:srgbClr val="171FE2"/>
                </a:solidFill>
              </a:rPr>
              <a:t> </a:t>
            </a:r>
            <a:r>
              <a:rPr lang="it-IT" dirty="0" err="1">
                <a:solidFill>
                  <a:srgbClr val="171FE2"/>
                </a:solidFill>
              </a:rPr>
              <a:t>apply</a:t>
            </a:r>
            <a:r>
              <a:rPr lang="it-IT" dirty="0"/>
              <a:t>, </a:t>
            </a:r>
            <a:r>
              <a:rPr lang="it-IT" dirty="0" err="1"/>
              <a:t>Kubernetes</a:t>
            </a:r>
            <a:r>
              <a:rPr lang="it-IT" dirty="0"/>
              <a:t> non duplicherà il </a:t>
            </a:r>
            <a:r>
              <a:rPr lang="it-IT" dirty="0" err="1"/>
              <a:t>pod</a:t>
            </a:r>
            <a:r>
              <a:rPr lang="it-IT" dirty="0"/>
              <a:t>, ma aggiornerà quello esistente. </a:t>
            </a:r>
          </a:p>
          <a:p>
            <a:r>
              <a:rPr lang="it-IT" dirty="0">
                <a:solidFill>
                  <a:srgbClr val="171FE2"/>
                </a:solidFill>
              </a:rPr>
              <a:t>Abbiamo appena fatto il primo </a:t>
            </a:r>
            <a:r>
              <a:rPr lang="it-IT" b="1" dirty="0">
                <a:solidFill>
                  <a:srgbClr val="171FE2"/>
                </a:solidFill>
              </a:rPr>
              <a:t>deployment</a:t>
            </a:r>
            <a:r>
              <a:rPr lang="it-IT" dirty="0">
                <a:solidFill>
                  <a:srgbClr val="171FE2"/>
                </a:solidFill>
              </a:rPr>
              <a:t> da sistemisti </a:t>
            </a:r>
            <a:r>
              <a:rPr lang="it-IT" dirty="0" err="1">
                <a:solidFill>
                  <a:srgbClr val="171FE2"/>
                </a:solidFill>
              </a:rPr>
              <a:t>DevOps</a:t>
            </a:r>
            <a:r>
              <a:rPr lang="it-IT" dirty="0">
                <a:solidFill>
                  <a:srgbClr val="171FE2"/>
                </a:solidFill>
              </a:rPr>
              <a:t>.</a:t>
            </a:r>
          </a:p>
          <a:p>
            <a:r>
              <a:rPr lang="it-IT" dirty="0">
                <a:solidFill>
                  <a:srgbClr val="FF0000"/>
                </a:solidFill>
              </a:rPr>
              <a:t>NB: In YAML ci vuole </a:t>
            </a:r>
            <a:r>
              <a:rPr lang="it-IT" b="1" dirty="0">
                <a:solidFill>
                  <a:srgbClr val="FF0000"/>
                </a:solidFill>
              </a:rPr>
              <a:t>obbligatoriamente uno spazio dopo i due punti</a:t>
            </a:r>
            <a:r>
              <a:rPr lang="it-IT" dirty="0">
                <a:solidFill>
                  <a:srgbClr val="FF0000"/>
                </a:solidFill>
              </a:rPr>
              <a:t> (es. </a:t>
            </a:r>
            <a:r>
              <a:rPr lang="it-IT" dirty="0" err="1">
                <a:solidFill>
                  <a:srgbClr val="FF0000"/>
                </a:solidFill>
              </a:rPr>
              <a:t>kind</a:t>
            </a:r>
            <a:r>
              <a:rPr lang="it-IT" dirty="0">
                <a:solidFill>
                  <a:srgbClr val="FF0000"/>
                </a:solidFill>
              </a:rPr>
              <a:t>: Pod è corretto, </a:t>
            </a:r>
            <a:r>
              <a:rPr lang="it-IT" dirty="0" err="1">
                <a:solidFill>
                  <a:srgbClr val="FF0000"/>
                </a:solidFill>
              </a:rPr>
              <a:t>kind:Pod</a:t>
            </a:r>
            <a:r>
              <a:rPr lang="it-IT" dirty="0">
                <a:solidFill>
                  <a:srgbClr val="FF0000"/>
                </a:solidFill>
              </a:rPr>
              <a:t> va in crash)</a:t>
            </a:r>
          </a:p>
          <a:p>
            <a:endParaRPr lang="it-IT" dirty="0">
              <a:solidFill>
                <a:srgbClr val="171FE2"/>
              </a:solidFill>
              <a:latin typeface="Consolas" panose="020B0609020204030204" pitchFamily="49" charset="0"/>
            </a:endParaRPr>
          </a:p>
        </p:txBody>
      </p:sp>
      <p:pic>
        <p:nvPicPr>
          <p:cNvPr id="5" name="Immagine 4">
            <a:extLst>
              <a:ext uri="{FF2B5EF4-FFF2-40B4-BE49-F238E27FC236}">
                <a16:creationId xmlns:a16="http://schemas.microsoft.com/office/drawing/2014/main" id="{C32B7998-5E2C-4980-BB63-4A511D6EB3FB}"/>
              </a:ext>
            </a:extLst>
          </p:cNvPr>
          <p:cNvPicPr>
            <a:picLocks noChangeAspect="1"/>
          </p:cNvPicPr>
          <p:nvPr/>
        </p:nvPicPr>
        <p:blipFill>
          <a:blip r:embed="rId2"/>
          <a:stretch>
            <a:fillRect/>
          </a:stretch>
        </p:blipFill>
        <p:spPr>
          <a:xfrm>
            <a:off x="3695365" y="4467424"/>
            <a:ext cx="4801270" cy="390580"/>
          </a:xfrm>
          <a:prstGeom prst="rect">
            <a:avLst/>
          </a:prstGeom>
        </p:spPr>
      </p:pic>
    </p:spTree>
    <p:extLst>
      <p:ext uri="{BB962C8B-B14F-4D97-AF65-F5344CB8AC3E}">
        <p14:creationId xmlns:p14="http://schemas.microsoft.com/office/powerpoint/2010/main" val="1291847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84BBB-F9EC-324B-3BED-5D99FEA2AB7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44283CC-4F3D-BA0A-B123-B8EDB9C1806B}"/>
              </a:ext>
            </a:extLst>
          </p:cNvPr>
          <p:cNvSpPr>
            <a:spLocks noGrp="1"/>
          </p:cNvSpPr>
          <p:nvPr>
            <p:ph type="title"/>
          </p:nvPr>
        </p:nvSpPr>
        <p:spPr>
          <a:xfrm>
            <a:off x="838200" y="831206"/>
            <a:ext cx="10515600" cy="314198"/>
          </a:xfrm>
        </p:spPr>
        <p:txBody>
          <a:bodyPr/>
          <a:lstStyle/>
          <a:p>
            <a:r>
              <a:rPr lang="it-IT" dirty="0"/>
              <a:t>SLIDE 21: LE ETICHETTE (LABELS) – IL SISTEMA DI ORGANIZZAZIONE ENTERPRISE</a:t>
            </a:r>
          </a:p>
        </p:txBody>
      </p:sp>
      <p:sp>
        <p:nvSpPr>
          <p:cNvPr id="3" name="Contenuto della lezione">
            <a:extLst>
              <a:ext uri="{FF2B5EF4-FFF2-40B4-BE49-F238E27FC236}">
                <a16:creationId xmlns:a16="http://schemas.microsoft.com/office/drawing/2014/main" id="{5A6F2147-CC53-D6A9-7FCF-20E97AB470C8}"/>
              </a:ext>
            </a:extLst>
          </p:cNvPr>
          <p:cNvSpPr>
            <a:spLocks noGrp="1"/>
          </p:cNvSpPr>
          <p:nvPr>
            <p:ph idx="1"/>
          </p:nvPr>
        </p:nvSpPr>
        <p:spPr>
          <a:xfrm>
            <a:off x="1317319" y="1633943"/>
            <a:ext cx="9557362" cy="4803369"/>
          </a:xfrm>
        </p:spPr>
        <p:txBody>
          <a:bodyPr/>
          <a:lstStyle/>
          <a:p>
            <a:r>
              <a:rPr lang="it-IT" dirty="0"/>
              <a:t>Man mano che la nostra applicazione </a:t>
            </a:r>
            <a:r>
              <a:rPr lang="it-IT" dirty="0" err="1"/>
              <a:t>enterprise</a:t>
            </a:r>
            <a:r>
              <a:rPr lang="it-IT" dirty="0"/>
              <a:t> cresce, all'interno del cluster </a:t>
            </a:r>
            <a:r>
              <a:rPr lang="it-IT" dirty="0" err="1"/>
              <a:t>Kubernetes</a:t>
            </a:r>
            <a:r>
              <a:rPr lang="it-IT" dirty="0"/>
              <a:t> non avremo più un solo Pod isolato, ma potremmo trovarci a gestire centinaia o migliaia di Pod attivi contemporaneamente: copie del </a:t>
            </a:r>
            <a:r>
              <a:rPr lang="it-IT" dirty="0" err="1"/>
              <a:t>frontend</a:t>
            </a:r>
            <a:r>
              <a:rPr lang="it-IT" dirty="0"/>
              <a:t>, repliche del </a:t>
            </a:r>
            <a:r>
              <a:rPr lang="it-IT" dirty="0" err="1"/>
              <a:t>backend</a:t>
            </a:r>
            <a:r>
              <a:rPr lang="it-IT" dirty="0"/>
              <a:t> Spring Boot, database di produzione e database di test. </a:t>
            </a:r>
          </a:p>
          <a:p>
            <a:r>
              <a:rPr lang="it-IT" dirty="0"/>
              <a:t>Come fa </a:t>
            </a:r>
            <a:r>
              <a:rPr lang="it-IT" dirty="0" err="1"/>
              <a:t>Kubernetes</a:t>
            </a:r>
            <a:r>
              <a:rPr lang="it-IT" dirty="0"/>
              <a:t> a non fare confusione e a sapere quali Pod appartengono al </a:t>
            </a:r>
            <a:r>
              <a:rPr lang="it-IT" dirty="0" err="1"/>
              <a:t>backend</a:t>
            </a:r>
            <a:r>
              <a:rPr lang="it-IT" dirty="0"/>
              <a:t> e quali al </a:t>
            </a:r>
            <a:r>
              <a:rPr lang="it-IT" dirty="0" err="1"/>
              <a:t>frontend</a:t>
            </a:r>
            <a:r>
              <a:rPr lang="it-IT" dirty="0"/>
              <a:t>? </a:t>
            </a:r>
          </a:p>
          <a:p>
            <a:r>
              <a:rPr lang="it-IT" dirty="0"/>
              <a:t>La risposta sta in un </a:t>
            </a:r>
            <a:r>
              <a:rPr lang="it-IT" b="1" dirty="0">
                <a:solidFill>
                  <a:srgbClr val="171FE2"/>
                </a:solidFill>
              </a:rPr>
              <a:t>meccanismo di catalogazione </a:t>
            </a:r>
            <a:r>
              <a:rPr lang="it-IT" dirty="0"/>
              <a:t>di una semplicità disarmante ma di una potenza devastante: le </a:t>
            </a:r>
            <a:r>
              <a:rPr lang="it-IT" b="1" dirty="0"/>
              <a:t>Labels</a:t>
            </a:r>
            <a:r>
              <a:rPr lang="it-IT" dirty="0"/>
              <a:t> (Etichette) e i </a:t>
            </a:r>
            <a:r>
              <a:rPr lang="it-IT" b="1" dirty="0" err="1"/>
              <a:t>Selectors</a:t>
            </a:r>
            <a:r>
              <a:rPr lang="it-IT" dirty="0"/>
              <a:t> (Selettori).</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2482989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3E2BD-A2B2-64FB-23FE-B638AF3D7B5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A167A5A-C1DA-BC2D-83ED-FCBB6A50536E}"/>
              </a:ext>
            </a:extLst>
          </p:cNvPr>
          <p:cNvSpPr>
            <a:spLocks noGrp="1"/>
          </p:cNvSpPr>
          <p:nvPr>
            <p:ph type="title"/>
          </p:nvPr>
        </p:nvSpPr>
        <p:spPr>
          <a:xfrm>
            <a:off x="838200" y="831206"/>
            <a:ext cx="10515600" cy="314198"/>
          </a:xfrm>
        </p:spPr>
        <p:txBody>
          <a:bodyPr/>
          <a:lstStyle/>
          <a:p>
            <a:r>
              <a:rPr lang="it-IT" dirty="0"/>
              <a:t>SLIDE 22: LE ETICHETTE (LABELS) – IL SISTEMA DI ORGANIZZAZIONE ENTERPRISE</a:t>
            </a:r>
          </a:p>
        </p:txBody>
      </p:sp>
      <p:sp>
        <p:nvSpPr>
          <p:cNvPr id="3" name="Contenuto della lezione">
            <a:extLst>
              <a:ext uri="{FF2B5EF4-FFF2-40B4-BE49-F238E27FC236}">
                <a16:creationId xmlns:a16="http://schemas.microsoft.com/office/drawing/2014/main" id="{9F1C3028-832A-261D-7738-7114EDE86496}"/>
              </a:ext>
            </a:extLst>
          </p:cNvPr>
          <p:cNvSpPr>
            <a:spLocks noGrp="1"/>
          </p:cNvSpPr>
          <p:nvPr>
            <p:ph idx="1"/>
          </p:nvPr>
        </p:nvSpPr>
        <p:spPr>
          <a:xfrm>
            <a:off x="1317319" y="1633943"/>
            <a:ext cx="9557362" cy="4803369"/>
          </a:xfrm>
        </p:spPr>
        <p:txBody>
          <a:bodyPr/>
          <a:lstStyle/>
          <a:p>
            <a:r>
              <a:rPr lang="it-IT" dirty="0"/>
              <a:t>Una </a:t>
            </a:r>
            <a:r>
              <a:rPr lang="it-IT" b="1" dirty="0"/>
              <a:t>Label</a:t>
            </a:r>
            <a:r>
              <a:rPr lang="it-IT" dirty="0"/>
              <a:t> non è altro che una </a:t>
            </a:r>
            <a:r>
              <a:rPr lang="it-IT" b="1" dirty="0">
                <a:solidFill>
                  <a:srgbClr val="171FE2"/>
                </a:solidFill>
              </a:rPr>
              <a:t>coppia chiave-valore </a:t>
            </a:r>
            <a:r>
              <a:rPr lang="it-IT" dirty="0"/>
              <a:t>(un'etichetta testuale personalizzata, come ad esempio app: </a:t>
            </a:r>
            <a:r>
              <a:rPr lang="it-IT" dirty="0" err="1"/>
              <a:t>backend</a:t>
            </a:r>
            <a:r>
              <a:rPr lang="it-IT" dirty="0"/>
              <a:t> o ambiente: produzione) che noi andiamo ad "incollare" all'interno della sezione metadata del nostro file YAML. </a:t>
            </a:r>
          </a:p>
          <a:p>
            <a:r>
              <a:rPr lang="it-IT" dirty="0"/>
              <a:t>I </a:t>
            </a:r>
            <a:r>
              <a:rPr lang="it-IT" b="1" dirty="0" err="1"/>
              <a:t>Selectors</a:t>
            </a:r>
            <a:r>
              <a:rPr lang="it-IT" dirty="0"/>
              <a:t> sono dei filtri di ricerca intelligenti. </a:t>
            </a:r>
          </a:p>
          <a:p>
            <a:r>
              <a:rPr lang="it-IT" dirty="0"/>
              <a:t>Quando un domani un componente di rete dovrà inviare il traffico al </a:t>
            </a:r>
            <a:r>
              <a:rPr lang="it-IT" dirty="0" err="1"/>
              <a:t>backend</a:t>
            </a:r>
            <a:r>
              <a:rPr lang="it-IT" dirty="0"/>
              <a:t>, non cercherà il nome del singolo Pod (che abbiamo visto essere mortale ed effimero), ma dirà a </a:t>
            </a:r>
            <a:r>
              <a:rPr lang="it-IT" dirty="0" err="1"/>
              <a:t>Kubernetes</a:t>
            </a:r>
            <a:r>
              <a:rPr lang="it-IT" dirty="0"/>
              <a:t>: </a:t>
            </a:r>
            <a:r>
              <a:rPr lang="it-IT" i="1" dirty="0"/>
              <a:t>"Prendi tutte le richieste e lanciale verso qualunque Pod nel cluster che abbia l'etichetta app: </a:t>
            </a:r>
            <a:r>
              <a:rPr lang="it-IT" i="1" dirty="0" err="1"/>
              <a:t>backend</a:t>
            </a:r>
            <a:r>
              <a:rPr lang="it-IT" i="1"/>
              <a:t>"</a:t>
            </a:r>
            <a:r>
              <a:rPr lang="it-IT"/>
              <a:t>. </a:t>
            </a:r>
          </a:p>
          <a:p>
            <a:r>
              <a:rPr lang="it-IT"/>
              <a:t>Questo </a:t>
            </a:r>
            <a:r>
              <a:rPr lang="it-IT" dirty="0"/>
              <a:t>sistema di accoppiamento debole (Loose </a:t>
            </a:r>
            <a:r>
              <a:rPr lang="it-IT" dirty="0" err="1"/>
              <a:t>Coupling</a:t>
            </a:r>
            <a:r>
              <a:rPr lang="it-IT" dirty="0"/>
              <a:t>) permette a </a:t>
            </a:r>
            <a:r>
              <a:rPr lang="it-IT" dirty="0" err="1"/>
              <a:t>Kubernetes</a:t>
            </a:r>
            <a:r>
              <a:rPr lang="it-IT" dirty="0"/>
              <a:t> di essere totalmente dinamico: possiamo aggiungere o distruggere Pod in qualsiasi momento; finché sul baccello c'è incollata l'etichetta corretta, il sistema lo troverà e lo includerà nelle operazioni di rete in tempo reale.</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2888977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E02355-4941-9C10-CA1D-649F04DB5143}"/>
              </a:ext>
            </a:extLst>
          </p:cNvPr>
          <p:cNvSpPr>
            <a:spLocks noGrp="1"/>
          </p:cNvSpPr>
          <p:nvPr>
            <p:ph type="title"/>
          </p:nvPr>
        </p:nvSpPr>
        <p:spPr/>
        <p:txBody>
          <a:bodyPr/>
          <a:lstStyle/>
          <a:p>
            <a:r>
              <a:rPr lang="it-IT" spc="0" dirty="0">
                <a:latin typeface="Neue Haas Grotesk Text Pro" panose="020B0504020202020204" pitchFamily="34" charset="0"/>
              </a:rPr>
              <a:t>GRAZIE PER L’ATTENZIONE</a:t>
            </a:r>
          </a:p>
        </p:txBody>
      </p:sp>
    </p:spTree>
    <p:extLst>
      <p:ext uri="{BB962C8B-B14F-4D97-AF65-F5344CB8AC3E}">
        <p14:creationId xmlns:p14="http://schemas.microsoft.com/office/powerpoint/2010/main" val="3003246572"/>
      </p:ext>
    </p:extLst>
  </p:cSld>
  <p:clrMapOvr>
    <a:masterClrMapping/>
  </p:clrMapOvr>
</p:sld>
</file>

<file path=ppt/theme/theme1.xml><?xml version="1.0" encoding="utf-8"?>
<a:theme xmlns:a="http://schemas.openxmlformats.org/drawingml/2006/main" name="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3455C6CD0B9BF4DB2CA3009677D9668" ma:contentTypeVersion="17" ma:contentTypeDescription="Create a new document." ma:contentTypeScope="" ma:versionID="6361f2605a906a42d9630ca59d277a8b">
  <xsd:schema xmlns:xsd="http://www.w3.org/2001/XMLSchema" xmlns:xs="http://www.w3.org/2001/XMLSchema" xmlns:p="http://schemas.microsoft.com/office/2006/metadata/properties" xmlns:ns2="8b3acf13-3a58-43b2-a29e-f23503de136d" xmlns:ns3="21b72fd8-e7d0-49ac-9795-d1b0bc6b7e1c" targetNamespace="http://schemas.microsoft.com/office/2006/metadata/properties" ma:root="true" ma:fieldsID="ae4eb9e2c998b5efed80ec6126f835fa" ns2:_="" ns3:_="">
    <xsd:import namespace="8b3acf13-3a58-43b2-a29e-f23503de136d"/>
    <xsd:import namespace="21b72fd8-e7d0-49ac-9795-d1b0bc6b7e1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Argoment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acf13-3a58-43b2-a29e-f23503de1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f31c764-9f90-46cb-b927-e7c76de0672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Argomento" ma:index="24" nillable="true" ma:displayName="Argomento" ma:format="Dropdown" ma:internalName="Argoment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b72fd8-e7d0-49ac-9795-d1b0bc6b7e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0603bf2-5c45-4900-ad6d-aa2e93470d68}" ma:internalName="TaxCatchAll" ma:showField="CatchAllData" ma:web="21b72fd8-e7d0-49ac-9795-d1b0bc6b7e1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1b72fd8-e7d0-49ac-9795-d1b0bc6b7e1c" xsi:nil="true"/>
    <lcf76f155ced4ddcb4097134ff3c332f xmlns="8b3acf13-3a58-43b2-a29e-f23503de136d">
      <Terms xmlns="http://schemas.microsoft.com/office/infopath/2007/PartnerControls"/>
    </lcf76f155ced4ddcb4097134ff3c332f>
    <Argomento xmlns="8b3acf13-3a58-43b2-a29e-f23503de136d" xsi:nil="true"/>
  </documentManagement>
</p:properties>
</file>

<file path=customXml/itemProps1.xml><?xml version="1.0" encoding="utf-8"?>
<ds:datastoreItem xmlns:ds="http://schemas.openxmlformats.org/officeDocument/2006/customXml" ds:itemID="{67C65656-B2D8-4C19-A873-091B25A5212E}">
  <ds:schemaRefs>
    <ds:schemaRef ds:uri="http://schemas.microsoft.com/sharepoint/v3/contenttype/forms"/>
  </ds:schemaRefs>
</ds:datastoreItem>
</file>

<file path=customXml/itemProps2.xml><?xml version="1.0" encoding="utf-8"?>
<ds:datastoreItem xmlns:ds="http://schemas.openxmlformats.org/officeDocument/2006/customXml" ds:itemID="{70468F63-B318-4D5F-A1DF-86BE98AC22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3acf13-3a58-43b2-a29e-f23503de136d"/>
    <ds:schemaRef ds:uri="21b72fd8-e7d0-49ac-9795-d1b0bc6b7e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66878A-54ED-4867-B478-72A29DC19B89}">
  <ds:schemaRefs>
    <ds:schemaRef ds:uri="http://schemas.microsoft.com/office/2006/metadata/properties"/>
    <ds:schemaRef ds:uri="http://schemas.microsoft.com/office/infopath/2007/PartnerControls"/>
    <ds:schemaRef ds:uri="21b72fd8-e7d0-49ac-9795-d1b0bc6b7e1c"/>
    <ds:schemaRef ds:uri="8b3acf13-3a58-43b2-a29e-f23503de136d"/>
  </ds:schemaRefs>
</ds:datastoreItem>
</file>

<file path=docProps/app.xml><?xml version="1.0" encoding="utf-8"?>
<Properties xmlns="http://schemas.openxmlformats.org/officeDocument/2006/extended-properties" xmlns:vt="http://schemas.openxmlformats.org/officeDocument/2006/docPropsVTypes">
  <Template/>
  <TotalTime>1179</TotalTime>
  <Words>3256</Words>
  <Application>Microsoft Office PowerPoint</Application>
  <PresentationFormat>Widescreen</PresentationFormat>
  <Paragraphs>201</Paragraphs>
  <Slides>25</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25</vt:i4>
      </vt:variant>
    </vt:vector>
  </HeadingPairs>
  <TitlesOfParts>
    <vt:vector size="31" baseType="lpstr">
      <vt:lpstr>Arial</vt:lpstr>
      <vt:lpstr>Calibri</vt:lpstr>
      <vt:lpstr>Consolas</vt:lpstr>
      <vt:lpstr>Neue Haas Grotesk Display Pro</vt:lpstr>
      <vt:lpstr>Neue Haas Grotesk Text Pro</vt:lpstr>
      <vt:lpstr>Intro</vt:lpstr>
      <vt:lpstr>Presentazione standard di PowerPoint</vt:lpstr>
      <vt:lpstr>Presentazione standard di PowerPoint</vt:lpstr>
      <vt:lpstr>SLIDE 1: PERCHÉ KUBERNETES? IL PASSAGGIO DA DOCKER COMPOSE ALL'ORCHESTRAZIONE ENTERPRISE</vt:lpstr>
      <vt:lpstr>SLIDE 2: PERCHÉ KUBERNETES? IL PASSAGGIO DA DOCKER COMPOSE ALL'ORCHESTRAZIONE ENTERPRISE</vt:lpstr>
      <vt:lpstr>SLIDE 3: L'ARCHITETTURA DI KUBERNETES – CONTROL PLANE E WORKER NODES</vt:lpstr>
      <vt:lpstr>SLIDE 4: L'ARCHITETTURA DI KUBERNETES – CONTROL PLANE E WORKER NODES</vt:lpstr>
      <vt:lpstr>SLIDE 5: L'ARCHITETTURA DI KUBERNETES – CONTROL PLANE E WORKER NODES</vt:lpstr>
      <vt:lpstr>SLIDE 6: L'ARCHITETTURA DI KUBERNETES – CONTROL PLANE E WORKER NODES</vt:lpstr>
      <vt:lpstr>SLIDE 7: ABILITARE KUBERNETES LOCALE E PRIMI COMANDI CON CUBECTL</vt:lpstr>
      <vt:lpstr>SLIDE 8: ABILITARE KUBERNETES LOCALE E PRIMI COMANDI CON CUBECTL</vt:lpstr>
      <vt:lpstr>SLIDE 9: IL CONCETTO DI POD – L'ATOMO DI KUBERNETES</vt:lpstr>
      <vt:lpstr>SLIDE 10: IL CONCETTO DI POD – L'ATOMO DI KUBERNETES</vt:lpstr>
      <vt:lpstr>SLIDE 11: IL CONCETTO DI POD – L'ATOMO DI KUBERNETES</vt:lpstr>
      <vt:lpstr>SLIDE 12: Stesso IP POD ma porte diverse</vt:lpstr>
      <vt:lpstr>SLIDE 13: Stesso IP POD ma porte diverse</vt:lpstr>
      <vt:lpstr>SLIDE 14: Il network namespace </vt:lpstr>
      <vt:lpstr>SLIDE 15: LAB PRACTICAL – AVVIARE E ISPEZIONARE IL PRIMO POD IMPERATIVO</vt:lpstr>
      <vt:lpstr>SLIDE 16: LAB PRACTICAL – AVVIARE E ISPEZIONARE IL PRIMO POD IMPERATIVO</vt:lpstr>
      <vt:lpstr>SLIDE 17: LA FILOSOFIA DICHIARATIVA - IL MANIFESTO YAML IN KUBERNETES</vt:lpstr>
      <vt:lpstr>SLIDE 18: LA FILOSOFIA DICHIARATIVA - IL MANIFESTO YAML IN KUBERNETES</vt:lpstr>
      <vt:lpstr>SLIDE 19: LAB PRACTICAL – SCRIVERE E DEPLOYARE IL PRIMO MANIFESTO YAML PER IL BACKEND</vt:lpstr>
      <vt:lpstr>SLIDE 20: LAB PRACTICAL – SCRIVERE E DEPLOYARE IL PRIMO MANIFESTO YAML PER IL BACKEND</vt:lpstr>
      <vt:lpstr>SLIDE 21: LE ETICHETTE (LABELS) – IL SISTEMA DI ORGANIZZAZIONE ENTERPRISE</vt:lpstr>
      <vt:lpstr>SLIDE 22: LE ETICHETTE (LABELS) – IL SISTEMA DI ORGANIZZAZIONE ENTERPRISE</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Davide Grillo</dc:creator>
  <cp:lastModifiedBy>Mirko Onorato</cp:lastModifiedBy>
  <cp:revision>203</cp:revision>
  <dcterms:created xsi:type="dcterms:W3CDTF">2023-09-21T07:59:23Z</dcterms:created>
  <dcterms:modified xsi:type="dcterms:W3CDTF">2026-06-12T15:20:44Z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0x010100D3455C6CD0B9BF4DB2CA3009677D9668</vt:lpwstr>
  </property>
</Properties>
</file>