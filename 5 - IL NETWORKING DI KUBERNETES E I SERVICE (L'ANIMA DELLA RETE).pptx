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Lst>
  <p:notesMasterIdLst>
    <p:notesMasterId r:id="rId55"/>
  </p:notesMasterIdLst>
  <p:handoutMasterIdLst>
    <p:handoutMasterId r:id="rId56"/>
  </p:handoutMasterIdLst>
  <p:sldIdLst>
    <p:sldId id="262" r:id="rId5"/>
    <p:sldId id="259" r:id="rId6"/>
    <p:sldId id="258"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9" r:id="rId21"/>
    <p:sldId id="280" r:id="rId22"/>
    <p:sldId id="281" r:id="rId23"/>
    <p:sldId id="276" r:id="rId24"/>
    <p:sldId id="277" r:id="rId25"/>
    <p:sldId id="278" r:id="rId26"/>
    <p:sldId id="283" r:id="rId27"/>
    <p:sldId id="282"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261" r:id="rId54"/>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1FE2"/>
    <a:srgbClr val="0C0C0D"/>
    <a:srgbClr val="FFDB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233" autoAdjust="0"/>
    <p:restoredTop sz="92907" autoAdjust="0"/>
  </p:normalViewPr>
  <p:slideViewPr>
    <p:cSldViewPr snapToGrid="0" showGuides="1">
      <p:cViewPr varScale="1">
        <p:scale>
          <a:sx n="151" d="100"/>
          <a:sy n="151" d="100"/>
        </p:scale>
        <p:origin x="192" y="10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56" d="100"/>
          <a:sy n="56" d="100"/>
        </p:scale>
        <p:origin x="1902"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8BF59EF6-0FF4-3C26-C2BB-DB4C8164691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a:extLst>
              <a:ext uri="{FF2B5EF4-FFF2-40B4-BE49-F238E27FC236}">
                <a16:creationId xmlns:a16="http://schemas.microsoft.com/office/drawing/2014/main" id="{FA684938-E2E5-17C8-EF87-D39DC23A0CE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B567D21-D55F-4A7B-94FF-7608FD989819}" type="datetimeFigureOut">
              <a:rPr lang="it-IT" smtClean="0"/>
              <a:t>13/06/2026</a:t>
            </a:fld>
            <a:endParaRPr lang="it-IT"/>
          </a:p>
        </p:txBody>
      </p:sp>
      <p:sp>
        <p:nvSpPr>
          <p:cNvPr id="4" name="Segnaposto piè di pagina 3">
            <a:extLst>
              <a:ext uri="{FF2B5EF4-FFF2-40B4-BE49-F238E27FC236}">
                <a16:creationId xmlns:a16="http://schemas.microsoft.com/office/drawing/2014/main" id="{71588DC1-54E0-DA10-6330-B5B85E54BE3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a:extLst>
              <a:ext uri="{FF2B5EF4-FFF2-40B4-BE49-F238E27FC236}">
                <a16:creationId xmlns:a16="http://schemas.microsoft.com/office/drawing/2014/main" id="{4BF496F1-A8FC-84F6-A381-661BDD027C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11F2323-8915-4474-89BB-0944B80755B1}" type="slidenum">
              <a:rPr lang="it-IT" smtClean="0"/>
              <a:t>‹N›</a:t>
            </a:fld>
            <a:endParaRPr lang="it-IT"/>
          </a:p>
        </p:txBody>
      </p:sp>
    </p:spTree>
    <p:extLst>
      <p:ext uri="{BB962C8B-B14F-4D97-AF65-F5344CB8AC3E}">
        <p14:creationId xmlns:p14="http://schemas.microsoft.com/office/powerpoint/2010/main" val="45145869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0B2B73-14A8-482F-9803-A95CC73B5B34}" type="datetimeFigureOut">
              <a:rPr lang="it-IT" smtClean="0"/>
              <a:t>13/06/2026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8FDE81-C331-4896-AC61-55381248B14B}" type="slidenum">
              <a:rPr lang="it-IT" smtClean="0"/>
              <a:t>‹N›</a:t>
            </a:fld>
            <a:endParaRPr lang="it-IT"/>
          </a:p>
        </p:txBody>
      </p:sp>
    </p:spTree>
    <p:extLst>
      <p:ext uri="{BB962C8B-B14F-4D97-AF65-F5344CB8AC3E}">
        <p14:creationId xmlns:p14="http://schemas.microsoft.com/office/powerpoint/2010/main" val="446805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788FDE81-C331-4896-AC61-55381248B14B}" type="slidenum">
              <a:rPr lang="it-IT" smtClean="0"/>
              <a:t>2</a:t>
            </a:fld>
            <a:endParaRPr lang="it-IT"/>
          </a:p>
        </p:txBody>
      </p:sp>
    </p:spTree>
    <p:extLst>
      <p:ext uri="{BB962C8B-B14F-4D97-AF65-F5344CB8AC3E}">
        <p14:creationId xmlns:p14="http://schemas.microsoft.com/office/powerpoint/2010/main" val="13472482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jpg"/><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tro">
    <p:spTree>
      <p:nvGrpSpPr>
        <p:cNvPr id="1" name=""/>
        <p:cNvGrpSpPr/>
        <p:nvPr/>
      </p:nvGrpSpPr>
      <p:grpSpPr>
        <a:xfrm>
          <a:off x="0" y="0"/>
          <a:ext cx="0" cy="0"/>
          <a:chOff x="0" y="0"/>
          <a:chExt cx="0" cy="0"/>
        </a:xfrm>
      </p:grpSpPr>
      <p:grpSp>
        <p:nvGrpSpPr>
          <p:cNvPr id="7" name="Sfondo">
            <a:extLst>
              <a:ext uri="{FF2B5EF4-FFF2-40B4-BE49-F238E27FC236}">
                <a16:creationId xmlns:a16="http://schemas.microsoft.com/office/drawing/2014/main" id="{3151B56A-A6F1-5CFE-90D4-C91637CA43DC}"/>
              </a:ext>
            </a:extLst>
          </p:cNvPr>
          <p:cNvGrpSpPr/>
          <p:nvPr userDrawn="1"/>
        </p:nvGrpSpPr>
        <p:grpSpPr>
          <a:xfrm>
            <a:off x="0" y="0"/>
            <a:ext cx="12191999" cy="6857998"/>
            <a:chOff x="0" y="0"/>
            <a:chExt cx="12191999" cy="6857998"/>
          </a:xfrm>
        </p:grpSpPr>
        <p:pic>
          <p:nvPicPr>
            <p:cNvPr id="8" name="bg object 16">
              <a:extLst>
                <a:ext uri="{FF2B5EF4-FFF2-40B4-BE49-F238E27FC236}">
                  <a16:creationId xmlns:a16="http://schemas.microsoft.com/office/drawing/2014/main" id="{F245C0BF-8E93-514B-6EA0-0DB46DDE199E}"/>
                </a:ext>
              </a:extLst>
            </p:cNvPr>
            <p:cNvPicPr/>
            <p:nvPr userDrawn="1"/>
          </p:nvPicPr>
          <p:blipFill>
            <a:blip r:embed="rId2" cstate="print"/>
            <a:stretch>
              <a:fillRect/>
            </a:stretch>
          </p:blipFill>
          <p:spPr>
            <a:xfrm>
              <a:off x="0" y="0"/>
              <a:ext cx="12191999" cy="6857998"/>
            </a:xfrm>
            <a:prstGeom prst="rect">
              <a:avLst/>
            </a:prstGeom>
          </p:spPr>
        </p:pic>
        <p:sp>
          <p:nvSpPr>
            <p:cNvPr id="9" name="Sfondo nero">
              <a:extLst>
                <a:ext uri="{FF2B5EF4-FFF2-40B4-BE49-F238E27FC236}">
                  <a16:creationId xmlns:a16="http://schemas.microsoft.com/office/drawing/2014/main" id="{7E15F8EB-6BFE-6BE4-8488-2A37B82D22A6}"/>
                </a:ext>
              </a:extLst>
            </p:cNvPr>
            <p:cNvSpPr/>
            <p:nvPr userDrawn="1"/>
          </p:nvSpPr>
          <p:spPr>
            <a:xfrm>
              <a:off x="228600" y="203061"/>
              <a:ext cx="11734800" cy="6451878"/>
            </a:xfrm>
            <a:custGeom>
              <a:avLst/>
              <a:gdLst/>
              <a:ahLst/>
              <a:cxnLst/>
              <a:rect l="l" t="t" r="r" b="b"/>
              <a:pathLst>
                <a:path w="11506200" h="6248400">
                  <a:moveTo>
                    <a:pt x="11506200" y="0"/>
                  </a:moveTo>
                  <a:lnTo>
                    <a:pt x="0" y="0"/>
                  </a:lnTo>
                  <a:lnTo>
                    <a:pt x="0" y="6248400"/>
                  </a:lnTo>
                  <a:lnTo>
                    <a:pt x="11506200" y="6248400"/>
                  </a:lnTo>
                  <a:lnTo>
                    <a:pt x="11506200" y="0"/>
                  </a:lnTo>
                  <a:close/>
                </a:path>
              </a:pathLst>
            </a:custGeom>
            <a:solidFill>
              <a:srgbClr val="000000"/>
            </a:solidFill>
          </p:spPr>
          <p:txBody>
            <a:bodyPr wrap="square" lIns="0" tIns="0" rIns="0" bIns="0" rtlCol="0"/>
            <a:lstStyle/>
            <a:p>
              <a:endParaRPr b="0" i="0" dirty="0">
                <a:latin typeface="Arial" panose="020B0604020202020204" pitchFamily="34" charset="0"/>
              </a:endParaRPr>
            </a:p>
          </p:txBody>
        </p:sp>
      </p:grpSp>
      <p:pic>
        <p:nvPicPr>
          <p:cNvPr id="3" name="Logo">
            <a:extLst>
              <a:ext uri="{FF2B5EF4-FFF2-40B4-BE49-F238E27FC236}">
                <a16:creationId xmlns:a16="http://schemas.microsoft.com/office/drawing/2014/main" id="{4C834844-A2F7-AC9C-2087-6061FCF61E4E}"/>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81312" y="3055807"/>
            <a:ext cx="6429375" cy="746384"/>
          </a:xfrm>
          <a:prstGeom prst="rect">
            <a:avLst/>
          </a:prstGeom>
        </p:spPr>
      </p:pic>
      <p:sp>
        <p:nvSpPr>
          <p:cNvPr id="2" name="Segnaposto numero diapositiva 1">
            <a:extLst>
              <a:ext uri="{FF2B5EF4-FFF2-40B4-BE49-F238E27FC236}">
                <a16:creationId xmlns:a16="http://schemas.microsoft.com/office/drawing/2014/main" id="{38E5D1B6-A890-892D-9858-91BBCF4C4D74}"/>
              </a:ext>
            </a:extLst>
          </p:cNvPr>
          <p:cNvSpPr>
            <a:spLocks noGrp="1"/>
          </p:cNvSpPr>
          <p:nvPr>
            <p:ph type="sldNum" sz="quarter" idx="10"/>
          </p:nvPr>
        </p:nvSpPr>
        <p:spPr>
          <a:xfrm>
            <a:off x="8610600" y="6356350"/>
            <a:ext cx="2743200" cy="365125"/>
          </a:xfrm>
          <a:prstGeom prst="rect">
            <a:avLst/>
          </a:prstGeom>
        </p:spPr>
        <p:txBody>
          <a:bodyPr/>
          <a:lstStyle>
            <a:lvl1pPr>
              <a:defRPr>
                <a:solidFill>
                  <a:schemeClr val="tx1"/>
                </a:solidFill>
              </a:defRPr>
            </a:lvl1pPr>
          </a:lstStyle>
          <a:p>
            <a:fld id="{EE05E91E-B103-4211-9892-B5CF4BF06646}" type="slidenum">
              <a:rPr lang="it-IT" smtClean="0"/>
              <a:pPr/>
              <a:t>‹N›</a:t>
            </a:fld>
            <a:endParaRPr lang="it-IT"/>
          </a:p>
        </p:txBody>
      </p:sp>
    </p:spTree>
    <p:extLst>
      <p:ext uri="{BB962C8B-B14F-4D97-AF65-F5344CB8AC3E}">
        <p14:creationId xmlns:p14="http://schemas.microsoft.com/office/powerpoint/2010/main" val="3183160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olo della lezione">
    <p:spTree>
      <p:nvGrpSpPr>
        <p:cNvPr id="1" name=""/>
        <p:cNvGrpSpPr/>
        <p:nvPr/>
      </p:nvGrpSpPr>
      <p:grpSpPr>
        <a:xfrm>
          <a:off x="0" y="0"/>
          <a:ext cx="0" cy="0"/>
          <a:chOff x="0" y="0"/>
          <a:chExt cx="0" cy="0"/>
        </a:xfrm>
      </p:grpSpPr>
      <p:pic>
        <p:nvPicPr>
          <p:cNvPr id="10" name="Immagine 9">
            <a:extLst>
              <a:ext uri="{FF2B5EF4-FFF2-40B4-BE49-F238E27FC236}">
                <a16:creationId xmlns:a16="http://schemas.microsoft.com/office/drawing/2014/main" id="{03BCE473-8FC3-9F4F-E292-BFC28ABE7B25}"/>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harpenSoften amount="-100000"/>
                    </a14:imgEffect>
                    <a14:imgEffect>
                      <a14:saturation sat="66000"/>
                    </a14:imgEffect>
                  </a14:imgLayer>
                </a14:imgProps>
              </a:ext>
              <a:ext uri="{28A0092B-C50C-407E-A947-70E740481C1C}">
                <a14:useLocalDpi xmlns:a14="http://schemas.microsoft.com/office/drawing/2010/main" val="0"/>
              </a:ext>
            </a:extLst>
          </a:blip>
          <a:srcRect t="7498" b="7498"/>
          <a:stretch/>
        </p:blipFill>
        <p:spPr>
          <a:xfrm>
            <a:off x="8" y="4"/>
            <a:ext cx="12191984" cy="6857991"/>
          </a:xfrm>
          <a:prstGeom prst="rect">
            <a:avLst/>
          </a:prstGeom>
        </p:spPr>
      </p:pic>
      <p:sp>
        <p:nvSpPr>
          <p:cNvPr id="2" name="Titolo 1">
            <a:extLst>
              <a:ext uri="{FF2B5EF4-FFF2-40B4-BE49-F238E27FC236}">
                <a16:creationId xmlns:a16="http://schemas.microsoft.com/office/drawing/2014/main" id="{D46FDB36-122C-6ED3-0E68-A04440759196}"/>
              </a:ext>
            </a:extLst>
          </p:cNvPr>
          <p:cNvSpPr>
            <a:spLocks noGrp="1"/>
          </p:cNvSpPr>
          <p:nvPr>
            <p:ph type="ctrTitle" hasCustomPrompt="1"/>
          </p:nvPr>
        </p:nvSpPr>
        <p:spPr>
          <a:xfrm>
            <a:off x="4749604" y="2315869"/>
            <a:ext cx="2692791" cy="55802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2800" b="1" kern="1200">
                <a:solidFill>
                  <a:schemeClr val="bg1"/>
                </a:solidFill>
                <a:latin typeface="Neue Haas Grotesk Display Pro" panose="020D0304030502050203" pitchFamily="34" charset="0"/>
                <a:ea typeface="+mj-ea"/>
                <a:cs typeface="+mj-cs"/>
              </a:defRPr>
            </a:lvl1pPr>
          </a:lstStyle>
          <a:p>
            <a:r>
              <a:rPr lang="it-IT" dirty="0"/>
              <a:t>Lezione n</a:t>
            </a:r>
          </a:p>
        </p:txBody>
      </p:sp>
      <p:sp>
        <p:nvSpPr>
          <p:cNvPr id="3" name="Sottotitolo 2">
            <a:extLst>
              <a:ext uri="{FF2B5EF4-FFF2-40B4-BE49-F238E27FC236}">
                <a16:creationId xmlns:a16="http://schemas.microsoft.com/office/drawing/2014/main" id="{C0F8F589-6BFD-59A4-6E34-32CA9C30E50B}"/>
              </a:ext>
            </a:extLst>
          </p:cNvPr>
          <p:cNvSpPr>
            <a:spLocks noGrp="1"/>
          </p:cNvSpPr>
          <p:nvPr>
            <p:ph type="subTitle" idx="1" hasCustomPrompt="1"/>
          </p:nvPr>
        </p:nvSpPr>
        <p:spPr>
          <a:xfrm>
            <a:off x="838200" y="3152912"/>
            <a:ext cx="10515600" cy="67281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4400" b="1" kern="1200">
                <a:solidFill>
                  <a:schemeClr val="bg1"/>
                </a:solidFill>
                <a:latin typeface="Neue Haas Grotesk Display Pro" panose="020D0304030502050203"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dirty="0"/>
              <a:t>TITOLO DELLA LEZIONE</a:t>
            </a:r>
          </a:p>
        </p:txBody>
      </p:sp>
      <p:sp>
        <p:nvSpPr>
          <p:cNvPr id="7" name="Autore">
            <a:extLst>
              <a:ext uri="{FF2B5EF4-FFF2-40B4-BE49-F238E27FC236}">
                <a16:creationId xmlns:a16="http://schemas.microsoft.com/office/drawing/2014/main" id="{21C9F551-AFE9-0973-2117-C6CBF8585A06}"/>
              </a:ext>
            </a:extLst>
          </p:cNvPr>
          <p:cNvSpPr txBox="1"/>
          <p:nvPr userDrawn="1"/>
        </p:nvSpPr>
        <p:spPr>
          <a:xfrm>
            <a:off x="9435948" y="349177"/>
            <a:ext cx="2337564" cy="158377"/>
          </a:xfrm>
          <a:prstGeom prst="rect">
            <a:avLst/>
          </a:prstGeom>
        </p:spPr>
        <p:txBody>
          <a:bodyPr vert="horz" wrap="square" lIns="0" tIns="12065" rIns="0" bIns="0" rtlCol="0">
            <a:spAutoFit/>
          </a:bodyPr>
          <a:lstStyle/>
          <a:p>
            <a:pPr marL="12700" algn="l">
              <a:lnSpc>
                <a:spcPct val="100000"/>
              </a:lnSpc>
              <a:spcBef>
                <a:spcPts val="95"/>
              </a:spcBef>
              <a:tabLst>
                <a:tab pos="982980" algn="l"/>
              </a:tabLst>
            </a:pPr>
            <a:r>
              <a:rPr lang="it-IT" sz="950" b="1" spc="300" dirty="0">
                <a:solidFill>
                  <a:schemeClr val="bg1"/>
                </a:solidFill>
                <a:latin typeface="Arial"/>
                <a:cs typeface="Arial"/>
              </a:rPr>
              <a:t>Autore: Mirko Onorato</a:t>
            </a:r>
            <a:endParaRPr lang="it-IT" sz="950" spc="300" dirty="0">
              <a:solidFill>
                <a:schemeClr val="bg1"/>
              </a:solidFill>
              <a:latin typeface="Arial"/>
              <a:cs typeface="Arial"/>
            </a:endParaRPr>
          </a:p>
        </p:txBody>
      </p:sp>
      <p:pic>
        <p:nvPicPr>
          <p:cNvPr id="8" name="Logo">
            <a:extLst>
              <a:ext uri="{FF2B5EF4-FFF2-40B4-BE49-F238E27FC236}">
                <a16:creationId xmlns:a16="http://schemas.microsoft.com/office/drawing/2014/main" id="{C4425D4D-A67B-8DB9-9A03-E768C2FD3E34}"/>
              </a:ext>
            </a:extLst>
          </p:cNvPr>
          <p:cNvPicPr>
            <a:picLocks noChangeAspect="1"/>
          </p:cNvPicPr>
          <p:nvPr userDrawn="1"/>
        </p:nvPicPr>
        <p:blipFill>
          <a:blip r:embed="rId4">
            <a:lum bright="100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8488" y="285335"/>
            <a:ext cx="2211023" cy="314198"/>
          </a:xfrm>
          <a:prstGeom prst="rect">
            <a:avLst/>
          </a:prstGeom>
        </p:spPr>
      </p:pic>
      <p:sp>
        <p:nvSpPr>
          <p:cNvPr id="13" name="Segnaposto numero diapositiva 6" hidden="1">
            <a:extLst>
              <a:ext uri="{FF2B5EF4-FFF2-40B4-BE49-F238E27FC236}">
                <a16:creationId xmlns:a16="http://schemas.microsoft.com/office/drawing/2014/main" id="{F8AAF250-B3FA-F808-9996-FA310B7EEAE0}"/>
              </a:ext>
            </a:extLst>
          </p:cNvPr>
          <p:cNvSpPr>
            <a:spLocks noGrp="1"/>
          </p:cNvSpPr>
          <p:nvPr>
            <p:ph type="sldNum" sz="quarter" idx="10"/>
          </p:nvPr>
        </p:nvSpPr>
        <p:spPr>
          <a:xfrm>
            <a:off x="8610600" y="6356350"/>
            <a:ext cx="2743200" cy="365125"/>
          </a:xfrm>
          <a:prstGeom prst="rect">
            <a:avLst/>
          </a:prstGeom>
        </p:spPr>
        <p:txBody>
          <a:bodyPr/>
          <a:lstStyle>
            <a:lvl1pPr>
              <a:defRPr>
                <a:solidFill>
                  <a:schemeClr val="bg1"/>
                </a:solidFill>
              </a:defRPr>
            </a:lvl1pPr>
          </a:lstStyle>
          <a:p>
            <a:fld id="{EE05E91E-B103-4211-9892-B5CF4BF06646}" type="slidenum">
              <a:rPr lang="it-IT" smtClean="0"/>
              <a:pPr/>
              <a:t>‹N›</a:t>
            </a:fld>
            <a:endParaRPr lang="it-IT"/>
          </a:p>
        </p:txBody>
      </p:sp>
      <p:pic>
        <p:nvPicPr>
          <p:cNvPr id="4" name="object 2">
            <a:extLst>
              <a:ext uri="{FF2B5EF4-FFF2-40B4-BE49-F238E27FC236}">
                <a16:creationId xmlns:a16="http://schemas.microsoft.com/office/drawing/2014/main" id="{481FF4BB-6EC3-F2A7-6542-58D51086A02D}"/>
              </a:ext>
            </a:extLst>
          </p:cNvPr>
          <p:cNvPicPr preferRelativeResize="0"/>
          <p:nvPr userDrawn="1"/>
        </p:nvPicPr>
        <p:blipFill rotWithShape="1">
          <a:blip r:embed="rId6" cstate="print"/>
          <a:srcRect l="1386" t="187" r="342" b="95555"/>
          <a:stretch/>
        </p:blipFill>
        <p:spPr>
          <a:xfrm>
            <a:off x="0" y="0"/>
            <a:ext cx="12191992" cy="203059"/>
          </a:xfrm>
          <a:prstGeom prst="rect">
            <a:avLst/>
          </a:prstGeom>
        </p:spPr>
      </p:pic>
    </p:spTree>
    <p:extLst>
      <p:ext uri="{BB962C8B-B14F-4D97-AF65-F5344CB8AC3E}">
        <p14:creationId xmlns:p14="http://schemas.microsoft.com/office/powerpoint/2010/main" val="3682285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L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698DC6F-CD43-0811-A979-B271C0C3AF9E}"/>
              </a:ext>
            </a:extLst>
          </p:cNvPr>
          <p:cNvSpPr>
            <a:spLocks noGrp="1"/>
          </p:cNvSpPr>
          <p:nvPr>
            <p:ph type="title"/>
          </p:nvPr>
        </p:nvSpPr>
        <p:spPr>
          <a:xfrm>
            <a:off x="838200" y="831206"/>
            <a:ext cx="10515600" cy="314198"/>
          </a:xfrm>
          <a:prstGeom prst="rect">
            <a:avLst/>
          </a:prstGeom>
        </p:spPr>
        <p:txBody>
          <a:bodyPr/>
          <a:lstStyle>
            <a:lvl1pPr>
              <a:defRPr sz="2200" b="1">
                <a:solidFill>
                  <a:srgbClr val="171FE2"/>
                </a:solidFill>
                <a:latin typeface="Neue Haas Grotesk Text Pro" panose="020B0504020202020204" pitchFamily="34" charset="0"/>
              </a:defRPr>
            </a:lvl1pPr>
          </a:lstStyle>
          <a:p>
            <a:endParaRPr lang="it-IT" dirty="0"/>
          </a:p>
        </p:txBody>
      </p:sp>
      <p:sp>
        <p:nvSpPr>
          <p:cNvPr id="3" name="Segnaposto contenuto 2">
            <a:extLst>
              <a:ext uri="{FF2B5EF4-FFF2-40B4-BE49-F238E27FC236}">
                <a16:creationId xmlns:a16="http://schemas.microsoft.com/office/drawing/2014/main" id="{722E0480-F66A-DF55-F8D6-E7F6741750C0}"/>
              </a:ext>
            </a:extLst>
          </p:cNvPr>
          <p:cNvSpPr>
            <a:spLocks noGrp="1"/>
          </p:cNvSpPr>
          <p:nvPr>
            <p:ph idx="1" hasCustomPrompt="1"/>
          </p:nvPr>
        </p:nvSpPr>
        <p:spPr>
          <a:xfrm>
            <a:off x="418488" y="1399311"/>
            <a:ext cx="11355024" cy="4803369"/>
          </a:xfrm>
          <a:prstGeom prst="rect">
            <a:avLst/>
          </a:prstGeom>
        </p:spPr>
        <p:txBody>
          <a:bodyPr/>
          <a:lstStyle>
            <a:lvl1pPr marL="0" indent="0">
              <a:buNone/>
              <a:defRPr sz="1800">
                <a:latin typeface="Neue Haas Grotesk Text Pro" panose="020B0504020202020204" pitchFamily="34" charset="0"/>
              </a:defRPr>
            </a:lvl1pPr>
          </a:lstStyle>
          <a:p>
            <a:pPr lvl="0"/>
            <a:r>
              <a:rPr lang="it-IT" dirty="0"/>
              <a:t>Contenuto della lezione</a:t>
            </a:r>
          </a:p>
        </p:txBody>
      </p:sp>
      <p:sp>
        <p:nvSpPr>
          <p:cNvPr id="6" name="Segnaposto numero diapositiva 5">
            <a:extLst>
              <a:ext uri="{FF2B5EF4-FFF2-40B4-BE49-F238E27FC236}">
                <a16:creationId xmlns:a16="http://schemas.microsoft.com/office/drawing/2014/main" id="{E4F14CEF-205B-0C08-0A06-82B440095954}"/>
              </a:ext>
            </a:extLst>
          </p:cNvPr>
          <p:cNvSpPr>
            <a:spLocks noGrp="1"/>
          </p:cNvSpPr>
          <p:nvPr>
            <p:ph type="sldNum" sz="quarter" idx="12"/>
          </p:nvPr>
        </p:nvSpPr>
        <p:spPr>
          <a:xfrm>
            <a:off x="8610600" y="6356350"/>
            <a:ext cx="2743200" cy="365125"/>
          </a:xfrm>
          <a:prstGeom prst="rect">
            <a:avLst/>
          </a:prstGeom>
        </p:spPr>
        <p:txBody>
          <a:bodyPr/>
          <a:lstStyle>
            <a:lvl1pPr>
              <a:defRPr b="1"/>
            </a:lvl1pPr>
          </a:lstStyle>
          <a:p>
            <a:fld id="{EE05E91E-B103-4211-9892-B5CF4BF06646}" type="slidenum">
              <a:rPr lang="it-IT" smtClean="0"/>
              <a:pPr/>
              <a:t>‹N›</a:t>
            </a:fld>
            <a:endParaRPr lang="it-IT" dirty="0"/>
          </a:p>
        </p:txBody>
      </p:sp>
      <p:sp>
        <p:nvSpPr>
          <p:cNvPr id="7" name="Rettangolo 6">
            <a:extLst>
              <a:ext uri="{FF2B5EF4-FFF2-40B4-BE49-F238E27FC236}">
                <a16:creationId xmlns:a16="http://schemas.microsoft.com/office/drawing/2014/main" id="{7E4DB6AF-4CA5-F1AF-60DE-4AC9236D4298}"/>
              </a:ext>
            </a:extLst>
          </p:cNvPr>
          <p:cNvSpPr/>
          <p:nvPr userDrawn="1"/>
        </p:nvSpPr>
        <p:spPr>
          <a:xfrm>
            <a:off x="0" y="-2"/>
            <a:ext cx="12192000" cy="179193"/>
          </a:xfrm>
          <a:prstGeom prst="rect">
            <a:avLst/>
          </a:prstGeom>
          <a:solidFill>
            <a:srgbClr val="171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object 4">
            <a:extLst>
              <a:ext uri="{FF2B5EF4-FFF2-40B4-BE49-F238E27FC236}">
                <a16:creationId xmlns:a16="http://schemas.microsoft.com/office/drawing/2014/main" id="{590B833C-D2A8-59BC-D3D6-DC5153499B29}"/>
              </a:ext>
            </a:extLst>
          </p:cNvPr>
          <p:cNvSpPr txBox="1"/>
          <p:nvPr userDrawn="1"/>
        </p:nvSpPr>
        <p:spPr>
          <a:xfrm>
            <a:off x="9435948" y="349177"/>
            <a:ext cx="2337564" cy="158377"/>
          </a:xfrm>
          <a:prstGeom prst="rect">
            <a:avLst/>
          </a:prstGeom>
        </p:spPr>
        <p:txBody>
          <a:bodyPr vert="horz" wrap="square" lIns="0" tIns="12065" rIns="0" bIns="0" rtlCol="0">
            <a:spAutoFit/>
          </a:bodyPr>
          <a:lstStyle/>
          <a:p>
            <a:pPr marL="12700" algn="l">
              <a:lnSpc>
                <a:spcPct val="100000"/>
              </a:lnSpc>
              <a:spcBef>
                <a:spcPts val="95"/>
              </a:spcBef>
              <a:tabLst>
                <a:tab pos="982980" algn="l"/>
              </a:tabLst>
            </a:pPr>
            <a:r>
              <a:rPr lang="it-IT" sz="950" b="1" spc="300" dirty="0">
                <a:solidFill>
                  <a:schemeClr val="tx1"/>
                </a:solidFill>
                <a:latin typeface="Arial"/>
                <a:cs typeface="Arial"/>
              </a:rPr>
              <a:t>Autore: Mirko Onorato</a:t>
            </a:r>
            <a:endParaRPr lang="it-IT" sz="950" spc="300" dirty="0">
              <a:solidFill>
                <a:schemeClr val="tx1"/>
              </a:solidFill>
              <a:latin typeface="Arial"/>
              <a:cs typeface="Arial"/>
            </a:endParaRPr>
          </a:p>
        </p:txBody>
      </p:sp>
      <p:pic>
        <p:nvPicPr>
          <p:cNvPr id="9" name="Elemento grafico 8">
            <a:extLst>
              <a:ext uri="{FF2B5EF4-FFF2-40B4-BE49-F238E27FC236}">
                <a16:creationId xmlns:a16="http://schemas.microsoft.com/office/drawing/2014/main" id="{545164C9-21E1-0EF7-17C2-2E5528B7FC8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8488" y="285335"/>
            <a:ext cx="2211023" cy="314198"/>
          </a:xfrm>
          <a:prstGeom prst="rect">
            <a:avLst/>
          </a:prstGeom>
        </p:spPr>
      </p:pic>
    </p:spTree>
    <p:extLst>
      <p:ext uri="{BB962C8B-B14F-4D97-AF65-F5344CB8AC3E}">
        <p14:creationId xmlns:p14="http://schemas.microsoft.com/office/powerpoint/2010/main" val="4022562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Laboratorio">
    <p:spTree>
      <p:nvGrpSpPr>
        <p:cNvPr id="1" name=""/>
        <p:cNvGrpSpPr/>
        <p:nvPr/>
      </p:nvGrpSpPr>
      <p:grpSpPr>
        <a:xfrm>
          <a:off x="0" y="0"/>
          <a:ext cx="0" cy="0"/>
          <a:chOff x="0" y="0"/>
          <a:chExt cx="0" cy="0"/>
        </a:xfrm>
      </p:grpSpPr>
      <p:sp>
        <p:nvSpPr>
          <p:cNvPr id="11" name="Rettangolo 10">
            <a:extLst>
              <a:ext uri="{FF2B5EF4-FFF2-40B4-BE49-F238E27FC236}">
                <a16:creationId xmlns:a16="http://schemas.microsoft.com/office/drawing/2014/main" id="{5DB3A6F7-B730-F638-2762-1FD1042E5DD4}"/>
              </a:ext>
            </a:extLst>
          </p:cNvPr>
          <p:cNvSpPr/>
          <p:nvPr userDrawn="1"/>
        </p:nvSpPr>
        <p:spPr>
          <a:xfrm>
            <a:off x="0" y="0"/>
            <a:ext cx="12192000" cy="6858000"/>
          </a:xfrm>
          <a:prstGeom prst="rect">
            <a:avLst/>
          </a:prstGeom>
          <a:solidFill>
            <a:srgbClr val="FFD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F698DC6F-CD43-0811-A979-B271C0C3AF9E}"/>
              </a:ext>
            </a:extLst>
          </p:cNvPr>
          <p:cNvSpPr>
            <a:spLocks noGrp="1"/>
          </p:cNvSpPr>
          <p:nvPr>
            <p:ph type="title" hasCustomPrompt="1"/>
          </p:nvPr>
        </p:nvSpPr>
        <p:spPr>
          <a:xfrm>
            <a:off x="838200" y="831206"/>
            <a:ext cx="10515600" cy="314198"/>
          </a:xfrm>
          <a:prstGeom prst="rect">
            <a:avLst/>
          </a:prstGeom>
        </p:spPr>
        <p:txBody>
          <a:bodyPr/>
          <a:lstStyle>
            <a:lvl1pPr>
              <a:defRPr sz="2200" b="1">
                <a:solidFill>
                  <a:schemeClr val="tx1"/>
                </a:solidFill>
                <a:latin typeface="Neue Haas Grotesk Text Pro" panose="020B0504020202020204" pitchFamily="34" charset="0"/>
              </a:defRPr>
            </a:lvl1pPr>
          </a:lstStyle>
          <a:p>
            <a:r>
              <a:rPr lang="it-IT" dirty="0"/>
              <a:t>Titolo del laboratorio</a:t>
            </a:r>
          </a:p>
        </p:txBody>
      </p:sp>
      <p:sp>
        <p:nvSpPr>
          <p:cNvPr id="3" name="Segnaposto contenuto 2">
            <a:extLst>
              <a:ext uri="{FF2B5EF4-FFF2-40B4-BE49-F238E27FC236}">
                <a16:creationId xmlns:a16="http://schemas.microsoft.com/office/drawing/2014/main" id="{722E0480-F66A-DF55-F8D6-E7F6741750C0}"/>
              </a:ext>
            </a:extLst>
          </p:cNvPr>
          <p:cNvSpPr>
            <a:spLocks noGrp="1"/>
          </p:cNvSpPr>
          <p:nvPr>
            <p:ph idx="1" hasCustomPrompt="1"/>
          </p:nvPr>
        </p:nvSpPr>
        <p:spPr>
          <a:xfrm>
            <a:off x="418488" y="1399311"/>
            <a:ext cx="11355024" cy="4803369"/>
          </a:xfrm>
          <a:prstGeom prst="rect">
            <a:avLst/>
          </a:prstGeom>
        </p:spPr>
        <p:txBody>
          <a:bodyPr/>
          <a:lstStyle>
            <a:lvl1pPr marL="0" indent="0">
              <a:buNone/>
              <a:defRPr sz="1800">
                <a:latin typeface="Neue Haas Grotesk Text Pro" panose="020B0504020202020204" pitchFamily="34" charset="0"/>
              </a:defRPr>
            </a:lvl1pPr>
          </a:lstStyle>
          <a:p>
            <a:pPr lvl="0"/>
            <a:r>
              <a:rPr lang="it-IT" dirty="0"/>
              <a:t>Traccia del laboratorio</a:t>
            </a:r>
          </a:p>
        </p:txBody>
      </p:sp>
      <p:sp>
        <p:nvSpPr>
          <p:cNvPr id="6" name="Segnaposto numero diapositiva 5">
            <a:extLst>
              <a:ext uri="{FF2B5EF4-FFF2-40B4-BE49-F238E27FC236}">
                <a16:creationId xmlns:a16="http://schemas.microsoft.com/office/drawing/2014/main" id="{E4F14CEF-205B-0C08-0A06-82B440095954}"/>
              </a:ext>
            </a:extLst>
          </p:cNvPr>
          <p:cNvSpPr>
            <a:spLocks noGrp="1"/>
          </p:cNvSpPr>
          <p:nvPr>
            <p:ph type="sldNum" sz="quarter" idx="12"/>
          </p:nvPr>
        </p:nvSpPr>
        <p:spPr>
          <a:xfrm>
            <a:off x="8610600" y="6356350"/>
            <a:ext cx="2743200" cy="365125"/>
          </a:xfrm>
          <a:prstGeom prst="rect">
            <a:avLst/>
          </a:prstGeom>
        </p:spPr>
        <p:txBody>
          <a:bodyPr/>
          <a:lstStyle>
            <a:lvl1pPr>
              <a:defRPr b="1"/>
            </a:lvl1pPr>
          </a:lstStyle>
          <a:p>
            <a:fld id="{EE05E91E-B103-4211-9892-B5CF4BF06646}" type="slidenum">
              <a:rPr lang="it-IT" smtClean="0"/>
              <a:pPr/>
              <a:t>‹N›</a:t>
            </a:fld>
            <a:endParaRPr lang="it-IT"/>
          </a:p>
        </p:txBody>
      </p:sp>
      <p:sp>
        <p:nvSpPr>
          <p:cNvPr id="7" name="Rettangolo 6">
            <a:extLst>
              <a:ext uri="{FF2B5EF4-FFF2-40B4-BE49-F238E27FC236}">
                <a16:creationId xmlns:a16="http://schemas.microsoft.com/office/drawing/2014/main" id="{7E4DB6AF-4CA5-F1AF-60DE-4AC9236D4298}"/>
              </a:ext>
            </a:extLst>
          </p:cNvPr>
          <p:cNvSpPr/>
          <p:nvPr userDrawn="1"/>
        </p:nvSpPr>
        <p:spPr>
          <a:xfrm>
            <a:off x="0" y="-2"/>
            <a:ext cx="12192000" cy="17919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8" name="object 4">
            <a:extLst>
              <a:ext uri="{FF2B5EF4-FFF2-40B4-BE49-F238E27FC236}">
                <a16:creationId xmlns:a16="http://schemas.microsoft.com/office/drawing/2014/main" id="{590B833C-D2A8-59BC-D3D6-DC5153499B29}"/>
              </a:ext>
            </a:extLst>
          </p:cNvPr>
          <p:cNvSpPr txBox="1"/>
          <p:nvPr userDrawn="1"/>
        </p:nvSpPr>
        <p:spPr>
          <a:xfrm>
            <a:off x="9435948" y="349177"/>
            <a:ext cx="2337564" cy="158377"/>
          </a:xfrm>
          <a:prstGeom prst="rect">
            <a:avLst/>
          </a:prstGeom>
        </p:spPr>
        <p:txBody>
          <a:bodyPr vert="horz" wrap="square" lIns="0" tIns="12065" rIns="0" bIns="0" rtlCol="0">
            <a:spAutoFit/>
          </a:bodyPr>
          <a:lstStyle/>
          <a:p>
            <a:pPr marL="12700" algn="l">
              <a:lnSpc>
                <a:spcPct val="100000"/>
              </a:lnSpc>
              <a:spcBef>
                <a:spcPts val="95"/>
              </a:spcBef>
              <a:tabLst>
                <a:tab pos="982980" algn="l"/>
              </a:tabLst>
            </a:pPr>
            <a:r>
              <a:rPr lang="it-IT" sz="950" b="1" spc="300" dirty="0">
                <a:solidFill>
                  <a:schemeClr val="tx1"/>
                </a:solidFill>
                <a:latin typeface="Arial"/>
                <a:cs typeface="Arial"/>
              </a:rPr>
              <a:t>Autore: Nome Cognome</a:t>
            </a:r>
            <a:endParaRPr lang="it-IT" sz="950" spc="300" dirty="0">
              <a:solidFill>
                <a:schemeClr val="tx1"/>
              </a:solidFill>
              <a:latin typeface="Arial"/>
              <a:cs typeface="Arial"/>
            </a:endParaRPr>
          </a:p>
        </p:txBody>
      </p:sp>
      <p:pic>
        <p:nvPicPr>
          <p:cNvPr id="9" name="Elemento grafico 8">
            <a:extLst>
              <a:ext uri="{FF2B5EF4-FFF2-40B4-BE49-F238E27FC236}">
                <a16:creationId xmlns:a16="http://schemas.microsoft.com/office/drawing/2014/main" id="{545164C9-21E1-0EF7-17C2-2E5528B7FC8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8488" y="285335"/>
            <a:ext cx="2211023" cy="314198"/>
          </a:xfrm>
          <a:prstGeom prst="rect">
            <a:avLst/>
          </a:prstGeom>
        </p:spPr>
      </p:pic>
    </p:spTree>
    <p:extLst>
      <p:ext uri="{BB962C8B-B14F-4D97-AF65-F5344CB8AC3E}">
        <p14:creationId xmlns:p14="http://schemas.microsoft.com/office/powerpoint/2010/main" val="2382784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Only" preserve="1">
  <p:cSld name="Outro">
    <p:spTree>
      <p:nvGrpSpPr>
        <p:cNvPr id="1" name=""/>
        <p:cNvGrpSpPr/>
        <p:nvPr/>
      </p:nvGrpSpPr>
      <p:grpSpPr>
        <a:xfrm>
          <a:off x="0" y="0"/>
          <a:ext cx="0" cy="0"/>
          <a:chOff x="0" y="0"/>
          <a:chExt cx="0" cy="0"/>
        </a:xfrm>
      </p:grpSpPr>
      <p:grpSp>
        <p:nvGrpSpPr>
          <p:cNvPr id="7" name="Sfondo">
            <a:extLst>
              <a:ext uri="{FF2B5EF4-FFF2-40B4-BE49-F238E27FC236}">
                <a16:creationId xmlns:a16="http://schemas.microsoft.com/office/drawing/2014/main" id="{3151B56A-A6F1-5CFE-90D4-C91637CA43DC}"/>
              </a:ext>
            </a:extLst>
          </p:cNvPr>
          <p:cNvGrpSpPr/>
          <p:nvPr userDrawn="1"/>
        </p:nvGrpSpPr>
        <p:grpSpPr>
          <a:xfrm>
            <a:off x="0" y="0"/>
            <a:ext cx="12191999" cy="6857998"/>
            <a:chOff x="0" y="0"/>
            <a:chExt cx="12191999" cy="6857998"/>
          </a:xfrm>
        </p:grpSpPr>
        <p:pic>
          <p:nvPicPr>
            <p:cNvPr id="8" name="bg object 16">
              <a:extLst>
                <a:ext uri="{FF2B5EF4-FFF2-40B4-BE49-F238E27FC236}">
                  <a16:creationId xmlns:a16="http://schemas.microsoft.com/office/drawing/2014/main" id="{F245C0BF-8E93-514B-6EA0-0DB46DDE199E}"/>
                </a:ext>
              </a:extLst>
            </p:cNvPr>
            <p:cNvPicPr/>
            <p:nvPr userDrawn="1"/>
          </p:nvPicPr>
          <p:blipFill>
            <a:blip r:embed="rId2" cstate="print"/>
            <a:stretch>
              <a:fillRect/>
            </a:stretch>
          </p:blipFill>
          <p:spPr>
            <a:xfrm>
              <a:off x="0" y="0"/>
              <a:ext cx="12191999" cy="6857998"/>
            </a:xfrm>
            <a:prstGeom prst="rect">
              <a:avLst/>
            </a:prstGeom>
          </p:spPr>
        </p:pic>
        <p:sp>
          <p:nvSpPr>
            <p:cNvPr id="9" name="Sfondo nero">
              <a:extLst>
                <a:ext uri="{FF2B5EF4-FFF2-40B4-BE49-F238E27FC236}">
                  <a16:creationId xmlns:a16="http://schemas.microsoft.com/office/drawing/2014/main" id="{7E15F8EB-6BFE-6BE4-8488-2A37B82D22A6}"/>
                </a:ext>
              </a:extLst>
            </p:cNvPr>
            <p:cNvSpPr/>
            <p:nvPr userDrawn="1"/>
          </p:nvSpPr>
          <p:spPr>
            <a:xfrm>
              <a:off x="228600" y="203061"/>
              <a:ext cx="11734800" cy="6451878"/>
            </a:xfrm>
            <a:custGeom>
              <a:avLst/>
              <a:gdLst/>
              <a:ahLst/>
              <a:cxnLst/>
              <a:rect l="l" t="t" r="r" b="b"/>
              <a:pathLst>
                <a:path w="11506200" h="6248400">
                  <a:moveTo>
                    <a:pt x="11506200" y="0"/>
                  </a:moveTo>
                  <a:lnTo>
                    <a:pt x="0" y="0"/>
                  </a:lnTo>
                  <a:lnTo>
                    <a:pt x="0" y="6248400"/>
                  </a:lnTo>
                  <a:lnTo>
                    <a:pt x="11506200" y="6248400"/>
                  </a:lnTo>
                  <a:lnTo>
                    <a:pt x="11506200" y="0"/>
                  </a:lnTo>
                  <a:close/>
                </a:path>
              </a:pathLst>
            </a:custGeom>
            <a:solidFill>
              <a:srgbClr val="000000"/>
            </a:solidFill>
          </p:spPr>
          <p:txBody>
            <a:bodyPr wrap="square" lIns="0" tIns="0" rIns="0" bIns="0" rtlCol="0"/>
            <a:lstStyle/>
            <a:p>
              <a:endParaRPr b="0" i="0" dirty="0">
                <a:latin typeface="Arial" panose="020B0604020202020204" pitchFamily="34" charset="0"/>
              </a:endParaRPr>
            </a:p>
          </p:txBody>
        </p:sp>
      </p:grpSp>
      <p:sp>
        <p:nvSpPr>
          <p:cNvPr id="10" name="Segnaposto numero diapositiva 5">
            <a:extLst>
              <a:ext uri="{FF2B5EF4-FFF2-40B4-BE49-F238E27FC236}">
                <a16:creationId xmlns:a16="http://schemas.microsoft.com/office/drawing/2014/main" id="{A234C8D3-EBFE-A5AB-FBEC-506345C26835}"/>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400" kern="1200">
                <a:solidFill>
                  <a:schemeClr val="tx1"/>
                </a:solidFill>
                <a:latin typeface="Neue Haas Grotesk Text Pro"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E05E91E-B103-4211-9892-B5CF4BF06646}" type="slidenum">
              <a:rPr lang="it-IT" smtClean="0"/>
              <a:pPr/>
              <a:t>‹N›</a:t>
            </a:fld>
            <a:endParaRPr lang="it-IT"/>
          </a:p>
        </p:txBody>
      </p:sp>
      <p:pic>
        <p:nvPicPr>
          <p:cNvPr id="11" name="Logo">
            <a:extLst>
              <a:ext uri="{FF2B5EF4-FFF2-40B4-BE49-F238E27FC236}">
                <a16:creationId xmlns:a16="http://schemas.microsoft.com/office/drawing/2014/main" id="{6DDC59E2-35B7-B79B-0CDA-5FE67578D34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24735" y="2446545"/>
            <a:ext cx="5342528" cy="620212"/>
          </a:xfrm>
          <a:prstGeom prst="rect">
            <a:avLst/>
          </a:prstGeom>
        </p:spPr>
      </p:pic>
      <p:sp>
        <p:nvSpPr>
          <p:cNvPr id="2" name="Titolo 1">
            <a:extLst>
              <a:ext uri="{FF2B5EF4-FFF2-40B4-BE49-F238E27FC236}">
                <a16:creationId xmlns:a16="http://schemas.microsoft.com/office/drawing/2014/main" id="{E295F674-D64B-ECCA-4DA2-D47F8EABE285}"/>
              </a:ext>
            </a:extLst>
          </p:cNvPr>
          <p:cNvSpPr>
            <a:spLocks noGrp="1"/>
          </p:cNvSpPr>
          <p:nvPr>
            <p:ph type="title" hasCustomPrompt="1"/>
          </p:nvPr>
        </p:nvSpPr>
        <p:spPr>
          <a:xfrm>
            <a:off x="2098283" y="3791244"/>
            <a:ext cx="7995432" cy="535518"/>
          </a:xfrm>
          <a:prstGeom prst="rect">
            <a:avLst/>
          </a:prstGeom>
        </p:spPr>
        <p:txBody>
          <a:bodyPr anchor="ctr"/>
          <a:lstStyle>
            <a:lvl1pPr algn="ctr">
              <a:defRPr sz="3600" b="1" spc="300">
                <a:solidFill>
                  <a:schemeClr val="bg1"/>
                </a:solidFill>
                <a:latin typeface="Neue Haas Grotesk Display Pro" panose="020D0304030502050203" pitchFamily="34" charset="0"/>
              </a:defRPr>
            </a:lvl1pPr>
          </a:lstStyle>
          <a:p>
            <a:r>
              <a:rPr lang="it-IT" dirty="0"/>
              <a:t>GRAZIE PER L’ATTENZIONE</a:t>
            </a:r>
          </a:p>
        </p:txBody>
      </p:sp>
    </p:spTree>
    <p:extLst>
      <p:ext uri="{BB962C8B-B14F-4D97-AF65-F5344CB8AC3E}">
        <p14:creationId xmlns:p14="http://schemas.microsoft.com/office/powerpoint/2010/main" val="1288546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Break">
    <p:spTree>
      <p:nvGrpSpPr>
        <p:cNvPr id="1" name=""/>
        <p:cNvGrpSpPr/>
        <p:nvPr/>
      </p:nvGrpSpPr>
      <p:grpSpPr>
        <a:xfrm>
          <a:off x="0" y="0"/>
          <a:ext cx="0" cy="0"/>
          <a:chOff x="0" y="0"/>
          <a:chExt cx="0" cy="0"/>
        </a:xfrm>
      </p:grpSpPr>
      <p:grpSp>
        <p:nvGrpSpPr>
          <p:cNvPr id="7" name="Sfondo">
            <a:extLst>
              <a:ext uri="{FF2B5EF4-FFF2-40B4-BE49-F238E27FC236}">
                <a16:creationId xmlns:a16="http://schemas.microsoft.com/office/drawing/2014/main" id="{3151B56A-A6F1-5CFE-90D4-C91637CA43DC}"/>
              </a:ext>
            </a:extLst>
          </p:cNvPr>
          <p:cNvGrpSpPr/>
          <p:nvPr userDrawn="1"/>
        </p:nvGrpSpPr>
        <p:grpSpPr>
          <a:xfrm>
            <a:off x="0" y="0"/>
            <a:ext cx="12191999" cy="6857998"/>
            <a:chOff x="0" y="0"/>
            <a:chExt cx="12191999" cy="6857998"/>
          </a:xfrm>
        </p:grpSpPr>
        <p:pic>
          <p:nvPicPr>
            <p:cNvPr id="8" name="bg object 16">
              <a:extLst>
                <a:ext uri="{FF2B5EF4-FFF2-40B4-BE49-F238E27FC236}">
                  <a16:creationId xmlns:a16="http://schemas.microsoft.com/office/drawing/2014/main" id="{F245C0BF-8E93-514B-6EA0-0DB46DDE199E}"/>
                </a:ext>
              </a:extLst>
            </p:cNvPr>
            <p:cNvPicPr/>
            <p:nvPr userDrawn="1"/>
          </p:nvPicPr>
          <p:blipFill>
            <a:blip r:embed="rId2" cstate="print"/>
            <a:stretch>
              <a:fillRect/>
            </a:stretch>
          </p:blipFill>
          <p:spPr>
            <a:xfrm>
              <a:off x="0" y="0"/>
              <a:ext cx="12191999" cy="6857998"/>
            </a:xfrm>
            <a:prstGeom prst="rect">
              <a:avLst/>
            </a:prstGeom>
          </p:spPr>
        </p:pic>
        <p:sp>
          <p:nvSpPr>
            <p:cNvPr id="9" name="Sfondo nero">
              <a:extLst>
                <a:ext uri="{FF2B5EF4-FFF2-40B4-BE49-F238E27FC236}">
                  <a16:creationId xmlns:a16="http://schemas.microsoft.com/office/drawing/2014/main" id="{7E15F8EB-6BFE-6BE4-8488-2A37B82D22A6}"/>
                </a:ext>
              </a:extLst>
            </p:cNvPr>
            <p:cNvSpPr/>
            <p:nvPr userDrawn="1"/>
          </p:nvSpPr>
          <p:spPr>
            <a:xfrm>
              <a:off x="228600" y="203061"/>
              <a:ext cx="11734800" cy="6451878"/>
            </a:xfrm>
            <a:custGeom>
              <a:avLst/>
              <a:gdLst/>
              <a:ahLst/>
              <a:cxnLst/>
              <a:rect l="l" t="t" r="r" b="b"/>
              <a:pathLst>
                <a:path w="11506200" h="6248400">
                  <a:moveTo>
                    <a:pt x="11506200" y="0"/>
                  </a:moveTo>
                  <a:lnTo>
                    <a:pt x="0" y="0"/>
                  </a:lnTo>
                  <a:lnTo>
                    <a:pt x="0" y="6248400"/>
                  </a:lnTo>
                  <a:lnTo>
                    <a:pt x="11506200" y="6248400"/>
                  </a:lnTo>
                  <a:lnTo>
                    <a:pt x="11506200" y="0"/>
                  </a:lnTo>
                  <a:close/>
                </a:path>
              </a:pathLst>
            </a:custGeom>
            <a:solidFill>
              <a:srgbClr val="000000"/>
            </a:solidFill>
          </p:spPr>
          <p:txBody>
            <a:bodyPr wrap="square" lIns="0" tIns="0" rIns="0" bIns="0" rtlCol="0"/>
            <a:lstStyle/>
            <a:p>
              <a:endParaRPr b="0" i="0" dirty="0">
                <a:latin typeface="Arial" panose="020B0604020202020204" pitchFamily="34" charset="0"/>
              </a:endParaRPr>
            </a:p>
          </p:txBody>
        </p:sp>
      </p:grpSp>
      <p:sp>
        <p:nvSpPr>
          <p:cNvPr id="10" name="Segnaposto numero diapositiva 5">
            <a:extLst>
              <a:ext uri="{FF2B5EF4-FFF2-40B4-BE49-F238E27FC236}">
                <a16:creationId xmlns:a16="http://schemas.microsoft.com/office/drawing/2014/main" id="{A234C8D3-EBFE-A5AB-FBEC-506345C26835}"/>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400" kern="1200">
                <a:solidFill>
                  <a:schemeClr val="tx1"/>
                </a:solidFill>
                <a:latin typeface="Neue Haas Grotesk Text Pro"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E05E91E-B103-4211-9892-B5CF4BF06646}" type="slidenum">
              <a:rPr lang="it-IT" smtClean="0"/>
              <a:pPr/>
              <a:t>‹N›</a:t>
            </a:fld>
            <a:endParaRPr lang="it-IT"/>
          </a:p>
        </p:txBody>
      </p:sp>
      <p:pic>
        <p:nvPicPr>
          <p:cNvPr id="11" name="Logo">
            <a:extLst>
              <a:ext uri="{FF2B5EF4-FFF2-40B4-BE49-F238E27FC236}">
                <a16:creationId xmlns:a16="http://schemas.microsoft.com/office/drawing/2014/main" id="{6DDC59E2-35B7-B79B-0CDA-5FE67578D34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24735" y="2446545"/>
            <a:ext cx="5342528" cy="620212"/>
          </a:xfrm>
          <a:prstGeom prst="rect">
            <a:avLst/>
          </a:prstGeom>
        </p:spPr>
      </p:pic>
      <p:sp>
        <p:nvSpPr>
          <p:cNvPr id="2" name="Titolo 1">
            <a:extLst>
              <a:ext uri="{FF2B5EF4-FFF2-40B4-BE49-F238E27FC236}">
                <a16:creationId xmlns:a16="http://schemas.microsoft.com/office/drawing/2014/main" id="{E295F674-D64B-ECCA-4DA2-D47F8EABE285}"/>
              </a:ext>
            </a:extLst>
          </p:cNvPr>
          <p:cNvSpPr>
            <a:spLocks noGrp="1"/>
          </p:cNvSpPr>
          <p:nvPr>
            <p:ph type="title" hasCustomPrompt="1"/>
          </p:nvPr>
        </p:nvSpPr>
        <p:spPr>
          <a:xfrm>
            <a:off x="2098283" y="3791244"/>
            <a:ext cx="7995432" cy="535518"/>
          </a:xfrm>
          <a:prstGeom prst="rect">
            <a:avLst/>
          </a:prstGeom>
        </p:spPr>
        <p:txBody>
          <a:bodyPr anchor="ctr"/>
          <a:lstStyle>
            <a:lvl1pPr algn="ctr">
              <a:defRPr sz="3600" b="1" spc="300">
                <a:solidFill>
                  <a:schemeClr val="bg1"/>
                </a:solidFill>
                <a:latin typeface="Neue Haas Grotesk Display Pro" panose="020D0304030502050203" pitchFamily="34" charset="0"/>
              </a:defRPr>
            </a:lvl1pPr>
          </a:lstStyle>
          <a:p>
            <a:r>
              <a:rPr lang="it-IT" dirty="0"/>
              <a:t>BREAK</a:t>
            </a:r>
          </a:p>
        </p:txBody>
      </p:sp>
    </p:spTree>
    <p:extLst>
      <p:ext uri="{BB962C8B-B14F-4D97-AF65-F5344CB8AC3E}">
        <p14:creationId xmlns:p14="http://schemas.microsoft.com/office/powerpoint/2010/main" val="736105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3.svg"/><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9" name="Sfondo">
            <a:extLst>
              <a:ext uri="{FF2B5EF4-FFF2-40B4-BE49-F238E27FC236}">
                <a16:creationId xmlns:a16="http://schemas.microsoft.com/office/drawing/2014/main" id="{0871CBC8-6163-D253-2648-0C5B2A35DADC}"/>
              </a:ext>
            </a:extLst>
          </p:cNvPr>
          <p:cNvGrpSpPr/>
          <p:nvPr userDrawn="1"/>
        </p:nvGrpSpPr>
        <p:grpSpPr>
          <a:xfrm>
            <a:off x="0" y="0"/>
            <a:ext cx="12191999" cy="6857998"/>
            <a:chOff x="0" y="0"/>
            <a:chExt cx="12191999" cy="6857998"/>
          </a:xfrm>
        </p:grpSpPr>
        <p:pic>
          <p:nvPicPr>
            <p:cNvPr id="7" name="bg object 16">
              <a:extLst>
                <a:ext uri="{FF2B5EF4-FFF2-40B4-BE49-F238E27FC236}">
                  <a16:creationId xmlns:a16="http://schemas.microsoft.com/office/drawing/2014/main" id="{D3B481F3-FDD2-E9B0-AAF0-6B05C97B7493}"/>
                </a:ext>
              </a:extLst>
            </p:cNvPr>
            <p:cNvPicPr/>
            <p:nvPr userDrawn="1"/>
          </p:nvPicPr>
          <p:blipFill>
            <a:blip r:embed="rId8" cstate="print"/>
            <a:stretch>
              <a:fillRect/>
            </a:stretch>
          </p:blipFill>
          <p:spPr>
            <a:xfrm>
              <a:off x="0" y="0"/>
              <a:ext cx="12191999" cy="6857998"/>
            </a:xfrm>
            <a:prstGeom prst="rect">
              <a:avLst/>
            </a:prstGeom>
          </p:spPr>
        </p:pic>
        <p:sp>
          <p:nvSpPr>
            <p:cNvPr id="8" name="Sfondo nero">
              <a:extLst>
                <a:ext uri="{FF2B5EF4-FFF2-40B4-BE49-F238E27FC236}">
                  <a16:creationId xmlns:a16="http://schemas.microsoft.com/office/drawing/2014/main" id="{2B2124EE-D2EC-EB26-C788-2D1671E2C0D4}"/>
                </a:ext>
              </a:extLst>
            </p:cNvPr>
            <p:cNvSpPr/>
            <p:nvPr userDrawn="1"/>
          </p:nvSpPr>
          <p:spPr>
            <a:xfrm>
              <a:off x="228600" y="203061"/>
              <a:ext cx="11734800" cy="6451878"/>
            </a:xfrm>
            <a:custGeom>
              <a:avLst/>
              <a:gdLst/>
              <a:ahLst/>
              <a:cxnLst/>
              <a:rect l="l" t="t" r="r" b="b"/>
              <a:pathLst>
                <a:path w="11506200" h="6248400">
                  <a:moveTo>
                    <a:pt x="11506200" y="0"/>
                  </a:moveTo>
                  <a:lnTo>
                    <a:pt x="0" y="0"/>
                  </a:lnTo>
                  <a:lnTo>
                    <a:pt x="0" y="6248400"/>
                  </a:lnTo>
                  <a:lnTo>
                    <a:pt x="11506200" y="6248400"/>
                  </a:lnTo>
                  <a:lnTo>
                    <a:pt x="11506200" y="0"/>
                  </a:lnTo>
                  <a:close/>
                </a:path>
              </a:pathLst>
            </a:custGeom>
            <a:solidFill>
              <a:srgbClr val="000000"/>
            </a:solidFill>
          </p:spPr>
          <p:txBody>
            <a:bodyPr wrap="square" lIns="0" tIns="0" rIns="0" bIns="0" rtlCol="0"/>
            <a:lstStyle/>
            <a:p>
              <a:endParaRPr b="0" i="0" dirty="0">
                <a:latin typeface="Arial" panose="020B0604020202020204" pitchFamily="34" charset="0"/>
              </a:endParaRPr>
            </a:p>
          </p:txBody>
        </p:sp>
      </p:grpSp>
      <p:sp>
        <p:nvSpPr>
          <p:cNvPr id="6" name="Segnaposto numero diapositiva 5" hidden="1">
            <a:extLst>
              <a:ext uri="{FF2B5EF4-FFF2-40B4-BE49-F238E27FC236}">
                <a16:creationId xmlns:a16="http://schemas.microsoft.com/office/drawing/2014/main" id="{8BF62DA6-567D-9738-C9B4-B35130FB09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latin typeface="Neue Haas Grotesk Text Pro" panose="020B0504020202020204" pitchFamily="34" charset="0"/>
              </a:defRPr>
            </a:lvl1pPr>
          </a:lstStyle>
          <a:p>
            <a:fld id="{EE05E91E-B103-4211-9892-B5CF4BF06646}" type="slidenum">
              <a:rPr lang="it-IT" smtClean="0"/>
              <a:pPr/>
              <a:t>‹N›</a:t>
            </a:fld>
            <a:endParaRPr lang="it-IT"/>
          </a:p>
        </p:txBody>
      </p:sp>
      <p:pic>
        <p:nvPicPr>
          <p:cNvPr id="10" name="Logo">
            <a:extLst>
              <a:ext uri="{FF2B5EF4-FFF2-40B4-BE49-F238E27FC236}">
                <a16:creationId xmlns:a16="http://schemas.microsoft.com/office/drawing/2014/main" id="{08AF4DDA-AF5C-9192-0A90-B2EE16B19797}"/>
              </a:ext>
            </a:extLst>
          </p:cNvPr>
          <p:cNvPicPr>
            <a:picLocks noChangeAspect="1"/>
          </p:cNvPicPr>
          <p:nvPr userDrawn="1"/>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881312" y="3055807"/>
            <a:ext cx="6429375" cy="746384"/>
          </a:xfrm>
          <a:prstGeom prst="rect">
            <a:avLst/>
          </a:prstGeom>
        </p:spPr>
      </p:pic>
    </p:spTree>
    <p:extLst>
      <p:ext uri="{BB962C8B-B14F-4D97-AF65-F5344CB8AC3E}">
        <p14:creationId xmlns:p14="http://schemas.microsoft.com/office/powerpoint/2010/main" val="3447315000"/>
      </p:ext>
    </p:extLst>
  </p:cSld>
  <p:clrMap bg1="lt1" tx1="dk1" bg2="lt2" tx2="dk2" accent1="accent1" accent2="accent2" accent3="accent3" accent4="accent4" accent5="accent5" accent6="accent6" hlink="hlink" folHlink="folHlink"/>
  <p:sldLayoutIdLst>
    <p:sldLayoutId id="2147483693" r:id="rId1"/>
    <p:sldLayoutId id="2147483691" r:id="rId2"/>
    <p:sldLayoutId id="2147483674" r:id="rId3"/>
    <p:sldLayoutId id="2147483692" r:id="rId4"/>
    <p:sldLayoutId id="2147483678" r:id="rId5"/>
    <p:sldLayoutId id="214748369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hyperlink" Target="http://mio-backend.local/" TargetMode="Externa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hyperlink" Target="http://backend-service/" TargetMode="Externa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9659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ttotitolo 2">
            <a:extLst>
              <a:ext uri="{FF2B5EF4-FFF2-40B4-BE49-F238E27FC236}">
                <a16:creationId xmlns:a16="http://schemas.microsoft.com/office/drawing/2014/main" id="{614AE908-95ED-7A3B-515A-275CA8318424}"/>
              </a:ext>
            </a:extLst>
          </p:cNvPr>
          <p:cNvSpPr>
            <a:spLocks noGrp="1"/>
          </p:cNvSpPr>
          <p:nvPr>
            <p:ph type="subTitle" idx="1"/>
          </p:nvPr>
        </p:nvSpPr>
        <p:spPr>
          <a:xfrm>
            <a:off x="838200" y="2795046"/>
            <a:ext cx="10515600" cy="1445982"/>
          </a:xfrm>
        </p:spPr>
        <p:txBody>
          <a:bodyPr/>
          <a:lstStyle/>
          <a:p>
            <a:r>
              <a:rPr lang="it-IT" dirty="0"/>
              <a:t>MODULO 4: </a:t>
            </a:r>
            <a:r>
              <a:rPr lang="it-IT" dirty="0" err="1"/>
              <a:t>Kubernates</a:t>
            </a:r>
            <a:r>
              <a:rPr lang="it-IT" dirty="0"/>
              <a:t>. IL PASSAGGIO DA DOCKER COMPOSE ALL'ORCHESTRAZIONE ENTERPRISE</a:t>
            </a:r>
          </a:p>
        </p:txBody>
      </p:sp>
      <p:sp>
        <p:nvSpPr>
          <p:cNvPr id="7" name="Segnaposto numero diapositiva 6">
            <a:extLst>
              <a:ext uri="{FF2B5EF4-FFF2-40B4-BE49-F238E27FC236}">
                <a16:creationId xmlns:a16="http://schemas.microsoft.com/office/drawing/2014/main" id="{EDAC5512-E772-1D07-1956-6544F2732AF4}"/>
              </a:ext>
            </a:extLst>
          </p:cNvPr>
          <p:cNvSpPr>
            <a:spLocks noGrp="1"/>
          </p:cNvSpPr>
          <p:nvPr>
            <p:ph type="sldNum" sz="quarter" idx="10"/>
          </p:nvPr>
        </p:nvSpPr>
        <p:spPr/>
        <p:txBody>
          <a:bodyPr/>
          <a:lstStyle/>
          <a:p>
            <a:fld id="{EE05E91E-B103-4211-9892-B5CF4BF06646}" type="slidenum">
              <a:rPr lang="it-IT" smtClean="0">
                <a:solidFill>
                  <a:srgbClr val="0C0C0D"/>
                </a:solidFill>
              </a:rPr>
              <a:pPr/>
              <a:t>2</a:t>
            </a:fld>
            <a:endParaRPr lang="it-IT" dirty="0">
              <a:solidFill>
                <a:srgbClr val="0C0C0D"/>
              </a:solidFill>
            </a:endParaRPr>
          </a:p>
        </p:txBody>
      </p:sp>
    </p:spTree>
    <p:extLst>
      <p:ext uri="{BB962C8B-B14F-4D97-AF65-F5344CB8AC3E}">
        <p14:creationId xmlns:p14="http://schemas.microsoft.com/office/powerpoint/2010/main" val="339079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della lezione">
            <a:extLst>
              <a:ext uri="{FF2B5EF4-FFF2-40B4-BE49-F238E27FC236}">
                <a16:creationId xmlns:a16="http://schemas.microsoft.com/office/drawing/2014/main" id="{C232A863-9AB2-F1DD-0EBE-01D055E0CAD3}"/>
              </a:ext>
            </a:extLst>
          </p:cNvPr>
          <p:cNvSpPr>
            <a:spLocks noGrp="1"/>
          </p:cNvSpPr>
          <p:nvPr>
            <p:ph type="title"/>
          </p:nvPr>
        </p:nvSpPr>
        <p:spPr>
          <a:xfrm>
            <a:off x="838200" y="831206"/>
            <a:ext cx="10515600" cy="314198"/>
          </a:xfrm>
        </p:spPr>
        <p:txBody>
          <a:bodyPr/>
          <a:lstStyle/>
          <a:p>
            <a:r>
              <a:rPr lang="it-IT" dirty="0"/>
              <a:t>SLIDE 1: IL PROBLEMA DEL NETWORKING – L'IP EFFIMERO DEI POD</a:t>
            </a:r>
          </a:p>
        </p:txBody>
      </p:sp>
      <p:sp>
        <p:nvSpPr>
          <p:cNvPr id="3" name="Contenuto della lezione">
            <a:extLst>
              <a:ext uri="{FF2B5EF4-FFF2-40B4-BE49-F238E27FC236}">
                <a16:creationId xmlns:a16="http://schemas.microsoft.com/office/drawing/2014/main" id="{4B7AE27A-7139-F647-C23C-B014C3A3B6AE}"/>
              </a:ext>
            </a:extLst>
          </p:cNvPr>
          <p:cNvSpPr>
            <a:spLocks noGrp="1"/>
          </p:cNvSpPr>
          <p:nvPr>
            <p:ph idx="1"/>
          </p:nvPr>
        </p:nvSpPr>
        <p:spPr>
          <a:xfrm>
            <a:off x="1317319" y="1735543"/>
            <a:ext cx="9557362" cy="4803369"/>
          </a:xfrm>
        </p:spPr>
        <p:txBody>
          <a:bodyPr/>
          <a:lstStyle/>
          <a:p>
            <a:r>
              <a:rPr lang="it-IT" dirty="0"/>
              <a:t>Ogni singolo </a:t>
            </a:r>
            <a:r>
              <a:rPr lang="it-IT" dirty="0" err="1"/>
              <a:t>Pod</a:t>
            </a:r>
            <a:r>
              <a:rPr lang="it-IT" dirty="0"/>
              <a:t> che nasce all'interno del cluster riceve da </a:t>
            </a:r>
            <a:r>
              <a:rPr lang="it-IT" dirty="0" err="1"/>
              <a:t>Kubernetes</a:t>
            </a:r>
            <a:r>
              <a:rPr lang="it-IT" dirty="0"/>
              <a:t> un proprio indirizzo IP privato (ad esempio 10.244.0.15). </a:t>
            </a:r>
          </a:p>
          <a:p>
            <a:r>
              <a:rPr lang="it-IT" dirty="0">
                <a:solidFill>
                  <a:srgbClr val="171FE2"/>
                </a:solidFill>
              </a:rPr>
              <a:t>Tuttavia, poiché i </a:t>
            </a:r>
            <a:r>
              <a:rPr lang="it-IT" dirty="0" err="1">
                <a:solidFill>
                  <a:srgbClr val="171FE2"/>
                </a:solidFill>
              </a:rPr>
              <a:t>Pod</a:t>
            </a:r>
            <a:r>
              <a:rPr lang="it-IT" dirty="0">
                <a:solidFill>
                  <a:srgbClr val="171FE2"/>
                </a:solidFill>
              </a:rPr>
              <a:t> sono effimeri e mortali, quando un </a:t>
            </a:r>
            <a:r>
              <a:rPr lang="it-IT" dirty="0" err="1">
                <a:solidFill>
                  <a:srgbClr val="171FE2"/>
                </a:solidFill>
              </a:rPr>
              <a:t>Pod</a:t>
            </a:r>
            <a:r>
              <a:rPr lang="it-IT" dirty="0">
                <a:solidFill>
                  <a:srgbClr val="171FE2"/>
                </a:solidFill>
              </a:rPr>
              <a:t> muore e viene sostituito, il nuovo </a:t>
            </a:r>
            <a:r>
              <a:rPr lang="it-IT" dirty="0" err="1">
                <a:solidFill>
                  <a:srgbClr val="171FE2"/>
                </a:solidFill>
              </a:rPr>
              <a:t>Pod</a:t>
            </a:r>
            <a:r>
              <a:rPr lang="it-IT" dirty="0">
                <a:solidFill>
                  <a:srgbClr val="171FE2"/>
                </a:solidFill>
              </a:rPr>
              <a:t> riceverà un indirizzo IP completamente diverso (ad esempio 10.244.0.28).</a:t>
            </a:r>
          </a:p>
          <a:p>
            <a:r>
              <a:rPr lang="it-IT" dirty="0"/>
              <a:t>Immaginiamo ora la nostra architettura </a:t>
            </a:r>
            <a:r>
              <a:rPr lang="it-IT" dirty="0" err="1"/>
              <a:t>enterprise</a:t>
            </a:r>
            <a:r>
              <a:rPr lang="it-IT" dirty="0"/>
              <a:t> completa: abbiamo il </a:t>
            </a:r>
            <a:r>
              <a:rPr lang="it-IT" dirty="0" err="1"/>
              <a:t>Pod</a:t>
            </a:r>
            <a:r>
              <a:rPr lang="it-IT" dirty="0"/>
              <a:t> del </a:t>
            </a:r>
            <a:r>
              <a:rPr lang="it-IT" dirty="0" err="1"/>
              <a:t>frontend</a:t>
            </a:r>
            <a:r>
              <a:rPr lang="it-IT" dirty="0"/>
              <a:t> React che deve inviare richieste HTTP all'API del </a:t>
            </a:r>
            <a:r>
              <a:rPr lang="it-IT" dirty="0" err="1"/>
              <a:t>backend</a:t>
            </a:r>
            <a:r>
              <a:rPr lang="it-IT" dirty="0"/>
              <a:t> Spring Boot per leggere i dati dal database. </a:t>
            </a:r>
          </a:p>
          <a:p>
            <a:r>
              <a:rPr lang="it-IT" dirty="0"/>
              <a:t>Se all'interno del codice del </a:t>
            </a:r>
            <a:r>
              <a:rPr lang="it-IT" dirty="0" err="1"/>
              <a:t>frontend</a:t>
            </a:r>
            <a:r>
              <a:rPr lang="it-IT" dirty="0"/>
              <a:t> andassimo a scrivere l'indirizzo IP statico di un singolo </a:t>
            </a:r>
            <a:r>
              <a:rPr lang="it-IT" dirty="0" err="1"/>
              <a:t>Pod</a:t>
            </a:r>
            <a:r>
              <a:rPr lang="it-IT" dirty="0"/>
              <a:t> del </a:t>
            </a:r>
            <a:r>
              <a:rPr lang="it-IT" dirty="0" err="1"/>
              <a:t>backend</a:t>
            </a:r>
            <a:r>
              <a:rPr lang="it-IT" dirty="0"/>
              <a:t>, la nostra applicazione funzionerebbe soltanto per poche ore.</a:t>
            </a:r>
          </a:p>
          <a:p>
            <a:r>
              <a:rPr lang="it-IT" dirty="0"/>
              <a:t>Al primo crash del container </a:t>
            </a:r>
            <a:r>
              <a:rPr lang="it-IT" dirty="0" err="1"/>
              <a:t>backend</a:t>
            </a:r>
            <a:r>
              <a:rPr lang="it-IT" dirty="0"/>
              <a:t> il suo </a:t>
            </a:r>
            <a:r>
              <a:rPr lang="it-IT" dirty="0" err="1"/>
              <a:t>Pod</a:t>
            </a:r>
            <a:r>
              <a:rPr lang="it-IT" dirty="0"/>
              <a:t> verrebbe distrutto, l'IP cambierebbe con una nuova replica e il </a:t>
            </a:r>
            <a:r>
              <a:rPr lang="it-IT" dirty="0" err="1"/>
              <a:t>frontend</a:t>
            </a:r>
            <a:r>
              <a:rPr lang="it-IT" dirty="0"/>
              <a:t> inizierebbe a bussare a una porta vuota, mandando l'intero sistema in blocco. </a:t>
            </a:r>
            <a:endParaRPr lang="it-IT" dirty="0">
              <a:solidFill>
                <a:srgbClr val="171FE2"/>
              </a:solidFill>
            </a:endParaRPr>
          </a:p>
        </p:txBody>
      </p:sp>
    </p:spTree>
    <p:extLst>
      <p:ext uri="{BB962C8B-B14F-4D97-AF65-F5344CB8AC3E}">
        <p14:creationId xmlns:p14="http://schemas.microsoft.com/office/powerpoint/2010/main" val="526178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17CE7-BCFD-9A9C-2F6A-1332BE960612}"/>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FAA7C91C-64B8-48E5-8E90-504FEB61E0E4}"/>
              </a:ext>
            </a:extLst>
          </p:cNvPr>
          <p:cNvSpPr>
            <a:spLocks noGrp="1"/>
          </p:cNvSpPr>
          <p:nvPr>
            <p:ph type="title"/>
          </p:nvPr>
        </p:nvSpPr>
        <p:spPr>
          <a:xfrm>
            <a:off x="838200" y="831206"/>
            <a:ext cx="10515600" cy="314198"/>
          </a:xfrm>
        </p:spPr>
        <p:txBody>
          <a:bodyPr/>
          <a:lstStyle/>
          <a:p>
            <a:r>
              <a:rPr lang="it-IT" dirty="0"/>
              <a:t>SLIDE 2: IL PROBLEMA DEL NETWORKING – L'IP EFFIMERO DEI POD</a:t>
            </a:r>
          </a:p>
        </p:txBody>
      </p:sp>
      <p:sp>
        <p:nvSpPr>
          <p:cNvPr id="3" name="Contenuto della lezione">
            <a:extLst>
              <a:ext uri="{FF2B5EF4-FFF2-40B4-BE49-F238E27FC236}">
                <a16:creationId xmlns:a16="http://schemas.microsoft.com/office/drawing/2014/main" id="{A473D616-127B-A7F4-F855-B8D2DF94595E}"/>
              </a:ext>
            </a:extLst>
          </p:cNvPr>
          <p:cNvSpPr>
            <a:spLocks noGrp="1"/>
          </p:cNvSpPr>
          <p:nvPr>
            <p:ph idx="1"/>
          </p:nvPr>
        </p:nvSpPr>
        <p:spPr>
          <a:xfrm>
            <a:off x="1317319" y="1735543"/>
            <a:ext cx="9557362" cy="4803369"/>
          </a:xfrm>
        </p:spPr>
        <p:txBody>
          <a:bodyPr/>
          <a:lstStyle/>
          <a:p>
            <a:r>
              <a:rPr lang="it-IT" dirty="0"/>
              <a:t>Ricordiamoci che il Deployment fa girare più copie (repliche) dello stesso </a:t>
            </a:r>
            <a:r>
              <a:rPr lang="it-IT" dirty="0" err="1"/>
              <a:t>backend</a:t>
            </a:r>
            <a:r>
              <a:rPr lang="it-IT" dirty="0"/>
              <a:t> contemporaneamente. </a:t>
            </a:r>
          </a:p>
          <a:p>
            <a:r>
              <a:rPr lang="it-IT" dirty="0"/>
              <a:t>Il </a:t>
            </a:r>
            <a:r>
              <a:rPr lang="it-IT" dirty="0" err="1"/>
              <a:t>frontend</a:t>
            </a:r>
            <a:r>
              <a:rPr lang="it-IT" dirty="0"/>
              <a:t> si trova davanti a tre </a:t>
            </a:r>
            <a:r>
              <a:rPr lang="it-IT" dirty="0" err="1"/>
              <a:t>Pod</a:t>
            </a:r>
            <a:r>
              <a:rPr lang="it-IT" dirty="0"/>
              <a:t> </a:t>
            </a:r>
            <a:r>
              <a:rPr lang="it-IT" dirty="0" err="1"/>
              <a:t>backend</a:t>
            </a:r>
            <a:r>
              <a:rPr lang="it-IT" dirty="0"/>
              <a:t> identici con tre IP diversi: a quale di questi tre deve inviare la richiesta? </a:t>
            </a:r>
          </a:p>
          <a:p>
            <a:r>
              <a:rPr lang="it-IT" dirty="0"/>
              <a:t>Come fa a distribuire il carico di lavoro in modo equo? </a:t>
            </a:r>
          </a:p>
          <a:p>
            <a:r>
              <a:rPr lang="it-IT" dirty="0"/>
              <a:t>Diventa evidente che i </a:t>
            </a:r>
            <a:r>
              <a:rPr lang="it-IT" dirty="0" err="1"/>
              <a:t>Pod</a:t>
            </a:r>
            <a:r>
              <a:rPr lang="it-IT" dirty="0"/>
              <a:t> non possono parlarsi direttamente usando i loro IP nativi.</a:t>
            </a:r>
          </a:p>
          <a:p>
            <a:r>
              <a:rPr lang="it-IT">
                <a:solidFill>
                  <a:srgbClr val="171FE2"/>
                </a:solidFill>
              </a:rPr>
              <a:t>Serve </a:t>
            </a:r>
            <a:r>
              <a:rPr lang="it-IT" dirty="0">
                <a:solidFill>
                  <a:srgbClr val="171FE2"/>
                </a:solidFill>
              </a:rPr>
              <a:t>un intermediario stradale stabile.</a:t>
            </a:r>
          </a:p>
        </p:txBody>
      </p:sp>
    </p:spTree>
    <p:extLst>
      <p:ext uri="{BB962C8B-B14F-4D97-AF65-F5344CB8AC3E}">
        <p14:creationId xmlns:p14="http://schemas.microsoft.com/office/powerpoint/2010/main" val="2238444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F72CF-3172-75BF-D70C-4018D946C78E}"/>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4713917A-EF8C-D8E4-6E55-620E50C67DB5}"/>
              </a:ext>
            </a:extLst>
          </p:cNvPr>
          <p:cNvSpPr>
            <a:spLocks noGrp="1"/>
          </p:cNvSpPr>
          <p:nvPr>
            <p:ph type="title"/>
          </p:nvPr>
        </p:nvSpPr>
        <p:spPr>
          <a:xfrm>
            <a:off x="838200" y="831206"/>
            <a:ext cx="10515600" cy="314198"/>
          </a:xfrm>
        </p:spPr>
        <p:txBody>
          <a:bodyPr/>
          <a:lstStyle/>
          <a:p>
            <a:r>
              <a:rPr lang="it-IT" dirty="0"/>
              <a:t>SLIDE 3: IL CONCETTO DI SERVICE – IL CENTRALINO FISSO E IL BILANCIATORE DI CARICO</a:t>
            </a:r>
          </a:p>
        </p:txBody>
      </p:sp>
      <p:sp>
        <p:nvSpPr>
          <p:cNvPr id="3" name="Contenuto della lezione">
            <a:extLst>
              <a:ext uri="{FF2B5EF4-FFF2-40B4-BE49-F238E27FC236}">
                <a16:creationId xmlns:a16="http://schemas.microsoft.com/office/drawing/2014/main" id="{15B5C317-9C03-7EB5-8533-4F39D20799C2}"/>
              </a:ext>
            </a:extLst>
          </p:cNvPr>
          <p:cNvSpPr>
            <a:spLocks noGrp="1"/>
          </p:cNvSpPr>
          <p:nvPr>
            <p:ph idx="1"/>
          </p:nvPr>
        </p:nvSpPr>
        <p:spPr>
          <a:xfrm>
            <a:off x="1317319" y="1735543"/>
            <a:ext cx="9557362" cy="4803369"/>
          </a:xfrm>
        </p:spPr>
        <p:txBody>
          <a:bodyPr/>
          <a:lstStyle/>
          <a:p>
            <a:r>
              <a:rPr lang="it-IT" dirty="0"/>
              <a:t>Per risolvere una volta per tutte il problema degli IP instabili dei </a:t>
            </a:r>
            <a:r>
              <a:rPr lang="it-IT" dirty="0" err="1"/>
              <a:t>Pod</a:t>
            </a:r>
            <a:r>
              <a:rPr lang="it-IT" dirty="0"/>
              <a:t>, </a:t>
            </a:r>
            <a:r>
              <a:rPr lang="it-IT" dirty="0" err="1"/>
              <a:t>Kubernetes</a:t>
            </a:r>
            <a:r>
              <a:rPr lang="it-IT" dirty="0"/>
              <a:t> introduce un oggetto fondamentale chiamato </a:t>
            </a:r>
            <a:r>
              <a:rPr lang="it-IT" b="1" dirty="0"/>
              <a:t>Service</a:t>
            </a:r>
            <a:r>
              <a:rPr lang="it-IT" dirty="0"/>
              <a:t> (Servizio). </a:t>
            </a:r>
          </a:p>
          <a:p>
            <a:r>
              <a:rPr lang="it-IT" dirty="0">
                <a:solidFill>
                  <a:srgbClr val="171FE2"/>
                </a:solidFill>
              </a:rPr>
              <a:t>Il Service è un componente architetturale di rete astratto che si posiziona davanti a un gruppo di </a:t>
            </a:r>
            <a:r>
              <a:rPr lang="it-IT" dirty="0" err="1">
                <a:solidFill>
                  <a:srgbClr val="171FE2"/>
                </a:solidFill>
              </a:rPr>
              <a:t>Pod</a:t>
            </a:r>
            <a:r>
              <a:rPr lang="it-IT" dirty="0">
                <a:solidFill>
                  <a:srgbClr val="171FE2"/>
                </a:solidFill>
              </a:rPr>
              <a:t> identici (creati da un Deployment) e si comporta come un </a:t>
            </a:r>
            <a:r>
              <a:rPr lang="it-IT" b="1" dirty="0">
                <a:solidFill>
                  <a:srgbClr val="171FE2"/>
                </a:solidFill>
              </a:rPr>
              <a:t>ancoraggio sicuro, un centralino o un IP statico blindato</a:t>
            </a:r>
            <a:r>
              <a:rPr lang="it-IT" dirty="0">
                <a:solidFill>
                  <a:srgbClr val="171FE2"/>
                </a:solidFill>
              </a:rPr>
              <a:t>. </a:t>
            </a:r>
          </a:p>
          <a:p>
            <a:r>
              <a:rPr lang="it-IT" dirty="0"/>
              <a:t>Quando creiamo un Service, </a:t>
            </a:r>
            <a:r>
              <a:rPr lang="it-IT" dirty="0" err="1"/>
              <a:t>Kubernetes</a:t>
            </a:r>
            <a:r>
              <a:rPr lang="it-IT" dirty="0"/>
              <a:t> gli assegna un indirizzo IP speciale chiamato </a:t>
            </a:r>
            <a:r>
              <a:rPr lang="it-IT" i="1" dirty="0" err="1"/>
              <a:t>ClusterIP</a:t>
            </a:r>
            <a:r>
              <a:rPr lang="it-IT" dirty="0"/>
              <a:t> e un nome DNS testuale che non cambieranno mai per tutta la vita del cluster, indipendentemente da quanti </a:t>
            </a:r>
            <a:r>
              <a:rPr lang="it-IT" dirty="0" err="1"/>
              <a:t>Pod</a:t>
            </a:r>
            <a:r>
              <a:rPr lang="it-IT" dirty="0"/>
              <a:t> nascono, muoiono o vengono aggiornati dietro di lui.</a:t>
            </a:r>
            <a:endParaRPr lang="it-IT" dirty="0">
              <a:solidFill>
                <a:srgbClr val="171FE2"/>
              </a:solidFill>
            </a:endParaRPr>
          </a:p>
        </p:txBody>
      </p:sp>
    </p:spTree>
    <p:extLst>
      <p:ext uri="{BB962C8B-B14F-4D97-AF65-F5344CB8AC3E}">
        <p14:creationId xmlns:p14="http://schemas.microsoft.com/office/powerpoint/2010/main" val="1654471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489CA-FDFC-E313-7168-E45ED0725B77}"/>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5D8CC6B6-2BD9-2104-EBD5-62D2C28DDD90}"/>
              </a:ext>
            </a:extLst>
          </p:cNvPr>
          <p:cNvSpPr>
            <a:spLocks noGrp="1"/>
          </p:cNvSpPr>
          <p:nvPr>
            <p:ph type="title"/>
          </p:nvPr>
        </p:nvSpPr>
        <p:spPr>
          <a:xfrm>
            <a:off x="838200" y="831206"/>
            <a:ext cx="10515600" cy="314198"/>
          </a:xfrm>
        </p:spPr>
        <p:txBody>
          <a:bodyPr/>
          <a:lstStyle/>
          <a:p>
            <a:r>
              <a:rPr lang="it-IT" dirty="0"/>
              <a:t>SLIDE 4: IL CONCETTO DI SERVICE – IL CENTRALINO FISSO E IL BILANCIATORE DI CARICO</a:t>
            </a:r>
          </a:p>
        </p:txBody>
      </p:sp>
      <p:sp>
        <p:nvSpPr>
          <p:cNvPr id="3" name="Contenuto della lezione">
            <a:extLst>
              <a:ext uri="{FF2B5EF4-FFF2-40B4-BE49-F238E27FC236}">
                <a16:creationId xmlns:a16="http://schemas.microsoft.com/office/drawing/2014/main" id="{BC14F2D0-4812-1803-AAE4-6262C8FF2D08}"/>
              </a:ext>
            </a:extLst>
          </p:cNvPr>
          <p:cNvSpPr>
            <a:spLocks noGrp="1"/>
          </p:cNvSpPr>
          <p:nvPr>
            <p:ph idx="1"/>
          </p:nvPr>
        </p:nvSpPr>
        <p:spPr>
          <a:xfrm>
            <a:off x="1317319" y="1735543"/>
            <a:ext cx="9557362" cy="4803369"/>
          </a:xfrm>
        </p:spPr>
        <p:txBody>
          <a:bodyPr/>
          <a:lstStyle/>
          <a:p>
            <a:r>
              <a:rPr lang="it-IT" dirty="0"/>
              <a:t>Il Service sfrutta l'accoppiamento dinamico tramite le </a:t>
            </a:r>
            <a:r>
              <a:rPr lang="it-IT" b="1" dirty="0"/>
              <a:t>Labels</a:t>
            </a:r>
            <a:r>
              <a:rPr lang="it-IT" dirty="0"/>
              <a:t> e i </a:t>
            </a:r>
            <a:r>
              <a:rPr lang="it-IT" b="1" dirty="0" err="1"/>
              <a:t>Selectors</a:t>
            </a:r>
            <a:r>
              <a:rPr lang="it-IT" dirty="0"/>
              <a:t>.</a:t>
            </a:r>
          </a:p>
          <a:p>
            <a:r>
              <a:rPr lang="it-IT" dirty="0"/>
              <a:t>All'interno dello YAML del Service, noi scriviamo una regola elementare: </a:t>
            </a:r>
            <a:r>
              <a:rPr lang="it-IT" i="1" dirty="0"/>
              <a:t>"Service, intercetta qualunque richiesta arrivi sul tuo IP fisso e girala a un </a:t>
            </a:r>
            <a:r>
              <a:rPr lang="it-IT" i="1" dirty="0" err="1"/>
              <a:t>Pod</a:t>
            </a:r>
            <a:r>
              <a:rPr lang="it-IT" i="1" dirty="0"/>
              <a:t> qualsiasi che possiede l'etichetta app: </a:t>
            </a:r>
            <a:r>
              <a:rPr lang="it-IT" i="1" dirty="0" err="1"/>
              <a:t>backend-enterprise</a:t>
            </a:r>
            <a:r>
              <a:rPr lang="it-IT" i="1" dirty="0"/>
              <a:t>"</a:t>
            </a:r>
            <a:r>
              <a:rPr lang="it-IT" dirty="0"/>
              <a:t>. </a:t>
            </a:r>
          </a:p>
          <a:p>
            <a:r>
              <a:rPr lang="it-IT" dirty="0"/>
              <a:t>Il Service interroga continuamente il Control </a:t>
            </a:r>
            <a:r>
              <a:rPr lang="it-IT" dirty="0" err="1"/>
              <a:t>Plane</a:t>
            </a:r>
            <a:r>
              <a:rPr lang="it-IT" dirty="0"/>
              <a:t> per avere la lista aggiornata in tempo reale dei </a:t>
            </a:r>
            <a:r>
              <a:rPr lang="it-IT" dirty="0" err="1"/>
              <a:t>Pod</a:t>
            </a:r>
            <a:r>
              <a:rPr lang="it-IT" dirty="0"/>
              <a:t> che hanno quel tag (</a:t>
            </a:r>
            <a:r>
              <a:rPr lang="it-IT" dirty="0">
                <a:solidFill>
                  <a:srgbClr val="171FE2"/>
                </a:solidFill>
              </a:rPr>
              <a:t>grazie al registro </a:t>
            </a:r>
            <a:r>
              <a:rPr lang="it-IT" dirty="0" err="1">
                <a:solidFill>
                  <a:srgbClr val="171FE2"/>
                </a:solidFill>
              </a:rPr>
              <a:t>etcd</a:t>
            </a:r>
            <a:r>
              <a:rPr lang="it-IT" dirty="0"/>
              <a:t>). </a:t>
            </a:r>
          </a:p>
          <a:p>
            <a:r>
              <a:rPr lang="it-IT" dirty="0"/>
              <a:t>Quando il </a:t>
            </a:r>
            <a:r>
              <a:rPr lang="it-IT" dirty="0" err="1"/>
              <a:t>frontend</a:t>
            </a:r>
            <a:r>
              <a:rPr lang="it-IT" dirty="0"/>
              <a:t> invia una richiesta al Service, l'oggetto non solo fa da scudo protettivo, ma agisce anche come un </a:t>
            </a:r>
            <a:r>
              <a:rPr lang="it-IT" b="1" dirty="0"/>
              <a:t>Load </a:t>
            </a:r>
            <a:r>
              <a:rPr lang="it-IT" b="1" dirty="0" err="1"/>
              <a:t>Balancer</a:t>
            </a:r>
            <a:r>
              <a:rPr lang="it-IT" b="1" dirty="0"/>
              <a:t> (Bilanciatore di carico)</a:t>
            </a:r>
            <a:r>
              <a:rPr lang="it-IT" dirty="0"/>
              <a:t> interno di fabbrica: prende la richiesta e la devia in modo alternato (algoritmo Round Robin) tra i vari </a:t>
            </a:r>
            <a:r>
              <a:rPr lang="it-IT" dirty="0" err="1"/>
              <a:t>Pod</a:t>
            </a:r>
            <a:r>
              <a:rPr lang="it-IT" dirty="0"/>
              <a:t> sani disponibili. </a:t>
            </a:r>
          </a:p>
        </p:txBody>
      </p:sp>
    </p:spTree>
    <p:extLst>
      <p:ext uri="{BB962C8B-B14F-4D97-AF65-F5344CB8AC3E}">
        <p14:creationId xmlns:p14="http://schemas.microsoft.com/office/powerpoint/2010/main" val="3029959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9B31A-7983-1451-94CE-242770903EDE}"/>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30DFC801-DE91-73A9-9858-BCAE6DCC5B39}"/>
              </a:ext>
            </a:extLst>
          </p:cNvPr>
          <p:cNvSpPr>
            <a:spLocks noGrp="1"/>
          </p:cNvSpPr>
          <p:nvPr>
            <p:ph type="title"/>
          </p:nvPr>
        </p:nvSpPr>
        <p:spPr>
          <a:xfrm>
            <a:off x="838200" y="831206"/>
            <a:ext cx="10515600" cy="314198"/>
          </a:xfrm>
        </p:spPr>
        <p:txBody>
          <a:bodyPr/>
          <a:lstStyle/>
          <a:p>
            <a:r>
              <a:rPr lang="it-IT" dirty="0"/>
              <a:t>SLIDE 5: IL CONCETTO DI SERVICE – IL CENTRALINO FISSO E IL BILANCIATORE DI CARICO</a:t>
            </a:r>
          </a:p>
        </p:txBody>
      </p:sp>
      <p:sp>
        <p:nvSpPr>
          <p:cNvPr id="3" name="Contenuto della lezione">
            <a:extLst>
              <a:ext uri="{FF2B5EF4-FFF2-40B4-BE49-F238E27FC236}">
                <a16:creationId xmlns:a16="http://schemas.microsoft.com/office/drawing/2014/main" id="{D0697439-7AEE-58EB-5024-58E937F37BC8}"/>
              </a:ext>
            </a:extLst>
          </p:cNvPr>
          <p:cNvSpPr>
            <a:spLocks noGrp="1"/>
          </p:cNvSpPr>
          <p:nvPr>
            <p:ph idx="1"/>
          </p:nvPr>
        </p:nvSpPr>
        <p:spPr>
          <a:xfrm>
            <a:off x="1317319" y="1735543"/>
            <a:ext cx="9557362" cy="4803369"/>
          </a:xfrm>
        </p:spPr>
        <p:txBody>
          <a:bodyPr/>
          <a:lstStyle/>
          <a:p>
            <a:r>
              <a:rPr lang="it-IT" dirty="0"/>
              <a:t>Se uno dei tre </a:t>
            </a:r>
            <a:r>
              <a:rPr lang="it-IT" dirty="0" err="1"/>
              <a:t>Pod</a:t>
            </a:r>
            <a:r>
              <a:rPr lang="it-IT" dirty="0"/>
              <a:t> del </a:t>
            </a:r>
            <a:r>
              <a:rPr lang="it-IT" dirty="0" err="1"/>
              <a:t>backend</a:t>
            </a:r>
            <a:r>
              <a:rPr lang="it-IT" dirty="0"/>
              <a:t> crasha, il Service lo rimuove istantaneamente dalla sua lista di smistamento evitando che gli utenti ricevano errori, e inserisce il nuovo </a:t>
            </a:r>
            <a:r>
              <a:rPr lang="it-IT" dirty="0" err="1"/>
              <a:t>Pod</a:t>
            </a:r>
            <a:r>
              <a:rPr lang="it-IT" dirty="0"/>
              <a:t> sostituto non appena il </a:t>
            </a:r>
            <a:r>
              <a:rPr lang="it-IT" dirty="0" err="1"/>
              <a:t>Kubelet</a:t>
            </a:r>
            <a:r>
              <a:rPr lang="it-IT" dirty="0"/>
              <a:t> dichiara che è pronto a lavorare.</a:t>
            </a:r>
          </a:p>
          <a:p>
            <a:r>
              <a:rPr lang="it-IT" i="1" dirty="0">
                <a:solidFill>
                  <a:srgbClr val="171FE2"/>
                </a:solidFill>
              </a:rPr>
              <a:t>Il Service non è un container o un processo reale. </a:t>
            </a:r>
          </a:p>
          <a:p>
            <a:r>
              <a:rPr lang="it-IT" i="1" dirty="0">
                <a:solidFill>
                  <a:srgbClr val="171FE2"/>
                </a:solidFill>
              </a:rPr>
              <a:t>È una regola logica di rete virtuale scritta dentro il componente </a:t>
            </a:r>
            <a:r>
              <a:rPr lang="it-IT" i="1" dirty="0" err="1">
                <a:solidFill>
                  <a:srgbClr val="171FE2"/>
                </a:solidFill>
              </a:rPr>
              <a:t>Kube</a:t>
            </a:r>
            <a:r>
              <a:rPr lang="it-IT" i="1" dirty="0">
                <a:solidFill>
                  <a:srgbClr val="171FE2"/>
                </a:solidFill>
              </a:rPr>
              <a:t>-Proxy dei nodi. </a:t>
            </a:r>
          </a:p>
          <a:p>
            <a:r>
              <a:rPr lang="it-IT" i="1" dirty="0"/>
              <a:t>È una deviazione stradale gestita a livello di sistema operativo, quindi è ultra-veloce e ha un consumo di risorse pari a zero"</a:t>
            </a:r>
            <a:r>
              <a:rPr lang="it-IT" dirty="0"/>
              <a:t>. </a:t>
            </a:r>
            <a:endParaRPr lang="it-IT" dirty="0">
              <a:solidFill>
                <a:srgbClr val="171FE2"/>
              </a:solidFill>
            </a:endParaRPr>
          </a:p>
        </p:txBody>
      </p:sp>
    </p:spTree>
    <p:extLst>
      <p:ext uri="{BB962C8B-B14F-4D97-AF65-F5344CB8AC3E}">
        <p14:creationId xmlns:p14="http://schemas.microsoft.com/office/powerpoint/2010/main" val="239095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C4FD9-D686-BABD-94F3-5EE03785C404}"/>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F36A431B-3CF9-69AD-CD47-C7850F667281}"/>
              </a:ext>
            </a:extLst>
          </p:cNvPr>
          <p:cNvSpPr>
            <a:spLocks noGrp="1"/>
          </p:cNvSpPr>
          <p:nvPr>
            <p:ph type="title"/>
          </p:nvPr>
        </p:nvSpPr>
        <p:spPr>
          <a:xfrm>
            <a:off x="838200" y="831206"/>
            <a:ext cx="10515600" cy="314198"/>
          </a:xfrm>
        </p:spPr>
        <p:txBody>
          <a:bodyPr/>
          <a:lstStyle/>
          <a:p>
            <a:r>
              <a:rPr lang="it-IT" dirty="0"/>
              <a:t>SLIDE 6: TIPOLOGIE DI SERVICE – SCEGLIERE LA STRATEGIA DI ESPOSIZIONE CORRETTA</a:t>
            </a:r>
          </a:p>
        </p:txBody>
      </p:sp>
      <p:sp>
        <p:nvSpPr>
          <p:cNvPr id="3" name="Contenuto della lezione">
            <a:extLst>
              <a:ext uri="{FF2B5EF4-FFF2-40B4-BE49-F238E27FC236}">
                <a16:creationId xmlns:a16="http://schemas.microsoft.com/office/drawing/2014/main" id="{C9EAA33D-71D5-A4A3-6174-FFE270982E49}"/>
              </a:ext>
            </a:extLst>
          </p:cNvPr>
          <p:cNvSpPr>
            <a:spLocks noGrp="1"/>
          </p:cNvSpPr>
          <p:nvPr>
            <p:ph idx="1"/>
          </p:nvPr>
        </p:nvSpPr>
        <p:spPr>
          <a:xfrm>
            <a:off x="1317319" y="1735543"/>
            <a:ext cx="9557362" cy="4803369"/>
          </a:xfrm>
        </p:spPr>
        <p:txBody>
          <a:bodyPr/>
          <a:lstStyle/>
          <a:p>
            <a:r>
              <a:rPr lang="it-IT" dirty="0"/>
              <a:t>Non tutti i componenti di un software </a:t>
            </a:r>
            <a:r>
              <a:rPr lang="it-IT" dirty="0" err="1"/>
              <a:t>enterprise</a:t>
            </a:r>
            <a:r>
              <a:rPr lang="it-IT" dirty="0"/>
              <a:t> hanno le stesse esigenze di comunicazione. </a:t>
            </a:r>
          </a:p>
          <a:p>
            <a:r>
              <a:rPr lang="it-IT" dirty="0"/>
              <a:t>Il database </a:t>
            </a:r>
            <a:r>
              <a:rPr lang="it-IT" dirty="0" err="1"/>
              <a:t>MariaDB</a:t>
            </a:r>
            <a:r>
              <a:rPr lang="it-IT" dirty="0"/>
              <a:t> deve poter parlare con il </a:t>
            </a:r>
            <a:r>
              <a:rPr lang="it-IT" dirty="0" err="1"/>
              <a:t>backend</a:t>
            </a:r>
            <a:r>
              <a:rPr lang="it-IT" dirty="0"/>
              <a:t> in Java, ma non deve assolutamente essere visibile su internet per motivi di sicurezza. </a:t>
            </a:r>
          </a:p>
          <a:p>
            <a:r>
              <a:rPr lang="it-IT" dirty="0"/>
              <a:t>Al contrario, il nostro </a:t>
            </a:r>
            <a:r>
              <a:rPr lang="it-IT" dirty="0" err="1"/>
              <a:t>frontend</a:t>
            </a:r>
            <a:r>
              <a:rPr lang="it-IT" dirty="0"/>
              <a:t> React deve essere accessibile dai browser degli utenti di tutto il mondo, altrimenti nessuno potrà usare il sito. </a:t>
            </a:r>
          </a:p>
          <a:p>
            <a:r>
              <a:rPr lang="it-IT" dirty="0"/>
              <a:t>Per soddisfare queste diverse esigenze architettoniche, </a:t>
            </a:r>
            <a:r>
              <a:rPr lang="it-IT" dirty="0" err="1"/>
              <a:t>Kubernetes</a:t>
            </a:r>
            <a:r>
              <a:rPr lang="it-IT" dirty="0"/>
              <a:t> ci permette di scegliere tra diverse tipologie di Service, configurabili tramite la voce </a:t>
            </a:r>
            <a:r>
              <a:rPr lang="it-IT" dirty="0" err="1"/>
              <a:t>type</a:t>
            </a:r>
            <a:r>
              <a:rPr lang="it-IT" dirty="0"/>
              <a:t> nel file YAML. </a:t>
            </a:r>
            <a:endParaRPr lang="it-IT" dirty="0">
              <a:solidFill>
                <a:srgbClr val="171FE2"/>
              </a:solidFill>
            </a:endParaRPr>
          </a:p>
        </p:txBody>
      </p:sp>
    </p:spTree>
    <p:extLst>
      <p:ext uri="{BB962C8B-B14F-4D97-AF65-F5344CB8AC3E}">
        <p14:creationId xmlns:p14="http://schemas.microsoft.com/office/powerpoint/2010/main" val="2114754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6AB6F-8405-6CC0-5E60-A41D3065270C}"/>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57FEAC68-E696-220A-367B-679D9A895A2E}"/>
              </a:ext>
            </a:extLst>
          </p:cNvPr>
          <p:cNvSpPr>
            <a:spLocks noGrp="1"/>
          </p:cNvSpPr>
          <p:nvPr>
            <p:ph type="title"/>
          </p:nvPr>
        </p:nvSpPr>
        <p:spPr>
          <a:xfrm>
            <a:off x="838200" y="831206"/>
            <a:ext cx="10515600" cy="314198"/>
          </a:xfrm>
        </p:spPr>
        <p:txBody>
          <a:bodyPr/>
          <a:lstStyle/>
          <a:p>
            <a:r>
              <a:rPr lang="it-IT" dirty="0"/>
              <a:t>SLIDE 7: TIPOLOGIE DI SERVICE – SCEGLIERE LA STRATEGIA DI ESPOSIZIONE CORRETTA</a:t>
            </a:r>
          </a:p>
        </p:txBody>
      </p:sp>
      <p:sp>
        <p:nvSpPr>
          <p:cNvPr id="3" name="Contenuto della lezione">
            <a:extLst>
              <a:ext uri="{FF2B5EF4-FFF2-40B4-BE49-F238E27FC236}">
                <a16:creationId xmlns:a16="http://schemas.microsoft.com/office/drawing/2014/main" id="{86F1BE9F-26C1-EE5E-D61A-8C4C4E57D57A}"/>
              </a:ext>
            </a:extLst>
          </p:cNvPr>
          <p:cNvSpPr>
            <a:spLocks noGrp="1"/>
          </p:cNvSpPr>
          <p:nvPr>
            <p:ph idx="1"/>
          </p:nvPr>
        </p:nvSpPr>
        <p:spPr>
          <a:xfrm>
            <a:off x="1317319" y="1735543"/>
            <a:ext cx="9557362" cy="4803369"/>
          </a:xfrm>
        </p:spPr>
        <p:txBody>
          <a:bodyPr/>
          <a:lstStyle/>
          <a:p>
            <a:r>
              <a:rPr lang="it-IT" dirty="0"/>
              <a:t>Le tre categorie:</a:t>
            </a:r>
          </a:p>
          <a:p>
            <a:r>
              <a:rPr lang="it-IT" b="1" dirty="0" err="1"/>
              <a:t>ClusterIP</a:t>
            </a:r>
            <a:r>
              <a:rPr lang="it-IT" b="1" dirty="0"/>
              <a:t> (Predefinita):</a:t>
            </a:r>
            <a:r>
              <a:rPr lang="it-IT" dirty="0"/>
              <a:t> Questa modalità assegna al Service un indirizzo IP interno, visibile e raggiungibile </a:t>
            </a:r>
            <a:r>
              <a:rPr lang="it-IT" b="1" dirty="0"/>
              <a:t>solo ed esclusivamente dall'interno del cluster</a:t>
            </a:r>
            <a:r>
              <a:rPr lang="it-IT" dirty="0"/>
              <a:t>. I computer esterni o i browser degli utenti non possono intercettarlo in nessun modo. </a:t>
            </a:r>
            <a:r>
              <a:rPr lang="it-IT" dirty="0">
                <a:solidFill>
                  <a:srgbClr val="171FE2"/>
                </a:solidFill>
              </a:rPr>
              <a:t>È la scelta perfetta e obbligatoria per la sicurezza del </a:t>
            </a:r>
            <a:r>
              <a:rPr lang="it-IT" dirty="0" err="1">
                <a:solidFill>
                  <a:srgbClr val="171FE2"/>
                </a:solidFill>
              </a:rPr>
              <a:t>backend</a:t>
            </a:r>
            <a:r>
              <a:rPr lang="it-IT" dirty="0">
                <a:solidFill>
                  <a:srgbClr val="171FE2"/>
                </a:solidFill>
              </a:rPr>
              <a:t> Spring Boot e del database </a:t>
            </a:r>
            <a:r>
              <a:rPr lang="it-IT" dirty="0" err="1">
                <a:solidFill>
                  <a:srgbClr val="171FE2"/>
                </a:solidFill>
              </a:rPr>
              <a:t>MariaDB</a:t>
            </a:r>
            <a:r>
              <a:rPr lang="it-IT" dirty="0">
                <a:solidFill>
                  <a:srgbClr val="171FE2"/>
                </a:solidFill>
              </a:rPr>
              <a:t>, che devono comunicare solo tra di loro in una stanza blindata</a:t>
            </a:r>
            <a:r>
              <a:rPr lang="it-IT" dirty="0"/>
              <a:t>.</a:t>
            </a:r>
          </a:p>
          <a:p>
            <a:r>
              <a:rPr lang="it-IT" b="1" dirty="0" err="1"/>
              <a:t>NodePort</a:t>
            </a:r>
            <a:r>
              <a:rPr lang="it-IT" b="1" dirty="0"/>
              <a:t>:</a:t>
            </a:r>
            <a:r>
              <a:rPr lang="it-IT" dirty="0"/>
              <a:t> </a:t>
            </a:r>
            <a:r>
              <a:rPr lang="it-IT" dirty="0">
                <a:solidFill>
                  <a:srgbClr val="171FE2"/>
                </a:solidFill>
              </a:rPr>
              <a:t>Questa configurazione fa un salto verso l'esterno</a:t>
            </a:r>
            <a:r>
              <a:rPr lang="it-IT" dirty="0"/>
              <a:t>. Oltre a creare un IP interno, </a:t>
            </a:r>
            <a:r>
              <a:rPr lang="it-IT" dirty="0" err="1"/>
              <a:t>Kubernetes</a:t>
            </a:r>
            <a:r>
              <a:rPr lang="it-IT" dirty="0"/>
              <a:t> apre una porta specifica e identica (in un raggio compreso tassativamente tra 30000 e 32767) </a:t>
            </a:r>
            <a:r>
              <a:rPr lang="it-IT" b="1" dirty="0"/>
              <a:t>su tutti i server fisici (Nodi) del cluster</a:t>
            </a:r>
            <a:r>
              <a:rPr lang="it-IT" dirty="0"/>
              <a:t>. Se un utente digita l'IP di un qualsiasi server del cluster seguito da quella porta (es. http://IP_DEL_SERVER:32000), </a:t>
            </a:r>
            <a:r>
              <a:rPr lang="it-IT" b="1" dirty="0">
                <a:solidFill>
                  <a:srgbClr val="171FE2"/>
                </a:solidFill>
              </a:rPr>
              <a:t>la richiesta buca il server e viene catapultata dentro il Service</a:t>
            </a:r>
            <a:r>
              <a:rPr lang="it-IT" dirty="0"/>
              <a:t>, che la gira al </a:t>
            </a:r>
            <a:r>
              <a:rPr lang="it-IT" dirty="0" err="1"/>
              <a:t>Pod</a:t>
            </a:r>
            <a:r>
              <a:rPr lang="it-IT" dirty="0"/>
              <a:t>. Si usa molto per fare test o in reti aziendali private.</a:t>
            </a:r>
          </a:p>
          <a:p>
            <a:r>
              <a:rPr lang="it-IT" b="1" dirty="0" err="1"/>
              <a:t>LoadBalancer</a:t>
            </a:r>
            <a:r>
              <a:rPr lang="it-IT" b="1" dirty="0"/>
              <a:t>:</a:t>
            </a:r>
            <a:r>
              <a:rPr lang="it-IT" dirty="0"/>
              <a:t> È la soluzione definitiva per la produzione nel Cloud (AWS, Google Cloud, Azure). Quando </a:t>
            </a:r>
            <a:r>
              <a:rPr lang="it-IT" dirty="0" err="1"/>
              <a:t>impostatiamo</a:t>
            </a:r>
            <a:r>
              <a:rPr lang="it-IT" dirty="0"/>
              <a:t> questo tipo, </a:t>
            </a:r>
            <a:r>
              <a:rPr lang="it-IT" dirty="0" err="1"/>
              <a:t>Kubernetes</a:t>
            </a:r>
            <a:r>
              <a:rPr lang="it-IT" dirty="0"/>
              <a:t> parla direttamente con il fornitore Cloud e ordina la creazione di un bilanciatore di carico hardware reale esterno, assegnandovi un IP pubblico mondiale (es. 93.12.45.6). Tutto il traffico internet che arriva a quel link viene gestito e scaricato in sicurezza dentro il vostro cluster.</a:t>
            </a:r>
          </a:p>
        </p:txBody>
      </p:sp>
    </p:spTree>
    <p:extLst>
      <p:ext uri="{BB962C8B-B14F-4D97-AF65-F5344CB8AC3E}">
        <p14:creationId xmlns:p14="http://schemas.microsoft.com/office/powerpoint/2010/main" val="388266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9B98D-5FAD-8869-8092-7D9DE2AB7716}"/>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F6CD8180-D24B-93D6-8D51-4315D1CB86C6}"/>
              </a:ext>
            </a:extLst>
          </p:cNvPr>
          <p:cNvSpPr>
            <a:spLocks noGrp="1"/>
          </p:cNvSpPr>
          <p:nvPr>
            <p:ph type="title"/>
          </p:nvPr>
        </p:nvSpPr>
        <p:spPr>
          <a:xfrm>
            <a:off x="838200" y="831206"/>
            <a:ext cx="10515600" cy="314198"/>
          </a:xfrm>
        </p:spPr>
        <p:txBody>
          <a:bodyPr/>
          <a:lstStyle/>
          <a:p>
            <a:r>
              <a:rPr lang="it-IT" dirty="0"/>
              <a:t>SLIDE 8: ANATOMIA DELLO YAML DI UN SERVICE – IL PONTE TRA PORTE REALI E VIRTUALI</a:t>
            </a:r>
          </a:p>
        </p:txBody>
      </p:sp>
      <p:sp>
        <p:nvSpPr>
          <p:cNvPr id="3" name="Contenuto della lezione">
            <a:extLst>
              <a:ext uri="{FF2B5EF4-FFF2-40B4-BE49-F238E27FC236}">
                <a16:creationId xmlns:a16="http://schemas.microsoft.com/office/drawing/2014/main" id="{CE27F8F2-D5B3-F1E4-3BA4-DD6319575A64}"/>
              </a:ext>
            </a:extLst>
          </p:cNvPr>
          <p:cNvSpPr>
            <a:spLocks noGrp="1"/>
          </p:cNvSpPr>
          <p:nvPr>
            <p:ph idx="1"/>
          </p:nvPr>
        </p:nvSpPr>
        <p:spPr>
          <a:xfrm>
            <a:off x="1317319" y="1735543"/>
            <a:ext cx="9557362" cy="4803369"/>
          </a:xfrm>
        </p:spPr>
        <p:txBody>
          <a:bodyPr/>
          <a:lstStyle/>
          <a:p>
            <a:r>
              <a:rPr lang="it-IT" dirty="0" err="1"/>
              <a:t>Kubernetes</a:t>
            </a:r>
            <a:r>
              <a:rPr lang="it-IT" dirty="0"/>
              <a:t> ha bisogno di sapere su quale porta il Service deve mettersi in ascolto e su quale porta del container deve lanciare il pacchetto dati. </a:t>
            </a:r>
          </a:p>
          <a:p>
            <a:r>
              <a:rPr lang="it-IT" dirty="0"/>
              <a:t>Scomponiamo la struttura ufficiale guardando i tre parametri chiave:</a:t>
            </a:r>
          </a:p>
          <a:p>
            <a:r>
              <a:rPr lang="it-IT" b="1" dirty="0"/>
              <a:t>port</a:t>
            </a:r>
            <a:r>
              <a:rPr lang="it-IT" dirty="0"/>
              <a:t>: </a:t>
            </a:r>
            <a:r>
              <a:rPr lang="it-IT" dirty="0">
                <a:solidFill>
                  <a:srgbClr val="171FE2"/>
                </a:solidFill>
              </a:rPr>
              <a:t>È la porta su cui si mette in ascolto il Service</a:t>
            </a:r>
            <a:r>
              <a:rPr lang="it-IT" dirty="0"/>
              <a:t> </a:t>
            </a:r>
            <a:r>
              <a:rPr lang="it-IT" b="1" dirty="0"/>
              <a:t>all'interno del cluster</a:t>
            </a:r>
            <a:r>
              <a:rPr lang="it-IT" dirty="0"/>
              <a:t>. Qualsiasi altro </a:t>
            </a:r>
            <a:r>
              <a:rPr lang="it-IT" dirty="0" err="1"/>
              <a:t>Pod</a:t>
            </a:r>
            <a:r>
              <a:rPr lang="it-IT" dirty="0"/>
              <a:t> che vuole parlare con questo Servizio dovrà indirizzare la chiamata a questo numero di porta virtuale (ad esempio, per i servizi web si usa solitamente la porta standard 80).</a:t>
            </a:r>
          </a:p>
          <a:p>
            <a:r>
              <a:rPr lang="it-IT" b="1" dirty="0" err="1"/>
              <a:t>targetPort</a:t>
            </a:r>
            <a:r>
              <a:rPr lang="it-IT" dirty="0"/>
              <a:t>: </a:t>
            </a:r>
            <a:r>
              <a:rPr lang="it-IT" dirty="0">
                <a:solidFill>
                  <a:srgbClr val="171FE2"/>
                </a:solidFill>
              </a:rPr>
              <a:t>È la porta fisica reale su cui sta ascoltando il container </a:t>
            </a:r>
            <a:r>
              <a:rPr lang="it-IT" dirty="0"/>
              <a:t>dentro il </a:t>
            </a:r>
            <a:r>
              <a:rPr lang="it-IT" dirty="0" err="1"/>
              <a:t>Pod</a:t>
            </a:r>
            <a:r>
              <a:rPr lang="it-IT" dirty="0"/>
              <a:t>. Se il nostro container è un'applicazione Spring Boot, configurata per rispondere sulla porta classica Java 8080, la </a:t>
            </a:r>
            <a:r>
              <a:rPr lang="it-IT" dirty="0" err="1"/>
              <a:t>targetPort</a:t>
            </a:r>
            <a:r>
              <a:rPr lang="it-IT" dirty="0"/>
              <a:t> dovrà essere tassativamente impostata a 8080. </a:t>
            </a:r>
            <a:r>
              <a:rPr lang="it-IT" dirty="0">
                <a:solidFill>
                  <a:srgbClr val="171FE2"/>
                </a:solidFill>
              </a:rPr>
              <a:t>Il Service prenderà il traffico dalla sua porta 80 e lo "sparerà" verso la porta 8080 del container del </a:t>
            </a:r>
            <a:r>
              <a:rPr lang="it-IT" dirty="0" err="1">
                <a:solidFill>
                  <a:srgbClr val="171FE2"/>
                </a:solidFill>
              </a:rPr>
              <a:t>Pod</a:t>
            </a:r>
            <a:r>
              <a:rPr lang="it-IT" dirty="0">
                <a:solidFill>
                  <a:srgbClr val="171FE2"/>
                </a:solidFill>
              </a:rPr>
              <a:t> selezionato.</a:t>
            </a:r>
          </a:p>
          <a:p>
            <a:r>
              <a:rPr lang="it-IT" b="1" dirty="0" err="1"/>
              <a:t>nodePort</a:t>
            </a:r>
            <a:r>
              <a:rPr lang="it-IT" dirty="0"/>
              <a:t>: Questo parametro compare solo se il tipo di Service è impostato su </a:t>
            </a:r>
            <a:r>
              <a:rPr lang="it-IT" dirty="0" err="1"/>
              <a:t>NodePort</a:t>
            </a:r>
            <a:r>
              <a:rPr lang="it-IT" dirty="0"/>
              <a:t>. È la porta esterna di Windows o del server fisico che vogliamo aprire per far entrare il traffico da fuori (ad esempio la porta 32000).</a:t>
            </a:r>
          </a:p>
        </p:txBody>
      </p:sp>
    </p:spTree>
    <p:extLst>
      <p:ext uri="{BB962C8B-B14F-4D97-AF65-F5344CB8AC3E}">
        <p14:creationId xmlns:p14="http://schemas.microsoft.com/office/powerpoint/2010/main" val="2455324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7105D-75C8-35A6-CDF1-AE88234B43E3}"/>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41351630-8ADC-1C10-C4E8-17AC47CC0143}"/>
              </a:ext>
            </a:extLst>
          </p:cNvPr>
          <p:cNvSpPr>
            <a:spLocks noGrp="1"/>
          </p:cNvSpPr>
          <p:nvPr>
            <p:ph type="title"/>
          </p:nvPr>
        </p:nvSpPr>
        <p:spPr>
          <a:xfrm>
            <a:off x="838200" y="831206"/>
            <a:ext cx="10515600" cy="314198"/>
          </a:xfrm>
        </p:spPr>
        <p:txBody>
          <a:bodyPr/>
          <a:lstStyle/>
          <a:p>
            <a:r>
              <a:rPr lang="it-IT" dirty="0"/>
              <a:t>SLIDE 9: ANATOMIA DELLO YAML DI UN SERVICE – IL PONTE TRA PORTE REALI E VIRTUALI</a:t>
            </a:r>
          </a:p>
        </p:txBody>
      </p:sp>
      <p:sp>
        <p:nvSpPr>
          <p:cNvPr id="3" name="Contenuto della lezione">
            <a:extLst>
              <a:ext uri="{FF2B5EF4-FFF2-40B4-BE49-F238E27FC236}">
                <a16:creationId xmlns:a16="http://schemas.microsoft.com/office/drawing/2014/main" id="{49A77647-D467-BB7D-A006-C9C87D109738}"/>
              </a:ext>
            </a:extLst>
          </p:cNvPr>
          <p:cNvSpPr>
            <a:spLocks noGrp="1"/>
          </p:cNvSpPr>
          <p:nvPr>
            <p:ph idx="1"/>
          </p:nvPr>
        </p:nvSpPr>
        <p:spPr>
          <a:xfrm>
            <a:off x="838200" y="1715438"/>
            <a:ext cx="4214801" cy="4803369"/>
          </a:xfrm>
        </p:spPr>
        <p:txBody>
          <a:bodyPr/>
          <a:lstStyle/>
          <a:p>
            <a:r>
              <a:rPr lang="it-IT" dirty="0"/>
              <a:t>Il collegamento finale si chiude grazie alla sezione selector:. </a:t>
            </a:r>
          </a:p>
          <a:p>
            <a:r>
              <a:rPr lang="it-IT" dirty="0">
                <a:solidFill>
                  <a:srgbClr val="171FE2"/>
                </a:solidFill>
              </a:rPr>
              <a:t>Proprio come il Deployment usava il selettore per trovare i </a:t>
            </a:r>
            <a:r>
              <a:rPr lang="it-IT" dirty="0" err="1">
                <a:solidFill>
                  <a:srgbClr val="171FE2"/>
                </a:solidFill>
              </a:rPr>
              <a:t>Pod</a:t>
            </a:r>
            <a:r>
              <a:rPr lang="it-IT" dirty="0">
                <a:solidFill>
                  <a:srgbClr val="171FE2"/>
                </a:solidFill>
              </a:rPr>
              <a:t> da monitorare, il Service usa il selettore per trovare i </a:t>
            </a:r>
            <a:r>
              <a:rPr lang="it-IT" dirty="0" err="1">
                <a:solidFill>
                  <a:srgbClr val="171FE2"/>
                </a:solidFill>
              </a:rPr>
              <a:t>Pod</a:t>
            </a:r>
            <a:r>
              <a:rPr lang="it-IT" dirty="0">
                <a:solidFill>
                  <a:srgbClr val="171FE2"/>
                </a:solidFill>
              </a:rPr>
              <a:t> a cui deviare i pacchetti di rete. </a:t>
            </a:r>
          </a:p>
          <a:p>
            <a:r>
              <a:rPr lang="it-IT" dirty="0"/>
              <a:t>Se scriviamo app: </a:t>
            </a:r>
            <a:r>
              <a:rPr lang="it-IT" dirty="0" err="1"/>
              <a:t>backend-enterprise</a:t>
            </a:r>
            <a:r>
              <a:rPr lang="it-IT" dirty="0"/>
              <a:t>, la rete è configurata.</a:t>
            </a:r>
          </a:p>
        </p:txBody>
      </p:sp>
      <p:sp>
        <p:nvSpPr>
          <p:cNvPr id="4" name="CasellaDiTesto 3">
            <a:extLst>
              <a:ext uri="{FF2B5EF4-FFF2-40B4-BE49-F238E27FC236}">
                <a16:creationId xmlns:a16="http://schemas.microsoft.com/office/drawing/2014/main" id="{71CD58C8-F437-59AF-AD6F-EEFE613FC294}"/>
              </a:ext>
            </a:extLst>
          </p:cNvPr>
          <p:cNvSpPr txBox="1"/>
          <p:nvPr/>
        </p:nvSpPr>
        <p:spPr>
          <a:xfrm>
            <a:off x="5352288" y="1720948"/>
            <a:ext cx="6001512" cy="2800767"/>
          </a:xfrm>
          <a:prstGeom prst="rect">
            <a:avLst/>
          </a:prstGeom>
          <a:noFill/>
        </p:spPr>
        <p:txBody>
          <a:bodyPr wrap="square" rtlCol="0">
            <a:spAutoFit/>
          </a:bodyPr>
          <a:lstStyle/>
          <a:p>
            <a:r>
              <a:rPr lang="it-IT" sz="1600" dirty="0">
                <a:solidFill>
                  <a:schemeClr val="accent6"/>
                </a:solidFill>
                <a:latin typeface="Consolas" panose="020B0609020204030204" pitchFamily="49" charset="0"/>
              </a:rPr>
              <a:t># Esempio concettuale di mappatura porte nello YAML del Service:</a:t>
            </a:r>
          </a:p>
          <a:p>
            <a:r>
              <a:rPr lang="it-IT" sz="1600" dirty="0" err="1">
                <a:solidFill>
                  <a:srgbClr val="171FE2"/>
                </a:solidFill>
                <a:latin typeface="Consolas" panose="020B0609020204030204" pitchFamily="49" charset="0"/>
              </a:rPr>
              <a:t>spec</a:t>
            </a:r>
            <a:r>
              <a:rPr lang="it-IT" sz="1600" dirty="0">
                <a:solidFill>
                  <a:srgbClr val="171FE2"/>
                </a:solidFill>
                <a:latin typeface="Consolas" panose="020B0609020204030204" pitchFamily="49" charset="0"/>
              </a:rPr>
              <a:t>:</a:t>
            </a:r>
          </a:p>
          <a:p>
            <a:r>
              <a:rPr lang="it-IT" sz="1600" dirty="0">
                <a:solidFill>
                  <a:srgbClr val="171FE2"/>
                </a:solidFill>
                <a:latin typeface="Consolas" panose="020B0609020204030204" pitchFamily="49" charset="0"/>
              </a:rPr>
              <a:t>  </a:t>
            </a:r>
            <a:r>
              <a:rPr lang="it-IT" sz="1600" dirty="0" err="1">
                <a:solidFill>
                  <a:srgbClr val="171FE2"/>
                </a:solidFill>
                <a:latin typeface="Consolas" panose="020B0609020204030204" pitchFamily="49" charset="0"/>
              </a:rPr>
              <a:t>type</a:t>
            </a:r>
            <a:r>
              <a:rPr lang="it-IT" sz="1600" dirty="0">
                <a:solidFill>
                  <a:srgbClr val="171FE2"/>
                </a:solidFill>
                <a:latin typeface="Consolas" panose="020B0609020204030204" pitchFamily="49" charset="0"/>
              </a:rPr>
              <a:t>: </a:t>
            </a:r>
            <a:r>
              <a:rPr lang="it-IT" sz="1600" dirty="0" err="1">
                <a:solidFill>
                  <a:srgbClr val="171FE2"/>
                </a:solidFill>
                <a:latin typeface="Consolas" panose="020B0609020204030204" pitchFamily="49" charset="0"/>
              </a:rPr>
              <a:t>ClusterIP</a:t>
            </a:r>
            <a:endParaRPr lang="it-IT" sz="1600" dirty="0">
              <a:solidFill>
                <a:srgbClr val="171FE2"/>
              </a:solidFill>
              <a:latin typeface="Consolas" panose="020B0609020204030204" pitchFamily="49" charset="0"/>
            </a:endParaRPr>
          </a:p>
          <a:p>
            <a:r>
              <a:rPr lang="it-IT" sz="1600" dirty="0">
                <a:solidFill>
                  <a:srgbClr val="171FE2"/>
                </a:solidFill>
                <a:latin typeface="Consolas" panose="020B0609020204030204" pitchFamily="49" charset="0"/>
              </a:rPr>
              <a:t>  ports:</a:t>
            </a:r>
          </a:p>
          <a:p>
            <a:r>
              <a:rPr lang="it-IT" sz="1600" dirty="0">
                <a:solidFill>
                  <a:srgbClr val="171FE2"/>
                </a:solidFill>
                <a:latin typeface="Consolas" panose="020B0609020204030204" pitchFamily="49" charset="0"/>
              </a:rPr>
              <a:t>  - port: 80           </a:t>
            </a:r>
            <a:r>
              <a:rPr lang="it-IT" sz="1600" dirty="0">
                <a:solidFill>
                  <a:schemeClr val="accent6"/>
                </a:solidFill>
                <a:latin typeface="Consolas" panose="020B0609020204030204" pitchFamily="49" charset="0"/>
              </a:rPr>
              <a:t># Porta virtuale del Service </a:t>
            </a:r>
            <a:r>
              <a:rPr lang="it-IT" sz="1600" dirty="0">
                <a:solidFill>
                  <a:srgbClr val="171FE2"/>
                </a:solidFill>
                <a:latin typeface="Consolas" panose="020B0609020204030204" pitchFamily="49" charset="0"/>
              </a:rPr>
              <a:t>nel cluster</a:t>
            </a:r>
          </a:p>
          <a:p>
            <a:r>
              <a:rPr lang="it-IT" sz="1600" dirty="0">
                <a:solidFill>
                  <a:srgbClr val="171FE2"/>
                </a:solidFill>
                <a:latin typeface="Consolas" panose="020B0609020204030204" pitchFamily="49" charset="0"/>
              </a:rPr>
              <a:t>    </a:t>
            </a:r>
            <a:r>
              <a:rPr lang="it-IT" sz="1600" dirty="0" err="1">
                <a:solidFill>
                  <a:srgbClr val="171FE2"/>
                </a:solidFill>
                <a:latin typeface="Consolas" panose="020B0609020204030204" pitchFamily="49" charset="0"/>
              </a:rPr>
              <a:t>targetPort</a:t>
            </a:r>
            <a:r>
              <a:rPr lang="it-IT" sz="1600" dirty="0">
                <a:solidFill>
                  <a:srgbClr val="171FE2"/>
                </a:solidFill>
                <a:latin typeface="Consolas" panose="020B0609020204030204" pitchFamily="49" charset="0"/>
              </a:rPr>
              <a:t>: 8080   </a:t>
            </a:r>
            <a:r>
              <a:rPr lang="it-IT" sz="1600" dirty="0">
                <a:solidFill>
                  <a:schemeClr val="accent6"/>
                </a:solidFill>
                <a:latin typeface="Consolas" panose="020B0609020204030204" pitchFamily="49" charset="0"/>
              </a:rPr>
              <a:t># Porta reale del container </a:t>
            </a:r>
            <a:r>
              <a:rPr lang="it-IT" sz="1600" dirty="0">
                <a:solidFill>
                  <a:srgbClr val="171FE2"/>
                </a:solidFill>
                <a:latin typeface="Consolas" panose="020B0609020204030204" pitchFamily="49" charset="0"/>
              </a:rPr>
              <a:t>Spring Boot</a:t>
            </a:r>
          </a:p>
          <a:p>
            <a:r>
              <a:rPr lang="it-IT" sz="1600" dirty="0">
                <a:solidFill>
                  <a:srgbClr val="171FE2"/>
                </a:solidFill>
                <a:latin typeface="Consolas" panose="020B0609020204030204" pitchFamily="49" charset="0"/>
              </a:rPr>
              <a:t>  selector:</a:t>
            </a:r>
          </a:p>
          <a:p>
            <a:r>
              <a:rPr lang="it-IT" sz="1600" dirty="0">
                <a:solidFill>
                  <a:srgbClr val="171FE2"/>
                </a:solidFill>
                <a:latin typeface="Consolas" panose="020B0609020204030204" pitchFamily="49" charset="0"/>
              </a:rPr>
              <a:t>    app: </a:t>
            </a:r>
            <a:r>
              <a:rPr lang="it-IT" sz="1600" dirty="0" err="1">
                <a:solidFill>
                  <a:srgbClr val="171FE2"/>
                </a:solidFill>
                <a:latin typeface="Consolas" panose="020B0609020204030204" pitchFamily="49" charset="0"/>
              </a:rPr>
              <a:t>backend-enterprise</a:t>
            </a:r>
            <a:endParaRPr lang="it-IT" sz="1600" dirty="0">
              <a:solidFill>
                <a:srgbClr val="171FE2"/>
              </a:solidFill>
              <a:latin typeface="Consolas" panose="020B0609020204030204" pitchFamily="49" charset="0"/>
            </a:endParaRPr>
          </a:p>
        </p:txBody>
      </p:sp>
      <p:sp>
        <p:nvSpPr>
          <p:cNvPr id="5" name="CasellaDiTesto 4">
            <a:extLst>
              <a:ext uri="{FF2B5EF4-FFF2-40B4-BE49-F238E27FC236}">
                <a16:creationId xmlns:a16="http://schemas.microsoft.com/office/drawing/2014/main" id="{A709EFEE-D03F-CD5B-7D09-0D3CF99C9C98}"/>
              </a:ext>
            </a:extLst>
          </p:cNvPr>
          <p:cNvSpPr txBox="1"/>
          <p:nvPr/>
        </p:nvSpPr>
        <p:spPr>
          <a:xfrm>
            <a:off x="838200" y="4826465"/>
            <a:ext cx="10515600" cy="1200329"/>
          </a:xfrm>
          <a:prstGeom prst="rect">
            <a:avLst/>
          </a:prstGeom>
          <a:noFill/>
        </p:spPr>
        <p:txBody>
          <a:bodyPr wrap="square" rtlCol="0">
            <a:spAutoFit/>
          </a:bodyPr>
          <a:lstStyle/>
          <a:p>
            <a:r>
              <a:rPr lang="it-IT" i="1" dirty="0"/>
              <a:t>"La port del Service è il numero verde aziendale (es. l'80), quello che tutti compongono dall'interno dei corridoi. La </a:t>
            </a:r>
            <a:r>
              <a:rPr lang="it-IT" i="1" dirty="0" err="1"/>
              <a:t>targetPort</a:t>
            </a:r>
            <a:r>
              <a:rPr lang="it-IT" i="1" dirty="0"/>
              <a:t> è il numero di interno sulla scrivania del singolo impiegato (es. l'interno 8080). </a:t>
            </a:r>
          </a:p>
          <a:p>
            <a:r>
              <a:rPr lang="it-IT" i="1" dirty="0"/>
              <a:t>Tu chiami l'80 (port) e il centralino ti devia automaticamente all'interno 8080 (</a:t>
            </a:r>
            <a:r>
              <a:rPr lang="it-IT" i="1" dirty="0" err="1"/>
              <a:t>targetPort</a:t>
            </a:r>
            <a:r>
              <a:rPr lang="it-IT" i="1" dirty="0"/>
              <a:t>) sul telefono del container"</a:t>
            </a:r>
            <a:r>
              <a:rPr lang="it-IT" dirty="0"/>
              <a:t>. </a:t>
            </a:r>
          </a:p>
        </p:txBody>
      </p:sp>
    </p:spTree>
    <p:extLst>
      <p:ext uri="{BB962C8B-B14F-4D97-AF65-F5344CB8AC3E}">
        <p14:creationId xmlns:p14="http://schemas.microsoft.com/office/powerpoint/2010/main" val="1832872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8D187-80E7-B0CA-90DE-4F470E60096A}"/>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A0E5D368-1198-06EE-A5D8-8CCC24045050}"/>
              </a:ext>
            </a:extLst>
          </p:cNvPr>
          <p:cNvSpPr>
            <a:spLocks noGrp="1"/>
          </p:cNvSpPr>
          <p:nvPr>
            <p:ph type="title"/>
          </p:nvPr>
        </p:nvSpPr>
        <p:spPr>
          <a:xfrm>
            <a:off x="838200" y="831206"/>
            <a:ext cx="10515600" cy="314198"/>
          </a:xfrm>
        </p:spPr>
        <p:txBody>
          <a:bodyPr/>
          <a:lstStyle/>
          <a:p>
            <a:r>
              <a:rPr lang="it-IT" dirty="0"/>
              <a:t>SLIDE 10: LAB PRACTICAL – STRUTTURARE E LANCIARE IL SERVICE INTERNO (CLUSTERIP)</a:t>
            </a:r>
          </a:p>
        </p:txBody>
      </p:sp>
      <p:sp>
        <p:nvSpPr>
          <p:cNvPr id="3" name="Contenuto della lezione">
            <a:extLst>
              <a:ext uri="{FF2B5EF4-FFF2-40B4-BE49-F238E27FC236}">
                <a16:creationId xmlns:a16="http://schemas.microsoft.com/office/drawing/2014/main" id="{78412D6C-6B71-67D0-8081-206FD1A9DDE5}"/>
              </a:ext>
            </a:extLst>
          </p:cNvPr>
          <p:cNvSpPr>
            <a:spLocks noGrp="1"/>
          </p:cNvSpPr>
          <p:nvPr>
            <p:ph idx="1"/>
          </p:nvPr>
        </p:nvSpPr>
        <p:spPr>
          <a:xfrm>
            <a:off x="1317319" y="1735543"/>
            <a:ext cx="3400985" cy="4803369"/>
          </a:xfrm>
        </p:spPr>
        <p:txBody>
          <a:bodyPr/>
          <a:lstStyle/>
          <a:p>
            <a:r>
              <a:rPr lang="it-IT" dirty="0"/>
              <a:t>Andiamo a creare un Service di tipo </a:t>
            </a:r>
            <a:r>
              <a:rPr lang="it-IT" dirty="0" err="1"/>
              <a:t>ClusterIP</a:t>
            </a:r>
            <a:r>
              <a:rPr lang="it-IT" dirty="0"/>
              <a:t> per proteggere e stabilizzare la rete del nostro </a:t>
            </a:r>
            <a:r>
              <a:rPr lang="it-IT" dirty="0" err="1"/>
              <a:t>backend</a:t>
            </a:r>
            <a:r>
              <a:rPr lang="it-IT" dirty="0"/>
              <a:t> </a:t>
            </a:r>
            <a:r>
              <a:rPr lang="it-IT" dirty="0" err="1"/>
              <a:t>enterprise</a:t>
            </a:r>
            <a:r>
              <a:rPr lang="it-IT" dirty="0"/>
              <a:t>. </a:t>
            </a:r>
          </a:p>
          <a:p>
            <a:r>
              <a:rPr lang="it-IT" dirty="0"/>
              <a:t>Questo Service fornirà un punto di contatto fisso all'interno del cluster, che useremo nelle lezioni successive per far dialogare i vari pezzi della nostra architettura in totale sicurezza.</a:t>
            </a:r>
          </a:p>
          <a:p>
            <a:r>
              <a:rPr lang="it-IT" dirty="0"/>
              <a:t>Riprendiamo con </a:t>
            </a:r>
            <a:r>
              <a:rPr lang="it-IT" dirty="0" err="1"/>
              <a:t>VSCode</a:t>
            </a:r>
            <a:r>
              <a:rPr lang="it-IT" dirty="0"/>
              <a:t> la cartella in cui avevamo scritto il manifesto </a:t>
            </a:r>
            <a:r>
              <a:rPr lang="it-IT" dirty="0" err="1"/>
              <a:t>yaml</a:t>
            </a:r>
            <a:r>
              <a:rPr lang="it-IT" dirty="0"/>
              <a:t> del Deployment. </a:t>
            </a:r>
          </a:p>
        </p:txBody>
      </p:sp>
      <p:sp>
        <p:nvSpPr>
          <p:cNvPr id="4" name="CasellaDiTesto 3">
            <a:extLst>
              <a:ext uri="{FF2B5EF4-FFF2-40B4-BE49-F238E27FC236}">
                <a16:creationId xmlns:a16="http://schemas.microsoft.com/office/drawing/2014/main" id="{AE2EDF85-E025-62CC-A184-C1924D7771B3}"/>
              </a:ext>
            </a:extLst>
          </p:cNvPr>
          <p:cNvSpPr txBox="1"/>
          <p:nvPr/>
        </p:nvSpPr>
        <p:spPr>
          <a:xfrm>
            <a:off x="6345936" y="1321071"/>
            <a:ext cx="6675120" cy="5632311"/>
          </a:xfrm>
          <a:prstGeom prst="rect">
            <a:avLst/>
          </a:prstGeom>
          <a:noFill/>
        </p:spPr>
        <p:txBody>
          <a:bodyPr wrap="square" rtlCol="0">
            <a:spAutoFit/>
          </a:bodyPr>
          <a:lstStyle/>
          <a:p>
            <a:r>
              <a:rPr lang="it-IT" dirty="0" err="1">
                <a:solidFill>
                  <a:srgbClr val="171FE2"/>
                </a:solidFill>
                <a:latin typeface="Consolas" panose="020B0609020204030204" pitchFamily="49" charset="0"/>
              </a:rPr>
              <a:t>apiVersion</a:t>
            </a:r>
            <a:r>
              <a:rPr lang="it-IT" dirty="0">
                <a:solidFill>
                  <a:srgbClr val="171FE2"/>
                </a:solidFill>
                <a:latin typeface="Consolas" panose="020B0609020204030204" pitchFamily="49" charset="0"/>
              </a:rPr>
              <a:t>: apps/v1</a:t>
            </a:r>
          </a:p>
          <a:p>
            <a:r>
              <a:rPr lang="it-IT" dirty="0" err="1">
                <a:solidFill>
                  <a:srgbClr val="171FE2"/>
                </a:solidFill>
                <a:latin typeface="Consolas" panose="020B0609020204030204" pitchFamily="49" charset="0"/>
              </a:rPr>
              <a:t>kind</a:t>
            </a:r>
            <a:r>
              <a:rPr lang="it-IT" dirty="0">
                <a:solidFill>
                  <a:srgbClr val="171FE2"/>
                </a:solidFill>
                <a:latin typeface="Consolas" panose="020B0609020204030204" pitchFamily="49" charset="0"/>
              </a:rPr>
              <a:t>: Deployment</a:t>
            </a:r>
          </a:p>
          <a:p>
            <a:r>
              <a:rPr lang="it-IT" dirty="0">
                <a:solidFill>
                  <a:srgbClr val="171FE2"/>
                </a:solidFill>
                <a:latin typeface="Consolas" panose="020B0609020204030204" pitchFamily="49" charset="0"/>
              </a:rPr>
              <a:t>metadata:</a:t>
            </a:r>
          </a:p>
          <a:p>
            <a:r>
              <a:rPr lang="it-IT" dirty="0">
                <a:solidFill>
                  <a:srgbClr val="171FE2"/>
                </a:solidFill>
                <a:latin typeface="Consolas" panose="020B0609020204030204" pitchFamily="49" charset="0"/>
              </a:rPr>
              <a:t>  name: </a:t>
            </a:r>
            <a:r>
              <a:rPr lang="it-IT" dirty="0" err="1">
                <a:solidFill>
                  <a:srgbClr val="171FE2"/>
                </a:solidFill>
                <a:latin typeface="Consolas" panose="020B0609020204030204" pitchFamily="49" charset="0"/>
              </a:rPr>
              <a:t>backend</a:t>
            </a:r>
            <a:r>
              <a:rPr lang="it-IT" dirty="0">
                <a:solidFill>
                  <a:srgbClr val="171FE2"/>
                </a:solidFill>
                <a:latin typeface="Consolas" panose="020B0609020204030204" pitchFamily="49" charset="0"/>
              </a:rPr>
              <a:t>-deployment</a:t>
            </a:r>
          </a:p>
          <a:p>
            <a:r>
              <a:rPr lang="it-IT" dirty="0" err="1">
                <a:solidFill>
                  <a:srgbClr val="171FE2"/>
                </a:solidFill>
                <a:latin typeface="Consolas" panose="020B0609020204030204" pitchFamily="49" charset="0"/>
              </a:rPr>
              <a:t>spec</a:t>
            </a:r>
            <a:r>
              <a:rPr lang="it-IT" dirty="0">
                <a:solidFill>
                  <a:srgbClr val="171FE2"/>
                </a:solidFill>
                <a:latin typeface="Consolas" panose="020B0609020204030204" pitchFamily="49" charset="0"/>
              </a:rPr>
              <a:t>:</a:t>
            </a:r>
          </a:p>
          <a:p>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replicas</a:t>
            </a:r>
            <a:r>
              <a:rPr lang="it-IT" dirty="0">
                <a:solidFill>
                  <a:srgbClr val="171FE2"/>
                </a:solidFill>
                <a:latin typeface="Consolas" panose="020B0609020204030204" pitchFamily="49" charset="0"/>
              </a:rPr>
              <a:t>: 3</a:t>
            </a:r>
          </a:p>
          <a:p>
            <a:r>
              <a:rPr lang="it-IT" dirty="0">
                <a:solidFill>
                  <a:srgbClr val="171FE2"/>
                </a:solidFill>
                <a:latin typeface="Consolas" panose="020B0609020204030204" pitchFamily="49" charset="0"/>
              </a:rPr>
              <a:t>  selector:</a:t>
            </a:r>
          </a:p>
          <a:p>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matchLabels</a:t>
            </a:r>
            <a:r>
              <a:rPr lang="it-IT" dirty="0">
                <a:solidFill>
                  <a:srgbClr val="171FE2"/>
                </a:solidFill>
                <a:latin typeface="Consolas" panose="020B0609020204030204" pitchFamily="49" charset="0"/>
              </a:rPr>
              <a:t>:</a:t>
            </a:r>
          </a:p>
          <a:p>
            <a:r>
              <a:rPr lang="it-IT" dirty="0">
                <a:solidFill>
                  <a:srgbClr val="171FE2"/>
                </a:solidFill>
                <a:latin typeface="Consolas" panose="020B0609020204030204" pitchFamily="49" charset="0"/>
              </a:rPr>
              <a:t>      app: </a:t>
            </a:r>
            <a:r>
              <a:rPr lang="it-IT" dirty="0" err="1">
                <a:solidFill>
                  <a:srgbClr val="171FE2"/>
                </a:solidFill>
                <a:latin typeface="Consolas" panose="020B0609020204030204" pitchFamily="49" charset="0"/>
              </a:rPr>
              <a:t>backend-enterprise</a:t>
            </a:r>
            <a:endParaRPr lang="it-IT" dirty="0">
              <a:solidFill>
                <a:srgbClr val="171FE2"/>
              </a:solidFill>
              <a:latin typeface="Consolas" panose="020B0609020204030204" pitchFamily="49" charset="0"/>
            </a:endParaRPr>
          </a:p>
          <a:p>
            <a:r>
              <a:rPr lang="it-IT" dirty="0">
                <a:solidFill>
                  <a:srgbClr val="171FE2"/>
                </a:solidFill>
                <a:latin typeface="Consolas" panose="020B0609020204030204" pitchFamily="49" charset="0"/>
              </a:rPr>
              <a:t>  template:</a:t>
            </a:r>
          </a:p>
          <a:p>
            <a:r>
              <a:rPr lang="it-IT" dirty="0">
                <a:solidFill>
                  <a:srgbClr val="171FE2"/>
                </a:solidFill>
                <a:latin typeface="Consolas" panose="020B0609020204030204" pitchFamily="49" charset="0"/>
              </a:rPr>
              <a:t>    metadata:</a:t>
            </a:r>
          </a:p>
          <a:p>
            <a:r>
              <a:rPr lang="it-IT" dirty="0">
                <a:solidFill>
                  <a:srgbClr val="171FE2"/>
                </a:solidFill>
                <a:latin typeface="Consolas" panose="020B0609020204030204" pitchFamily="49" charset="0"/>
              </a:rPr>
              <a:t>      labels:</a:t>
            </a:r>
          </a:p>
          <a:p>
            <a:r>
              <a:rPr lang="it-IT" dirty="0">
                <a:solidFill>
                  <a:srgbClr val="171FE2"/>
                </a:solidFill>
                <a:latin typeface="Consolas" panose="020B0609020204030204" pitchFamily="49" charset="0"/>
              </a:rPr>
              <a:t>        app: </a:t>
            </a:r>
            <a:r>
              <a:rPr lang="it-IT" dirty="0" err="1">
                <a:solidFill>
                  <a:srgbClr val="171FE2"/>
                </a:solidFill>
                <a:latin typeface="Consolas" panose="020B0609020204030204" pitchFamily="49" charset="0"/>
              </a:rPr>
              <a:t>backend-enterprise</a:t>
            </a:r>
            <a:endParaRPr lang="it-IT" dirty="0">
              <a:solidFill>
                <a:srgbClr val="171FE2"/>
              </a:solidFill>
              <a:latin typeface="Consolas" panose="020B0609020204030204" pitchFamily="49" charset="0"/>
            </a:endParaRPr>
          </a:p>
          <a:p>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spec</a:t>
            </a:r>
            <a:r>
              <a:rPr lang="it-IT" dirty="0">
                <a:solidFill>
                  <a:srgbClr val="171FE2"/>
                </a:solidFill>
                <a:latin typeface="Consolas" panose="020B0609020204030204" pitchFamily="49" charset="0"/>
              </a:rPr>
              <a:t>:</a:t>
            </a:r>
          </a:p>
          <a:p>
            <a:r>
              <a:rPr lang="it-IT" dirty="0">
                <a:solidFill>
                  <a:srgbClr val="171FE2"/>
                </a:solidFill>
                <a:latin typeface="Consolas" panose="020B0609020204030204" pitchFamily="49" charset="0"/>
              </a:rPr>
              <a:t>      containers:</a:t>
            </a:r>
          </a:p>
          <a:p>
            <a:r>
              <a:rPr lang="it-IT" dirty="0">
                <a:solidFill>
                  <a:srgbClr val="171FE2"/>
                </a:solidFill>
                <a:latin typeface="Consolas" panose="020B0609020204030204" pitchFamily="49" charset="0"/>
              </a:rPr>
              <a:t>      - name: java-container</a:t>
            </a:r>
          </a:p>
          <a:p>
            <a:r>
              <a:rPr lang="it-IT" dirty="0">
                <a:solidFill>
                  <a:srgbClr val="171FE2"/>
                </a:solidFill>
                <a:latin typeface="Consolas" panose="020B0609020204030204" pitchFamily="49" charset="0"/>
              </a:rPr>
              <a:t>        image: </a:t>
            </a:r>
            <a:r>
              <a:rPr lang="it-IT" dirty="0" err="1">
                <a:solidFill>
                  <a:srgbClr val="171FE2"/>
                </a:solidFill>
                <a:latin typeface="Consolas" panose="020B0609020204030204" pitchFamily="49" charset="0"/>
              </a:rPr>
              <a:t>nginx</a:t>
            </a:r>
            <a:endParaRPr lang="it-IT" dirty="0">
              <a:solidFill>
                <a:srgbClr val="171FE2"/>
              </a:solidFill>
              <a:latin typeface="Consolas" panose="020B0609020204030204" pitchFamily="49" charset="0"/>
            </a:endParaRPr>
          </a:p>
          <a:p>
            <a:r>
              <a:rPr lang="it-IT" dirty="0">
                <a:solidFill>
                  <a:srgbClr val="171FE2"/>
                </a:solidFill>
                <a:latin typeface="Consolas" panose="020B0609020204030204" pitchFamily="49" charset="0"/>
              </a:rPr>
              <a:t>        ports:</a:t>
            </a:r>
          </a:p>
          <a:p>
            <a:r>
              <a:rPr lang="it-IT" dirty="0">
                <a:solidFill>
                  <a:srgbClr val="171FE2"/>
                </a:solidFill>
                <a:latin typeface="Consolas" panose="020B0609020204030204" pitchFamily="49" charset="0"/>
              </a:rPr>
              <a:t>        - </a:t>
            </a:r>
            <a:r>
              <a:rPr lang="it-IT" dirty="0" err="1">
                <a:solidFill>
                  <a:srgbClr val="171FE2"/>
                </a:solidFill>
                <a:latin typeface="Consolas" panose="020B0609020204030204" pitchFamily="49" charset="0"/>
              </a:rPr>
              <a:t>containerPort</a:t>
            </a:r>
            <a:r>
              <a:rPr lang="it-IT" dirty="0">
                <a:solidFill>
                  <a:srgbClr val="171FE2"/>
                </a:solidFill>
                <a:latin typeface="Consolas" panose="020B0609020204030204" pitchFamily="49" charset="0"/>
              </a:rPr>
              <a:t>: 80</a:t>
            </a:r>
          </a:p>
          <a:p>
            <a:endParaRPr lang="it-IT" dirty="0"/>
          </a:p>
        </p:txBody>
      </p:sp>
      <p:sp>
        <p:nvSpPr>
          <p:cNvPr id="5" name="Freccia a destra 4">
            <a:extLst>
              <a:ext uri="{FF2B5EF4-FFF2-40B4-BE49-F238E27FC236}">
                <a16:creationId xmlns:a16="http://schemas.microsoft.com/office/drawing/2014/main" id="{709E8AE6-D970-EB4E-A860-7C7815AECC03}"/>
              </a:ext>
            </a:extLst>
          </p:cNvPr>
          <p:cNvSpPr/>
          <p:nvPr/>
        </p:nvSpPr>
        <p:spPr>
          <a:xfrm>
            <a:off x="4791456" y="5413248"/>
            <a:ext cx="2029968" cy="61354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079750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5C92F-E113-AC8C-3D0F-15D5C0CE9771}"/>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B0206D7B-90C4-DCFD-3E6F-2B1F5B1CA794}"/>
              </a:ext>
            </a:extLst>
          </p:cNvPr>
          <p:cNvSpPr>
            <a:spLocks noGrp="1"/>
          </p:cNvSpPr>
          <p:nvPr>
            <p:ph type="title"/>
          </p:nvPr>
        </p:nvSpPr>
        <p:spPr>
          <a:xfrm>
            <a:off x="838200" y="831206"/>
            <a:ext cx="10515600" cy="314198"/>
          </a:xfrm>
        </p:spPr>
        <p:txBody>
          <a:bodyPr/>
          <a:lstStyle/>
          <a:p>
            <a:r>
              <a:rPr lang="it-IT" dirty="0"/>
              <a:t>SLIDE 11: LAB PRACTICAL – STRUTTURARE E LANCIARE IL SERVICE INTERNO (CLUSTERIP)</a:t>
            </a:r>
          </a:p>
        </p:txBody>
      </p:sp>
      <p:sp>
        <p:nvSpPr>
          <p:cNvPr id="3" name="Contenuto della lezione">
            <a:extLst>
              <a:ext uri="{FF2B5EF4-FFF2-40B4-BE49-F238E27FC236}">
                <a16:creationId xmlns:a16="http://schemas.microsoft.com/office/drawing/2014/main" id="{A3467F23-DF0B-7338-FCD9-DCF39285D4F4}"/>
              </a:ext>
            </a:extLst>
          </p:cNvPr>
          <p:cNvSpPr>
            <a:spLocks noGrp="1"/>
          </p:cNvSpPr>
          <p:nvPr>
            <p:ph idx="1"/>
          </p:nvPr>
        </p:nvSpPr>
        <p:spPr>
          <a:xfrm>
            <a:off x="1317319" y="1735543"/>
            <a:ext cx="9557362" cy="4803369"/>
          </a:xfrm>
        </p:spPr>
        <p:txBody>
          <a:bodyPr/>
          <a:lstStyle/>
          <a:p>
            <a:r>
              <a:rPr lang="it-IT" dirty="0"/>
              <a:t>Creiamo un nuovo file di testo </a:t>
            </a:r>
            <a:r>
              <a:rPr lang="it-IT" b="1" dirty="0"/>
              <a:t>service-</a:t>
            </a:r>
            <a:r>
              <a:rPr lang="it-IT" b="1" dirty="0" err="1"/>
              <a:t>backend.yaml</a:t>
            </a:r>
            <a:r>
              <a:rPr lang="it-IT" dirty="0"/>
              <a:t>. </a:t>
            </a:r>
          </a:p>
          <a:p>
            <a:r>
              <a:rPr lang="it-IT" dirty="0"/>
              <a:t>Digitate al suo interno le seguenti righe di codice, facendo estrema attenzione a mantenere l'allineamento dei trattini nella sezione delle porte:</a:t>
            </a:r>
          </a:p>
          <a:p>
            <a:r>
              <a:rPr lang="en-US" sz="1600" dirty="0" err="1">
                <a:solidFill>
                  <a:srgbClr val="171FE2"/>
                </a:solidFill>
                <a:latin typeface="Consolas" panose="020B0609020204030204" pitchFamily="49" charset="0"/>
              </a:rPr>
              <a:t>apiVersion</a:t>
            </a:r>
            <a:r>
              <a:rPr lang="en-US" sz="1600" dirty="0">
                <a:solidFill>
                  <a:srgbClr val="171FE2"/>
                </a:solidFill>
                <a:latin typeface="Consolas" panose="020B0609020204030204" pitchFamily="49" charset="0"/>
              </a:rPr>
              <a:t>: v1</a:t>
            </a:r>
          </a:p>
          <a:p>
            <a:r>
              <a:rPr lang="en-US" sz="1600" dirty="0">
                <a:solidFill>
                  <a:srgbClr val="171FE2"/>
                </a:solidFill>
                <a:latin typeface="Consolas" panose="020B0609020204030204" pitchFamily="49" charset="0"/>
              </a:rPr>
              <a:t>kind: Service</a:t>
            </a:r>
          </a:p>
          <a:p>
            <a:r>
              <a:rPr lang="en-US" sz="1600" dirty="0">
                <a:solidFill>
                  <a:srgbClr val="171FE2"/>
                </a:solidFill>
                <a:latin typeface="Consolas" panose="020B0609020204030204" pitchFamily="49" charset="0"/>
              </a:rPr>
              <a:t>metadata:</a:t>
            </a:r>
          </a:p>
          <a:p>
            <a:r>
              <a:rPr lang="en-US" sz="1600" dirty="0">
                <a:solidFill>
                  <a:srgbClr val="171FE2"/>
                </a:solidFill>
                <a:latin typeface="Consolas" panose="020B0609020204030204" pitchFamily="49" charset="0"/>
              </a:rPr>
              <a:t>  name: backend-service</a:t>
            </a:r>
          </a:p>
          <a:p>
            <a:r>
              <a:rPr lang="en-US" sz="1600" dirty="0">
                <a:solidFill>
                  <a:srgbClr val="171FE2"/>
                </a:solidFill>
                <a:latin typeface="Consolas" panose="020B0609020204030204" pitchFamily="49" charset="0"/>
              </a:rPr>
              <a:t>spec:</a:t>
            </a:r>
          </a:p>
          <a:p>
            <a:r>
              <a:rPr lang="en-US" sz="1600" dirty="0">
                <a:solidFill>
                  <a:srgbClr val="171FE2"/>
                </a:solidFill>
                <a:latin typeface="Consolas" panose="020B0609020204030204" pitchFamily="49" charset="0"/>
              </a:rPr>
              <a:t>  type: </a:t>
            </a:r>
            <a:r>
              <a:rPr lang="en-US" sz="1600" dirty="0" err="1">
                <a:solidFill>
                  <a:srgbClr val="171FE2"/>
                </a:solidFill>
                <a:latin typeface="Consolas" panose="020B0609020204030204" pitchFamily="49" charset="0"/>
              </a:rPr>
              <a:t>ClusterIP</a:t>
            </a:r>
            <a:endParaRPr lang="en-US" sz="1600" dirty="0">
              <a:solidFill>
                <a:srgbClr val="171FE2"/>
              </a:solidFill>
              <a:latin typeface="Consolas" panose="020B0609020204030204" pitchFamily="49" charset="0"/>
            </a:endParaRPr>
          </a:p>
          <a:p>
            <a:r>
              <a:rPr lang="en-US" sz="1600" dirty="0">
                <a:solidFill>
                  <a:srgbClr val="171FE2"/>
                </a:solidFill>
                <a:latin typeface="Consolas" panose="020B0609020204030204" pitchFamily="49" charset="0"/>
              </a:rPr>
              <a:t>  selector:</a:t>
            </a:r>
          </a:p>
          <a:p>
            <a:r>
              <a:rPr lang="en-US" sz="1600" dirty="0">
                <a:solidFill>
                  <a:srgbClr val="171FE2"/>
                </a:solidFill>
                <a:latin typeface="Consolas" panose="020B0609020204030204" pitchFamily="49" charset="0"/>
              </a:rPr>
              <a:t>    app: backend-enterprise</a:t>
            </a:r>
          </a:p>
          <a:p>
            <a:r>
              <a:rPr lang="en-US" sz="1600" dirty="0">
                <a:solidFill>
                  <a:srgbClr val="171FE2"/>
                </a:solidFill>
                <a:latin typeface="Consolas" panose="020B0609020204030204" pitchFamily="49" charset="0"/>
              </a:rPr>
              <a:t>  ports:</a:t>
            </a:r>
          </a:p>
          <a:p>
            <a:r>
              <a:rPr lang="en-US" sz="1600" dirty="0">
                <a:solidFill>
                  <a:srgbClr val="171FE2"/>
                </a:solidFill>
                <a:latin typeface="Consolas" panose="020B0609020204030204" pitchFamily="49" charset="0"/>
              </a:rPr>
              <a:t>  - port: 80</a:t>
            </a:r>
          </a:p>
          <a:p>
            <a:r>
              <a:rPr lang="en-US" sz="1600" dirty="0">
                <a:solidFill>
                  <a:srgbClr val="171FE2"/>
                </a:solidFill>
                <a:latin typeface="Consolas" panose="020B0609020204030204" pitchFamily="49" charset="0"/>
              </a:rPr>
              <a:t>    </a:t>
            </a:r>
            <a:r>
              <a:rPr lang="en-US" sz="1600" dirty="0" err="1">
                <a:solidFill>
                  <a:srgbClr val="171FE2"/>
                </a:solidFill>
                <a:latin typeface="Consolas" panose="020B0609020204030204" pitchFamily="49" charset="0"/>
              </a:rPr>
              <a:t>targetPort</a:t>
            </a:r>
            <a:r>
              <a:rPr lang="en-US" sz="1600" dirty="0">
                <a:solidFill>
                  <a:srgbClr val="171FE2"/>
                </a:solidFill>
                <a:latin typeface="Consolas" panose="020B0609020204030204" pitchFamily="49" charset="0"/>
              </a:rPr>
              <a:t>: 80</a:t>
            </a:r>
            <a:endParaRPr lang="it-IT" sz="1600" dirty="0">
              <a:solidFill>
                <a:srgbClr val="171FE2"/>
              </a:solidFill>
              <a:latin typeface="Consolas" panose="020B0609020204030204" pitchFamily="49" charset="0"/>
            </a:endParaRPr>
          </a:p>
        </p:txBody>
      </p:sp>
    </p:spTree>
    <p:extLst>
      <p:ext uri="{BB962C8B-B14F-4D97-AF65-F5344CB8AC3E}">
        <p14:creationId xmlns:p14="http://schemas.microsoft.com/office/powerpoint/2010/main" val="1448090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0C2F9-D88E-480E-9841-E007BE82FDE3}"/>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A8935862-703D-A121-2050-4D399373D527}"/>
              </a:ext>
            </a:extLst>
          </p:cNvPr>
          <p:cNvSpPr>
            <a:spLocks noGrp="1"/>
          </p:cNvSpPr>
          <p:nvPr>
            <p:ph type="title"/>
          </p:nvPr>
        </p:nvSpPr>
        <p:spPr>
          <a:xfrm>
            <a:off x="838200" y="831206"/>
            <a:ext cx="10515600" cy="314198"/>
          </a:xfrm>
        </p:spPr>
        <p:txBody>
          <a:bodyPr/>
          <a:lstStyle/>
          <a:p>
            <a:r>
              <a:rPr lang="it-IT" dirty="0"/>
              <a:t>SLIDE 12: LAB PRACTICAL – STRUTTURARE E LANCIARE IL SERVICE INTERNO (CLUSTERIP)</a:t>
            </a:r>
          </a:p>
        </p:txBody>
      </p:sp>
      <p:sp>
        <p:nvSpPr>
          <p:cNvPr id="3" name="Contenuto della lezione">
            <a:extLst>
              <a:ext uri="{FF2B5EF4-FFF2-40B4-BE49-F238E27FC236}">
                <a16:creationId xmlns:a16="http://schemas.microsoft.com/office/drawing/2014/main" id="{61DDC53E-00E6-55BA-517D-DCFF7593EBD8}"/>
              </a:ext>
            </a:extLst>
          </p:cNvPr>
          <p:cNvSpPr>
            <a:spLocks noGrp="1"/>
          </p:cNvSpPr>
          <p:nvPr>
            <p:ph idx="1"/>
          </p:nvPr>
        </p:nvSpPr>
        <p:spPr>
          <a:xfrm>
            <a:off x="1317319" y="1735543"/>
            <a:ext cx="9557362" cy="4803369"/>
          </a:xfrm>
        </p:spPr>
        <p:txBody>
          <a:bodyPr/>
          <a:lstStyle/>
          <a:p>
            <a:r>
              <a:rPr lang="it-IT" dirty="0"/>
              <a:t>Da terminale, nella cartella corretta, eseguiamo il comando per applicare la configurazione di rete al cluster:</a:t>
            </a:r>
          </a:p>
          <a:p>
            <a:r>
              <a:rPr lang="en-US" sz="1600" dirty="0" err="1">
                <a:solidFill>
                  <a:srgbClr val="171FE2"/>
                </a:solidFill>
                <a:latin typeface="Consolas" panose="020B0609020204030204" pitchFamily="49" charset="0"/>
              </a:rPr>
              <a:t>kubectl</a:t>
            </a:r>
            <a:r>
              <a:rPr lang="en-US" sz="1600" dirty="0">
                <a:solidFill>
                  <a:srgbClr val="171FE2"/>
                </a:solidFill>
                <a:latin typeface="Consolas" panose="020B0609020204030204" pitchFamily="49" charset="0"/>
              </a:rPr>
              <a:t> apply -f service-</a:t>
            </a:r>
            <a:r>
              <a:rPr lang="en-US" sz="1600" dirty="0" err="1">
                <a:solidFill>
                  <a:srgbClr val="171FE2"/>
                </a:solidFill>
                <a:latin typeface="Consolas" panose="020B0609020204030204" pitchFamily="49" charset="0"/>
              </a:rPr>
              <a:t>backend.yaml</a:t>
            </a:r>
            <a:endParaRPr lang="en-US" sz="1600" dirty="0">
              <a:solidFill>
                <a:srgbClr val="171FE2"/>
              </a:solidFill>
              <a:latin typeface="Consolas" panose="020B0609020204030204" pitchFamily="49" charset="0"/>
            </a:endParaRPr>
          </a:p>
          <a:p>
            <a:r>
              <a:rPr lang="it-IT" sz="1600" dirty="0"/>
              <a:t>Il sistema vi risponderà confermando il </a:t>
            </a:r>
            <a:r>
              <a:rPr lang="it-IT" sz="1600" dirty="0" err="1"/>
              <a:t>deploy</a:t>
            </a:r>
            <a:r>
              <a:rPr lang="it-IT" sz="1600" dirty="0"/>
              <a:t>: </a:t>
            </a:r>
            <a:r>
              <a:rPr lang="it-IT" dirty="0">
                <a:solidFill>
                  <a:srgbClr val="171FE2"/>
                </a:solidFill>
              </a:rPr>
              <a:t>service/</a:t>
            </a:r>
            <a:r>
              <a:rPr lang="it-IT" dirty="0" err="1">
                <a:solidFill>
                  <a:srgbClr val="171FE2"/>
                </a:solidFill>
              </a:rPr>
              <a:t>backend</a:t>
            </a:r>
            <a:r>
              <a:rPr lang="it-IT" dirty="0">
                <a:solidFill>
                  <a:srgbClr val="171FE2"/>
                </a:solidFill>
              </a:rPr>
              <a:t>-service </a:t>
            </a:r>
            <a:r>
              <a:rPr lang="it-IT" dirty="0" err="1">
                <a:solidFill>
                  <a:srgbClr val="171FE2"/>
                </a:solidFill>
              </a:rPr>
              <a:t>created</a:t>
            </a:r>
            <a:r>
              <a:rPr lang="it-IT" sz="1600" dirty="0"/>
              <a:t>. </a:t>
            </a:r>
          </a:p>
          <a:p>
            <a:r>
              <a:rPr lang="it-IT" sz="1600" dirty="0"/>
              <a:t>Per ispezionare la rete virtuale appena nata e scoprire l'IP statico interno che </a:t>
            </a:r>
            <a:r>
              <a:rPr lang="it-IT" sz="1600" dirty="0" err="1"/>
              <a:t>Kubernetes</a:t>
            </a:r>
            <a:r>
              <a:rPr lang="it-IT" sz="1600" dirty="0"/>
              <a:t> ha associato al servizio, lanciamo il comando di controllo:</a:t>
            </a:r>
          </a:p>
          <a:p>
            <a:r>
              <a:rPr lang="it-IT" sz="1600" dirty="0" err="1">
                <a:solidFill>
                  <a:srgbClr val="171FE2"/>
                </a:solidFill>
                <a:latin typeface="Consolas" panose="020B0609020204030204" pitchFamily="49" charset="0"/>
              </a:rPr>
              <a:t>kubectl</a:t>
            </a:r>
            <a:r>
              <a:rPr lang="it-IT" sz="1600" dirty="0">
                <a:solidFill>
                  <a:srgbClr val="171FE2"/>
                </a:solidFill>
                <a:latin typeface="Consolas" panose="020B0609020204030204" pitchFamily="49" charset="0"/>
              </a:rPr>
              <a:t> </a:t>
            </a:r>
            <a:r>
              <a:rPr lang="it-IT" sz="1600" dirty="0" err="1">
                <a:solidFill>
                  <a:srgbClr val="171FE2"/>
                </a:solidFill>
                <a:latin typeface="Consolas" panose="020B0609020204030204" pitchFamily="49" charset="0"/>
              </a:rPr>
              <a:t>get</a:t>
            </a:r>
            <a:r>
              <a:rPr lang="it-IT" sz="1600" dirty="0">
                <a:solidFill>
                  <a:srgbClr val="171FE2"/>
                </a:solidFill>
                <a:latin typeface="Consolas" panose="020B0609020204030204" pitchFamily="49" charset="0"/>
              </a:rPr>
              <a:t> services </a:t>
            </a:r>
            <a:r>
              <a:rPr lang="it-IT" sz="1600" dirty="0"/>
              <a:t>(o la versione abbreviata </a:t>
            </a:r>
            <a:r>
              <a:rPr lang="it-IT" sz="1600" dirty="0" err="1">
                <a:solidFill>
                  <a:srgbClr val="171FE2"/>
                </a:solidFill>
                <a:latin typeface="Consolas" panose="020B0609020204030204" pitchFamily="49" charset="0"/>
              </a:rPr>
              <a:t>kubectl</a:t>
            </a:r>
            <a:r>
              <a:rPr lang="it-IT" sz="1600" dirty="0">
                <a:solidFill>
                  <a:srgbClr val="171FE2"/>
                </a:solidFill>
                <a:latin typeface="Consolas" panose="020B0609020204030204" pitchFamily="49" charset="0"/>
              </a:rPr>
              <a:t> </a:t>
            </a:r>
            <a:r>
              <a:rPr lang="it-IT" sz="1600" dirty="0" err="1">
                <a:solidFill>
                  <a:srgbClr val="171FE2"/>
                </a:solidFill>
                <a:latin typeface="Consolas" panose="020B0609020204030204" pitchFamily="49" charset="0"/>
              </a:rPr>
              <a:t>get</a:t>
            </a:r>
            <a:r>
              <a:rPr lang="it-IT" sz="1600" dirty="0">
                <a:solidFill>
                  <a:srgbClr val="171FE2"/>
                </a:solidFill>
                <a:latin typeface="Consolas" panose="020B0609020204030204" pitchFamily="49" charset="0"/>
              </a:rPr>
              <a:t> </a:t>
            </a:r>
            <a:r>
              <a:rPr lang="it-IT" sz="1600" dirty="0" err="1">
                <a:solidFill>
                  <a:srgbClr val="171FE2"/>
                </a:solidFill>
                <a:latin typeface="Consolas" panose="020B0609020204030204" pitchFamily="49" charset="0"/>
              </a:rPr>
              <a:t>svc</a:t>
            </a:r>
            <a:r>
              <a:rPr lang="it-IT" sz="1600" dirty="0"/>
              <a:t>)</a:t>
            </a:r>
            <a:endParaRPr lang="it-IT" sz="1600" dirty="0">
              <a:solidFill>
                <a:srgbClr val="171FE2"/>
              </a:solidFill>
              <a:latin typeface="Consolas" panose="020B0609020204030204" pitchFamily="49" charset="0"/>
            </a:endParaRPr>
          </a:p>
          <a:p>
            <a:endParaRPr lang="it-IT" sz="1600" dirty="0">
              <a:solidFill>
                <a:srgbClr val="171FE2"/>
              </a:solidFill>
              <a:latin typeface="Consolas" panose="020B0609020204030204" pitchFamily="49" charset="0"/>
            </a:endParaRPr>
          </a:p>
          <a:p>
            <a:endParaRPr lang="it-IT" sz="1600" dirty="0">
              <a:solidFill>
                <a:srgbClr val="171FE2"/>
              </a:solidFill>
              <a:latin typeface="Consolas" panose="020B0609020204030204" pitchFamily="49" charset="0"/>
            </a:endParaRPr>
          </a:p>
          <a:p>
            <a:r>
              <a:rPr lang="it-IT" sz="1600" dirty="0"/>
              <a:t>Da questo preciso istante, qualunque componente all'interno del cluster potrà contattare il </a:t>
            </a:r>
            <a:r>
              <a:rPr lang="it-IT" sz="1600" dirty="0" err="1"/>
              <a:t>backend</a:t>
            </a:r>
            <a:r>
              <a:rPr lang="it-IT" sz="1600" dirty="0"/>
              <a:t> digitando quell'IP oppure, ancora meglio, digitando semplicemente il nome del testo: </a:t>
            </a:r>
            <a:r>
              <a:rPr lang="it-IT" dirty="0"/>
              <a:t>http://backend-service</a:t>
            </a:r>
            <a:r>
              <a:rPr lang="it-IT" sz="1600" dirty="0"/>
              <a:t>. </a:t>
            </a:r>
          </a:p>
          <a:p>
            <a:r>
              <a:rPr lang="it-IT" sz="1600" dirty="0" err="1">
                <a:solidFill>
                  <a:srgbClr val="171FE2"/>
                </a:solidFill>
              </a:rPr>
              <a:t>Kubernetes</a:t>
            </a:r>
            <a:r>
              <a:rPr lang="it-IT" sz="1600" dirty="0">
                <a:solidFill>
                  <a:srgbClr val="171FE2"/>
                </a:solidFill>
              </a:rPr>
              <a:t> include un server DNS interno che traduce automaticamente il nome del Service nel suo IP.</a:t>
            </a:r>
          </a:p>
          <a:p>
            <a:r>
              <a:rPr lang="it-IT" sz="1600" dirty="0"/>
              <a:t>Il servizio chiamato </a:t>
            </a:r>
            <a:r>
              <a:rPr lang="it-IT" dirty="0" err="1"/>
              <a:t>kubernetes</a:t>
            </a:r>
            <a:r>
              <a:rPr lang="it-IT" sz="1600" dirty="0"/>
              <a:t> preinstallato di fabbrica è il Service interno che </a:t>
            </a:r>
            <a:r>
              <a:rPr lang="it-IT" sz="1600" dirty="0" err="1"/>
              <a:t>Kubernetes</a:t>
            </a:r>
            <a:r>
              <a:rPr lang="it-IT" sz="1600" dirty="0"/>
              <a:t> usa per far parlare i componenti operai con l'API Server del Control </a:t>
            </a:r>
            <a:r>
              <a:rPr lang="it-IT" sz="1600" dirty="0" err="1"/>
              <a:t>Plane</a:t>
            </a:r>
            <a:r>
              <a:rPr lang="it-IT" sz="1600" dirty="0"/>
              <a:t>. </a:t>
            </a:r>
            <a:r>
              <a:rPr lang="it-IT" sz="1600" b="1" dirty="0"/>
              <a:t>Mai cancellarlo!</a:t>
            </a:r>
          </a:p>
          <a:p>
            <a:endParaRPr lang="it-IT" sz="1600" dirty="0">
              <a:solidFill>
                <a:srgbClr val="171FE2"/>
              </a:solidFill>
              <a:latin typeface="Consolas" panose="020B0609020204030204" pitchFamily="49" charset="0"/>
            </a:endParaRPr>
          </a:p>
          <a:p>
            <a:endParaRPr lang="it-IT" sz="1600" dirty="0">
              <a:solidFill>
                <a:srgbClr val="171FE2"/>
              </a:solidFill>
              <a:latin typeface="Consolas" panose="020B0609020204030204" pitchFamily="49" charset="0"/>
            </a:endParaRPr>
          </a:p>
        </p:txBody>
      </p:sp>
      <p:pic>
        <p:nvPicPr>
          <p:cNvPr id="5" name="Immagine 4">
            <a:extLst>
              <a:ext uri="{FF2B5EF4-FFF2-40B4-BE49-F238E27FC236}">
                <a16:creationId xmlns:a16="http://schemas.microsoft.com/office/drawing/2014/main" id="{083ED6A4-6CFC-AA5A-EE23-29BBDC0064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0746" y="3997218"/>
            <a:ext cx="5458587" cy="619211"/>
          </a:xfrm>
          <a:prstGeom prst="rect">
            <a:avLst/>
          </a:prstGeom>
        </p:spPr>
      </p:pic>
    </p:spTree>
    <p:extLst>
      <p:ext uri="{BB962C8B-B14F-4D97-AF65-F5344CB8AC3E}">
        <p14:creationId xmlns:p14="http://schemas.microsoft.com/office/powerpoint/2010/main" val="2867256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8F37E-B086-60D7-F8FC-3770EA56AA76}"/>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B6E67201-7329-DF79-0542-A15D7AEBE84E}"/>
              </a:ext>
            </a:extLst>
          </p:cNvPr>
          <p:cNvSpPr>
            <a:spLocks noGrp="1"/>
          </p:cNvSpPr>
          <p:nvPr>
            <p:ph type="title"/>
          </p:nvPr>
        </p:nvSpPr>
        <p:spPr>
          <a:xfrm>
            <a:off x="838200" y="831206"/>
            <a:ext cx="10515600" cy="314198"/>
          </a:xfrm>
        </p:spPr>
        <p:txBody>
          <a:bodyPr/>
          <a:lstStyle/>
          <a:p>
            <a:r>
              <a:rPr lang="it-IT" dirty="0"/>
              <a:t>SLIDE 13: LAB PRACTICAL – ESPORRE L'APPLICAZIONE ALL'ESTERNO CON UN SERVICE NODEPORT</a:t>
            </a:r>
          </a:p>
        </p:txBody>
      </p:sp>
      <p:sp>
        <p:nvSpPr>
          <p:cNvPr id="3" name="Contenuto della lezione">
            <a:extLst>
              <a:ext uri="{FF2B5EF4-FFF2-40B4-BE49-F238E27FC236}">
                <a16:creationId xmlns:a16="http://schemas.microsoft.com/office/drawing/2014/main" id="{44E4DDD7-970F-A453-E06D-7E7A25FCFADC}"/>
              </a:ext>
            </a:extLst>
          </p:cNvPr>
          <p:cNvSpPr>
            <a:spLocks noGrp="1"/>
          </p:cNvSpPr>
          <p:nvPr>
            <p:ph idx="1"/>
          </p:nvPr>
        </p:nvSpPr>
        <p:spPr>
          <a:xfrm>
            <a:off x="1317319" y="1525993"/>
            <a:ext cx="4580561" cy="4803369"/>
          </a:xfrm>
        </p:spPr>
        <p:txBody>
          <a:bodyPr/>
          <a:lstStyle/>
          <a:p>
            <a:r>
              <a:rPr lang="it-IT" dirty="0"/>
              <a:t>Il nostro </a:t>
            </a:r>
            <a:r>
              <a:rPr lang="it-IT" dirty="0" err="1"/>
              <a:t>backend</a:t>
            </a:r>
            <a:r>
              <a:rPr lang="it-IT" dirty="0"/>
              <a:t> è blindato dentro il cluster grazie al tipo </a:t>
            </a:r>
            <a:r>
              <a:rPr lang="it-IT" dirty="0" err="1"/>
              <a:t>ClusterIP</a:t>
            </a:r>
            <a:r>
              <a:rPr lang="it-IT" dirty="0"/>
              <a:t>. </a:t>
            </a:r>
          </a:p>
          <a:p>
            <a:r>
              <a:rPr lang="it-IT" dirty="0"/>
              <a:t>Per raggiungerlo dal browser, senza scalare su un cloud a pagamento, trasformeremo il nostro Service in un tipo </a:t>
            </a:r>
            <a:r>
              <a:rPr lang="it-IT" b="1" dirty="0" err="1"/>
              <a:t>NodePort</a:t>
            </a:r>
            <a:r>
              <a:rPr lang="it-IT" dirty="0"/>
              <a:t>, costringendo </a:t>
            </a:r>
            <a:r>
              <a:rPr lang="it-IT" dirty="0" err="1"/>
              <a:t>Kubernetes</a:t>
            </a:r>
            <a:r>
              <a:rPr lang="it-IT" dirty="0"/>
              <a:t> ad aprire una porta reale sul nostro computer.</a:t>
            </a:r>
          </a:p>
          <a:p>
            <a:r>
              <a:rPr lang="it-IT" dirty="0"/>
              <a:t>Torniamo sul file service-</a:t>
            </a:r>
            <a:r>
              <a:rPr lang="it-IT" dirty="0" err="1"/>
              <a:t>backend.yaml</a:t>
            </a:r>
            <a:r>
              <a:rPr lang="it-IT" dirty="0"/>
              <a:t>.</a:t>
            </a:r>
          </a:p>
          <a:p>
            <a:r>
              <a:rPr lang="it-IT" dirty="0"/>
              <a:t>Alla voce </a:t>
            </a:r>
            <a:r>
              <a:rPr lang="it-IT" dirty="0" err="1"/>
              <a:t>type</a:t>
            </a:r>
            <a:r>
              <a:rPr lang="it-IT" dirty="0"/>
              <a:t>: cambiamo la parola da </a:t>
            </a:r>
            <a:r>
              <a:rPr lang="it-IT" dirty="0" err="1"/>
              <a:t>ClusterIP</a:t>
            </a:r>
            <a:r>
              <a:rPr lang="it-IT" dirty="0"/>
              <a:t> a </a:t>
            </a:r>
            <a:r>
              <a:rPr lang="it-IT" b="1" dirty="0" err="1"/>
              <a:t>NodePort</a:t>
            </a:r>
            <a:r>
              <a:rPr lang="it-IT" dirty="0"/>
              <a:t>. </a:t>
            </a:r>
          </a:p>
          <a:p>
            <a:r>
              <a:rPr lang="it-IT" dirty="0"/>
              <a:t>Subito sotto, nella sezione delle porte, andiamo ad aggiungere una nuova riga indicando esplicitamente quale porta vogliamo aprire su Windows, scrivendo </a:t>
            </a:r>
            <a:r>
              <a:rPr lang="it-IT" dirty="0" err="1"/>
              <a:t>nodePort</a:t>
            </a:r>
            <a:r>
              <a:rPr lang="it-IT" dirty="0"/>
              <a:t>: 32000. </a:t>
            </a:r>
          </a:p>
          <a:p>
            <a:r>
              <a:rPr lang="it-IT" dirty="0"/>
              <a:t>Rilanciamo: </a:t>
            </a:r>
          </a:p>
          <a:p>
            <a:r>
              <a:rPr lang="en-US" sz="1600" dirty="0" err="1">
                <a:solidFill>
                  <a:srgbClr val="171FE2"/>
                </a:solidFill>
                <a:latin typeface="Consolas" panose="020B0609020204030204" pitchFamily="49" charset="0"/>
              </a:rPr>
              <a:t>kubectl</a:t>
            </a:r>
            <a:r>
              <a:rPr lang="en-US" sz="1600" dirty="0">
                <a:solidFill>
                  <a:srgbClr val="171FE2"/>
                </a:solidFill>
                <a:latin typeface="Consolas" panose="020B0609020204030204" pitchFamily="49" charset="0"/>
              </a:rPr>
              <a:t> apply -f service-</a:t>
            </a:r>
            <a:r>
              <a:rPr lang="en-US" sz="1600" dirty="0" err="1">
                <a:solidFill>
                  <a:srgbClr val="171FE2"/>
                </a:solidFill>
                <a:latin typeface="Consolas" panose="020B0609020204030204" pitchFamily="49" charset="0"/>
              </a:rPr>
              <a:t>backend.yaml</a:t>
            </a:r>
            <a:endParaRPr lang="it-IT" sz="1600" dirty="0">
              <a:solidFill>
                <a:srgbClr val="171FE2"/>
              </a:solidFill>
              <a:latin typeface="Consolas" panose="020B0609020204030204" pitchFamily="49" charset="0"/>
            </a:endParaRPr>
          </a:p>
          <a:p>
            <a:endParaRPr lang="it-IT" dirty="0"/>
          </a:p>
          <a:p>
            <a:endParaRPr lang="it-IT" sz="1600" dirty="0">
              <a:solidFill>
                <a:srgbClr val="171FE2"/>
              </a:solidFill>
              <a:latin typeface="Consolas" panose="020B0609020204030204" pitchFamily="49" charset="0"/>
            </a:endParaRPr>
          </a:p>
          <a:p>
            <a:endParaRPr lang="it-IT" sz="1600" dirty="0">
              <a:solidFill>
                <a:srgbClr val="171FE2"/>
              </a:solidFill>
              <a:latin typeface="Consolas" panose="020B0609020204030204" pitchFamily="49" charset="0"/>
            </a:endParaRPr>
          </a:p>
        </p:txBody>
      </p:sp>
      <p:sp>
        <p:nvSpPr>
          <p:cNvPr id="4" name="CasellaDiTesto 3">
            <a:extLst>
              <a:ext uri="{FF2B5EF4-FFF2-40B4-BE49-F238E27FC236}">
                <a16:creationId xmlns:a16="http://schemas.microsoft.com/office/drawing/2014/main" id="{3692B26A-E144-281B-1FF5-B77F5D1D3AE1}"/>
              </a:ext>
            </a:extLst>
          </p:cNvPr>
          <p:cNvSpPr txBox="1"/>
          <p:nvPr/>
        </p:nvSpPr>
        <p:spPr>
          <a:xfrm>
            <a:off x="6516116" y="1760943"/>
            <a:ext cx="5485384" cy="4162165"/>
          </a:xfrm>
          <a:prstGeom prst="rect">
            <a:avLst/>
          </a:prstGeom>
          <a:noFill/>
        </p:spPr>
        <p:txBody>
          <a:bodyPr wrap="square" rtlCol="0">
            <a:spAutoFit/>
          </a:bodyPr>
          <a:lstStyle/>
          <a:p>
            <a:pPr>
              <a:lnSpc>
                <a:spcPct val="90000"/>
              </a:lnSpc>
              <a:spcBef>
                <a:spcPts val="1000"/>
              </a:spcBef>
            </a:pPr>
            <a:r>
              <a:rPr lang="it-IT" sz="1600" dirty="0" err="1">
                <a:solidFill>
                  <a:srgbClr val="171FE2"/>
                </a:solidFill>
                <a:latin typeface="Consolas" panose="020B0609020204030204" pitchFamily="49" charset="0"/>
              </a:rPr>
              <a:t>apiVersion</a:t>
            </a:r>
            <a:r>
              <a:rPr lang="it-IT" sz="1600" dirty="0">
                <a:solidFill>
                  <a:srgbClr val="171FE2"/>
                </a:solidFill>
                <a:latin typeface="Consolas" panose="020B0609020204030204" pitchFamily="49" charset="0"/>
              </a:rPr>
              <a:t>: v1</a:t>
            </a:r>
          </a:p>
          <a:p>
            <a:pPr>
              <a:lnSpc>
                <a:spcPct val="90000"/>
              </a:lnSpc>
              <a:spcBef>
                <a:spcPts val="1000"/>
              </a:spcBef>
            </a:pPr>
            <a:r>
              <a:rPr lang="it-IT" sz="1600" dirty="0" err="1">
                <a:solidFill>
                  <a:srgbClr val="171FE2"/>
                </a:solidFill>
                <a:latin typeface="Consolas" panose="020B0609020204030204" pitchFamily="49" charset="0"/>
              </a:rPr>
              <a:t>kind</a:t>
            </a:r>
            <a:r>
              <a:rPr lang="it-IT" sz="1600" dirty="0">
                <a:solidFill>
                  <a:srgbClr val="171FE2"/>
                </a:solidFill>
                <a:latin typeface="Consolas" panose="020B0609020204030204" pitchFamily="49" charset="0"/>
              </a:rPr>
              <a:t>: Service</a:t>
            </a:r>
          </a:p>
          <a:p>
            <a:pPr>
              <a:lnSpc>
                <a:spcPct val="90000"/>
              </a:lnSpc>
              <a:spcBef>
                <a:spcPts val="1000"/>
              </a:spcBef>
            </a:pPr>
            <a:r>
              <a:rPr lang="it-IT" sz="1600" dirty="0">
                <a:solidFill>
                  <a:srgbClr val="171FE2"/>
                </a:solidFill>
                <a:latin typeface="Consolas" panose="020B0609020204030204" pitchFamily="49" charset="0"/>
              </a:rPr>
              <a:t>metadata:</a:t>
            </a:r>
          </a:p>
          <a:p>
            <a:pPr>
              <a:lnSpc>
                <a:spcPct val="90000"/>
              </a:lnSpc>
              <a:spcBef>
                <a:spcPts val="1000"/>
              </a:spcBef>
            </a:pPr>
            <a:r>
              <a:rPr lang="it-IT" sz="1600" dirty="0">
                <a:solidFill>
                  <a:srgbClr val="171FE2"/>
                </a:solidFill>
                <a:latin typeface="Consolas" panose="020B0609020204030204" pitchFamily="49" charset="0"/>
              </a:rPr>
              <a:t>  name: </a:t>
            </a:r>
            <a:r>
              <a:rPr lang="it-IT" sz="1600" dirty="0" err="1">
                <a:solidFill>
                  <a:srgbClr val="171FE2"/>
                </a:solidFill>
                <a:latin typeface="Consolas" panose="020B0609020204030204" pitchFamily="49" charset="0"/>
              </a:rPr>
              <a:t>backend</a:t>
            </a:r>
            <a:r>
              <a:rPr lang="it-IT" sz="1600" dirty="0">
                <a:solidFill>
                  <a:srgbClr val="171FE2"/>
                </a:solidFill>
                <a:latin typeface="Consolas" panose="020B0609020204030204" pitchFamily="49" charset="0"/>
              </a:rPr>
              <a:t>-service</a:t>
            </a:r>
          </a:p>
          <a:p>
            <a:pPr>
              <a:lnSpc>
                <a:spcPct val="90000"/>
              </a:lnSpc>
              <a:spcBef>
                <a:spcPts val="1000"/>
              </a:spcBef>
            </a:pPr>
            <a:r>
              <a:rPr lang="it-IT" sz="1600" dirty="0" err="1">
                <a:solidFill>
                  <a:srgbClr val="171FE2"/>
                </a:solidFill>
                <a:latin typeface="Consolas" panose="020B0609020204030204" pitchFamily="49" charset="0"/>
              </a:rPr>
              <a:t>spec</a:t>
            </a:r>
            <a:r>
              <a:rPr lang="it-IT" sz="1600" dirty="0">
                <a:solidFill>
                  <a:srgbClr val="171FE2"/>
                </a:solidFill>
                <a:latin typeface="Consolas" panose="020B0609020204030204" pitchFamily="49" charset="0"/>
              </a:rPr>
              <a:t>:</a:t>
            </a:r>
          </a:p>
          <a:p>
            <a:pPr>
              <a:lnSpc>
                <a:spcPct val="90000"/>
              </a:lnSpc>
              <a:spcBef>
                <a:spcPts val="1000"/>
              </a:spcBef>
            </a:pPr>
            <a:r>
              <a:rPr lang="it-IT" sz="1600" dirty="0">
                <a:solidFill>
                  <a:srgbClr val="171FE2"/>
                </a:solidFill>
                <a:latin typeface="Consolas" panose="020B0609020204030204" pitchFamily="49" charset="0"/>
              </a:rPr>
              <a:t>  </a:t>
            </a:r>
            <a:r>
              <a:rPr lang="it-IT" sz="1600" dirty="0" err="1">
                <a:solidFill>
                  <a:srgbClr val="171FE2"/>
                </a:solidFill>
                <a:latin typeface="Consolas" panose="020B0609020204030204" pitchFamily="49" charset="0"/>
              </a:rPr>
              <a:t>type</a:t>
            </a:r>
            <a:r>
              <a:rPr lang="it-IT" sz="1600" dirty="0">
                <a:solidFill>
                  <a:srgbClr val="171FE2"/>
                </a:solidFill>
                <a:latin typeface="Consolas" panose="020B0609020204030204" pitchFamily="49" charset="0"/>
              </a:rPr>
              <a:t>: </a:t>
            </a:r>
            <a:r>
              <a:rPr lang="it-IT" sz="1600" dirty="0" err="1">
                <a:solidFill>
                  <a:srgbClr val="171FE2"/>
                </a:solidFill>
                <a:latin typeface="Consolas" panose="020B0609020204030204" pitchFamily="49" charset="0"/>
              </a:rPr>
              <a:t>NodePort</a:t>
            </a:r>
            <a:endParaRPr lang="it-IT" sz="1600" dirty="0">
              <a:solidFill>
                <a:srgbClr val="171FE2"/>
              </a:solidFill>
              <a:latin typeface="Consolas" panose="020B0609020204030204" pitchFamily="49" charset="0"/>
            </a:endParaRPr>
          </a:p>
          <a:p>
            <a:pPr>
              <a:lnSpc>
                <a:spcPct val="90000"/>
              </a:lnSpc>
              <a:spcBef>
                <a:spcPts val="1000"/>
              </a:spcBef>
            </a:pPr>
            <a:r>
              <a:rPr lang="it-IT" sz="1600" dirty="0">
                <a:solidFill>
                  <a:srgbClr val="171FE2"/>
                </a:solidFill>
                <a:latin typeface="Consolas" panose="020B0609020204030204" pitchFamily="49" charset="0"/>
              </a:rPr>
              <a:t>  selector:</a:t>
            </a:r>
          </a:p>
          <a:p>
            <a:pPr>
              <a:lnSpc>
                <a:spcPct val="90000"/>
              </a:lnSpc>
              <a:spcBef>
                <a:spcPts val="1000"/>
              </a:spcBef>
            </a:pPr>
            <a:r>
              <a:rPr lang="it-IT" sz="1600" dirty="0">
                <a:solidFill>
                  <a:srgbClr val="171FE2"/>
                </a:solidFill>
                <a:latin typeface="Consolas" panose="020B0609020204030204" pitchFamily="49" charset="0"/>
              </a:rPr>
              <a:t>    app: </a:t>
            </a:r>
            <a:r>
              <a:rPr lang="it-IT" sz="1600" dirty="0" err="1">
                <a:solidFill>
                  <a:srgbClr val="171FE2"/>
                </a:solidFill>
                <a:latin typeface="Consolas" panose="020B0609020204030204" pitchFamily="49" charset="0"/>
              </a:rPr>
              <a:t>backend-enterprise</a:t>
            </a:r>
            <a:endParaRPr lang="it-IT" sz="1600" dirty="0">
              <a:solidFill>
                <a:srgbClr val="171FE2"/>
              </a:solidFill>
              <a:latin typeface="Consolas" panose="020B0609020204030204" pitchFamily="49" charset="0"/>
            </a:endParaRPr>
          </a:p>
          <a:p>
            <a:pPr>
              <a:lnSpc>
                <a:spcPct val="90000"/>
              </a:lnSpc>
              <a:spcBef>
                <a:spcPts val="1000"/>
              </a:spcBef>
            </a:pPr>
            <a:r>
              <a:rPr lang="it-IT" sz="1600" dirty="0">
                <a:solidFill>
                  <a:srgbClr val="171FE2"/>
                </a:solidFill>
                <a:latin typeface="Consolas" panose="020B0609020204030204" pitchFamily="49" charset="0"/>
              </a:rPr>
              <a:t>  ports:</a:t>
            </a:r>
          </a:p>
          <a:p>
            <a:pPr>
              <a:lnSpc>
                <a:spcPct val="90000"/>
              </a:lnSpc>
              <a:spcBef>
                <a:spcPts val="1000"/>
              </a:spcBef>
            </a:pPr>
            <a:r>
              <a:rPr lang="it-IT" sz="1600" dirty="0">
                <a:solidFill>
                  <a:srgbClr val="171FE2"/>
                </a:solidFill>
                <a:latin typeface="Consolas" panose="020B0609020204030204" pitchFamily="49" charset="0"/>
              </a:rPr>
              <a:t>  - port: 80</a:t>
            </a:r>
          </a:p>
          <a:p>
            <a:pPr>
              <a:lnSpc>
                <a:spcPct val="90000"/>
              </a:lnSpc>
              <a:spcBef>
                <a:spcPts val="1000"/>
              </a:spcBef>
            </a:pPr>
            <a:r>
              <a:rPr lang="it-IT" sz="1600" dirty="0">
                <a:solidFill>
                  <a:srgbClr val="171FE2"/>
                </a:solidFill>
                <a:latin typeface="Consolas" panose="020B0609020204030204" pitchFamily="49" charset="0"/>
              </a:rPr>
              <a:t>    </a:t>
            </a:r>
            <a:r>
              <a:rPr lang="it-IT" sz="1600" dirty="0" err="1">
                <a:solidFill>
                  <a:srgbClr val="171FE2"/>
                </a:solidFill>
                <a:latin typeface="Consolas" panose="020B0609020204030204" pitchFamily="49" charset="0"/>
              </a:rPr>
              <a:t>targetPort</a:t>
            </a:r>
            <a:r>
              <a:rPr lang="it-IT" sz="1600" dirty="0">
                <a:solidFill>
                  <a:srgbClr val="171FE2"/>
                </a:solidFill>
                <a:latin typeface="Consolas" panose="020B0609020204030204" pitchFamily="49" charset="0"/>
              </a:rPr>
              <a:t>: 80  #porta del container </a:t>
            </a:r>
            <a:r>
              <a:rPr lang="it-IT" sz="1600" dirty="0" err="1">
                <a:solidFill>
                  <a:srgbClr val="171FE2"/>
                </a:solidFill>
                <a:latin typeface="Consolas" panose="020B0609020204030204" pitchFamily="49" charset="0"/>
              </a:rPr>
              <a:t>nginx</a:t>
            </a:r>
            <a:r>
              <a:rPr lang="it-IT" sz="1600" dirty="0">
                <a:solidFill>
                  <a:srgbClr val="171FE2"/>
                </a:solidFill>
                <a:latin typeface="Consolas" panose="020B0609020204030204" pitchFamily="49" charset="0"/>
              </a:rPr>
              <a:t> </a:t>
            </a:r>
          </a:p>
          <a:p>
            <a:pPr>
              <a:lnSpc>
                <a:spcPct val="90000"/>
              </a:lnSpc>
              <a:spcBef>
                <a:spcPts val="1000"/>
              </a:spcBef>
            </a:pPr>
            <a:r>
              <a:rPr lang="it-IT" sz="1600" dirty="0">
                <a:solidFill>
                  <a:srgbClr val="171FE2"/>
                </a:solidFill>
                <a:latin typeface="Consolas" panose="020B0609020204030204" pitchFamily="49" charset="0"/>
              </a:rPr>
              <a:t>    </a:t>
            </a:r>
            <a:r>
              <a:rPr lang="it-IT" sz="1600" dirty="0" err="1">
                <a:solidFill>
                  <a:srgbClr val="171FE2"/>
                </a:solidFill>
                <a:latin typeface="Consolas" panose="020B0609020204030204" pitchFamily="49" charset="0"/>
              </a:rPr>
              <a:t>nodePort</a:t>
            </a:r>
            <a:r>
              <a:rPr lang="it-IT" sz="1600" dirty="0">
                <a:solidFill>
                  <a:srgbClr val="171FE2"/>
                </a:solidFill>
                <a:latin typeface="Consolas" panose="020B0609020204030204" pitchFamily="49" charset="0"/>
              </a:rPr>
              <a:t>: 32000</a:t>
            </a:r>
          </a:p>
        </p:txBody>
      </p:sp>
    </p:spTree>
    <p:extLst>
      <p:ext uri="{BB962C8B-B14F-4D97-AF65-F5344CB8AC3E}">
        <p14:creationId xmlns:p14="http://schemas.microsoft.com/office/powerpoint/2010/main" val="32638357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FDAF5-D73F-B8E5-3B35-05061998BE79}"/>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288D66FD-A879-5776-6C2A-FCA59C698F3B}"/>
              </a:ext>
            </a:extLst>
          </p:cNvPr>
          <p:cNvSpPr>
            <a:spLocks noGrp="1"/>
          </p:cNvSpPr>
          <p:nvPr>
            <p:ph type="title"/>
          </p:nvPr>
        </p:nvSpPr>
        <p:spPr>
          <a:xfrm>
            <a:off x="838200" y="831206"/>
            <a:ext cx="10515600" cy="314198"/>
          </a:xfrm>
        </p:spPr>
        <p:txBody>
          <a:bodyPr/>
          <a:lstStyle/>
          <a:p>
            <a:r>
              <a:rPr lang="it-IT" dirty="0"/>
              <a:t>SLIDE 14: LAB PRACTICAL – ESPORRE L'APPLICAZIONE ALL'ESTERNO CON UN SERVICE NODEPORT</a:t>
            </a:r>
          </a:p>
        </p:txBody>
      </p:sp>
      <p:sp>
        <p:nvSpPr>
          <p:cNvPr id="3" name="Contenuto della lezione">
            <a:extLst>
              <a:ext uri="{FF2B5EF4-FFF2-40B4-BE49-F238E27FC236}">
                <a16:creationId xmlns:a16="http://schemas.microsoft.com/office/drawing/2014/main" id="{1DD2A711-C70A-A081-F1FD-9F3B16E56E44}"/>
              </a:ext>
            </a:extLst>
          </p:cNvPr>
          <p:cNvSpPr>
            <a:spLocks noGrp="1"/>
          </p:cNvSpPr>
          <p:nvPr>
            <p:ph idx="1"/>
          </p:nvPr>
        </p:nvSpPr>
        <p:spPr>
          <a:xfrm>
            <a:off x="1317319" y="1735543"/>
            <a:ext cx="9557362" cy="4803369"/>
          </a:xfrm>
        </p:spPr>
        <p:txBody>
          <a:bodyPr/>
          <a:lstStyle/>
          <a:p>
            <a:r>
              <a:rPr lang="it-IT" dirty="0" err="1"/>
              <a:t>Kubernetes</a:t>
            </a:r>
            <a:r>
              <a:rPr lang="it-IT" dirty="0"/>
              <a:t> risponderà con la scritta </a:t>
            </a:r>
            <a:r>
              <a:rPr lang="it-IT" b="1" dirty="0"/>
              <a:t>service/</a:t>
            </a:r>
            <a:r>
              <a:rPr lang="it-IT" b="1" dirty="0" err="1"/>
              <a:t>backend</a:t>
            </a:r>
            <a:r>
              <a:rPr lang="it-IT" b="1" dirty="0"/>
              <a:t>-service </a:t>
            </a:r>
            <a:r>
              <a:rPr lang="it-IT" b="1" dirty="0" err="1"/>
              <a:t>configured</a:t>
            </a:r>
            <a:r>
              <a:rPr lang="it-IT" b="1" dirty="0"/>
              <a:t> (aggiornato)</a:t>
            </a:r>
            <a:r>
              <a:rPr lang="it-IT" dirty="0"/>
              <a:t>.</a:t>
            </a:r>
          </a:p>
          <a:p>
            <a:r>
              <a:rPr lang="it-IT" dirty="0"/>
              <a:t>Apriamo il browser web e digitiamo </a:t>
            </a:r>
            <a:r>
              <a:rPr lang="it-IT" b="1" dirty="0"/>
              <a:t>http://localhost:32000</a:t>
            </a:r>
            <a:r>
              <a:rPr lang="it-IT" dirty="0"/>
              <a:t>. </a:t>
            </a:r>
          </a:p>
          <a:p>
            <a:r>
              <a:rPr lang="it-IT" dirty="0"/>
              <a:t>Se tutto è andato a buon fine, vedremo caricarsi la pagina iniziale di benvenuto di </a:t>
            </a:r>
            <a:r>
              <a:rPr lang="it-IT" dirty="0" err="1"/>
              <a:t>Nginx</a:t>
            </a:r>
            <a:r>
              <a:rPr lang="it-IT" dirty="0"/>
              <a:t>!</a:t>
            </a:r>
          </a:p>
          <a:p>
            <a:r>
              <a:rPr lang="it-IT" dirty="0"/>
              <a:t> La vostra chiamata ha colpito la porta 32000 di Windows, Docker Desktop l'ha girata al Service di </a:t>
            </a:r>
            <a:r>
              <a:rPr lang="it-IT" dirty="0" err="1"/>
              <a:t>Kubernetes</a:t>
            </a:r>
            <a:r>
              <a:rPr lang="it-IT" dirty="0"/>
              <a:t> e il Service l'ha scaricata dentro uno dei tre </a:t>
            </a:r>
            <a:r>
              <a:rPr lang="it-IT" dirty="0" err="1"/>
              <a:t>Pod</a:t>
            </a:r>
            <a:r>
              <a:rPr lang="it-IT" dirty="0"/>
              <a:t> del Deployment in totale autonomia.</a:t>
            </a:r>
          </a:p>
          <a:p>
            <a:r>
              <a:rPr lang="it-IT" dirty="0"/>
              <a:t>Se inseriamo una porta a caso (ad esempio la 8000) nel campo </a:t>
            </a:r>
            <a:r>
              <a:rPr lang="it-IT" dirty="0" err="1"/>
              <a:t>nodePort</a:t>
            </a:r>
            <a:r>
              <a:rPr lang="it-IT" dirty="0"/>
              <a:t>, il comando </a:t>
            </a:r>
            <a:r>
              <a:rPr lang="it-IT" dirty="0" err="1"/>
              <a:t>apply</a:t>
            </a:r>
            <a:r>
              <a:rPr lang="it-IT" dirty="0"/>
              <a:t> fallirà sputando un errore bloccante. </a:t>
            </a:r>
          </a:p>
          <a:p>
            <a:r>
              <a:rPr lang="it-IT" i="1" dirty="0" err="1"/>
              <a:t>Kubernetes</a:t>
            </a:r>
            <a:r>
              <a:rPr lang="it-IT" i="1" dirty="0"/>
              <a:t> per motivi di sicurezza aziendale permette l'apertura manuale delle porte sui nodi solo ed esclusivamente all'interno del range standard industriale che va da </a:t>
            </a:r>
            <a:r>
              <a:rPr lang="it-IT" b="1" i="1" dirty="0"/>
              <a:t>30000 a 32767</a:t>
            </a:r>
            <a:r>
              <a:rPr lang="it-IT" i="1" dirty="0"/>
              <a:t>. </a:t>
            </a:r>
          </a:p>
          <a:p>
            <a:r>
              <a:rPr lang="it-IT" i="1" dirty="0"/>
              <a:t>Se scegliete un numero fuori da questo intervallo, il sistema rifiuterà il file per proteggere il server"</a:t>
            </a:r>
            <a:r>
              <a:rPr lang="it-IT" dirty="0"/>
              <a:t>.</a:t>
            </a:r>
          </a:p>
          <a:p>
            <a:endParaRPr lang="it-IT" sz="1600" dirty="0">
              <a:solidFill>
                <a:srgbClr val="171FE2"/>
              </a:solidFill>
              <a:latin typeface="Consolas" panose="020B0609020204030204" pitchFamily="49" charset="0"/>
            </a:endParaRPr>
          </a:p>
          <a:p>
            <a:endParaRPr lang="it-IT" sz="1600" dirty="0">
              <a:solidFill>
                <a:srgbClr val="171FE2"/>
              </a:solidFill>
              <a:latin typeface="Consolas" panose="020B0609020204030204" pitchFamily="49" charset="0"/>
            </a:endParaRPr>
          </a:p>
        </p:txBody>
      </p:sp>
    </p:spTree>
    <p:extLst>
      <p:ext uri="{BB962C8B-B14F-4D97-AF65-F5344CB8AC3E}">
        <p14:creationId xmlns:p14="http://schemas.microsoft.com/office/powerpoint/2010/main" val="3942406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1D967-D0BD-9BFA-9A6A-68F6E390C95B}"/>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FB73BCB3-239B-903D-F9E5-8190A4C3E948}"/>
              </a:ext>
            </a:extLst>
          </p:cNvPr>
          <p:cNvSpPr>
            <a:spLocks noGrp="1"/>
          </p:cNvSpPr>
          <p:nvPr>
            <p:ph type="title"/>
          </p:nvPr>
        </p:nvSpPr>
        <p:spPr>
          <a:xfrm>
            <a:off x="838200" y="831206"/>
            <a:ext cx="10515600" cy="314198"/>
          </a:xfrm>
        </p:spPr>
        <p:txBody>
          <a:bodyPr/>
          <a:lstStyle/>
          <a:p>
            <a:r>
              <a:rPr lang="it-IT" dirty="0"/>
              <a:t>SLIDE 15: LAB PRACTICAL – ESPORRE L'APPLICAZIONE ALL'ESTERNO CON UN SERVICE NODEPORT</a:t>
            </a:r>
          </a:p>
        </p:txBody>
      </p:sp>
      <p:sp>
        <p:nvSpPr>
          <p:cNvPr id="3" name="Contenuto della lezione">
            <a:extLst>
              <a:ext uri="{FF2B5EF4-FFF2-40B4-BE49-F238E27FC236}">
                <a16:creationId xmlns:a16="http://schemas.microsoft.com/office/drawing/2014/main" id="{760EDD96-B989-3749-BEEB-ECBC2A5294E8}"/>
              </a:ext>
            </a:extLst>
          </p:cNvPr>
          <p:cNvSpPr>
            <a:spLocks noGrp="1"/>
          </p:cNvSpPr>
          <p:nvPr>
            <p:ph idx="1"/>
          </p:nvPr>
        </p:nvSpPr>
        <p:spPr>
          <a:xfrm>
            <a:off x="1317319" y="1735543"/>
            <a:ext cx="9557362" cy="4803369"/>
          </a:xfrm>
        </p:spPr>
        <p:txBody>
          <a:bodyPr/>
          <a:lstStyle/>
          <a:p>
            <a:r>
              <a:rPr lang="it-IT" b="1" dirty="0">
                <a:solidFill>
                  <a:srgbClr val="FF0000"/>
                </a:solidFill>
                <a:highlight>
                  <a:srgbClr val="FFFF00"/>
                </a:highlight>
              </a:rPr>
              <a:t>Attenzione su un possibile problema legato a Windows.</a:t>
            </a:r>
          </a:p>
          <a:p>
            <a:r>
              <a:rPr lang="it-IT" dirty="0"/>
              <a:t>Quando scriviamo </a:t>
            </a:r>
            <a:r>
              <a:rPr lang="it-IT" dirty="0" err="1"/>
              <a:t>type</a:t>
            </a:r>
            <a:r>
              <a:rPr lang="it-IT" dirty="0"/>
              <a:t>: </a:t>
            </a:r>
            <a:r>
              <a:rPr lang="it-IT" dirty="0" err="1"/>
              <a:t>NodePort</a:t>
            </a:r>
            <a:r>
              <a:rPr lang="it-IT" dirty="0"/>
              <a:t> e </a:t>
            </a:r>
            <a:r>
              <a:rPr lang="it-IT" dirty="0" err="1"/>
              <a:t>nodePort</a:t>
            </a:r>
            <a:r>
              <a:rPr lang="it-IT" dirty="0"/>
              <a:t>: 32000</a:t>
            </a:r>
          </a:p>
          <a:p>
            <a:r>
              <a:rPr lang="it-IT" dirty="0"/>
              <a:t>stiamo dicendo a </a:t>
            </a:r>
            <a:r>
              <a:rPr lang="it-IT" dirty="0" err="1"/>
              <a:t>Kubernetes</a:t>
            </a:r>
            <a:r>
              <a:rPr lang="it-IT" dirty="0"/>
              <a:t> di aprire la porta 32000 sul server. </a:t>
            </a:r>
          </a:p>
          <a:p>
            <a:r>
              <a:rPr lang="it-IT" dirty="0"/>
              <a:t>Poiché usiamo Docker Desktop, l'applicazione dovrebbe fare automaticamente un lavoro di "passaggio" (port-mapping) in background, prendendo la porta 32000 dell'ambiente </a:t>
            </a:r>
            <a:r>
              <a:rPr lang="it-IT" dirty="0" err="1"/>
              <a:t>Kubernetes</a:t>
            </a:r>
            <a:r>
              <a:rPr lang="it-IT" dirty="0"/>
              <a:t> (che gira dentro la macchina virtuale WSL2 di Linux) e incollandola direttamente sulla porta 32000 di Windows reale.</a:t>
            </a:r>
          </a:p>
          <a:p>
            <a:r>
              <a:rPr lang="it-IT" dirty="0"/>
              <a:t>Se tutto gira liscio, digitando http://localhost:32000 su browser fa da ponte mostrando il sito. </a:t>
            </a:r>
          </a:p>
          <a:p>
            <a:r>
              <a:rPr lang="it-IT" dirty="0"/>
              <a:t>Tuttavia</a:t>
            </a:r>
            <a:r>
              <a:rPr lang="it-IT" sz="1600" dirty="0">
                <a:solidFill>
                  <a:srgbClr val="171FE2"/>
                </a:solidFill>
                <a:latin typeface="Consolas" panose="020B0609020204030204" pitchFamily="49" charset="0"/>
              </a:rPr>
              <a:t> </a:t>
            </a:r>
            <a:r>
              <a:rPr lang="it-IT" dirty="0"/>
              <a:t>potrebbero verificarsi due casi:</a:t>
            </a:r>
          </a:p>
          <a:p>
            <a:r>
              <a:rPr lang="it-IT" dirty="0"/>
              <a:t>Il Firewall di Windows o i criteri di rete: possono vedere il traffico che tenta di uscire dalla macchina virtuale WSL2 verso il "</a:t>
            </a:r>
            <a:r>
              <a:rPr lang="it-IT" dirty="0" err="1"/>
              <a:t>localhost</a:t>
            </a:r>
            <a:r>
              <a:rPr lang="it-IT" dirty="0"/>
              <a:t>" come una potenziale minaccia e taglia i ponti, ignorando il comando </a:t>
            </a:r>
            <a:r>
              <a:rPr lang="it-IT" dirty="0" err="1"/>
              <a:t>NodePort</a:t>
            </a:r>
            <a:r>
              <a:rPr lang="it-IT" dirty="0"/>
              <a:t>.</a:t>
            </a:r>
          </a:p>
          <a:p>
            <a:r>
              <a:rPr lang="it-IT" dirty="0"/>
              <a:t>I canali di WSL2 intasati: A volte il sottosistema Linux (WSL2) non riesce a comunicare a Windows che ha aperto una nuova porta, lasciando la porta 32000 attiva dentro Linux ma invisibile per il </a:t>
            </a:r>
            <a:r>
              <a:rPr lang="it-IT" dirty="0" err="1"/>
              <a:t>broser</a:t>
            </a:r>
            <a:r>
              <a:rPr lang="it-IT" dirty="0"/>
              <a:t> che gira fuori su Windows.</a:t>
            </a:r>
          </a:p>
        </p:txBody>
      </p:sp>
    </p:spTree>
    <p:extLst>
      <p:ext uri="{BB962C8B-B14F-4D97-AF65-F5344CB8AC3E}">
        <p14:creationId xmlns:p14="http://schemas.microsoft.com/office/powerpoint/2010/main" val="24906611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AAFAE-89E4-FF82-6F0F-5B358BDF89E8}"/>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1AC098EA-84AD-87F6-0335-E4657DFF382E}"/>
              </a:ext>
            </a:extLst>
          </p:cNvPr>
          <p:cNvSpPr>
            <a:spLocks noGrp="1"/>
          </p:cNvSpPr>
          <p:nvPr>
            <p:ph type="title"/>
          </p:nvPr>
        </p:nvSpPr>
        <p:spPr>
          <a:xfrm>
            <a:off x="838200" y="831206"/>
            <a:ext cx="10515600" cy="314198"/>
          </a:xfrm>
        </p:spPr>
        <p:txBody>
          <a:bodyPr/>
          <a:lstStyle/>
          <a:p>
            <a:r>
              <a:rPr lang="it-IT" dirty="0"/>
              <a:t>SLIDE 16: LAB PRACTICAL – ESPORRE L'APPLICAZIONE ALL'ESTERNO CON UN SERVICE NODEPORT</a:t>
            </a:r>
          </a:p>
        </p:txBody>
      </p:sp>
      <p:sp>
        <p:nvSpPr>
          <p:cNvPr id="3" name="Contenuto della lezione">
            <a:extLst>
              <a:ext uri="{FF2B5EF4-FFF2-40B4-BE49-F238E27FC236}">
                <a16:creationId xmlns:a16="http://schemas.microsoft.com/office/drawing/2014/main" id="{335CF625-0173-95C7-3ED5-C3087B046520}"/>
              </a:ext>
            </a:extLst>
          </p:cNvPr>
          <p:cNvSpPr>
            <a:spLocks noGrp="1"/>
          </p:cNvSpPr>
          <p:nvPr>
            <p:ph idx="1"/>
          </p:nvPr>
        </p:nvSpPr>
        <p:spPr>
          <a:xfrm>
            <a:off x="1317319" y="1735543"/>
            <a:ext cx="9557362" cy="4803369"/>
          </a:xfrm>
        </p:spPr>
        <p:txBody>
          <a:bodyPr/>
          <a:lstStyle/>
          <a:p>
            <a:r>
              <a:rPr lang="it-IT" b="1" dirty="0">
                <a:solidFill>
                  <a:schemeClr val="bg1"/>
                </a:solidFill>
                <a:highlight>
                  <a:srgbClr val="171FE2"/>
                </a:highlight>
              </a:rPr>
              <a:t>Soluzione</a:t>
            </a:r>
          </a:p>
          <a:p>
            <a:r>
              <a:rPr lang="it-IT" dirty="0"/>
              <a:t>Lanciando il comando:</a:t>
            </a:r>
          </a:p>
          <a:p>
            <a:r>
              <a:rPr lang="it-IT" sz="1600" dirty="0" err="1">
                <a:solidFill>
                  <a:srgbClr val="171FE2"/>
                </a:solidFill>
                <a:latin typeface="Consolas" panose="020B0609020204030204" pitchFamily="49" charset="0"/>
              </a:rPr>
              <a:t>kubectl</a:t>
            </a:r>
            <a:r>
              <a:rPr lang="it-IT" sz="1600" dirty="0">
                <a:solidFill>
                  <a:srgbClr val="171FE2"/>
                </a:solidFill>
                <a:latin typeface="Consolas" panose="020B0609020204030204" pitchFamily="49" charset="0"/>
              </a:rPr>
              <a:t> port-</a:t>
            </a:r>
            <a:r>
              <a:rPr lang="it-IT" sz="1600" dirty="0" err="1">
                <a:solidFill>
                  <a:srgbClr val="171FE2"/>
                </a:solidFill>
                <a:latin typeface="Consolas" panose="020B0609020204030204" pitchFamily="49" charset="0"/>
              </a:rPr>
              <a:t>forward</a:t>
            </a:r>
            <a:r>
              <a:rPr lang="it-IT" sz="1600" dirty="0">
                <a:solidFill>
                  <a:srgbClr val="171FE2"/>
                </a:solidFill>
                <a:latin typeface="Consolas" panose="020B0609020204030204" pitchFamily="49" charset="0"/>
              </a:rPr>
              <a:t> service/</a:t>
            </a:r>
            <a:r>
              <a:rPr lang="it-IT" sz="1600" dirty="0" err="1">
                <a:solidFill>
                  <a:srgbClr val="171FE2"/>
                </a:solidFill>
                <a:latin typeface="Consolas" panose="020B0609020204030204" pitchFamily="49" charset="0"/>
              </a:rPr>
              <a:t>backend</a:t>
            </a:r>
            <a:r>
              <a:rPr lang="it-IT" sz="1600" dirty="0">
                <a:solidFill>
                  <a:srgbClr val="171FE2"/>
                </a:solidFill>
                <a:latin typeface="Consolas" panose="020B0609020204030204" pitchFamily="49" charset="0"/>
              </a:rPr>
              <a:t>-service 32000:80 </a:t>
            </a:r>
          </a:p>
          <a:p>
            <a:r>
              <a:rPr lang="it-IT" dirty="0"/>
              <a:t>scavalchiamo Docker Desktop, WSL2 e i blocchi di rete di Windows.</a:t>
            </a:r>
          </a:p>
          <a:p>
            <a:r>
              <a:rPr lang="it-IT" dirty="0"/>
              <a:t>Comunichiamo a </a:t>
            </a:r>
            <a:r>
              <a:rPr lang="it-IT" dirty="0" err="1"/>
              <a:t>Kubernetes</a:t>
            </a:r>
            <a:r>
              <a:rPr lang="it-IT" dirty="0"/>
              <a:t>: </a:t>
            </a:r>
            <a:r>
              <a:rPr lang="it-IT" i="1" dirty="0"/>
              <a:t>di by-passare la scheda di rete virtuale. Prendiamo la porta 32000 di Windows e creiamo un tunnel d'acciaio privato direttamente dentro la porta 80 del Service"</a:t>
            </a:r>
            <a:r>
              <a:rPr lang="it-IT" dirty="0"/>
              <a:t>. </a:t>
            </a:r>
          </a:p>
          <a:p>
            <a:r>
              <a:rPr lang="it-IT" dirty="0">
                <a:solidFill>
                  <a:srgbClr val="171FE2"/>
                </a:solidFill>
              </a:rPr>
              <a:t>Tuttavia, in un cluster </a:t>
            </a:r>
            <a:r>
              <a:rPr lang="it-IT" dirty="0" err="1">
                <a:solidFill>
                  <a:srgbClr val="171FE2"/>
                </a:solidFill>
              </a:rPr>
              <a:t>Kubernetes</a:t>
            </a:r>
            <a:r>
              <a:rPr lang="it-IT" dirty="0">
                <a:solidFill>
                  <a:srgbClr val="171FE2"/>
                </a:solidFill>
              </a:rPr>
              <a:t> reale (su AWS, Azure, Google Cloud o sul server aziendale), i sistemisti non usano mai il port-</a:t>
            </a:r>
            <a:r>
              <a:rPr lang="it-IT" dirty="0" err="1">
                <a:solidFill>
                  <a:srgbClr val="171FE2"/>
                </a:solidFill>
              </a:rPr>
              <a:t>forward</a:t>
            </a:r>
            <a:r>
              <a:rPr lang="it-IT" dirty="0">
                <a:solidFill>
                  <a:srgbClr val="171FE2"/>
                </a:solidFill>
              </a:rPr>
              <a:t>.</a:t>
            </a:r>
          </a:p>
        </p:txBody>
      </p:sp>
    </p:spTree>
    <p:extLst>
      <p:ext uri="{BB962C8B-B14F-4D97-AF65-F5344CB8AC3E}">
        <p14:creationId xmlns:p14="http://schemas.microsoft.com/office/powerpoint/2010/main" val="22326986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47789-E22E-2A0B-7F86-8E2F47449DAA}"/>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EEAB7708-38F5-E164-EDAB-4C6AF13E759C}"/>
              </a:ext>
            </a:extLst>
          </p:cNvPr>
          <p:cNvSpPr>
            <a:spLocks noGrp="1"/>
          </p:cNvSpPr>
          <p:nvPr>
            <p:ph type="title"/>
          </p:nvPr>
        </p:nvSpPr>
        <p:spPr>
          <a:xfrm>
            <a:off x="838200" y="831206"/>
            <a:ext cx="10515600" cy="314198"/>
          </a:xfrm>
        </p:spPr>
        <p:txBody>
          <a:bodyPr/>
          <a:lstStyle/>
          <a:p>
            <a:r>
              <a:rPr lang="it-IT" dirty="0"/>
              <a:t>SLIDE 17: LAB PRACTICAL – ESPORRE L'APPLICAZIONE ALL'ESTERNO CON UN SERVICE NODEPORT</a:t>
            </a:r>
          </a:p>
        </p:txBody>
      </p:sp>
      <p:sp>
        <p:nvSpPr>
          <p:cNvPr id="3" name="Contenuto della lezione">
            <a:extLst>
              <a:ext uri="{FF2B5EF4-FFF2-40B4-BE49-F238E27FC236}">
                <a16:creationId xmlns:a16="http://schemas.microsoft.com/office/drawing/2014/main" id="{A68EF764-4AF0-133F-A837-CFD6EB9BC378}"/>
              </a:ext>
            </a:extLst>
          </p:cNvPr>
          <p:cNvSpPr>
            <a:spLocks noGrp="1"/>
          </p:cNvSpPr>
          <p:nvPr>
            <p:ph idx="1"/>
          </p:nvPr>
        </p:nvSpPr>
        <p:spPr>
          <a:xfrm>
            <a:off x="1317319" y="1735543"/>
            <a:ext cx="9557362" cy="4803369"/>
          </a:xfrm>
        </p:spPr>
        <p:txBody>
          <a:bodyPr/>
          <a:lstStyle/>
          <a:p>
            <a:r>
              <a:rPr lang="it-IT" dirty="0"/>
              <a:t>Per evitare il terminale e fare in modo che l'esposizione sia automatica e scritta solo nei file YAML, si usano due strade a seconda di dove si trova il cluster:</a:t>
            </a:r>
          </a:p>
          <a:p>
            <a:r>
              <a:rPr lang="it-IT" b="1" dirty="0"/>
              <a:t>Opzione A: Nei Cloud Pubblici (</a:t>
            </a:r>
            <a:r>
              <a:rPr lang="it-IT" b="1" dirty="0" err="1"/>
              <a:t>LoadBalancer</a:t>
            </a:r>
            <a:r>
              <a:rPr lang="it-IT" b="1" dirty="0"/>
              <a:t>)</a:t>
            </a:r>
          </a:p>
          <a:p>
            <a:r>
              <a:rPr lang="it-IT" dirty="0">
                <a:solidFill>
                  <a:srgbClr val="171FE2"/>
                </a:solidFill>
              </a:rPr>
              <a:t>Su un cloud vero, nel file YAML del Service non scriveremmo </a:t>
            </a:r>
            <a:r>
              <a:rPr lang="it-IT" dirty="0" err="1">
                <a:solidFill>
                  <a:srgbClr val="171FE2"/>
                </a:solidFill>
              </a:rPr>
              <a:t>type</a:t>
            </a:r>
            <a:r>
              <a:rPr lang="it-IT" dirty="0">
                <a:solidFill>
                  <a:srgbClr val="171FE2"/>
                </a:solidFill>
              </a:rPr>
              <a:t>: </a:t>
            </a:r>
            <a:r>
              <a:rPr lang="it-IT" dirty="0" err="1">
                <a:solidFill>
                  <a:srgbClr val="171FE2"/>
                </a:solidFill>
              </a:rPr>
              <a:t>NodePort</a:t>
            </a:r>
            <a:r>
              <a:rPr lang="it-IT" dirty="0">
                <a:solidFill>
                  <a:srgbClr val="171FE2"/>
                </a:solidFill>
              </a:rPr>
              <a:t>, ma scriveremmo </a:t>
            </a:r>
            <a:r>
              <a:rPr lang="it-IT" dirty="0" err="1">
                <a:solidFill>
                  <a:srgbClr val="171FE2"/>
                </a:solidFill>
              </a:rPr>
              <a:t>type</a:t>
            </a:r>
            <a:r>
              <a:rPr lang="it-IT" dirty="0">
                <a:solidFill>
                  <a:srgbClr val="171FE2"/>
                </a:solidFill>
              </a:rPr>
              <a:t>: </a:t>
            </a:r>
            <a:r>
              <a:rPr lang="it-IT" dirty="0" err="1">
                <a:solidFill>
                  <a:srgbClr val="171FE2"/>
                </a:solidFill>
              </a:rPr>
              <a:t>LoadBalancer</a:t>
            </a:r>
            <a:r>
              <a:rPr lang="it-IT" dirty="0">
                <a:solidFill>
                  <a:srgbClr val="171FE2"/>
                </a:solidFill>
              </a:rPr>
              <a:t>.</a:t>
            </a:r>
          </a:p>
          <a:p>
            <a:r>
              <a:rPr lang="it-IT" dirty="0"/>
              <a:t>In quel caso, il Cloud Provider (es. AWS) leggerebbe lo YAML, creerebbe un bilanciatore di carico reale all'esterno, gli assegnerebbe un IP pubblico e lo incollerebbe al nostro Service. Eseguendo: </a:t>
            </a:r>
            <a:r>
              <a:rPr lang="it-IT" dirty="0" err="1"/>
              <a:t>kubectl</a:t>
            </a:r>
            <a:r>
              <a:rPr lang="it-IT" dirty="0"/>
              <a:t> </a:t>
            </a:r>
            <a:r>
              <a:rPr lang="it-IT" dirty="0" err="1"/>
              <a:t>get</a:t>
            </a:r>
            <a:r>
              <a:rPr lang="it-IT" dirty="0"/>
              <a:t> </a:t>
            </a:r>
            <a:r>
              <a:rPr lang="it-IT" dirty="0" err="1"/>
              <a:t>svc</a:t>
            </a:r>
            <a:r>
              <a:rPr lang="it-IT" dirty="0"/>
              <a:t>, prenderemmo l'IP esterno per metterlo su Chrome. </a:t>
            </a:r>
          </a:p>
          <a:p>
            <a:r>
              <a:rPr lang="it-IT" b="1" dirty="0"/>
              <a:t>Opzione B: In Locale o On-Premise (L'oggetto </a:t>
            </a:r>
            <a:r>
              <a:rPr lang="it-IT" b="1" dirty="0" err="1"/>
              <a:t>Ingress</a:t>
            </a:r>
            <a:r>
              <a:rPr lang="it-IT" b="1" dirty="0"/>
              <a:t>)</a:t>
            </a:r>
          </a:p>
          <a:p>
            <a:r>
              <a:rPr lang="it-IT" dirty="0"/>
              <a:t>Visto che siamo in locale e Docker Desktop a volte fa i capricci con il </a:t>
            </a:r>
            <a:r>
              <a:rPr lang="it-IT" dirty="0" err="1"/>
              <a:t>routing</a:t>
            </a:r>
            <a:r>
              <a:rPr lang="it-IT" dirty="0"/>
              <a:t> delle porte alte, lo standard </a:t>
            </a:r>
            <a:r>
              <a:rPr lang="it-IT" dirty="0" err="1"/>
              <a:t>enterprise</a:t>
            </a:r>
            <a:r>
              <a:rPr lang="it-IT" dirty="0"/>
              <a:t> per non usare il terminale prevede l'utilizzo di un </a:t>
            </a:r>
            <a:r>
              <a:rPr lang="it-IT" b="1" dirty="0" err="1">
                <a:solidFill>
                  <a:srgbClr val="171FE2"/>
                </a:solidFill>
              </a:rPr>
              <a:t>Ingress</a:t>
            </a:r>
            <a:r>
              <a:rPr lang="it-IT" b="1" dirty="0">
                <a:solidFill>
                  <a:srgbClr val="171FE2"/>
                </a:solidFill>
              </a:rPr>
              <a:t> Controller (come </a:t>
            </a:r>
            <a:r>
              <a:rPr lang="it-IT" b="1" dirty="0" err="1">
                <a:solidFill>
                  <a:srgbClr val="171FE2"/>
                </a:solidFill>
              </a:rPr>
              <a:t>Nginx</a:t>
            </a:r>
            <a:r>
              <a:rPr lang="it-IT" b="1" dirty="0">
                <a:solidFill>
                  <a:srgbClr val="171FE2"/>
                </a:solidFill>
              </a:rPr>
              <a:t> </a:t>
            </a:r>
            <a:r>
              <a:rPr lang="it-IT" b="1" dirty="0" err="1">
                <a:solidFill>
                  <a:srgbClr val="171FE2"/>
                </a:solidFill>
              </a:rPr>
              <a:t>Ingress</a:t>
            </a:r>
            <a:r>
              <a:rPr lang="it-IT" b="1" dirty="0">
                <a:solidFill>
                  <a:srgbClr val="171FE2"/>
                </a:solidFill>
              </a:rPr>
              <a:t>)</a:t>
            </a:r>
            <a:r>
              <a:rPr lang="it-IT" dirty="0"/>
              <a:t>.</a:t>
            </a:r>
          </a:p>
          <a:p>
            <a:r>
              <a:rPr lang="it-IT" dirty="0"/>
              <a:t>Invece di impazzire con le porte come la 32000, configuriamo un file YAML per associare un indirizzo </a:t>
            </a:r>
            <a:r>
              <a:rPr lang="it-IT" dirty="0">
                <a:hlinkClick r:id="rId2"/>
              </a:rPr>
              <a:t>http://mio-backend.local</a:t>
            </a:r>
            <a:r>
              <a:rPr lang="it-IT" dirty="0"/>
              <a:t> al </a:t>
            </a:r>
            <a:r>
              <a:rPr lang="it-IT" dirty="0" err="1"/>
              <a:t>backend</a:t>
            </a:r>
            <a:r>
              <a:rPr lang="it-IT" dirty="0"/>
              <a:t>-service sulla porta 80.</a:t>
            </a:r>
          </a:p>
          <a:p>
            <a:r>
              <a:rPr lang="it-IT" dirty="0"/>
              <a:t>L'</a:t>
            </a:r>
            <a:r>
              <a:rPr lang="it-IT" dirty="0" err="1"/>
              <a:t>Ingress</a:t>
            </a:r>
            <a:r>
              <a:rPr lang="it-IT" dirty="0"/>
              <a:t> Controller intercetta il traffico sulle porte standard HTTP (80/443) e fa tutto da solo. </a:t>
            </a:r>
            <a:r>
              <a:rPr lang="it-IT" b="1" dirty="0">
                <a:solidFill>
                  <a:srgbClr val="FFC000"/>
                </a:solidFill>
              </a:rPr>
              <a:t>Dedicheremo all’Opzione B un laboratorio a parte!</a:t>
            </a:r>
          </a:p>
        </p:txBody>
      </p:sp>
    </p:spTree>
    <p:extLst>
      <p:ext uri="{BB962C8B-B14F-4D97-AF65-F5344CB8AC3E}">
        <p14:creationId xmlns:p14="http://schemas.microsoft.com/office/powerpoint/2010/main" val="1280495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3A6F3-A8A8-1F79-B67D-09EB85B895F0}"/>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E10CF55B-C95C-92F3-A85A-E271420B5C96}"/>
              </a:ext>
            </a:extLst>
          </p:cNvPr>
          <p:cNvSpPr>
            <a:spLocks noGrp="1"/>
          </p:cNvSpPr>
          <p:nvPr>
            <p:ph type="title"/>
          </p:nvPr>
        </p:nvSpPr>
        <p:spPr>
          <a:xfrm>
            <a:off x="838200" y="831206"/>
            <a:ext cx="10515600" cy="314198"/>
          </a:xfrm>
        </p:spPr>
        <p:txBody>
          <a:bodyPr/>
          <a:lstStyle/>
          <a:p>
            <a:r>
              <a:rPr lang="it-IT" dirty="0"/>
              <a:t>SLIDE 18: LAB PRACTICAL – ESPORRE L'APPLICAZIONE ALL'ESTERNO CON UN SERVICE NODEPORT</a:t>
            </a:r>
          </a:p>
        </p:txBody>
      </p:sp>
      <p:sp>
        <p:nvSpPr>
          <p:cNvPr id="3" name="Contenuto della lezione">
            <a:extLst>
              <a:ext uri="{FF2B5EF4-FFF2-40B4-BE49-F238E27FC236}">
                <a16:creationId xmlns:a16="http://schemas.microsoft.com/office/drawing/2014/main" id="{3327A3B3-7900-9102-4401-1187F4DE48EE}"/>
              </a:ext>
            </a:extLst>
          </p:cNvPr>
          <p:cNvSpPr>
            <a:spLocks noGrp="1"/>
          </p:cNvSpPr>
          <p:nvPr>
            <p:ph idx="1"/>
          </p:nvPr>
        </p:nvSpPr>
        <p:spPr>
          <a:xfrm>
            <a:off x="1317319" y="1735543"/>
            <a:ext cx="9557362" cy="4803369"/>
          </a:xfrm>
        </p:spPr>
        <p:txBody>
          <a:bodyPr/>
          <a:lstStyle/>
          <a:p>
            <a:r>
              <a:rPr lang="it-IT" dirty="0"/>
              <a:t>Al di là di quanto abbiamo detto, in caso di errore ERR_CONNECTION_REFUSED il browser ha bussato alla porta 32000 di Windows, ma </a:t>
            </a:r>
            <a:r>
              <a:rPr lang="it-IT" b="1" dirty="0"/>
              <a:t>non ha trovato nessuno ad aprirgli</a:t>
            </a:r>
            <a:r>
              <a:rPr lang="it-IT" dirty="0"/>
              <a:t>.</a:t>
            </a:r>
          </a:p>
          <a:p>
            <a:r>
              <a:rPr lang="it-IT" dirty="0"/>
              <a:t>Se il browser dà ancora errore significa che </a:t>
            </a:r>
            <a:r>
              <a:rPr lang="it-IT" b="1" dirty="0"/>
              <a:t>il ponte di rete tra il Service e i </a:t>
            </a:r>
            <a:r>
              <a:rPr lang="it-IT" b="1" dirty="0" err="1"/>
              <a:t>Pod</a:t>
            </a:r>
            <a:r>
              <a:rPr lang="it-IT" b="1" dirty="0"/>
              <a:t> interni è interrotto</a:t>
            </a:r>
            <a:r>
              <a:rPr lang="it-IT" dirty="0"/>
              <a:t>.</a:t>
            </a:r>
          </a:p>
          <a:p>
            <a:r>
              <a:rPr lang="it-IT" dirty="0"/>
              <a:t>Ecco la sequenza esatta di comandi da lanciare sul terminale per trovare l’inghippo:</a:t>
            </a:r>
          </a:p>
          <a:p>
            <a:r>
              <a:rPr lang="it-IT" b="1" dirty="0"/>
              <a:t>STEP 1: Controlliamo se ci sono </a:t>
            </a:r>
            <a:r>
              <a:rPr lang="it-IT" b="1" dirty="0" err="1"/>
              <a:t>Pod</a:t>
            </a:r>
            <a:r>
              <a:rPr lang="it-IT" b="1" dirty="0"/>
              <a:t> agganciati al Service</a:t>
            </a:r>
          </a:p>
          <a:p>
            <a:r>
              <a:rPr lang="it-IT" dirty="0"/>
              <a:t>Il Service ha aperto la porta su Windows, ma ora dobbiamo vedere se ha trovato i </a:t>
            </a:r>
            <a:r>
              <a:rPr lang="it-IT" dirty="0" err="1"/>
              <a:t>Pod</a:t>
            </a:r>
            <a:r>
              <a:rPr lang="it-IT" dirty="0"/>
              <a:t> su cui scaricare il traffico. Lanciamo il comando:</a:t>
            </a:r>
          </a:p>
          <a:p>
            <a:r>
              <a:rPr lang="it-IT" sz="1600" dirty="0" err="1">
                <a:solidFill>
                  <a:srgbClr val="171FE2"/>
                </a:solidFill>
                <a:latin typeface="Consolas" panose="020B0609020204030204" pitchFamily="49" charset="0"/>
              </a:rPr>
              <a:t>kubectl</a:t>
            </a:r>
            <a:r>
              <a:rPr lang="it-IT" sz="1600" dirty="0">
                <a:solidFill>
                  <a:srgbClr val="171FE2"/>
                </a:solidFill>
                <a:latin typeface="Consolas" panose="020B0609020204030204" pitchFamily="49" charset="0"/>
              </a:rPr>
              <a:t> </a:t>
            </a:r>
            <a:r>
              <a:rPr lang="it-IT" sz="1600" dirty="0" err="1">
                <a:solidFill>
                  <a:srgbClr val="171FE2"/>
                </a:solidFill>
                <a:latin typeface="Consolas" panose="020B0609020204030204" pitchFamily="49" charset="0"/>
              </a:rPr>
              <a:t>get</a:t>
            </a:r>
            <a:r>
              <a:rPr lang="it-IT" sz="1600" dirty="0">
                <a:solidFill>
                  <a:srgbClr val="171FE2"/>
                </a:solidFill>
                <a:latin typeface="Consolas" panose="020B0609020204030204" pitchFamily="49" charset="0"/>
              </a:rPr>
              <a:t> endpoints </a:t>
            </a:r>
            <a:r>
              <a:rPr lang="it-IT" sz="1600" dirty="0" err="1">
                <a:solidFill>
                  <a:srgbClr val="171FE2"/>
                </a:solidFill>
                <a:latin typeface="Consolas" panose="020B0609020204030204" pitchFamily="49" charset="0"/>
              </a:rPr>
              <a:t>backend</a:t>
            </a:r>
            <a:r>
              <a:rPr lang="it-IT" sz="1600" dirty="0">
                <a:solidFill>
                  <a:srgbClr val="171FE2"/>
                </a:solidFill>
                <a:latin typeface="Consolas" panose="020B0609020204030204" pitchFamily="49" charset="0"/>
              </a:rPr>
              <a:t>-service</a:t>
            </a:r>
          </a:p>
          <a:p>
            <a:r>
              <a:rPr lang="it-IT" dirty="0"/>
              <a:t>Cosa guardare: se sotto la colonna ENDPOINTS, vediamo degli indirizzi IP (es. 10.244.0.X:80), il selector funziona;</a:t>
            </a:r>
          </a:p>
          <a:p>
            <a:r>
              <a:rPr lang="it-IT" dirty="0"/>
              <a:t>se vediamo vuoto o &lt;none&gt;: significa che il Service non sta trovando nessun </a:t>
            </a:r>
            <a:r>
              <a:rPr lang="it-IT" dirty="0" err="1"/>
              <a:t>Pod</a:t>
            </a:r>
            <a:r>
              <a:rPr lang="it-IT" dirty="0"/>
              <a:t> nel cluster. Il colpevole è il selector nello YAML del Service che non coincide con le labels nello YAML del </a:t>
            </a:r>
            <a:r>
              <a:rPr lang="it-IT" dirty="0" err="1"/>
              <a:t>Pod</a:t>
            </a:r>
            <a:r>
              <a:rPr lang="it-IT" dirty="0"/>
              <a:t>. </a:t>
            </a:r>
          </a:p>
        </p:txBody>
      </p:sp>
      <p:pic>
        <p:nvPicPr>
          <p:cNvPr id="5" name="Immagine 4">
            <a:extLst>
              <a:ext uri="{FF2B5EF4-FFF2-40B4-BE49-F238E27FC236}">
                <a16:creationId xmlns:a16="http://schemas.microsoft.com/office/drawing/2014/main" id="{6FABBA48-2F89-E42F-5E51-105CD4A335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4872" y="6137296"/>
            <a:ext cx="6477904" cy="600159"/>
          </a:xfrm>
          <a:prstGeom prst="rect">
            <a:avLst/>
          </a:prstGeom>
        </p:spPr>
      </p:pic>
    </p:spTree>
    <p:extLst>
      <p:ext uri="{BB962C8B-B14F-4D97-AF65-F5344CB8AC3E}">
        <p14:creationId xmlns:p14="http://schemas.microsoft.com/office/powerpoint/2010/main" val="464204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AF26C-EC4A-1550-80AE-F92D3A862769}"/>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C660FB1F-F2D6-F886-1C6A-BABB110D520C}"/>
              </a:ext>
            </a:extLst>
          </p:cNvPr>
          <p:cNvSpPr>
            <a:spLocks noGrp="1"/>
          </p:cNvSpPr>
          <p:nvPr>
            <p:ph type="title"/>
          </p:nvPr>
        </p:nvSpPr>
        <p:spPr>
          <a:xfrm>
            <a:off x="838200" y="831206"/>
            <a:ext cx="10515600" cy="314198"/>
          </a:xfrm>
        </p:spPr>
        <p:txBody>
          <a:bodyPr/>
          <a:lstStyle/>
          <a:p>
            <a:r>
              <a:rPr lang="it-IT" dirty="0"/>
              <a:t>SLIDE 19: LAB PRACTICAL – ESPORRE L'APPLICAZIONE ALL'ESTERNO CON UN SERVICE NODEPORT</a:t>
            </a:r>
          </a:p>
        </p:txBody>
      </p:sp>
      <p:sp>
        <p:nvSpPr>
          <p:cNvPr id="3" name="Contenuto della lezione">
            <a:extLst>
              <a:ext uri="{FF2B5EF4-FFF2-40B4-BE49-F238E27FC236}">
                <a16:creationId xmlns:a16="http://schemas.microsoft.com/office/drawing/2014/main" id="{6CEF3FFF-1509-F128-421F-44D3ACF1D5D3}"/>
              </a:ext>
            </a:extLst>
          </p:cNvPr>
          <p:cNvSpPr>
            <a:spLocks noGrp="1"/>
          </p:cNvSpPr>
          <p:nvPr>
            <p:ph idx="1"/>
          </p:nvPr>
        </p:nvSpPr>
        <p:spPr>
          <a:xfrm>
            <a:off x="1317319" y="1735543"/>
            <a:ext cx="9557362" cy="4803369"/>
          </a:xfrm>
        </p:spPr>
        <p:txBody>
          <a:bodyPr/>
          <a:lstStyle/>
          <a:p>
            <a:r>
              <a:rPr lang="it-IT" b="1" dirty="0"/>
              <a:t>STEP 2: Verifichiamo lo stato dei </a:t>
            </a:r>
            <a:r>
              <a:rPr lang="it-IT" b="1" dirty="0" err="1"/>
              <a:t>Pod</a:t>
            </a:r>
            <a:endParaRPr lang="it-IT" b="1" dirty="0"/>
          </a:p>
          <a:p>
            <a:r>
              <a:rPr lang="it-IT" dirty="0"/>
              <a:t>Se il Service non trova i </a:t>
            </a:r>
            <a:r>
              <a:rPr lang="it-IT" dirty="0" err="1"/>
              <a:t>Pod</a:t>
            </a:r>
            <a:r>
              <a:rPr lang="it-IT" dirty="0"/>
              <a:t>, potrebbe essere perché i </a:t>
            </a:r>
            <a:r>
              <a:rPr lang="it-IT" dirty="0" err="1"/>
              <a:t>Pod</a:t>
            </a:r>
            <a:r>
              <a:rPr lang="it-IT" dirty="0"/>
              <a:t> stessi sono in errore o spenti. Lanciamo:</a:t>
            </a:r>
          </a:p>
          <a:p>
            <a:r>
              <a:rPr lang="it-IT" sz="1600" dirty="0" err="1">
                <a:solidFill>
                  <a:srgbClr val="171FE2"/>
                </a:solidFill>
                <a:latin typeface="Consolas" panose="020B0609020204030204" pitchFamily="49" charset="0"/>
              </a:rPr>
              <a:t>kubectl</a:t>
            </a:r>
            <a:r>
              <a:rPr lang="it-IT" sz="1600" dirty="0">
                <a:solidFill>
                  <a:srgbClr val="171FE2"/>
                </a:solidFill>
                <a:latin typeface="Consolas" panose="020B0609020204030204" pitchFamily="49" charset="0"/>
              </a:rPr>
              <a:t> </a:t>
            </a:r>
            <a:r>
              <a:rPr lang="it-IT" sz="1600" dirty="0" err="1">
                <a:solidFill>
                  <a:srgbClr val="171FE2"/>
                </a:solidFill>
                <a:latin typeface="Consolas" panose="020B0609020204030204" pitchFamily="49" charset="0"/>
              </a:rPr>
              <a:t>get</a:t>
            </a:r>
            <a:r>
              <a:rPr lang="it-IT" sz="1600" dirty="0">
                <a:solidFill>
                  <a:srgbClr val="171FE2"/>
                </a:solidFill>
                <a:latin typeface="Consolas" panose="020B0609020204030204" pitchFamily="49" charset="0"/>
              </a:rPr>
              <a:t> </a:t>
            </a:r>
            <a:r>
              <a:rPr lang="it-IT" sz="1600" dirty="0" err="1">
                <a:solidFill>
                  <a:srgbClr val="171FE2"/>
                </a:solidFill>
                <a:latin typeface="Consolas" panose="020B0609020204030204" pitchFamily="49" charset="0"/>
              </a:rPr>
              <a:t>pods</a:t>
            </a:r>
            <a:endParaRPr lang="it-IT" sz="1600" dirty="0">
              <a:solidFill>
                <a:srgbClr val="171FE2"/>
              </a:solidFill>
              <a:latin typeface="Consolas" panose="020B0609020204030204" pitchFamily="49" charset="0"/>
            </a:endParaRPr>
          </a:p>
          <a:p>
            <a:r>
              <a:rPr lang="it-IT" dirty="0"/>
              <a:t>Se la lista è vuota o i </a:t>
            </a:r>
            <a:r>
              <a:rPr lang="it-IT" dirty="0" err="1"/>
              <a:t>Pod</a:t>
            </a:r>
            <a:r>
              <a:rPr lang="it-IT" dirty="0"/>
              <a:t> sono in </a:t>
            </a:r>
            <a:r>
              <a:rPr lang="it-IT" dirty="0" err="1"/>
              <a:t>Pending</a:t>
            </a:r>
            <a:r>
              <a:rPr lang="it-IT" dirty="0"/>
              <a:t> / </a:t>
            </a:r>
            <a:r>
              <a:rPr lang="it-IT" dirty="0" err="1"/>
              <a:t>CrashLoopBackOff</a:t>
            </a:r>
            <a:r>
              <a:rPr lang="it-IT" dirty="0"/>
              <a:t>: Il Service non può funzionare se l'applicazione sotto è in blocco. </a:t>
            </a:r>
          </a:p>
          <a:p>
            <a:r>
              <a:rPr lang="it-IT" dirty="0"/>
              <a:t>Se vediamo </a:t>
            </a:r>
            <a:r>
              <a:rPr lang="it-IT" dirty="0" err="1"/>
              <a:t>CrashLoopBackOff</a:t>
            </a:r>
            <a:r>
              <a:rPr lang="it-IT" dirty="0"/>
              <a:t>, lanciamo:</a:t>
            </a:r>
          </a:p>
          <a:p>
            <a:r>
              <a:rPr lang="it-IT" sz="1600" dirty="0" err="1">
                <a:solidFill>
                  <a:srgbClr val="171FE2"/>
                </a:solidFill>
                <a:latin typeface="Consolas" panose="020B0609020204030204" pitchFamily="49" charset="0"/>
              </a:rPr>
              <a:t>kubectl</a:t>
            </a:r>
            <a:r>
              <a:rPr lang="it-IT" sz="1600" dirty="0">
                <a:solidFill>
                  <a:srgbClr val="171FE2"/>
                </a:solidFill>
                <a:latin typeface="Consolas" panose="020B0609020204030204" pitchFamily="49" charset="0"/>
              </a:rPr>
              <a:t> logs [nome-del-</a:t>
            </a:r>
            <a:r>
              <a:rPr lang="it-IT" sz="1600" dirty="0" err="1">
                <a:solidFill>
                  <a:srgbClr val="171FE2"/>
                </a:solidFill>
                <a:latin typeface="Consolas" panose="020B0609020204030204" pitchFamily="49" charset="0"/>
              </a:rPr>
              <a:t>pod</a:t>
            </a:r>
            <a:r>
              <a:rPr lang="it-IT" sz="1600" dirty="0">
                <a:solidFill>
                  <a:srgbClr val="171FE2"/>
                </a:solidFill>
                <a:latin typeface="Consolas" panose="020B0609020204030204" pitchFamily="49" charset="0"/>
              </a:rPr>
              <a:t>] </a:t>
            </a:r>
          </a:p>
          <a:p>
            <a:r>
              <a:rPr lang="it-IT" dirty="0"/>
              <a:t>per leggere l'errore interno (ad esempio, se fosse il </a:t>
            </a:r>
            <a:r>
              <a:rPr lang="it-IT" dirty="0" err="1"/>
              <a:t>backend</a:t>
            </a:r>
            <a:r>
              <a:rPr lang="it-IT" dirty="0"/>
              <a:t> reale, potrebbe essere che non trova il database).</a:t>
            </a:r>
          </a:p>
          <a:p>
            <a:r>
              <a:rPr lang="it-IT" dirty="0"/>
              <a:t>Se non vediamo nessun </a:t>
            </a:r>
            <a:r>
              <a:rPr lang="it-IT" dirty="0" err="1"/>
              <a:t>Pod</a:t>
            </a:r>
            <a:r>
              <a:rPr lang="it-IT" dirty="0"/>
              <a:t> in lista: Significa che non abbiamo ancora applicato il file del </a:t>
            </a:r>
            <a:r>
              <a:rPr lang="it-IT" dirty="0" err="1"/>
              <a:t>Pod</a:t>
            </a:r>
            <a:r>
              <a:rPr lang="it-IT" dirty="0"/>
              <a:t> o del Deployment in questa sessione. </a:t>
            </a:r>
          </a:p>
          <a:p>
            <a:r>
              <a:rPr lang="it-IT" dirty="0"/>
              <a:t>Lanciamo: </a:t>
            </a:r>
          </a:p>
          <a:p>
            <a:r>
              <a:rPr lang="it-IT" sz="1600" dirty="0" err="1">
                <a:solidFill>
                  <a:srgbClr val="171FE2"/>
                </a:solidFill>
                <a:latin typeface="Consolas" panose="020B0609020204030204" pitchFamily="49" charset="0"/>
              </a:rPr>
              <a:t>kubectl</a:t>
            </a:r>
            <a:r>
              <a:rPr lang="it-IT" sz="1600" dirty="0">
                <a:solidFill>
                  <a:srgbClr val="171FE2"/>
                </a:solidFill>
                <a:latin typeface="Consolas" panose="020B0609020204030204" pitchFamily="49" charset="0"/>
              </a:rPr>
              <a:t> </a:t>
            </a:r>
            <a:r>
              <a:rPr lang="it-IT" sz="1600" dirty="0" err="1">
                <a:solidFill>
                  <a:srgbClr val="171FE2"/>
                </a:solidFill>
                <a:latin typeface="Consolas" panose="020B0609020204030204" pitchFamily="49" charset="0"/>
              </a:rPr>
              <a:t>apply</a:t>
            </a:r>
            <a:r>
              <a:rPr lang="it-IT" sz="1600" dirty="0">
                <a:solidFill>
                  <a:srgbClr val="171FE2"/>
                </a:solidFill>
                <a:latin typeface="Consolas" panose="020B0609020204030204" pitchFamily="49" charset="0"/>
              </a:rPr>
              <a:t> -f </a:t>
            </a:r>
            <a:r>
              <a:rPr lang="it-IT" sz="1600" dirty="0" err="1">
                <a:solidFill>
                  <a:srgbClr val="171FE2"/>
                </a:solidFill>
                <a:latin typeface="Consolas" panose="020B0609020204030204" pitchFamily="49" charset="0"/>
              </a:rPr>
              <a:t>pod-backend.yaml</a:t>
            </a:r>
            <a:r>
              <a:rPr lang="it-IT" sz="1600" dirty="0">
                <a:solidFill>
                  <a:srgbClr val="171FE2"/>
                </a:solidFill>
                <a:latin typeface="Consolas" panose="020B0609020204030204" pitchFamily="49" charset="0"/>
              </a:rPr>
              <a:t> </a:t>
            </a:r>
          </a:p>
          <a:p>
            <a:r>
              <a:rPr lang="it-IT" dirty="0"/>
              <a:t>(o il file del deployment che hai usato) per accendere i motori.</a:t>
            </a:r>
          </a:p>
        </p:txBody>
      </p:sp>
    </p:spTree>
    <p:extLst>
      <p:ext uri="{BB962C8B-B14F-4D97-AF65-F5344CB8AC3E}">
        <p14:creationId xmlns:p14="http://schemas.microsoft.com/office/powerpoint/2010/main" val="1486936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37098-68A6-DCCF-77A5-9A93D95F0B71}"/>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8961B207-3C4E-4FAE-C827-219EAD7465E2}"/>
              </a:ext>
            </a:extLst>
          </p:cNvPr>
          <p:cNvSpPr>
            <a:spLocks noGrp="1"/>
          </p:cNvSpPr>
          <p:nvPr>
            <p:ph type="title"/>
          </p:nvPr>
        </p:nvSpPr>
        <p:spPr>
          <a:xfrm>
            <a:off x="838200" y="831206"/>
            <a:ext cx="10515600" cy="314198"/>
          </a:xfrm>
        </p:spPr>
        <p:txBody>
          <a:bodyPr/>
          <a:lstStyle/>
          <a:p>
            <a:r>
              <a:rPr lang="it-IT" dirty="0"/>
              <a:t>SLIDE 20: LAB PRACTICAL – ESPORRE L'APPLICAZIONE ALL'ESTERNO CON UN SERVICE NODEPORT</a:t>
            </a:r>
          </a:p>
        </p:txBody>
      </p:sp>
      <p:sp>
        <p:nvSpPr>
          <p:cNvPr id="3" name="Contenuto della lezione">
            <a:extLst>
              <a:ext uri="{FF2B5EF4-FFF2-40B4-BE49-F238E27FC236}">
                <a16:creationId xmlns:a16="http://schemas.microsoft.com/office/drawing/2014/main" id="{5E4B49FB-9116-634D-BB84-97A7AA35A450}"/>
              </a:ext>
            </a:extLst>
          </p:cNvPr>
          <p:cNvSpPr>
            <a:spLocks noGrp="1"/>
          </p:cNvSpPr>
          <p:nvPr>
            <p:ph idx="1"/>
          </p:nvPr>
        </p:nvSpPr>
        <p:spPr>
          <a:xfrm>
            <a:off x="1317319" y="1735543"/>
            <a:ext cx="9557362" cy="4803369"/>
          </a:xfrm>
        </p:spPr>
        <p:txBody>
          <a:bodyPr/>
          <a:lstStyle/>
          <a:p>
            <a:r>
              <a:rPr lang="it-IT" b="1" dirty="0"/>
              <a:t>STEP 3: Il dettaglio sul </a:t>
            </a:r>
            <a:r>
              <a:rPr lang="it-IT" b="1" dirty="0" err="1"/>
              <a:t>containerPort</a:t>
            </a:r>
            <a:endParaRPr lang="it-IT" b="1" dirty="0"/>
          </a:p>
          <a:p>
            <a:r>
              <a:rPr lang="it-IT" dirty="0"/>
              <a:t>Nel file service-</a:t>
            </a:r>
            <a:r>
              <a:rPr lang="it-IT" dirty="0" err="1"/>
              <a:t>backend.yaml</a:t>
            </a:r>
            <a:r>
              <a:rPr lang="it-IT" dirty="0"/>
              <a:t>:</a:t>
            </a:r>
          </a:p>
          <a:p>
            <a:r>
              <a:rPr lang="it-IT" dirty="0"/>
              <a:t>port: 80</a:t>
            </a:r>
          </a:p>
          <a:p>
            <a:r>
              <a:rPr lang="it-IT" dirty="0" err="1"/>
              <a:t>targetPort</a:t>
            </a:r>
            <a:r>
              <a:rPr lang="it-IT" dirty="0"/>
              <a:t>: 80</a:t>
            </a:r>
          </a:p>
          <a:p>
            <a:r>
              <a:rPr lang="it-IT" dirty="0"/>
              <a:t>Assicuriamoci che nel file YAML del </a:t>
            </a:r>
            <a:r>
              <a:rPr lang="it-IT" dirty="0" err="1"/>
              <a:t>Pod</a:t>
            </a:r>
            <a:r>
              <a:rPr lang="it-IT" dirty="0"/>
              <a:t> o del Deployment (quello che descrive il container), la voce </a:t>
            </a:r>
            <a:r>
              <a:rPr lang="it-IT" dirty="0" err="1"/>
              <a:t>containerPort</a:t>
            </a:r>
            <a:r>
              <a:rPr lang="it-IT" dirty="0"/>
              <a:t> sia impostata </a:t>
            </a:r>
            <a:r>
              <a:rPr lang="it-IT" b="1" dirty="0"/>
              <a:t>esattamente sulla porta 80</a:t>
            </a:r>
            <a:r>
              <a:rPr lang="it-IT" dirty="0"/>
              <a:t>, altrimenti il Service invia i pacchetti sulla porta 80 del </a:t>
            </a:r>
            <a:r>
              <a:rPr lang="it-IT" dirty="0" err="1"/>
              <a:t>Pod</a:t>
            </a:r>
            <a:r>
              <a:rPr lang="it-IT" dirty="0"/>
              <a:t> ma il container è in ascolto su un'altra porta (come la 8080), provocando il rifiuto della connessione.</a:t>
            </a:r>
          </a:p>
        </p:txBody>
      </p:sp>
    </p:spTree>
    <p:extLst>
      <p:ext uri="{BB962C8B-B14F-4D97-AF65-F5344CB8AC3E}">
        <p14:creationId xmlns:p14="http://schemas.microsoft.com/office/powerpoint/2010/main" val="29940725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31EC7-17D6-B983-FDF7-B149FC020619}"/>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3F9034C4-465C-B824-EEA6-CF7C644291F6}"/>
              </a:ext>
            </a:extLst>
          </p:cNvPr>
          <p:cNvSpPr>
            <a:spLocks noGrp="1"/>
          </p:cNvSpPr>
          <p:nvPr>
            <p:ph type="title"/>
          </p:nvPr>
        </p:nvSpPr>
        <p:spPr>
          <a:xfrm>
            <a:off x="838200" y="831206"/>
            <a:ext cx="10515600" cy="314198"/>
          </a:xfrm>
        </p:spPr>
        <p:txBody>
          <a:bodyPr/>
          <a:lstStyle/>
          <a:p>
            <a:r>
              <a:rPr lang="it-IT" dirty="0"/>
              <a:t>SLIDE 21: Recap sull’importanza dell’oggetto Service</a:t>
            </a:r>
          </a:p>
        </p:txBody>
      </p:sp>
      <p:sp>
        <p:nvSpPr>
          <p:cNvPr id="3" name="Contenuto della lezione">
            <a:extLst>
              <a:ext uri="{FF2B5EF4-FFF2-40B4-BE49-F238E27FC236}">
                <a16:creationId xmlns:a16="http://schemas.microsoft.com/office/drawing/2014/main" id="{6816C5D5-68B5-4164-DBDD-0A03878AB8FA}"/>
              </a:ext>
            </a:extLst>
          </p:cNvPr>
          <p:cNvSpPr>
            <a:spLocks noGrp="1"/>
          </p:cNvSpPr>
          <p:nvPr>
            <p:ph idx="1"/>
          </p:nvPr>
        </p:nvSpPr>
        <p:spPr>
          <a:xfrm>
            <a:off x="838200" y="1223425"/>
            <a:ext cx="10783824" cy="5460839"/>
          </a:xfrm>
        </p:spPr>
        <p:txBody>
          <a:bodyPr/>
          <a:lstStyle/>
          <a:p>
            <a:r>
              <a:rPr lang="it-IT" b="1" dirty="0" err="1"/>
              <a:t>Kubernetes</a:t>
            </a:r>
            <a:r>
              <a:rPr lang="it-IT" b="1" dirty="0"/>
              <a:t> può far parlare i </a:t>
            </a:r>
            <a:r>
              <a:rPr lang="it-IT" b="1" dirty="0" err="1"/>
              <a:t>Pod</a:t>
            </a:r>
            <a:r>
              <a:rPr lang="it-IT" b="1" dirty="0"/>
              <a:t> senza Service?</a:t>
            </a:r>
          </a:p>
          <a:p>
            <a:r>
              <a:rPr lang="it-IT" b="1" dirty="0"/>
              <a:t>Sì.</a:t>
            </a:r>
            <a:endParaRPr lang="it-IT" dirty="0"/>
          </a:p>
          <a:p>
            <a:r>
              <a:rPr lang="it-IT" dirty="0"/>
              <a:t>Ogni </a:t>
            </a:r>
            <a:r>
              <a:rPr lang="it-IT" dirty="0" err="1"/>
              <a:t>Pod</a:t>
            </a:r>
            <a:r>
              <a:rPr lang="it-IT" dirty="0"/>
              <a:t> riceve un IP e, grazie alla rete del cluster (CNI), un </a:t>
            </a:r>
            <a:r>
              <a:rPr lang="it-IT" dirty="0" err="1"/>
              <a:t>Pod</a:t>
            </a:r>
            <a:r>
              <a:rPr lang="it-IT" dirty="0"/>
              <a:t> può raggiungere direttamente l'IP di un altro </a:t>
            </a:r>
            <a:r>
              <a:rPr lang="it-IT" dirty="0" err="1"/>
              <a:t>Pod</a:t>
            </a:r>
            <a:r>
              <a:rPr lang="it-IT" dirty="0"/>
              <a:t>.</a:t>
            </a:r>
          </a:p>
          <a:p>
            <a:r>
              <a:rPr lang="it-IT" dirty="0"/>
              <a:t>Esempio:</a:t>
            </a:r>
          </a:p>
          <a:p>
            <a:r>
              <a:rPr lang="it-IT" dirty="0" err="1"/>
              <a:t>frontend-pod</a:t>
            </a:r>
            <a:r>
              <a:rPr lang="it-IT" dirty="0"/>
              <a:t>  --&gt; 10.244.1.5</a:t>
            </a:r>
            <a:br>
              <a:rPr lang="it-IT" dirty="0"/>
            </a:br>
            <a:r>
              <a:rPr lang="it-IT" dirty="0" err="1"/>
              <a:t>backend-pod</a:t>
            </a:r>
            <a:r>
              <a:rPr lang="it-IT" dirty="0"/>
              <a:t>   --&gt; 10.244.2.8</a:t>
            </a:r>
          </a:p>
          <a:p>
            <a:r>
              <a:rPr lang="it-IT" dirty="0"/>
              <a:t>Il </a:t>
            </a:r>
            <a:r>
              <a:rPr lang="it-IT" dirty="0" err="1"/>
              <a:t>frontend</a:t>
            </a:r>
            <a:r>
              <a:rPr lang="it-IT" dirty="0"/>
              <a:t> può fare una richiesta a:</a:t>
            </a:r>
          </a:p>
          <a:p>
            <a:r>
              <a:rPr lang="it-IT" dirty="0"/>
              <a:t>http://10.244.2.8:8080</a:t>
            </a:r>
          </a:p>
          <a:p>
            <a:r>
              <a:rPr lang="it-IT" dirty="0"/>
              <a:t>quindi la comunicazione è possibile anche senza Service.</a:t>
            </a:r>
          </a:p>
        </p:txBody>
      </p:sp>
    </p:spTree>
    <p:extLst>
      <p:ext uri="{BB962C8B-B14F-4D97-AF65-F5344CB8AC3E}">
        <p14:creationId xmlns:p14="http://schemas.microsoft.com/office/powerpoint/2010/main" val="9682350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CDD70-7951-BC61-4FE8-1E6CB51C69AB}"/>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E41576BD-8789-22DA-0FEE-5CC67D6C32BC}"/>
              </a:ext>
            </a:extLst>
          </p:cNvPr>
          <p:cNvSpPr>
            <a:spLocks noGrp="1"/>
          </p:cNvSpPr>
          <p:nvPr>
            <p:ph type="title"/>
          </p:nvPr>
        </p:nvSpPr>
        <p:spPr>
          <a:xfrm>
            <a:off x="838200" y="831206"/>
            <a:ext cx="10515600" cy="314198"/>
          </a:xfrm>
        </p:spPr>
        <p:txBody>
          <a:bodyPr/>
          <a:lstStyle/>
          <a:p>
            <a:r>
              <a:rPr lang="it-IT" dirty="0"/>
              <a:t>SLIDE 22: Recap sull’importanza dell’oggetto Service</a:t>
            </a:r>
          </a:p>
        </p:txBody>
      </p:sp>
      <p:sp>
        <p:nvSpPr>
          <p:cNvPr id="3" name="Contenuto della lezione">
            <a:extLst>
              <a:ext uri="{FF2B5EF4-FFF2-40B4-BE49-F238E27FC236}">
                <a16:creationId xmlns:a16="http://schemas.microsoft.com/office/drawing/2014/main" id="{17644501-D938-436C-CD72-AE9420AD531E}"/>
              </a:ext>
            </a:extLst>
          </p:cNvPr>
          <p:cNvSpPr>
            <a:spLocks noGrp="1"/>
          </p:cNvSpPr>
          <p:nvPr>
            <p:ph idx="1"/>
          </p:nvPr>
        </p:nvSpPr>
        <p:spPr>
          <a:xfrm>
            <a:off x="838200" y="1223425"/>
            <a:ext cx="10783824" cy="5460839"/>
          </a:xfrm>
        </p:spPr>
        <p:txBody>
          <a:bodyPr/>
          <a:lstStyle/>
          <a:p>
            <a:r>
              <a:rPr lang="it-IT" b="1" dirty="0"/>
              <a:t>Allora perché esiste il Service?</a:t>
            </a:r>
          </a:p>
          <a:p>
            <a:r>
              <a:rPr lang="it-IT" dirty="0"/>
              <a:t>Perché gli IP dei </a:t>
            </a:r>
            <a:r>
              <a:rPr lang="it-IT" dirty="0" err="1"/>
              <a:t>Pod</a:t>
            </a:r>
            <a:r>
              <a:rPr lang="it-IT" dirty="0"/>
              <a:t> sono </a:t>
            </a:r>
            <a:r>
              <a:rPr lang="it-IT" b="1" dirty="0"/>
              <a:t>temporanei</a:t>
            </a:r>
            <a:r>
              <a:rPr lang="it-IT" dirty="0"/>
              <a:t>.</a:t>
            </a:r>
          </a:p>
          <a:p>
            <a:r>
              <a:rPr lang="it-IT" dirty="0"/>
              <a:t>Se </a:t>
            </a:r>
            <a:r>
              <a:rPr lang="it-IT" dirty="0" err="1"/>
              <a:t>backend-pod</a:t>
            </a:r>
            <a:r>
              <a:rPr lang="it-IT" dirty="0"/>
              <a:t> viene eliminato e ricreato:</a:t>
            </a:r>
          </a:p>
          <a:p>
            <a:r>
              <a:rPr lang="it-IT" dirty="0"/>
              <a:t>Prima: 10.244.2.8</a:t>
            </a:r>
            <a:br>
              <a:rPr lang="it-IT" dirty="0"/>
            </a:br>
            <a:r>
              <a:rPr lang="it-IT" dirty="0"/>
              <a:t>Dopo : 10.244.3.12</a:t>
            </a:r>
          </a:p>
          <a:p>
            <a:r>
              <a:rPr lang="it-IT" dirty="0"/>
              <a:t>Il </a:t>
            </a:r>
            <a:r>
              <a:rPr lang="it-IT" dirty="0" err="1"/>
              <a:t>frontend</a:t>
            </a:r>
            <a:r>
              <a:rPr lang="it-IT" dirty="0"/>
              <a:t> non sa che l'IP è cambiato.</a:t>
            </a:r>
          </a:p>
          <a:p>
            <a:r>
              <a:rPr lang="it-IT" dirty="0"/>
              <a:t>Il Service risolve questo problema fornendo:</a:t>
            </a:r>
          </a:p>
          <a:p>
            <a:r>
              <a:rPr lang="it-IT" dirty="0"/>
              <a:t>un IP stabile (</a:t>
            </a:r>
            <a:r>
              <a:rPr lang="it-IT" dirty="0" err="1"/>
              <a:t>ClusterIP</a:t>
            </a:r>
            <a:r>
              <a:rPr lang="it-IT" dirty="0"/>
              <a:t>) </a:t>
            </a:r>
          </a:p>
          <a:p>
            <a:r>
              <a:rPr lang="it-IT" dirty="0"/>
              <a:t>un nome DNS stabile </a:t>
            </a:r>
          </a:p>
          <a:p>
            <a:r>
              <a:rPr lang="it-IT" dirty="0"/>
              <a:t>load balancing tra più repliche</a:t>
            </a:r>
          </a:p>
        </p:txBody>
      </p:sp>
    </p:spTree>
    <p:extLst>
      <p:ext uri="{BB962C8B-B14F-4D97-AF65-F5344CB8AC3E}">
        <p14:creationId xmlns:p14="http://schemas.microsoft.com/office/powerpoint/2010/main" val="32751852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9D5A6-1D86-7FA7-9030-6506AD62A7EB}"/>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BF3D63B9-F9A4-CCEE-D32F-A00615A28614}"/>
              </a:ext>
            </a:extLst>
          </p:cNvPr>
          <p:cNvSpPr>
            <a:spLocks noGrp="1"/>
          </p:cNvSpPr>
          <p:nvPr>
            <p:ph type="title"/>
          </p:nvPr>
        </p:nvSpPr>
        <p:spPr>
          <a:xfrm>
            <a:off x="838200" y="831206"/>
            <a:ext cx="10515600" cy="314198"/>
          </a:xfrm>
        </p:spPr>
        <p:txBody>
          <a:bodyPr/>
          <a:lstStyle/>
          <a:p>
            <a:r>
              <a:rPr lang="it-IT" dirty="0"/>
              <a:t>SLIDE 23: Recap sull’importanza dell’oggetto Service</a:t>
            </a:r>
          </a:p>
        </p:txBody>
      </p:sp>
      <p:sp>
        <p:nvSpPr>
          <p:cNvPr id="3" name="Contenuto della lezione">
            <a:extLst>
              <a:ext uri="{FF2B5EF4-FFF2-40B4-BE49-F238E27FC236}">
                <a16:creationId xmlns:a16="http://schemas.microsoft.com/office/drawing/2014/main" id="{E5912D07-004A-003A-6B2A-16F995A62C01}"/>
              </a:ext>
            </a:extLst>
          </p:cNvPr>
          <p:cNvSpPr>
            <a:spLocks noGrp="1"/>
          </p:cNvSpPr>
          <p:nvPr>
            <p:ph idx="1"/>
          </p:nvPr>
        </p:nvSpPr>
        <p:spPr>
          <a:xfrm>
            <a:off x="838200" y="1223425"/>
            <a:ext cx="10783824" cy="5460839"/>
          </a:xfrm>
        </p:spPr>
        <p:txBody>
          <a:bodyPr/>
          <a:lstStyle/>
          <a:p>
            <a:r>
              <a:rPr lang="it-IT" b="1" dirty="0"/>
              <a:t>Dove entrano le label?</a:t>
            </a:r>
          </a:p>
          <a:p>
            <a:r>
              <a:rPr lang="it-IT" dirty="0"/>
              <a:t>Le label servono al Service per capire quali </a:t>
            </a:r>
            <a:r>
              <a:rPr lang="it-IT" dirty="0" err="1"/>
              <a:t>Pod</a:t>
            </a:r>
            <a:r>
              <a:rPr lang="it-IT" dirty="0"/>
              <a:t> rappresentano il </a:t>
            </a:r>
            <a:r>
              <a:rPr lang="it-IT" dirty="0" err="1"/>
              <a:t>backend</a:t>
            </a:r>
            <a:r>
              <a:rPr lang="it-IT" dirty="0"/>
              <a:t>.</a:t>
            </a:r>
          </a:p>
          <a:p>
            <a:r>
              <a:rPr lang="it-IT" dirty="0"/>
              <a:t>Esempio:</a:t>
            </a:r>
          </a:p>
          <a:p>
            <a:r>
              <a:rPr lang="it-IT" b="1" dirty="0" err="1"/>
              <a:t>Pod</a:t>
            </a:r>
            <a:r>
              <a:rPr lang="it-IT" b="1" dirty="0"/>
              <a:t>:</a:t>
            </a:r>
          </a:p>
          <a:p>
            <a:r>
              <a:rPr lang="it-IT" dirty="0">
                <a:solidFill>
                  <a:srgbClr val="171FE2"/>
                </a:solidFill>
                <a:latin typeface="Consolas" panose="020B0609020204030204" pitchFamily="49" charset="0"/>
              </a:rPr>
              <a:t>labels:</a:t>
            </a:r>
            <a:br>
              <a:rPr lang="it-IT" dirty="0">
                <a:solidFill>
                  <a:srgbClr val="171FE2"/>
                </a:solidFill>
                <a:latin typeface="Consolas" panose="020B0609020204030204" pitchFamily="49" charset="0"/>
              </a:rPr>
            </a:b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app:backend</a:t>
            </a:r>
            <a:endParaRPr lang="it-IT" dirty="0">
              <a:solidFill>
                <a:srgbClr val="171FE2"/>
              </a:solidFill>
              <a:latin typeface="Consolas" panose="020B0609020204030204" pitchFamily="49" charset="0"/>
            </a:endParaRPr>
          </a:p>
          <a:p>
            <a:r>
              <a:rPr lang="it-IT" b="1" dirty="0"/>
              <a:t>Service:</a:t>
            </a:r>
          </a:p>
          <a:p>
            <a:r>
              <a:rPr lang="it-IT" dirty="0">
                <a:solidFill>
                  <a:srgbClr val="171FE2"/>
                </a:solidFill>
                <a:latin typeface="Consolas" panose="020B0609020204030204" pitchFamily="49" charset="0"/>
              </a:rPr>
              <a:t>selector:</a:t>
            </a:r>
            <a:br>
              <a:rPr lang="it-IT" dirty="0">
                <a:solidFill>
                  <a:srgbClr val="171FE2"/>
                </a:solidFill>
                <a:latin typeface="Consolas" panose="020B0609020204030204" pitchFamily="49" charset="0"/>
              </a:rPr>
            </a:b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app:backend</a:t>
            </a:r>
            <a:endParaRPr lang="it-IT" dirty="0">
              <a:solidFill>
                <a:srgbClr val="171FE2"/>
              </a:solidFill>
              <a:latin typeface="Consolas" panose="020B0609020204030204" pitchFamily="49" charset="0"/>
            </a:endParaRPr>
          </a:p>
          <a:p>
            <a:r>
              <a:rPr lang="it-IT" dirty="0" err="1"/>
              <a:t>Kubernetes</a:t>
            </a:r>
            <a:r>
              <a:rPr lang="it-IT" dirty="0"/>
              <a:t> dice:</a:t>
            </a:r>
          </a:p>
          <a:p>
            <a:r>
              <a:rPr lang="it-IT" dirty="0"/>
              <a:t>"Tutti i </a:t>
            </a:r>
            <a:r>
              <a:rPr lang="it-IT" dirty="0" err="1"/>
              <a:t>Pod</a:t>
            </a:r>
            <a:r>
              <a:rPr lang="it-IT" dirty="0"/>
              <a:t> con label </a:t>
            </a:r>
            <a:r>
              <a:rPr lang="it-IT" b="1" dirty="0" err="1"/>
              <a:t>app:backend</a:t>
            </a:r>
            <a:r>
              <a:rPr lang="it-IT" b="1" dirty="0"/>
              <a:t> </a:t>
            </a:r>
            <a:r>
              <a:rPr lang="it-IT" dirty="0"/>
              <a:t>fanno parte di questo Service."</a:t>
            </a:r>
          </a:p>
        </p:txBody>
      </p:sp>
    </p:spTree>
    <p:extLst>
      <p:ext uri="{BB962C8B-B14F-4D97-AF65-F5344CB8AC3E}">
        <p14:creationId xmlns:p14="http://schemas.microsoft.com/office/powerpoint/2010/main" val="19427719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E544F-38E8-D9F6-2817-B7F1368E4B07}"/>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0C87C603-4C63-888D-F98E-CD2F04E56A3C}"/>
              </a:ext>
            </a:extLst>
          </p:cNvPr>
          <p:cNvSpPr>
            <a:spLocks noGrp="1"/>
          </p:cNvSpPr>
          <p:nvPr>
            <p:ph type="title"/>
          </p:nvPr>
        </p:nvSpPr>
        <p:spPr>
          <a:xfrm>
            <a:off x="838200" y="831206"/>
            <a:ext cx="10515600" cy="314198"/>
          </a:xfrm>
        </p:spPr>
        <p:txBody>
          <a:bodyPr/>
          <a:lstStyle/>
          <a:p>
            <a:r>
              <a:rPr lang="it-IT" dirty="0"/>
              <a:t>SLIDE 24: Recap sull’importanza dell’oggetto Service</a:t>
            </a:r>
          </a:p>
        </p:txBody>
      </p:sp>
      <p:sp>
        <p:nvSpPr>
          <p:cNvPr id="3" name="Contenuto della lezione">
            <a:extLst>
              <a:ext uri="{FF2B5EF4-FFF2-40B4-BE49-F238E27FC236}">
                <a16:creationId xmlns:a16="http://schemas.microsoft.com/office/drawing/2014/main" id="{805627B9-A91B-4DF5-3E61-E424D5129846}"/>
              </a:ext>
            </a:extLst>
          </p:cNvPr>
          <p:cNvSpPr>
            <a:spLocks noGrp="1"/>
          </p:cNvSpPr>
          <p:nvPr>
            <p:ph idx="1"/>
          </p:nvPr>
        </p:nvSpPr>
        <p:spPr>
          <a:xfrm>
            <a:off x="838200" y="1223425"/>
            <a:ext cx="10783824" cy="5460839"/>
          </a:xfrm>
        </p:spPr>
        <p:txBody>
          <a:bodyPr/>
          <a:lstStyle/>
          <a:p>
            <a:r>
              <a:rPr lang="it-IT" dirty="0"/>
              <a:t>Immaginiamo:</a:t>
            </a:r>
          </a:p>
          <a:p>
            <a:r>
              <a:rPr lang="it-IT" dirty="0">
                <a:solidFill>
                  <a:srgbClr val="171FE2"/>
                </a:solidFill>
                <a:latin typeface="Consolas" panose="020B0609020204030204" pitchFamily="49" charset="0"/>
              </a:rPr>
              <a:t>backend-1 -&gt; 10.244.1.10</a:t>
            </a:r>
            <a:br>
              <a:rPr lang="it-IT" dirty="0">
                <a:solidFill>
                  <a:srgbClr val="171FE2"/>
                </a:solidFill>
                <a:latin typeface="Consolas" panose="020B0609020204030204" pitchFamily="49" charset="0"/>
              </a:rPr>
            </a:br>
            <a:r>
              <a:rPr lang="it-IT" dirty="0">
                <a:solidFill>
                  <a:srgbClr val="171FE2"/>
                </a:solidFill>
                <a:latin typeface="Consolas" panose="020B0609020204030204" pitchFamily="49" charset="0"/>
              </a:rPr>
              <a:t>backend-2 -&gt; 10.244.1.11</a:t>
            </a:r>
            <a:br>
              <a:rPr lang="it-IT" dirty="0">
                <a:solidFill>
                  <a:srgbClr val="171FE2"/>
                </a:solidFill>
                <a:latin typeface="Consolas" panose="020B0609020204030204" pitchFamily="49" charset="0"/>
              </a:rPr>
            </a:br>
            <a:r>
              <a:rPr lang="it-IT" dirty="0">
                <a:solidFill>
                  <a:srgbClr val="171FE2"/>
                </a:solidFill>
                <a:latin typeface="Consolas" panose="020B0609020204030204" pitchFamily="49" charset="0"/>
              </a:rPr>
              <a:t>backend-3 -&gt; 10.244.1.12</a:t>
            </a:r>
          </a:p>
          <a:p>
            <a:r>
              <a:rPr lang="it-IT" dirty="0"/>
              <a:t>tutti con:</a:t>
            </a:r>
          </a:p>
          <a:p>
            <a:r>
              <a:rPr lang="it-IT" dirty="0">
                <a:solidFill>
                  <a:srgbClr val="171FE2"/>
                </a:solidFill>
                <a:latin typeface="Consolas" panose="020B0609020204030204" pitchFamily="49" charset="0"/>
              </a:rPr>
              <a:t>app: </a:t>
            </a:r>
            <a:r>
              <a:rPr lang="it-IT" dirty="0" err="1">
                <a:solidFill>
                  <a:srgbClr val="171FE2"/>
                </a:solidFill>
                <a:latin typeface="Consolas" panose="020B0609020204030204" pitchFamily="49" charset="0"/>
              </a:rPr>
              <a:t>backend</a:t>
            </a:r>
            <a:endParaRPr lang="it-IT" dirty="0">
              <a:solidFill>
                <a:srgbClr val="171FE2"/>
              </a:solidFill>
              <a:latin typeface="Consolas" panose="020B0609020204030204" pitchFamily="49" charset="0"/>
            </a:endParaRPr>
          </a:p>
          <a:p>
            <a:r>
              <a:rPr lang="it-IT" dirty="0"/>
              <a:t>Service:</a:t>
            </a:r>
          </a:p>
          <a:p>
            <a:r>
              <a:rPr lang="it-IT" dirty="0">
                <a:solidFill>
                  <a:srgbClr val="171FE2"/>
                </a:solidFill>
                <a:latin typeface="Consolas" panose="020B0609020204030204" pitchFamily="49" charset="0"/>
              </a:rPr>
              <a:t>name: </a:t>
            </a:r>
            <a:r>
              <a:rPr lang="it-IT" dirty="0" err="1">
                <a:solidFill>
                  <a:srgbClr val="171FE2"/>
                </a:solidFill>
                <a:latin typeface="Consolas" panose="020B0609020204030204" pitchFamily="49" charset="0"/>
              </a:rPr>
              <a:t>backend</a:t>
            </a:r>
            <a:r>
              <a:rPr lang="it-IT" dirty="0">
                <a:solidFill>
                  <a:srgbClr val="171FE2"/>
                </a:solidFill>
                <a:latin typeface="Consolas" panose="020B0609020204030204" pitchFamily="49" charset="0"/>
              </a:rPr>
              <a:t>-service</a:t>
            </a:r>
            <a:br>
              <a:rPr lang="it-IT" dirty="0">
                <a:solidFill>
                  <a:srgbClr val="171FE2"/>
                </a:solidFill>
                <a:latin typeface="Consolas" panose="020B0609020204030204" pitchFamily="49" charset="0"/>
              </a:rPr>
            </a:br>
            <a:r>
              <a:rPr lang="it-IT" dirty="0">
                <a:solidFill>
                  <a:srgbClr val="171FE2"/>
                </a:solidFill>
                <a:latin typeface="Consolas" panose="020B0609020204030204" pitchFamily="49" charset="0"/>
              </a:rPr>
              <a:t>selector:</a:t>
            </a:r>
            <a:br>
              <a:rPr lang="it-IT" dirty="0">
                <a:solidFill>
                  <a:srgbClr val="171FE2"/>
                </a:solidFill>
                <a:latin typeface="Consolas" panose="020B0609020204030204" pitchFamily="49" charset="0"/>
              </a:rPr>
            </a:br>
            <a:r>
              <a:rPr lang="it-IT" dirty="0">
                <a:solidFill>
                  <a:srgbClr val="171FE2"/>
                </a:solidFill>
                <a:latin typeface="Consolas" panose="020B0609020204030204" pitchFamily="49" charset="0"/>
              </a:rPr>
              <a:t>  app: </a:t>
            </a:r>
            <a:r>
              <a:rPr lang="it-IT" dirty="0" err="1">
                <a:solidFill>
                  <a:srgbClr val="171FE2"/>
                </a:solidFill>
                <a:latin typeface="Consolas" panose="020B0609020204030204" pitchFamily="49" charset="0"/>
              </a:rPr>
              <a:t>backend</a:t>
            </a:r>
            <a:endParaRPr lang="it-IT" dirty="0">
              <a:solidFill>
                <a:srgbClr val="171FE2"/>
              </a:solidFill>
              <a:latin typeface="Consolas" panose="020B0609020204030204" pitchFamily="49" charset="0"/>
            </a:endParaRPr>
          </a:p>
          <a:p>
            <a:r>
              <a:rPr lang="it-IT" dirty="0" err="1"/>
              <a:t>Kubernetes</a:t>
            </a:r>
            <a:r>
              <a:rPr lang="it-IT" dirty="0"/>
              <a:t> crea una lista di endpoint:</a:t>
            </a:r>
          </a:p>
          <a:p>
            <a:r>
              <a:rPr lang="it-IT" dirty="0" err="1">
                <a:solidFill>
                  <a:srgbClr val="171FE2"/>
                </a:solidFill>
                <a:latin typeface="Consolas" panose="020B0609020204030204" pitchFamily="49" charset="0"/>
              </a:rPr>
              <a:t>backend</a:t>
            </a:r>
            <a:r>
              <a:rPr lang="it-IT" dirty="0">
                <a:solidFill>
                  <a:srgbClr val="171FE2"/>
                </a:solidFill>
                <a:latin typeface="Consolas" panose="020B0609020204030204" pitchFamily="49" charset="0"/>
              </a:rPr>
              <a:t>-service</a:t>
            </a:r>
            <a:br>
              <a:rPr lang="it-IT" dirty="0">
                <a:solidFill>
                  <a:srgbClr val="171FE2"/>
                </a:solidFill>
                <a:latin typeface="Consolas" panose="020B0609020204030204" pitchFamily="49" charset="0"/>
              </a:rPr>
            </a:br>
            <a:r>
              <a:rPr lang="it-IT" dirty="0">
                <a:solidFill>
                  <a:srgbClr val="171FE2"/>
                </a:solidFill>
                <a:latin typeface="Consolas" panose="020B0609020204030204" pitchFamily="49" charset="0"/>
              </a:rPr>
              <a:t> ├─ 10.244.1.10</a:t>
            </a:r>
            <a:br>
              <a:rPr lang="it-IT" dirty="0">
                <a:solidFill>
                  <a:srgbClr val="171FE2"/>
                </a:solidFill>
                <a:latin typeface="Consolas" panose="020B0609020204030204" pitchFamily="49" charset="0"/>
              </a:rPr>
            </a:br>
            <a:r>
              <a:rPr lang="it-IT" dirty="0">
                <a:solidFill>
                  <a:srgbClr val="171FE2"/>
                </a:solidFill>
                <a:latin typeface="Consolas" panose="020B0609020204030204" pitchFamily="49" charset="0"/>
              </a:rPr>
              <a:t> ├─ 10.244.1.11</a:t>
            </a:r>
            <a:br>
              <a:rPr lang="it-IT" dirty="0">
                <a:solidFill>
                  <a:srgbClr val="171FE2"/>
                </a:solidFill>
                <a:latin typeface="Consolas" panose="020B0609020204030204" pitchFamily="49" charset="0"/>
              </a:rPr>
            </a:br>
            <a:r>
              <a:rPr lang="it-IT" dirty="0">
                <a:solidFill>
                  <a:srgbClr val="171FE2"/>
                </a:solidFill>
                <a:latin typeface="Consolas" panose="020B0609020204030204" pitchFamily="49" charset="0"/>
              </a:rPr>
              <a:t> └─ 10.244.1.12</a:t>
            </a:r>
          </a:p>
          <a:p>
            <a:r>
              <a:rPr lang="it-IT" dirty="0"/>
              <a:t>Quando qualcuno chiama:</a:t>
            </a:r>
          </a:p>
          <a:p>
            <a:r>
              <a:rPr lang="it-IT" dirty="0">
                <a:solidFill>
                  <a:srgbClr val="171FE2"/>
                </a:solidFill>
                <a:latin typeface="Consolas" panose="020B0609020204030204" pitchFamily="49" charset="0"/>
                <a:hlinkClick r:id="rId2"/>
              </a:rPr>
              <a:t>http://backend-service</a:t>
            </a:r>
            <a:r>
              <a:rPr lang="it-IT" dirty="0">
                <a:solidFill>
                  <a:srgbClr val="171FE2"/>
                </a:solidFill>
                <a:latin typeface="Consolas" panose="020B0609020204030204" pitchFamily="49" charset="0"/>
              </a:rPr>
              <a:t> </a:t>
            </a:r>
            <a:r>
              <a:rPr lang="it-IT" dirty="0"/>
              <a:t>il traffico viene inoltrato a uno dei tre </a:t>
            </a:r>
            <a:r>
              <a:rPr lang="it-IT" dirty="0" err="1"/>
              <a:t>Pod</a:t>
            </a:r>
            <a:r>
              <a:rPr lang="it-IT" dirty="0"/>
              <a:t>.</a:t>
            </a:r>
          </a:p>
        </p:txBody>
      </p:sp>
      <p:sp>
        <p:nvSpPr>
          <p:cNvPr id="4" name="CasellaDiTesto 3">
            <a:extLst>
              <a:ext uri="{FF2B5EF4-FFF2-40B4-BE49-F238E27FC236}">
                <a16:creationId xmlns:a16="http://schemas.microsoft.com/office/drawing/2014/main" id="{8C02A9C5-4214-8A1C-F774-71DBDFAE8EAE}"/>
              </a:ext>
            </a:extLst>
          </p:cNvPr>
          <p:cNvSpPr txBox="1"/>
          <p:nvPr/>
        </p:nvSpPr>
        <p:spPr>
          <a:xfrm>
            <a:off x="5760720" y="2304288"/>
            <a:ext cx="4167423" cy="646331"/>
          </a:xfrm>
          <a:prstGeom prst="rect">
            <a:avLst/>
          </a:prstGeom>
          <a:noFill/>
        </p:spPr>
        <p:txBody>
          <a:bodyPr wrap="none" rtlCol="0">
            <a:spAutoFit/>
          </a:bodyPr>
          <a:lstStyle/>
          <a:p>
            <a:r>
              <a:rPr lang="it-IT" b="1" dirty="0">
                <a:solidFill>
                  <a:srgbClr val="171FE2"/>
                </a:solidFill>
              </a:rPr>
              <a:t>La catena completa:</a:t>
            </a:r>
          </a:p>
          <a:p>
            <a:r>
              <a:rPr lang="it-IT" b="1" dirty="0">
                <a:solidFill>
                  <a:srgbClr val="171FE2"/>
                </a:solidFill>
              </a:rPr>
              <a:t>DNS --&gt; Service --&gt; Selector (label) --&gt; </a:t>
            </a:r>
            <a:r>
              <a:rPr lang="it-IT" b="1" dirty="0" err="1">
                <a:solidFill>
                  <a:srgbClr val="171FE2"/>
                </a:solidFill>
              </a:rPr>
              <a:t>Pod</a:t>
            </a:r>
            <a:endParaRPr lang="it-IT" b="1" dirty="0">
              <a:solidFill>
                <a:srgbClr val="171FE2"/>
              </a:solidFill>
            </a:endParaRPr>
          </a:p>
        </p:txBody>
      </p:sp>
    </p:spTree>
    <p:extLst>
      <p:ext uri="{BB962C8B-B14F-4D97-AF65-F5344CB8AC3E}">
        <p14:creationId xmlns:p14="http://schemas.microsoft.com/office/powerpoint/2010/main" val="318517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E1AE3-8141-AC98-0E43-5A95EE6482AD}"/>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A7A5EA7A-787C-61AC-34AE-91625F909F6D}"/>
              </a:ext>
            </a:extLst>
          </p:cNvPr>
          <p:cNvSpPr>
            <a:spLocks noGrp="1"/>
          </p:cNvSpPr>
          <p:nvPr>
            <p:ph type="title"/>
          </p:nvPr>
        </p:nvSpPr>
        <p:spPr>
          <a:xfrm>
            <a:off x="838200" y="831206"/>
            <a:ext cx="10515600" cy="314198"/>
          </a:xfrm>
        </p:spPr>
        <p:txBody>
          <a:bodyPr/>
          <a:lstStyle/>
          <a:p>
            <a:r>
              <a:rPr lang="it-IT" dirty="0"/>
              <a:t>SLIDE 25: IL CONCETTO DI NAMESPACE – I CASSETTI DEL CLUSTER ENTERPRISE</a:t>
            </a:r>
          </a:p>
        </p:txBody>
      </p:sp>
      <p:sp>
        <p:nvSpPr>
          <p:cNvPr id="3" name="Contenuto della lezione">
            <a:extLst>
              <a:ext uri="{FF2B5EF4-FFF2-40B4-BE49-F238E27FC236}">
                <a16:creationId xmlns:a16="http://schemas.microsoft.com/office/drawing/2014/main" id="{AEF290CA-53A8-6D18-C950-2F209E9E0ADC}"/>
              </a:ext>
            </a:extLst>
          </p:cNvPr>
          <p:cNvSpPr>
            <a:spLocks noGrp="1"/>
          </p:cNvSpPr>
          <p:nvPr>
            <p:ph idx="1"/>
          </p:nvPr>
        </p:nvSpPr>
        <p:spPr>
          <a:xfrm>
            <a:off x="838200" y="1589185"/>
            <a:ext cx="10783824" cy="5460839"/>
          </a:xfrm>
        </p:spPr>
        <p:txBody>
          <a:bodyPr/>
          <a:lstStyle/>
          <a:p>
            <a:r>
              <a:rPr lang="it-IT" dirty="0"/>
              <a:t>In un contesto aziendale reale, un cluster </a:t>
            </a:r>
            <a:r>
              <a:rPr lang="it-IT" dirty="0" err="1"/>
              <a:t>Kubernetes</a:t>
            </a:r>
            <a:r>
              <a:rPr lang="it-IT" dirty="0"/>
              <a:t> non viene quasi mai utilizzato per far girare un'unica applicazione isolata. </a:t>
            </a:r>
          </a:p>
          <a:p>
            <a:r>
              <a:rPr lang="it-IT" dirty="0"/>
              <a:t>All'interno dello stesso cluster hardware, l'azienda potrebbe decidere di ospitare il sito web pubblico, l'applicazione di contabilità interna, il software delle risorse umane e, contemporaneamente, mantenere tre ambienti separati per gli sviluppatori: l'ambiente di Sviluppo (Dev), l'ambiente di Collaudo (</a:t>
            </a:r>
            <a:r>
              <a:rPr lang="it-IT" dirty="0" err="1"/>
              <a:t>Staging</a:t>
            </a:r>
            <a:r>
              <a:rPr lang="it-IT" dirty="0"/>
              <a:t>) e l'ambiente finale di Produzione (</a:t>
            </a:r>
            <a:r>
              <a:rPr lang="it-IT" dirty="0" err="1"/>
              <a:t>Prod</a:t>
            </a:r>
            <a:r>
              <a:rPr lang="it-IT" dirty="0"/>
              <a:t>). </a:t>
            </a:r>
          </a:p>
          <a:p>
            <a:r>
              <a:rPr lang="it-IT" dirty="0"/>
              <a:t>Se ammassassimo tutti i </a:t>
            </a:r>
            <a:r>
              <a:rPr lang="it-IT" dirty="0" err="1"/>
              <a:t>Pod</a:t>
            </a:r>
            <a:r>
              <a:rPr lang="it-IT" dirty="0"/>
              <a:t>, i Deployment e i Service di questi progetti all'interno dello stesso calderone, i programmatori rischierebbero di sovrascrivere o cancellare per errore i componenti di un altro team, creando un caos colossale. </a:t>
            </a:r>
          </a:p>
          <a:p>
            <a:r>
              <a:rPr lang="it-IT" dirty="0"/>
              <a:t>Per prevenire questo scenario, </a:t>
            </a:r>
            <a:r>
              <a:rPr lang="it-IT" dirty="0" err="1"/>
              <a:t>Kubernetes</a:t>
            </a:r>
            <a:r>
              <a:rPr lang="it-IT" dirty="0"/>
              <a:t> introduce il concetto di </a:t>
            </a:r>
            <a:r>
              <a:rPr lang="it-IT" b="1" dirty="0" err="1"/>
              <a:t>Namespace</a:t>
            </a:r>
            <a:r>
              <a:rPr lang="it-IT" dirty="0"/>
              <a:t> (Spazio dei nomi).</a:t>
            </a:r>
          </a:p>
        </p:txBody>
      </p:sp>
    </p:spTree>
    <p:extLst>
      <p:ext uri="{BB962C8B-B14F-4D97-AF65-F5344CB8AC3E}">
        <p14:creationId xmlns:p14="http://schemas.microsoft.com/office/powerpoint/2010/main" val="36126264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F567F-6FFB-3ABD-455D-CBF5F5D61B22}"/>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C119CB56-C7DD-6A73-B257-2EF42D7C6FFB}"/>
              </a:ext>
            </a:extLst>
          </p:cNvPr>
          <p:cNvSpPr>
            <a:spLocks noGrp="1"/>
          </p:cNvSpPr>
          <p:nvPr>
            <p:ph type="title"/>
          </p:nvPr>
        </p:nvSpPr>
        <p:spPr>
          <a:xfrm>
            <a:off x="838200" y="831206"/>
            <a:ext cx="10515600" cy="314198"/>
          </a:xfrm>
        </p:spPr>
        <p:txBody>
          <a:bodyPr/>
          <a:lstStyle/>
          <a:p>
            <a:r>
              <a:rPr lang="it-IT" dirty="0"/>
              <a:t>SLIDE 26: IL CONCETTO DI NAMESPACE – I CASSETTI DEL CLUSTER ENTERPRISE</a:t>
            </a:r>
          </a:p>
        </p:txBody>
      </p:sp>
      <p:sp>
        <p:nvSpPr>
          <p:cNvPr id="3" name="Contenuto della lezione">
            <a:extLst>
              <a:ext uri="{FF2B5EF4-FFF2-40B4-BE49-F238E27FC236}">
                <a16:creationId xmlns:a16="http://schemas.microsoft.com/office/drawing/2014/main" id="{1D01C210-67BB-A9D7-67FD-36872BE86691}"/>
              </a:ext>
            </a:extLst>
          </p:cNvPr>
          <p:cNvSpPr>
            <a:spLocks noGrp="1"/>
          </p:cNvSpPr>
          <p:nvPr>
            <p:ph idx="1"/>
          </p:nvPr>
        </p:nvSpPr>
        <p:spPr>
          <a:xfrm>
            <a:off x="838200" y="1589185"/>
            <a:ext cx="10783824" cy="5460839"/>
          </a:xfrm>
        </p:spPr>
        <p:txBody>
          <a:bodyPr/>
          <a:lstStyle/>
          <a:p>
            <a:r>
              <a:rPr lang="it-IT" dirty="0"/>
              <a:t>Un </a:t>
            </a:r>
            <a:r>
              <a:rPr lang="it-IT" dirty="0" err="1"/>
              <a:t>Namespace</a:t>
            </a:r>
            <a:r>
              <a:rPr lang="it-IT" dirty="0"/>
              <a:t> non è un'entità fisica o un server separato, ma una </a:t>
            </a:r>
            <a:r>
              <a:rPr lang="it-IT" b="1" dirty="0"/>
              <a:t>barriera logica virtuale</a:t>
            </a:r>
            <a:r>
              <a:rPr lang="it-IT" dirty="0"/>
              <a:t>, un vero e proprio cassetto che divide l'interno del cluster in stanze isolate e indipendenti. </a:t>
            </a:r>
          </a:p>
          <a:p>
            <a:r>
              <a:rPr lang="it-IT" dirty="0"/>
              <a:t>Quando creiamo un </a:t>
            </a:r>
            <a:r>
              <a:rPr lang="it-IT" dirty="0" err="1"/>
              <a:t>Pod</a:t>
            </a:r>
            <a:r>
              <a:rPr lang="it-IT" dirty="0"/>
              <a:t> dentro un </a:t>
            </a:r>
            <a:r>
              <a:rPr lang="it-IT" dirty="0" err="1">
                <a:solidFill>
                  <a:srgbClr val="171FE2"/>
                </a:solidFill>
              </a:rPr>
              <a:t>Namespace</a:t>
            </a:r>
            <a:r>
              <a:rPr lang="it-IT" dirty="0">
                <a:solidFill>
                  <a:srgbClr val="171FE2"/>
                </a:solidFill>
              </a:rPr>
              <a:t> chiamato </a:t>
            </a:r>
            <a:r>
              <a:rPr lang="it-IT" b="1" dirty="0">
                <a:solidFill>
                  <a:srgbClr val="171FE2"/>
                </a:solidFill>
              </a:rPr>
              <a:t>sviluppo</a:t>
            </a:r>
            <a:r>
              <a:rPr lang="it-IT" dirty="0"/>
              <a:t>, quel </a:t>
            </a:r>
            <a:r>
              <a:rPr lang="it-IT" dirty="0" err="1"/>
              <a:t>Pod</a:t>
            </a:r>
            <a:r>
              <a:rPr lang="it-IT" dirty="0"/>
              <a:t> sarà completamente invisibile per gli sviluppatori che lavorano nel </a:t>
            </a:r>
            <a:r>
              <a:rPr lang="it-IT" dirty="0" err="1">
                <a:solidFill>
                  <a:srgbClr val="171FE2"/>
                </a:solidFill>
              </a:rPr>
              <a:t>Namespace</a:t>
            </a:r>
            <a:r>
              <a:rPr lang="it-IT" dirty="0">
                <a:solidFill>
                  <a:srgbClr val="171FE2"/>
                </a:solidFill>
              </a:rPr>
              <a:t> chiamato </a:t>
            </a:r>
            <a:r>
              <a:rPr lang="it-IT" b="1" dirty="0">
                <a:solidFill>
                  <a:srgbClr val="171FE2"/>
                </a:solidFill>
              </a:rPr>
              <a:t>produzione</a:t>
            </a:r>
            <a:r>
              <a:rPr lang="it-IT" dirty="0"/>
              <a:t>. </a:t>
            </a:r>
          </a:p>
          <a:p>
            <a:r>
              <a:rPr lang="it-IT" dirty="0"/>
              <a:t>Possiamo addirittura creare due </a:t>
            </a:r>
            <a:r>
              <a:rPr lang="it-IT" dirty="0" err="1"/>
              <a:t>Pod</a:t>
            </a:r>
            <a:r>
              <a:rPr lang="it-IT" dirty="0"/>
              <a:t> o due Service con lo stesso identico nome (ad esempio database-service) all'interno del cluster, a patto che risiedano in due </a:t>
            </a:r>
            <a:r>
              <a:rPr lang="it-IT" dirty="0" err="1"/>
              <a:t>Namespace</a:t>
            </a:r>
            <a:r>
              <a:rPr lang="it-IT" dirty="0"/>
              <a:t> differenti, senza che entrino mai in conflitto di rete o di nome. </a:t>
            </a:r>
          </a:p>
          <a:p>
            <a:r>
              <a:rPr lang="it-IT" dirty="0"/>
              <a:t>Questo permette alle aziende di ottimizzare al massimo i costi: comprano un solo gruppo di server potenti (Cluster) e poi lo dividono internamente in decine di sotto-ambienti sicuri per i vari reparti aziendali.</a:t>
            </a:r>
          </a:p>
          <a:p>
            <a:r>
              <a:rPr lang="it-IT" dirty="0">
                <a:solidFill>
                  <a:srgbClr val="171FE2"/>
                </a:solidFill>
              </a:rPr>
              <a:t>Se non specifichiamo un </a:t>
            </a:r>
            <a:r>
              <a:rPr lang="it-IT" dirty="0" err="1">
                <a:solidFill>
                  <a:srgbClr val="171FE2"/>
                </a:solidFill>
              </a:rPr>
              <a:t>namespace</a:t>
            </a:r>
            <a:r>
              <a:rPr lang="it-IT" dirty="0">
                <a:solidFill>
                  <a:srgbClr val="171FE2"/>
                </a:solidFill>
              </a:rPr>
              <a:t> (come accaduto finora), </a:t>
            </a:r>
            <a:r>
              <a:rPr lang="it-IT" dirty="0" err="1">
                <a:solidFill>
                  <a:srgbClr val="171FE2"/>
                </a:solidFill>
              </a:rPr>
              <a:t>Kubernetes</a:t>
            </a:r>
            <a:r>
              <a:rPr lang="it-IT" dirty="0">
                <a:solidFill>
                  <a:srgbClr val="171FE2"/>
                </a:solidFill>
              </a:rPr>
              <a:t> lavora all'interno di un </a:t>
            </a:r>
            <a:r>
              <a:rPr lang="it-IT" dirty="0" err="1">
                <a:solidFill>
                  <a:srgbClr val="171FE2"/>
                </a:solidFill>
              </a:rPr>
              <a:t>Namespace</a:t>
            </a:r>
            <a:r>
              <a:rPr lang="it-IT" dirty="0">
                <a:solidFill>
                  <a:srgbClr val="171FE2"/>
                </a:solidFill>
              </a:rPr>
              <a:t> predefinito creato di fabbrica che si chiama esattamente </a:t>
            </a:r>
            <a:r>
              <a:rPr lang="it-IT" b="1" dirty="0">
                <a:solidFill>
                  <a:srgbClr val="171FE2"/>
                </a:solidFill>
              </a:rPr>
              <a:t>default</a:t>
            </a:r>
            <a:r>
              <a:rPr lang="it-IT" dirty="0">
                <a:solidFill>
                  <a:srgbClr val="171FE2"/>
                </a:solidFill>
              </a:rPr>
              <a:t>. </a:t>
            </a:r>
          </a:p>
          <a:p>
            <a:r>
              <a:rPr lang="it-IT" dirty="0"/>
              <a:t>Inserisce e cerca tutto dentro il cassetto default.</a:t>
            </a:r>
          </a:p>
        </p:txBody>
      </p:sp>
    </p:spTree>
    <p:extLst>
      <p:ext uri="{BB962C8B-B14F-4D97-AF65-F5344CB8AC3E}">
        <p14:creationId xmlns:p14="http://schemas.microsoft.com/office/powerpoint/2010/main" val="2070244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BD7F7-3512-E2E4-4C60-E9F8013096EE}"/>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3420CEC5-A321-EE63-924B-EC4B3C4C6D26}"/>
              </a:ext>
            </a:extLst>
          </p:cNvPr>
          <p:cNvSpPr>
            <a:spLocks noGrp="1"/>
          </p:cNvSpPr>
          <p:nvPr>
            <p:ph type="title"/>
          </p:nvPr>
        </p:nvSpPr>
        <p:spPr>
          <a:xfrm>
            <a:off x="838200" y="831206"/>
            <a:ext cx="10515600" cy="314198"/>
          </a:xfrm>
        </p:spPr>
        <p:txBody>
          <a:bodyPr/>
          <a:lstStyle/>
          <a:p>
            <a:r>
              <a:rPr lang="it-IT" dirty="0"/>
              <a:t>SLIDE 27: LAB PRACTICAL – ISPEZIONARE I NAMESPACE DI SISTEMA E CREARNE UNO PERSONALIZZATO</a:t>
            </a:r>
          </a:p>
        </p:txBody>
      </p:sp>
      <p:sp>
        <p:nvSpPr>
          <p:cNvPr id="3" name="Contenuto della lezione">
            <a:extLst>
              <a:ext uri="{FF2B5EF4-FFF2-40B4-BE49-F238E27FC236}">
                <a16:creationId xmlns:a16="http://schemas.microsoft.com/office/drawing/2014/main" id="{0B173C3F-556A-89AA-149F-C7BE7C0DB8E9}"/>
              </a:ext>
            </a:extLst>
          </p:cNvPr>
          <p:cNvSpPr>
            <a:spLocks noGrp="1"/>
          </p:cNvSpPr>
          <p:nvPr>
            <p:ph idx="1"/>
          </p:nvPr>
        </p:nvSpPr>
        <p:spPr>
          <a:xfrm>
            <a:off x="838200" y="1589185"/>
            <a:ext cx="10783824" cy="5460839"/>
          </a:xfrm>
        </p:spPr>
        <p:txBody>
          <a:bodyPr/>
          <a:lstStyle/>
          <a:p>
            <a:r>
              <a:rPr lang="it-IT" dirty="0"/>
              <a:t>Andremo ad ispezionare i </a:t>
            </a:r>
            <a:r>
              <a:rPr lang="it-IT" dirty="0" err="1"/>
              <a:t>Namespace</a:t>
            </a:r>
            <a:r>
              <a:rPr lang="it-IT" dirty="0"/>
              <a:t> presenti all'interno del nostro cluster, creando il nostro spazio di lavoro protetto dedicato al nostro progetto aziendale. </a:t>
            </a:r>
          </a:p>
          <a:p>
            <a:r>
              <a:rPr lang="it-IT" dirty="0"/>
              <a:t>Questo ci permetterà di ripulire l'ambiente di lavoro ed evitare di toccare i file vitali di </a:t>
            </a:r>
            <a:r>
              <a:rPr lang="it-IT" dirty="0" err="1"/>
              <a:t>Kubernetes</a:t>
            </a:r>
            <a:r>
              <a:rPr lang="it-IT" dirty="0"/>
              <a:t>.</a:t>
            </a:r>
          </a:p>
          <a:p>
            <a:r>
              <a:rPr lang="it-IT" dirty="0"/>
              <a:t>Per vedere l'elenco di tutti i cassetti logici attivi in questo momento sul cluster Docker Desktop, digitiamo il comando di censimento organizzativo:</a:t>
            </a:r>
          </a:p>
          <a:p>
            <a:r>
              <a:rPr lang="it-IT" dirty="0" err="1">
                <a:solidFill>
                  <a:srgbClr val="171FE2"/>
                </a:solidFill>
                <a:latin typeface="Consolas" panose="020B0609020204030204" pitchFamily="49" charset="0"/>
              </a:rPr>
              <a:t>kubectl</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get</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namespaces</a:t>
            </a:r>
            <a:r>
              <a:rPr lang="it-IT" dirty="0">
                <a:solidFill>
                  <a:srgbClr val="171FE2"/>
                </a:solidFill>
                <a:latin typeface="Consolas" panose="020B0609020204030204" pitchFamily="49" charset="0"/>
              </a:rPr>
              <a:t>   </a:t>
            </a:r>
            <a:r>
              <a:rPr lang="it-IT" dirty="0"/>
              <a:t>(Abbreviabile in </a:t>
            </a:r>
            <a:r>
              <a:rPr lang="it-IT" dirty="0" err="1">
                <a:solidFill>
                  <a:srgbClr val="171FE2"/>
                </a:solidFill>
                <a:latin typeface="Consolas" panose="020B0609020204030204" pitchFamily="49" charset="0"/>
              </a:rPr>
              <a:t>kubectl</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get</a:t>
            </a:r>
            <a:r>
              <a:rPr lang="it-IT" dirty="0">
                <a:solidFill>
                  <a:srgbClr val="171FE2"/>
                </a:solidFill>
                <a:latin typeface="Consolas" panose="020B0609020204030204" pitchFamily="49" charset="0"/>
              </a:rPr>
              <a:t> ns</a:t>
            </a:r>
            <a:r>
              <a:rPr lang="it-IT" dirty="0"/>
              <a:t>)</a:t>
            </a:r>
            <a:endParaRPr lang="it-IT" dirty="0">
              <a:solidFill>
                <a:srgbClr val="171FE2"/>
              </a:solidFill>
              <a:latin typeface="Consolas" panose="020B0609020204030204" pitchFamily="49" charset="0"/>
            </a:endParaRPr>
          </a:p>
          <a:p>
            <a:endParaRPr lang="it-IT" dirty="0">
              <a:solidFill>
                <a:srgbClr val="171FE2"/>
              </a:solidFill>
              <a:latin typeface="Consolas" panose="020B0609020204030204" pitchFamily="49" charset="0"/>
            </a:endParaRPr>
          </a:p>
          <a:p>
            <a:endParaRPr lang="it-IT" dirty="0">
              <a:solidFill>
                <a:srgbClr val="171FE2"/>
              </a:solidFill>
              <a:latin typeface="Consolas" panose="020B0609020204030204" pitchFamily="49" charset="0"/>
            </a:endParaRPr>
          </a:p>
          <a:p>
            <a:endParaRPr lang="it-IT" dirty="0">
              <a:solidFill>
                <a:srgbClr val="171FE2"/>
              </a:solidFill>
              <a:latin typeface="Consolas" panose="020B0609020204030204" pitchFamily="49" charset="0"/>
            </a:endParaRPr>
          </a:p>
          <a:p>
            <a:r>
              <a:rPr lang="it-IT" dirty="0"/>
              <a:t>Oltre al cassetto default (dove risiedono i nostri </a:t>
            </a:r>
            <a:r>
              <a:rPr lang="it-IT" dirty="0" err="1"/>
              <a:t>Pod</a:t>
            </a:r>
            <a:r>
              <a:rPr lang="it-IT" dirty="0"/>
              <a:t> dei laboratori precedenti), noteremo una voce importantissima chiamata </a:t>
            </a:r>
            <a:r>
              <a:rPr lang="it-IT" b="1" dirty="0" err="1"/>
              <a:t>kube</a:t>
            </a:r>
            <a:r>
              <a:rPr lang="it-IT" b="1" dirty="0"/>
              <a:t>-system</a:t>
            </a:r>
            <a:r>
              <a:rPr lang="it-IT" dirty="0"/>
              <a:t>. </a:t>
            </a:r>
          </a:p>
          <a:p>
            <a:r>
              <a:rPr lang="it-IT" dirty="0"/>
              <a:t>In quel cassetto segreto risiedono i </a:t>
            </a:r>
            <a:r>
              <a:rPr lang="it-IT" dirty="0" err="1"/>
              <a:t>Pod</a:t>
            </a:r>
            <a:r>
              <a:rPr lang="it-IT" dirty="0"/>
              <a:t> del Control </a:t>
            </a:r>
            <a:r>
              <a:rPr lang="it-IT" dirty="0" err="1"/>
              <a:t>Plane</a:t>
            </a:r>
            <a:r>
              <a:rPr lang="it-IT" dirty="0"/>
              <a:t> (il cervello, il DNS di rete, il proxy). </a:t>
            </a:r>
          </a:p>
          <a:p>
            <a:r>
              <a:rPr lang="it-IT" b="1" dirty="0">
                <a:solidFill>
                  <a:srgbClr val="C00000"/>
                </a:solidFill>
              </a:rPr>
              <a:t>Mai cancellare o modificare nulla dentro </a:t>
            </a:r>
            <a:r>
              <a:rPr lang="it-IT" b="1" dirty="0" err="1">
                <a:solidFill>
                  <a:srgbClr val="C00000"/>
                </a:solidFill>
              </a:rPr>
              <a:t>kube</a:t>
            </a:r>
            <a:r>
              <a:rPr lang="it-IT" b="1" dirty="0">
                <a:solidFill>
                  <a:srgbClr val="C00000"/>
                </a:solidFill>
              </a:rPr>
              <a:t>-system per evitare il decesso immediato del cluster.</a:t>
            </a:r>
            <a:endParaRPr lang="it-IT" b="1" dirty="0">
              <a:solidFill>
                <a:srgbClr val="C00000"/>
              </a:solidFill>
              <a:latin typeface="Consolas" panose="020B0609020204030204" pitchFamily="49" charset="0"/>
            </a:endParaRPr>
          </a:p>
        </p:txBody>
      </p:sp>
      <p:pic>
        <p:nvPicPr>
          <p:cNvPr id="5" name="Immagine 4">
            <a:extLst>
              <a:ext uri="{FF2B5EF4-FFF2-40B4-BE49-F238E27FC236}">
                <a16:creationId xmlns:a16="http://schemas.microsoft.com/office/drawing/2014/main" id="{7858A0D9-9D33-F393-B9DB-7777AA3A10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594850"/>
            <a:ext cx="4525006" cy="1076475"/>
          </a:xfrm>
          <a:prstGeom prst="rect">
            <a:avLst/>
          </a:prstGeom>
        </p:spPr>
      </p:pic>
    </p:spTree>
    <p:extLst>
      <p:ext uri="{BB962C8B-B14F-4D97-AF65-F5344CB8AC3E}">
        <p14:creationId xmlns:p14="http://schemas.microsoft.com/office/powerpoint/2010/main" val="15897151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07287-BEC0-9EC1-4E63-4D3C0498A908}"/>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16A0535B-1E61-D22E-C7F9-59BBDF32998D}"/>
              </a:ext>
            </a:extLst>
          </p:cNvPr>
          <p:cNvSpPr>
            <a:spLocks noGrp="1"/>
          </p:cNvSpPr>
          <p:nvPr>
            <p:ph type="title"/>
          </p:nvPr>
        </p:nvSpPr>
        <p:spPr>
          <a:xfrm>
            <a:off x="838200" y="831206"/>
            <a:ext cx="10515600" cy="314198"/>
          </a:xfrm>
        </p:spPr>
        <p:txBody>
          <a:bodyPr/>
          <a:lstStyle/>
          <a:p>
            <a:r>
              <a:rPr lang="it-IT" dirty="0"/>
              <a:t>SLIDE 28: LAB PRACTICAL – ISPEZIONARE I NAMESPACE DI SISTEMA E CREARNE UNO PERSONALIZZATO</a:t>
            </a:r>
          </a:p>
        </p:txBody>
      </p:sp>
      <p:sp>
        <p:nvSpPr>
          <p:cNvPr id="3" name="Contenuto della lezione">
            <a:extLst>
              <a:ext uri="{FF2B5EF4-FFF2-40B4-BE49-F238E27FC236}">
                <a16:creationId xmlns:a16="http://schemas.microsoft.com/office/drawing/2014/main" id="{40EFBFF0-42F0-9CF7-B92C-11035DA61922}"/>
              </a:ext>
            </a:extLst>
          </p:cNvPr>
          <p:cNvSpPr>
            <a:spLocks noGrp="1"/>
          </p:cNvSpPr>
          <p:nvPr>
            <p:ph idx="1"/>
          </p:nvPr>
        </p:nvSpPr>
        <p:spPr>
          <a:xfrm>
            <a:off x="838200" y="1589185"/>
            <a:ext cx="10783824" cy="5460839"/>
          </a:xfrm>
        </p:spPr>
        <p:txBody>
          <a:bodyPr/>
          <a:lstStyle/>
          <a:p>
            <a:r>
              <a:rPr lang="it-IT" dirty="0"/>
              <a:t>Creiamo il nostro </a:t>
            </a:r>
            <a:r>
              <a:rPr lang="it-IT" dirty="0" err="1"/>
              <a:t>Namespace</a:t>
            </a:r>
            <a:r>
              <a:rPr lang="it-IT" dirty="0"/>
              <a:t> aziendale personalizzato digitando il comando imperativo:</a:t>
            </a:r>
          </a:p>
          <a:p>
            <a:r>
              <a:rPr lang="it-IT" dirty="0" err="1">
                <a:solidFill>
                  <a:srgbClr val="171FE2"/>
                </a:solidFill>
                <a:latin typeface="Consolas" panose="020B0609020204030204" pitchFamily="49" charset="0"/>
              </a:rPr>
              <a:t>kubectl</a:t>
            </a:r>
            <a:r>
              <a:rPr lang="it-IT" dirty="0">
                <a:solidFill>
                  <a:srgbClr val="171FE2"/>
                </a:solidFill>
                <a:latin typeface="Consolas" panose="020B0609020204030204" pitchFamily="49" charset="0"/>
              </a:rPr>
              <a:t> create </a:t>
            </a:r>
            <a:r>
              <a:rPr lang="it-IT" dirty="0" err="1">
                <a:solidFill>
                  <a:srgbClr val="171FE2"/>
                </a:solidFill>
                <a:latin typeface="Consolas" panose="020B0609020204030204" pitchFamily="49" charset="0"/>
              </a:rPr>
              <a:t>namespace</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skillfactory</a:t>
            </a:r>
            <a:endParaRPr lang="it-IT" dirty="0">
              <a:solidFill>
                <a:srgbClr val="171FE2"/>
              </a:solidFill>
              <a:latin typeface="Consolas" panose="020B0609020204030204" pitchFamily="49" charset="0"/>
            </a:endParaRPr>
          </a:p>
          <a:p>
            <a:r>
              <a:rPr lang="it-IT" dirty="0"/>
              <a:t>Il sistema risponderà confermando la creazione del nuovo spazio di lavoro: </a:t>
            </a:r>
          </a:p>
          <a:p>
            <a:r>
              <a:rPr lang="it-IT" b="1" dirty="0" err="1"/>
              <a:t>namespace</a:t>
            </a:r>
            <a:r>
              <a:rPr lang="it-IT" b="1" dirty="0"/>
              <a:t>/</a:t>
            </a:r>
            <a:r>
              <a:rPr lang="it-IT" b="1" dirty="0" err="1"/>
              <a:t>skillfactory</a:t>
            </a:r>
            <a:r>
              <a:rPr lang="it-IT" b="1" dirty="0"/>
              <a:t> </a:t>
            </a:r>
            <a:r>
              <a:rPr lang="it-IT" b="1" dirty="0" err="1"/>
              <a:t>created</a:t>
            </a:r>
            <a:r>
              <a:rPr lang="it-IT" dirty="0"/>
              <a:t>. </a:t>
            </a:r>
          </a:p>
          <a:p>
            <a:r>
              <a:rPr lang="it-IT" dirty="0"/>
              <a:t>Da questo momento in poi, se vogliamo lanciare un comando, vedere i </a:t>
            </a:r>
            <a:r>
              <a:rPr lang="it-IT" dirty="0" err="1"/>
              <a:t>Pod</a:t>
            </a:r>
            <a:r>
              <a:rPr lang="it-IT" dirty="0"/>
              <a:t> o applicare un file YAML all'interno di questa stanza isolata, dobbiamo aggiungere alla fine del comando il flag </a:t>
            </a:r>
            <a:r>
              <a:rPr lang="it-IT" b="1" dirty="0">
                <a:solidFill>
                  <a:srgbClr val="171FE2"/>
                </a:solidFill>
              </a:rPr>
              <a:t>-n</a:t>
            </a:r>
            <a:r>
              <a:rPr lang="it-IT" dirty="0"/>
              <a:t> (che sta per </a:t>
            </a:r>
            <a:r>
              <a:rPr lang="it-IT" dirty="0" err="1"/>
              <a:t>namespace</a:t>
            </a:r>
            <a:r>
              <a:rPr lang="it-IT" dirty="0"/>
              <a:t>) seguita dal nome del cassetto. </a:t>
            </a:r>
          </a:p>
          <a:p>
            <a:r>
              <a:rPr lang="it-IT" dirty="0"/>
              <a:t>Qualora volessimo leggere tutti i </a:t>
            </a:r>
            <a:r>
              <a:rPr lang="it-IT" dirty="0" err="1"/>
              <a:t>Pod</a:t>
            </a:r>
            <a:r>
              <a:rPr lang="it-IT" dirty="0"/>
              <a:t> del </a:t>
            </a:r>
            <a:r>
              <a:rPr lang="it-IT" dirty="0" err="1"/>
              <a:t>namespace</a:t>
            </a:r>
            <a:r>
              <a:rPr lang="it-IT" dirty="0"/>
              <a:t> </a:t>
            </a:r>
            <a:r>
              <a:rPr lang="it-IT" dirty="0" err="1"/>
              <a:t>skillfactory</a:t>
            </a:r>
            <a:r>
              <a:rPr lang="it-IT"/>
              <a:t>, digitiamo:</a:t>
            </a:r>
            <a:endParaRPr lang="it-IT" dirty="0"/>
          </a:p>
          <a:p>
            <a:r>
              <a:rPr lang="it-IT" dirty="0" err="1">
                <a:solidFill>
                  <a:srgbClr val="171FE2"/>
                </a:solidFill>
                <a:latin typeface="Consolas" panose="020B0609020204030204" pitchFamily="49" charset="0"/>
              </a:rPr>
              <a:t>kubectl</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get</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pods</a:t>
            </a:r>
            <a:r>
              <a:rPr lang="it-IT" dirty="0">
                <a:solidFill>
                  <a:srgbClr val="171FE2"/>
                </a:solidFill>
                <a:latin typeface="Consolas" panose="020B0609020204030204" pitchFamily="49" charset="0"/>
              </a:rPr>
              <a:t> -n </a:t>
            </a:r>
            <a:r>
              <a:rPr lang="it-IT" dirty="0" err="1">
                <a:solidFill>
                  <a:srgbClr val="171FE2"/>
                </a:solidFill>
                <a:latin typeface="Consolas" panose="020B0609020204030204" pitchFamily="49" charset="0"/>
              </a:rPr>
              <a:t>skillfactory</a:t>
            </a:r>
            <a:endParaRPr lang="it-IT" dirty="0">
              <a:solidFill>
                <a:srgbClr val="171FE2"/>
              </a:solidFill>
              <a:latin typeface="Consolas" panose="020B0609020204030204" pitchFamily="49" charset="0"/>
            </a:endParaRPr>
          </a:p>
          <a:p>
            <a:r>
              <a:rPr lang="it-IT" dirty="0"/>
              <a:t>Il terminale risponderà giustamente </a:t>
            </a:r>
            <a:r>
              <a:rPr lang="it-IT" b="1" dirty="0"/>
              <a:t>No </a:t>
            </a:r>
            <a:r>
              <a:rPr lang="it-IT" b="1" dirty="0" err="1"/>
              <a:t>resources</a:t>
            </a:r>
            <a:r>
              <a:rPr lang="it-IT" b="1" dirty="0"/>
              <a:t> </a:t>
            </a:r>
            <a:r>
              <a:rPr lang="it-IT" b="1" dirty="0" err="1"/>
              <a:t>found</a:t>
            </a:r>
            <a:r>
              <a:rPr lang="it-IT" b="1" dirty="0"/>
              <a:t> in </a:t>
            </a:r>
            <a:r>
              <a:rPr lang="it-IT" b="1" dirty="0" err="1"/>
              <a:t>skillfactory</a:t>
            </a:r>
            <a:r>
              <a:rPr lang="it-IT" b="1" dirty="0"/>
              <a:t> </a:t>
            </a:r>
            <a:r>
              <a:rPr lang="it-IT" b="1" dirty="0" err="1"/>
              <a:t>namespace</a:t>
            </a:r>
            <a:r>
              <a:rPr lang="it-IT" b="1" dirty="0"/>
              <a:t>.</a:t>
            </a:r>
            <a:r>
              <a:rPr lang="it-IT" dirty="0"/>
              <a:t>, perché la stanza è appena stata costruita ed è ancora completamente vuota, pronta ad ospitare la nostra architettura </a:t>
            </a:r>
            <a:r>
              <a:rPr lang="it-IT" dirty="0" err="1"/>
              <a:t>enterprise</a:t>
            </a:r>
            <a:r>
              <a:rPr lang="it-IT" dirty="0"/>
              <a:t> nelle prossime lezioni.</a:t>
            </a:r>
          </a:p>
          <a:p>
            <a:r>
              <a:rPr lang="it-IT" dirty="0"/>
              <a:t>Per vedere i </a:t>
            </a:r>
            <a:r>
              <a:rPr lang="it-IT" dirty="0" err="1"/>
              <a:t>Pod</a:t>
            </a:r>
            <a:r>
              <a:rPr lang="it-IT" dirty="0"/>
              <a:t> di tutti i </a:t>
            </a:r>
            <a:r>
              <a:rPr lang="it-IT" dirty="0" err="1"/>
              <a:t>Namespace</a:t>
            </a:r>
            <a:r>
              <a:rPr lang="it-IT" dirty="0"/>
              <a:t> del cluster in un'unica grande tabella, eseguiamo il comando:</a:t>
            </a:r>
          </a:p>
          <a:p>
            <a:r>
              <a:rPr lang="it-IT" dirty="0" err="1">
                <a:solidFill>
                  <a:srgbClr val="171FE2"/>
                </a:solidFill>
                <a:latin typeface="Consolas" panose="020B0609020204030204" pitchFamily="49" charset="0"/>
              </a:rPr>
              <a:t>kubectl</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get</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pods</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all-namespaces</a:t>
            </a:r>
            <a:endParaRPr lang="it-IT" dirty="0">
              <a:solidFill>
                <a:srgbClr val="171FE2"/>
              </a:solidFill>
              <a:latin typeface="Consolas" panose="020B0609020204030204" pitchFamily="49" charset="0"/>
            </a:endParaRPr>
          </a:p>
        </p:txBody>
      </p:sp>
    </p:spTree>
    <p:extLst>
      <p:ext uri="{BB962C8B-B14F-4D97-AF65-F5344CB8AC3E}">
        <p14:creationId xmlns:p14="http://schemas.microsoft.com/office/powerpoint/2010/main" val="30099403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C2FD1-5E27-EAFC-C08A-3201B0C05F8A}"/>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941C4834-4C13-C58F-412D-0842D0E906F5}"/>
              </a:ext>
            </a:extLst>
          </p:cNvPr>
          <p:cNvSpPr>
            <a:spLocks noGrp="1"/>
          </p:cNvSpPr>
          <p:nvPr>
            <p:ph type="title"/>
          </p:nvPr>
        </p:nvSpPr>
        <p:spPr>
          <a:xfrm>
            <a:off x="838200" y="831206"/>
            <a:ext cx="10515600" cy="314198"/>
          </a:xfrm>
        </p:spPr>
        <p:txBody>
          <a:bodyPr/>
          <a:lstStyle/>
          <a:p>
            <a:r>
              <a:rPr lang="it-IT" dirty="0"/>
              <a:t>SLIDE 29: IL PROBLEMA DELLA PERSISTENZA – POD STATELESS VS STATEFUL</a:t>
            </a:r>
            <a:br>
              <a:rPr lang="it-IT" dirty="0"/>
            </a:br>
            <a:endParaRPr lang="it-IT" dirty="0"/>
          </a:p>
        </p:txBody>
      </p:sp>
      <p:sp>
        <p:nvSpPr>
          <p:cNvPr id="3" name="Contenuto della lezione">
            <a:extLst>
              <a:ext uri="{FF2B5EF4-FFF2-40B4-BE49-F238E27FC236}">
                <a16:creationId xmlns:a16="http://schemas.microsoft.com/office/drawing/2014/main" id="{155DC880-7D45-35B0-A192-9580F013BE10}"/>
              </a:ext>
            </a:extLst>
          </p:cNvPr>
          <p:cNvSpPr>
            <a:spLocks noGrp="1"/>
          </p:cNvSpPr>
          <p:nvPr>
            <p:ph idx="1"/>
          </p:nvPr>
        </p:nvSpPr>
        <p:spPr>
          <a:xfrm>
            <a:off x="838200" y="1589185"/>
            <a:ext cx="10783824" cy="5460839"/>
          </a:xfrm>
        </p:spPr>
        <p:txBody>
          <a:bodyPr/>
          <a:lstStyle/>
          <a:p>
            <a:r>
              <a:rPr lang="it-IT" dirty="0"/>
              <a:t>Fino a questo momento abbiamo visto che i </a:t>
            </a:r>
            <a:r>
              <a:rPr lang="it-IT" dirty="0" err="1"/>
              <a:t>Pod</a:t>
            </a:r>
            <a:r>
              <a:rPr lang="it-IT" dirty="0"/>
              <a:t> sono per loro natura effimeri, volatili e mortali.</a:t>
            </a:r>
          </a:p>
          <a:p>
            <a:r>
              <a:rPr lang="it-IT" dirty="0"/>
              <a:t>Quando un </a:t>
            </a:r>
            <a:r>
              <a:rPr lang="it-IT" dirty="0" err="1"/>
              <a:t>Pod</a:t>
            </a:r>
            <a:r>
              <a:rPr lang="it-IT" dirty="0"/>
              <a:t> viene distrutto dal Deployment per un qualsiasi motivo, tutto ciò che si trovava al suo interno — file creati, file di log, sessioni utente o modifiche al sistema operativo — sparisce per sempre nel nulla senza alcuna possibilità di recupero. </a:t>
            </a:r>
          </a:p>
          <a:p>
            <a:r>
              <a:rPr lang="it-IT" dirty="0">
                <a:solidFill>
                  <a:srgbClr val="171FE2"/>
                </a:solidFill>
              </a:rPr>
              <a:t>Questo comportamento distruttivo in realtà è perfetto per componenti come il nostro </a:t>
            </a:r>
            <a:r>
              <a:rPr lang="it-IT" dirty="0" err="1">
                <a:solidFill>
                  <a:srgbClr val="171FE2"/>
                </a:solidFill>
              </a:rPr>
              <a:t>frontend</a:t>
            </a:r>
            <a:r>
              <a:rPr lang="it-IT" dirty="0">
                <a:solidFill>
                  <a:srgbClr val="171FE2"/>
                </a:solidFill>
              </a:rPr>
              <a:t> in React o il nostro </a:t>
            </a:r>
            <a:r>
              <a:rPr lang="it-IT" dirty="0" err="1">
                <a:solidFill>
                  <a:srgbClr val="171FE2"/>
                </a:solidFill>
              </a:rPr>
              <a:t>backend</a:t>
            </a:r>
            <a:r>
              <a:rPr lang="it-IT" dirty="0">
                <a:solidFill>
                  <a:srgbClr val="171FE2"/>
                </a:solidFill>
              </a:rPr>
              <a:t> Spring Boot. </a:t>
            </a:r>
          </a:p>
          <a:p>
            <a:r>
              <a:rPr lang="it-IT" dirty="0"/>
              <a:t>Queste applicazioni vengono definite </a:t>
            </a:r>
            <a:r>
              <a:rPr lang="it-IT" b="1" dirty="0" err="1"/>
              <a:t>Stateless</a:t>
            </a:r>
            <a:r>
              <a:rPr lang="it-IT" dirty="0"/>
              <a:t> (senza stato): il loro unico compito è ricevere una richiesta HTTP, elaborarla, fare dei calcoli e sputare un risultato. </a:t>
            </a:r>
          </a:p>
          <a:p>
            <a:r>
              <a:rPr lang="it-IT" dirty="0"/>
              <a:t>Se un </a:t>
            </a:r>
            <a:r>
              <a:rPr lang="it-IT" dirty="0" err="1"/>
              <a:t>Pod</a:t>
            </a:r>
            <a:r>
              <a:rPr lang="it-IT" dirty="0"/>
              <a:t> del </a:t>
            </a:r>
            <a:r>
              <a:rPr lang="it-IT" dirty="0" err="1"/>
              <a:t>backend</a:t>
            </a:r>
            <a:r>
              <a:rPr lang="it-IT" dirty="0"/>
              <a:t> muore, non ci interessa: </a:t>
            </a:r>
            <a:r>
              <a:rPr lang="it-IT" dirty="0" err="1"/>
              <a:t>Kubernetes</a:t>
            </a:r>
            <a:r>
              <a:rPr lang="it-IT" dirty="0"/>
              <a:t> ne accende un altro identico che ricomincia a fare calcoli esattamente come il precedente, senza aver perso nessuna informazione vitale.</a:t>
            </a:r>
            <a:endParaRPr lang="it-IT" dirty="0">
              <a:solidFill>
                <a:srgbClr val="171FE2"/>
              </a:solidFill>
              <a:latin typeface="Consolas" panose="020B0609020204030204" pitchFamily="49" charset="0"/>
            </a:endParaRPr>
          </a:p>
        </p:txBody>
      </p:sp>
    </p:spTree>
    <p:extLst>
      <p:ext uri="{BB962C8B-B14F-4D97-AF65-F5344CB8AC3E}">
        <p14:creationId xmlns:p14="http://schemas.microsoft.com/office/powerpoint/2010/main" val="31640276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5C326-85DC-2C5C-46A5-20C104A594D9}"/>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F6FFD215-F4C7-6CAD-2EA0-4673FF82744A}"/>
              </a:ext>
            </a:extLst>
          </p:cNvPr>
          <p:cNvSpPr>
            <a:spLocks noGrp="1"/>
          </p:cNvSpPr>
          <p:nvPr>
            <p:ph type="title"/>
          </p:nvPr>
        </p:nvSpPr>
        <p:spPr>
          <a:xfrm>
            <a:off x="838200" y="831206"/>
            <a:ext cx="10515600" cy="314198"/>
          </a:xfrm>
        </p:spPr>
        <p:txBody>
          <a:bodyPr/>
          <a:lstStyle/>
          <a:p>
            <a:r>
              <a:rPr lang="it-IT" dirty="0"/>
              <a:t>SLIDE 30: IL PROBLEMA DELLA PERSISTENZA – POD STATELESS VS STATEFUL</a:t>
            </a:r>
            <a:br>
              <a:rPr lang="it-IT" dirty="0"/>
            </a:br>
            <a:endParaRPr lang="it-IT" dirty="0"/>
          </a:p>
        </p:txBody>
      </p:sp>
      <p:sp>
        <p:nvSpPr>
          <p:cNvPr id="3" name="Contenuto della lezione">
            <a:extLst>
              <a:ext uri="{FF2B5EF4-FFF2-40B4-BE49-F238E27FC236}">
                <a16:creationId xmlns:a16="http://schemas.microsoft.com/office/drawing/2014/main" id="{BAD071B4-494F-4606-7FF6-5D6CF7B7E76C}"/>
              </a:ext>
            </a:extLst>
          </p:cNvPr>
          <p:cNvSpPr>
            <a:spLocks noGrp="1"/>
          </p:cNvSpPr>
          <p:nvPr>
            <p:ph idx="1"/>
          </p:nvPr>
        </p:nvSpPr>
        <p:spPr>
          <a:xfrm>
            <a:off x="838200" y="1589185"/>
            <a:ext cx="10783824" cy="5460839"/>
          </a:xfrm>
        </p:spPr>
        <p:txBody>
          <a:bodyPr/>
          <a:lstStyle/>
          <a:p>
            <a:r>
              <a:rPr lang="it-IT" dirty="0"/>
              <a:t>Tuttavia, c'è un componente della nostra architettura </a:t>
            </a:r>
            <a:r>
              <a:rPr lang="it-IT" dirty="0" err="1"/>
              <a:t>enterprise</a:t>
            </a:r>
            <a:r>
              <a:rPr lang="it-IT" dirty="0"/>
              <a:t> che non può assolutamente permettersi questo lusso: il database </a:t>
            </a:r>
            <a:r>
              <a:rPr lang="it-IT" dirty="0" err="1"/>
              <a:t>MariaDB</a:t>
            </a:r>
            <a:r>
              <a:rPr lang="it-IT" dirty="0"/>
              <a:t>. </a:t>
            </a:r>
          </a:p>
          <a:p>
            <a:r>
              <a:rPr lang="it-IT" dirty="0"/>
              <a:t>Il database è un'applicazione </a:t>
            </a:r>
            <a:r>
              <a:rPr lang="it-IT" b="1" dirty="0" err="1"/>
              <a:t>Stateful</a:t>
            </a:r>
            <a:r>
              <a:rPr lang="it-IT" dirty="0"/>
              <a:t> (con stato), ovvero un software la cui intera utilità aziendale risiede nella sua memoria storica, nei dati strutturati che conserva. </a:t>
            </a:r>
          </a:p>
          <a:p>
            <a:r>
              <a:rPr lang="it-IT" dirty="0"/>
              <a:t>Se il </a:t>
            </a:r>
            <a:r>
              <a:rPr lang="it-IT" dirty="0" err="1"/>
              <a:t>Pod</a:t>
            </a:r>
            <a:r>
              <a:rPr lang="it-IT" dirty="0"/>
              <a:t> che ospita </a:t>
            </a:r>
            <a:r>
              <a:rPr lang="it-IT" dirty="0" err="1"/>
              <a:t>MariaDB</a:t>
            </a:r>
            <a:r>
              <a:rPr lang="it-IT" dirty="0"/>
              <a:t> dovesse subire un crash o venire riavviato per un aggiornamento, e i dati risiedessero all'interno del container, l'azienda perderebbe istantaneamente l'anagrafica dei clienti, le tabelle degli utenti e lo storico degli ordini, affrontando un disastro economico. </a:t>
            </a:r>
          </a:p>
          <a:p>
            <a:r>
              <a:rPr lang="it-IT" dirty="0"/>
              <a:t>Di fabbrica, i container scrivono i dati in uno strato di memoria temporaneo legato alla vita del container stesso. </a:t>
            </a:r>
          </a:p>
          <a:p>
            <a:r>
              <a:rPr lang="it-IT" dirty="0">
                <a:solidFill>
                  <a:srgbClr val="171FE2"/>
                </a:solidFill>
              </a:rPr>
              <a:t>Per evitare la tragedia della perdita dei dati, </a:t>
            </a:r>
            <a:r>
              <a:rPr lang="it-IT" dirty="0" err="1">
                <a:solidFill>
                  <a:srgbClr val="171FE2"/>
                </a:solidFill>
              </a:rPr>
              <a:t>Kubernetes</a:t>
            </a:r>
            <a:r>
              <a:rPr lang="it-IT" dirty="0">
                <a:solidFill>
                  <a:srgbClr val="171FE2"/>
                </a:solidFill>
              </a:rPr>
              <a:t> separa: fisicamente il ciclo di vita del </a:t>
            </a:r>
            <a:r>
              <a:rPr lang="it-IT" b="1" dirty="0">
                <a:solidFill>
                  <a:srgbClr val="171FE2"/>
                </a:solidFill>
              </a:rPr>
              <a:t>calcolo</a:t>
            </a:r>
            <a:r>
              <a:rPr lang="it-IT" dirty="0">
                <a:solidFill>
                  <a:srgbClr val="171FE2"/>
                </a:solidFill>
              </a:rPr>
              <a:t> (il container, che può morire in ogni momento) dal ciclo di vita del </a:t>
            </a:r>
            <a:r>
              <a:rPr lang="it-IT" b="1" dirty="0">
                <a:solidFill>
                  <a:srgbClr val="171FE2"/>
                </a:solidFill>
              </a:rPr>
              <a:t>dato reale</a:t>
            </a:r>
            <a:r>
              <a:rPr lang="it-IT" dirty="0">
                <a:solidFill>
                  <a:srgbClr val="171FE2"/>
                </a:solidFill>
              </a:rPr>
              <a:t> (il disco fisso, che deve rimanere eterno).</a:t>
            </a:r>
            <a:endParaRPr lang="it-IT" dirty="0">
              <a:solidFill>
                <a:srgbClr val="171FE2"/>
              </a:solidFill>
              <a:latin typeface="Consolas" panose="020B0609020204030204" pitchFamily="49" charset="0"/>
            </a:endParaRPr>
          </a:p>
        </p:txBody>
      </p:sp>
    </p:spTree>
    <p:extLst>
      <p:ext uri="{BB962C8B-B14F-4D97-AF65-F5344CB8AC3E}">
        <p14:creationId xmlns:p14="http://schemas.microsoft.com/office/powerpoint/2010/main" val="23745019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BBDEB-7A85-7377-BCA9-2B111C4AD499}"/>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98C36532-F388-DE28-459F-0CE6FB76C5F6}"/>
              </a:ext>
            </a:extLst>
          </p:cNvPr>
          <p:cNvSpPr>
            <a:spLocks noGrp="1"/>
          </p:cNvSpPr>
          <p:nvPr>
            <p:ph type="title"/>
          </p:nvPr>
        </p:nvSpPr>
        <p:spPr>
          <a:xfrm>
            <a:off x="838200" y="831206"/>
            <a:ext cx="10515600" cy="314198"/>
          </a:xfrm>
        </p:spPr>
        <p:txBody>
          <a:bodyPr/>
          <a:lstStyle/>
          <a:p>
            <a:r>
              <a:rPr lang="it-IT" dirty="0"/>
              <a:t>SLIDE 31: IL MECCANISMO DEGLI STORAGE – PERSISTENTVOLUME (PV) E CLAIM (PVC)</a:t>
            </a:r>
            <a:br>
              <a:rPr lang="it-IT" dirty="0"/>
            </a:br>
            <a:endParaRPr lang="it-IT" dirty="0"/>
          </a:p>
        </p:txBody>
      </p:sp>
      <p:sp>
        <p:nvSpPr>
          <p:cNvPr id="3" name="Contenuto della lezione">
            <a:extLst>
              <a:ext uri="{FF2B5EF4-FFF2-40B4-BE49-F238E27FC236}">
                <a16:creationId xmlns:a16="http://schemas.microsoft.com/office/drawing/2014/main" id="{1D2D507D-0634-A5F5-4B84-CF0BC496238A}"/>
              </a:ext>
            </a:extLst>
          </p:cNvPr>
          <p:cNvSpPr>
            <a:spLocks noGrp="1"/>
          </p:cNvSpPr>
          <p:nvPr>
            <p:ph idx="1"/>
          </p:nvPr>
        </p:nvSpPr>
        <p:spPr>
          <a:xfrm>
            <a:off x="838200" y="1589185"/>
            <a:ext cx="10783824" cy="5460839"/>
          </a:xfrm>
        </p:spPr>
        <p:txBody>
          <a:bodyPr/>
          <a:lstStyle/>
          <a:p>
            <a:r>
              <a:rPr lang="it-IT" dirty="0"/>
              <a:t>Per gestire la persistenza dei dati </a:t>
            </a:r>
            <a:r>
              <a:rPr lang="it-IT" dirty="0" err="1"/>
              <a:t>Kubernetes</a:t>
            </a:r>
            <a:r>
              <a:rPr lang="it-IT" dirty="0"/>
              <a:t> introduce due oggetti YAML ben distinti: </a:t>
            </a:r>
          </a:p>
          <a:p>
            <a:r>
              <a:rPr lang="it-IT" dirty="0"/>
              <a:t>Il </a:t>
            </a:r>
            <a:r>
              <a:rPr lang="it-IT" b="1" dirty="0" err="1"/>
              <a:t>PersistentVolume</a:t>
            </a:r>
            <a:r>
              <a:rPr lang="it-IT" b="1" dirty="0"/>
              <a:t> (PV)</a:t>
            </a:r>
            <a:r>
              <a:rPr lang="it-IT" dirty="0"/>
              <a:t> rappresenta la risorsa fisica reale, il disco fisso o la cartella del server dotata di spazio di archiviazione. </a:t>
            </a:r>
          </a:p>
          <a:p>
            <a:r>
              <a:rPr lang="it-IT" dirty="0"/>
              <a:t>Viene creato e configurato dall'amministratore di sistema (il sistemista senior), il quale dichiara a </a:t>
            </a:r>
            <a:r>
              <a:rPr lang="it-IT" dirty="0" err="1"/>
              <a:t>Kubernetes</a:t>
            </a:r>
            <a:r>
              <a:rPr lang="it-IT" dirty="0"/>
              <a:t>: </a:t>
            </a:r>
            <a:r>
              <a:rPr lang="it-IT" i="1" dirty="0">
                <a:solidFill>
                  <a:srgbClr val="171FE2"/>
                </a:solidFill>
              </a:rPr>
              <a:t>"Metto a disposizione del cluster un hard disk reale da 50 Gigabyte situato in questo specifico server"</a:t>
            </a:r>
            <a:r>
              <a:rPr lang="it-IT" i="1" dirty="0"/>
              <a:t>.</a:t>
            </a:r>
          </a:p>
          <a:p>
            <a:r>
              <a:rPr lang="it-IT" dirty="0"/>
              <a:t>Il </a:t>
            </a:r>
            <a:r>
              <a:rPr lang="it-IT" b="1" dirty="0" err="1"/>
              <a:t>PersistentVolumeClaim</a:t>
            </a:r>
            <a:r>
              <a:rPr lang="it-IT" b="1" dirty="0"/>
              <a:t> (PVC)</a:t>
            </a:r>
            <a:r>
              <a:rPr lang="it-IT" dirty="0"/>
              <a:t> rappresenta </a:t>
            </a:r>
            <a:r>
              <a:rPr lang="it-IT" b="1" dirty="0"/>
              <a:t>la prenotazione dello spazio</a:t>
            </a:r>
            <a:r>
              <a:rPr lang="it-IT" dirty="0"/>
              <a:t> effettuata dallo sviluppatore del software per conto della sua applicazione. </a:t>
            </a:r>
          </a:p>
          <a:p>
            <a:r>
              <a:rPr lang="it-IT" dirty="0"/>
              <a:t>Nel PVC, il programmatore scrive semplicemente: </a:t>
            </a:r>
            <a:r>
              <a:rPr lang="it-IT" i="1" dirty="0">
                <a:solidFill>
                  <a:srgbClr val="171FE2"/>
                </a:solidFill>
              </a:rPr>
              <a:t>"Ho bisogno di 2 Gigabyte di spazio disco, con permessi di lettura e scrittura rapida"</a:t>
            </a:r>
            <a:r>
              <a:rPr lang="it-IT" dirty="0"/>
              <a:t>. </a:t>
            </a:r>
          </a:p>
          <a:p>
            <a:r>
              <a:rPr lang="it-IT" dirty="0" err="1"/>
              <a:t>Kubernetes</a:t>
            </a:r>
            <a:r>
              <a:rPr lang="it-IT" dirty="0"/>
              <a:t> prende questo foglio di richiesta (PVC), va a controllare gli spazi disponibili (PV), trova il pezzo di disco compatibile e attiva un legame indissolubile chiamato </a:t>
            </a:r>
            <a:r>
              <a:rPr lang="it-IT" b="1" dirty="0"/>
              <a:t>Binding</a:t>
            </a:r>
            <a:r>
              <a:rPr lang="it-IT" dirty="0"/>
              <a:t> (Collegamento).</a:t>
            </a:r>
          </a:p>
          <a:p>
            <a:r>
              <a:rPr lang="it-IT" dirty="0"/>
              <a:t>Quando il </a:t>
            </a:r>
            <a:r>
              <a:rPr lang="it-IT" dirty="0" err="1"/>
              <a:t>Pod</a:t>
            </a:r>
            <a:r>
              <a:rPr lang="it-IT" dirty="0"/>
              <a:t> del database si accende, non parlerà con l'hard disk fisico, ma si aggancerà al PVC. </a:t>
            </a:r>
            <a:r>
              <a:rPr lang="it-IT" dirty="0">
                <a:solidFill>
                  <a:srgbClr val="171FE2"/>
                </a:solidFill>
              </a:rPr>
              <a:t>Se il </a:t>
            </a:r>
            <a:r>
              <a:rPr lang="it-IT" dirty="0" err="1">
                <a:solidFill>
                  <a:srgbClr val="171FE2"/>
                </a:solidFill>
              </a:rPr>
              <a:t>Pod</a:t>
            </a:r>
            <a:r>
              <a:rPr lang="it-IT" dirty="0">
                <a:solidFill>
                  <a:srgbClr val="171FE2"/>
                </a:solidFill>
              </a:rPr>
              <a:t> del database muore, il PVC rimane vivo sul cluster, mantenendo i dati congelati e pronti a essere iniettati nel </a:t>
            </a:r>
            <a:r>
              <a:rPr lang="it-IT" dirty="0" err="1">
                <a:solidFill>
                  <a:srgbClr val="171FE2"/>
                </a:solidFill>
              </a:rPr>
              <a:t>Pod</a:t>
            </a:r>
            <a:r>
              <a:rPr lang="it-IT" dirty="0">
                <a:solidFill>
                  <a:srgbClr val="171FE2"/>
                </a:solidFill>
              </a:rPr>
              <a:t> sostituto.</a:t>
            </a:r>
          </a:p>
        </p:txBody>
      </p:sp>
    </p:spTree>
    <p:extLst>
      <p:ext uri="{BB962C8B-B14F-4D97-AF65-F5344CB8AC3E}">
        <p14:creationId xmlns:p14="http://schemas.microsoft.com/office/powerpoint/2010/main" val="10468318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A6F83-8576-1895-6094-8DB0458A10F2}"/>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7C24A541-D8B4-F7F8-0958-85E986988848}"/>
              </a:ext>
            </a:extLst>
          </p:cNvPr>
          <p:cNvSpPr>
            <a:spLocks noGrp="1"/>
          </p:cNvSpPr>
          <p:nvPr>
            <p:ph type="title"/>
          </p:nvPr>
        </p:nvSpPr>
        <p:spPr>
          <a:xfrm>
            <a:off x="838200" y="831206"/>
            <a:ext cx="10515600" cy="314198"/>
          </a:xfrm>
        </p:spPr>
        <p:txBody>
          <a:bodyPr/>
          <a:lstStyle/>
          <a:p>
            <a:r>
              <a:rPr lang="it-IT" dirty="0"/>
              <a:t>SLIDE 32: LAB PRACTICAL – CREARE LA PRENOTAZIONE DI MEMORIA (PVC) PER IL DATABASE</a:t>
            </a:r>
            <a:br>
              <a:rPr lang="it-IT" dirty="0"/>
            </a:br>
            <a:endParaRPr lang="it-IT" dirty="0"/>
          </a:p>
        </p:txBody>
      </p:sp>
      <p:sp>
        <p:nvSpPr>
          <p:cNvPr id="3" name="Contenuto della lezione">
            <a:extLst>
              <a:ext uri="{FF2B5EF4-FFF2-40B4-BE49-F238E27FC236}">
                <a16:creationId xmlns:a16="http://schemas.microsoft.com/office/drawing/2014/main" id="{C93A2A08-09A5-4401-A358-F6801EBA79D0}"/>
              </a:ext>
            </a:extLst>
          </p:cNvPr>
          <p:cNvSpPr>
            <a:spLocks noGrp="1"/>
          </p:cNvSpPr>
          <p:nvPr>
            <p:ph idx="1"/>
          </p:nvPr>
        </p:nvSpPr>
        <p:spPr>
          <a:xfrm>
            <a:off x="838200" y="1589185"/>
            <a:ext cx="4521200" cy="5460839"/>
          </a:xfrm>
        </p:spPr>
        <p:txBody>
          <a:bodyPr/>
          <a:lstStyle/>
          <a:p>
            <a:r>
              <a:rPr lang="it-IT" dirty="0"/>
              <a:t>Creiamo una prenotazione di memoria persistente per il database </a:t>
            </a:r>
            <a:r>
              <a:rPr lang="it-IT" dirty="0" err="1"/>
              <a:t>MariaDB</a:t>
            </a:r>
            <a:r>
              <a:rPr lang="it-IT" dirty="0"/>
              <a:t> della nostra infrastruttura </a:t>
            </a:r>
            <a:r>
              <a:rPr lang="it-IT" dirty="0" err="1"/>
              <a:t>enterprise</a:t>
            </a:r>
            <a:r>
              <a:rPr lang="it-IT" dirty="0"/>
              <a:t>. </a:t>
            </a:r>
          </a:p>
          <a:p>
            <a:r>
              <a:rPr lang="it-IT" dirty="0"/>
              <a:t>Creeremo un file YAML che ordinerà a </a:t>
            </a:r>
            <a:r>
              <a:rPr lang="it-IT" dirty="0" err="1"/>
              <a:t>Kubernetes</a:t>
            </a:r>
            <a:r>
              <a:rPr lang="it-IT" dirty="0"/>
              <a:t> di riservare uno spazio protetto sul disco fisso del nostro computer, spazio che rimarrà intatto anche se dovessimo spegnere Docker Desktop o formattare i container.</a:t>
            </a:r>
          </a:p>
          <a:p>
            <a:r>
              <a:rPr lang="it-IT" dirty="0"/>
              <a:t>Su VS Code creiamo </a:t>
            </a:r>
            <a:r>
              <a:rPr lang="it-IT" b="1" dirty="0"/>
              <a:t>database-</a:t>
            </a:r>
            <a:r>
              <a:rPr lang="it-IT" b="1" dirty="0" err="1"/>
              <a:t>pvc.yaml</a:t>
            </a:r>
            <a:r>
              <a:rPr lang="it-IT" dirty="0"/>
              <a:t>. </a:t>
            </a:r>
          </a:p>
          <a:p>
            <a:r>
              <a:rPr lang="it-IT" dirty="0"/>
              <a:t>Copiamo al suo interno il codice sorgente sulla destra ed eseguiamo il comando:</a:t>
            </a:r>
          </a:p>
          <a:p>
            <a:r>
              <a:rPr lang="it-IT" dirty="0" err="1">
                <a:solidFill>
                  <a:srgbClr val="171FE2"/>
                </a:solidFill>
                <a:latin typeface="Consolas" panose="020B0609020204030204" pitchFamily="49" charset="0"/>
              </a:rPr>
              <a:t>kubectl</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apply</a:t>
            </a:r>
            <a:r>
              <a:rPr lang="it-IT" dirty="0">
                <a:solidFill>
                  <a:srgbClr val="171FE2"/>
                </a:solidFill>
                <a:latin typeface="Consolas" panose="020B0609020204030204" pitchFamily="49" charset="0"/>
              </a:rPr>
              <a:t> -f database-</a:t>
            </a:r>
            <a:r>
              <a:rPr lang="it-IT" dirty="0" err="1">
                <a:solidFill>
                  <a:srgbClr val="171FE2"/>
                </a:solidFill>
                <a:latin typeface="Consolas" panose="020B0609020204030204" pitchFamily="49" charset="0"/>
              </a:rPr>
              <a:t>pvc.yaml</a:t>
            </a:r>
            <a:endParaRPr lang="it-IT" dirty="0">
              <a:solidFill>
                <a:srgbClr val="171FE2"/>
              </a:solidFill>
              <a:latin typeface="Consolas" panose="020B0609020204030204" pitchFamily="49" charset="0"/>
            </a:endParaRPr>
          </a:p>
        </p:txBody>
      </p:sp>
      <p:sp>
        <p:nvSpPr>
          <p:cNvPr id="4" name="CasellaDiTesto 3">
            <a:extLst>
              <a:ext uri="{FF2B5EF4-FFF2-40B4-BE49-F238E27FC236}">
                <a16:creationId xmlns:a16="http://schemas.microsoft.com/office/drawing/2014/main" id="{888C8FDC-B9B4-0B1D-0FB9-EABDD276A505}"/>
              </a:ext>
            </a:extLst>
          </p:cNvPr>
          <p:cNvSpPr txBox="1"/>
          <p:nvPr/>
        </p:nvSpPr>
        <p:spPr>
          <a:xfrm>
            <a:off x="6553200" y="1589185"/>
            <a:ext cx="3857146" cy="2862322"/>
          </a:xfrm>
          <a:prstGeom prst="rect">
            <a:avLst/>
          </a:prstGeom>
          <a:noFill/>
        </p:spPr>
        <p:txBody>
          <a:bodyPr wrap="none" rtlCol="0">
            <a:spAutoFit/>
          </a:bodyPr>
          <a:lstStyle/>
          <a:p>
            <a:r>
              <a:rPr lang="it-IT" dirty="0" err="1">
                <a:solidFill>
                  <a:srgbClr val="171FE2"/>
                </a:solidFill>
                <a:latin typeface="Consolas" panose="020B0609020204030204" pitchFamily="49" charset="0"/>
              </a:rPr>
              <a:t>apiVersion</a:t>
            </a:r>
            <a:r>
              <a:rPr lang="it-IT" dirty="0">
                <a:solidFill>
                  <a:srgbClr val="171FE2"/>
                </a:solidFill>
                <a:latin typeface="Consolas" panose="020B0609020204030204" pitchFamily="49" charset="0"/>
              </a:rPr>
              <a:t>: v1</a:t>
            </a:r>
          </a:p>
          <a:p>
            <a:r>
              <a:rPr lang="it-IT" dirty="0" err="1">
                <a:solidFill>
                  <a:srgbClr val="171FE2"/>
                </a:solidFill>
                <a:latin typeface="Consolas" panose="020B0609020204030204" pitchFamily="49" charset="0"/>
              </a:rPr>
              <a:t>kind</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PersistentVolumeClaim</a:t>
            </a:r>
            <a:endParaRPr lang="it-IT" dirty="0">
              <a:solidFill>
                <a:srgbClr val="171FE2"/>
              </a:solidFill>
              <a:latin typeface="Consolas" panose="020B0609020204030204" pitchFamily="49" charset="0"/>
            </a:endParaRPr>
          </a:p>
          <a:p>
            <a:r>
              <a:rPr lang="it-IT" dirty="0">
                <a:solidFill>
                  <a:srgbClr val="171FE2"/>
                </a:solidFill>
                <a:latin typeface="Consolas" panose="020B0609020204030204" pitchFamily="49" charset="0"/>
              </a:rPr>
              <a:t>metadata:</a:t>
            </a:r>
          </a:p>
          <a:p>
            <a:r>
              <a:rPr lang="it-IT" dirty="0">
                <a:solidFill>
                  <a:srgbClr val="171FE2"/>
                </a:solidFill>
                <a:latin typeface="Consolas" panose="020B0609020204030204" pitchFamily="49" charset="0"/>
              </a:rPr>
              <a:t>  name: </a:t>
            </a:r>
            <a:r>
              <a:rPr lang="it-IT" dirty="0" err="1">
                <a:solidFill>
                  <a:srgbClr val="171FE2"/>
                </a:solidFill>
                <a:latin typeface="Consolas" panose="020B0609020204030204" pitchFamily="49" charset="0"/>
              </a:rPr>
              <a:t>mariadb</a:t>
            </a:r>
            <a:r>
              <a:rPr lang="it-IT" dirty="0">
                <a:solidFill>
                  <a:srgbClr val="171FE2"/>
                </a:solidFill>
                <a:latin typeface="Consolas" panose="020B0609020204030204" pitchFamily="49" charset="0"/>
              </a:rPr>
              <a:t>-storage-</a:t>
            </a:r>
            <a:r>
              <a:rPr lang="it-IT" dirty="0" err="1">
                <a:solidFill>
                  <a:srgbClr val="171FE2"/>
                </a:solidFill>
                <a:latin typeface="Consolas" panose="020B0609020204030204" pitchFamily="49" charset="0"/>
              </a:rPr>
              <a:t>claim</a:t>
            </a:r>
            <a:endParaRPr lang="it-IT" dirty="0">
              <a:solidFill>
                <a:srgbClr val="171FE2"/>
              </a:solidFill>
              <a:latin typeface="Consolas" panose="020B0609020204030204" pitchFamily="49" charset="0"/>
            </a:endParaRPr>
          </a:p>
          <a:p>
            <a:r>
              <a:rPr lang="it-IT" dirty="0" err="1">
                <a:solidFill>
                  <a:srgbClr val="171FE2"/>
                </a:solidFill>
                <a:latin typeface="Consolas" panose="020B0609020204030204" pitchFamily="49" charset="0"/>
              </a:rPr>
              <a:t>spec</a:t>
            </a:r>
            <a:r>
              <a:rPr lang="it-IT" dirty="0">
                <a:solidFill>
                  <a:srgbClr val="171FE2"/>
                </a:solidFill>
                <a:latin typeface="Consolas" panose="020B0609020204030204" pitchFamily="49" charset="0"/>
              </a:rPr>
              <a:t>:</a:t>
            </a:r>
          </a:p>
          <a:p>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accessModes</a:t>
            </a:r>
            <a:r>
              <a:rPr lang="it-IT" dirty="0">
                <a:solidFill>
                  <a:srgbClr val="171FE2"/>
                </a:solidFill>
                <a:latin typeface="Consolas" panose="020B0609020204030204" pitchFamily="49" charset="0"/>
              </a:rPr>
              <a:t>:</a:t>
            </a:r>
          </a:p>
          <a:p>
            <a:r>
              <a:rPr lang="it-IT" dirty="0">
                <a:solidFill>
                  <a:srgbClr val="171FE2"/>
                </a:solidFill>
                <a:latin typeface="Consolas" panose="020B0609020204030204" pitchFamily="49" charset="0"/>
              </a:rPr>
              <a:t>    - </a:t>
            </a:r>
            <a:r>
              <a:rPr lang="it-IT" dirty="0" err="1">
                <a:solidFill>
                  <a:srgbClr val="171FE2"/>
                </a:solidFill>
                <a:latin typeface="Consolas" panose="020B0609020204030204" pitchFamily="49" charset="0"/>
              </a:rPr>
              <a:t>ReadWriteOnce</a:t>
            </a:r>
            <a:endParaRPr lang="it-IT" dirty="0">
              <a:solidFill>
                <a:srgbClr val="171FE2"/>
              </a:solidFill>
              <a:latin typeface="Consolas" panose="020B0609020204030204" pitchFamily="49" charset="0"/>
            </a:endParaRPr>
          </a:p>
          <a:p>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resources</a:t>
            </a:r>
            <a:r>
              <a:rPr lang="it-IT" dirty="0">
                <a:solidFill>
                  <a:srgbClr val="171FE2"/>
                </a:solidFill>
                <a:latin typeface="Consolas" panose="020B0609020204030204" pitchFamily="49" charset="0"/>
              </a:rPr>
              <a:t>:</a:t>
            </a:r>
          </a:p>
          <a:p>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requests</a:t>
            </a:r>
            <a:r>
              <a:rPr lang="it-IT" dirty="0">
                <a:solidFill>
                  <a:srgbClr val="171FE2"/>
                </a:solidFill>
                <a:latin typeface="Consolas" panose="020B0609020204030204" pitchFamily="49" charset="0"/>
              </a:rPr>
              <a:t>:</a:t>
            </a:r>
          </a:p>
          <a:p>
            <a:r>
              <a:rPr lang="it-IT" dirty="0">
                <a:solidFill>
                  <a:srgbClr val="171FE2"/>
                </a:solidFill>
                <a:latin typeface="Consolas" panose="020B0609020204030204" pitchFamily="49" charset="0"/>
              </a:rPr>
              <a:t>      storage: 1Gi</a:t>
            </a:r>
          </a:p>
        </p:txBody>
      </p:sp>
    </p:spTree>
    <p:extLst>
      <p:ext uri="{BB962C8B-B14F-4D97-AF65-F5344CB8AC3E}">
        <p14:creationId xmlns:p14="http://schemas.microsoft.com/office/powerpoint/2010/main" val="9759693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435B9-7BE0-8170-6973-17EB6D52793B}"/>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4769531F-E144-98BC-A64D-B9EA7DB64A8C}"/>
              </a:ext>
            </a:extLst>
          </p:cNvPr>
          <p:cNvSpPr>
            <a:spLocks noGrp="1"/>
          </p:cNvSpPr>
          <p:nvPr>
            <p:ph type="title"/>
          </p:nvPr>
        </p:nvSpPr>
        <p:spPr>
          <a:xfrm>
            <a:off x="838200" y="831206"/>
            <a:ext cx="10515600" cy="314198"/>
          </a:xfrm>
        </p:spPr>
        <p:txBody>
          <a:bodyPr/>
          <a:lstStyle/>
          <a:p>
            <a:r>
              <a:rPr lang="it-IT" dirty="0"/>
              <a:t>SLIDE 33: LAB PRACTICAL – CREARE LA PRENOTAZIONE DI MEMORIA (PVC) PER IL DATABASE</a:t>
            </a:r>
            <a:br>
              <a:rPr lang="it-IT" dirty="0"/>
            </a:br>
            <a:endParaRPr lang="it-IT" dirty="0"/>
          </a:p>
        </p:txBody>
      </p:sp>
      <p:sp>
        <p:nvSpPr>
          <p:cNvPr id="3" name="Contenuto della lezione">
            <a:extLst>
              <a:ext uri="{FF2B5EF4-FFF2-40B4-BE49-F238E27FC236}">
                <a16:creationId xmlns:a16="http://schemas.microsoft.com/office/drawing/2014/main" id="{0EBF2A1E-2742-DF5F-5EE0-D2BDE5BADA37}"/>
              </a:ext>
            </a:extLst>
          </p:cNvPr>
          <p:cNvSpPr>
            <a:spLocks noGrp="1"/>
          </p:cNvSpPr>
          <p:nvPr>
            <p:ph idx="1"/>
          </p:nvPr>
        </p:nvSpPr>
        <p:spPr>
          <a:xfrm>
            <a:off x="838200" y="1589185"/>
            <a:ext cx="4933950" cy="5460839"/>
          </a:xfrm>
        </p:spPr>
        <p:txBody>
          <a:bodyPr/>
          <a:lstStyle/>
          <a:p>
            <a:r>
              <a:rPr lang="it-IT" dirty="0"/>
              <a:t>Nella sezione delle specifiche (</a:t>
            </a:r>
            <a:r>
              <a:rPr lang="it-IT" dirty="0" err="1"/>
              <a:t>spec</a:t>
            </a:r>
            <a:r>
              <a:rPr lang="it-IT" dirty="0"/>
              <a:t>), troviamo la voce </a:t>
            </a:r>
            <a:r>
              <a:rPr lang="it-IT" b="1" dirty="0" err="1"/>
              <a:t>accessModes</a:t>
            </a:r>
            <a:r>
              <a:rPr lang="it-IT" dirty="0"/>
              <a:t> impostata su </a:t>
            </a:r>
            <a:r>
              <a:rPr lang="it-IT" b="1" dirty="0" err="1"/>
              <a:t>ReadWriteOnce</a:t>
            </a:r>
            <a:r>
              <a:rPr lang="it-IT" dirty="0"/>
              <a:t> (spesso abbreviata in RWO). </a:t>
            </a:r>
          </a:p>
          <a:p>
            <a:r>
              <a:rPr lang="it-IT" dirty="0"/>
              <a:t>Questa dicitura indica a </a:t>
            </a:r>
            <a:r>
              <a:rPr lang="it-IT" dirty="0" err="1"/>
              <a:t>Kubernetes</a:t>
            </a:r>
            <a:r>
              <a:rPr lang="it-IT" dirty="0"/>
              <a:t> che il disco può essere montato e utilizzato in lettura e scrittura da un solo </a:t>
            </a:r>
            <a:r>
              <a:rPr lang="it-IT" dirty="0" err="1"/>
              <a:t>Pod</a:t>
            </a:r>
            <a:r>
              <a:rPr lang="it-IT" dirty="0"/>
              <a:t> alla volta, che è il comportamento corretto e sicuro per un database (</a:t>
            </a:r>
            <a:r>
              <a:rPr lang="it-IT" b="1" dirty="0">
                <a:solidFill>
                  <a:srgbClr val="171FE2"/>
                </a:solidFill>
              </a:rPr>
              <a:t>evita che due istanze diverse scrivano contemporaneamente sullo stesso file corrompendo i dati</a:t>
            </a:r>
            <a:r>
              <a:rPr lang="it-IT" dirty="0"/>
              <a:t>). </a:t>
            </a:r>
          </a:p>
          <a:p>
            <a:r>
              <a:rPr lang="it-IT" dirty="0"/>
              <a:t>Infine, con storage: 1Gi stiamo chiedendo il rilascio di </a:t>
            </a:r>
            <a:r>
              <a:rPr lang="it-IT" dirty="0">
                <a:solidFill>
                  <a:srgbClr val="171FE2"/>
                </a:solidFill>
              </a:rPr>
              <a:t>un Gigabyte di spazio</a:t>
            </a:r>
            <a:r>
              <a:rPr lang="it-IT" dirty="0"/>
              <a:t>. </a:t>
            </a:r>
          </a:p>
          <a:p>
            <a:r>
              <a:rPr lang="it-IT" dirty="0"/>
              <a:t>Lanciando il comando: </a:t>
            </a:r>
          </a:p>
          <a:p>
            <a:r>
              <a:rPr lang="it-IT" dirty="0" err="1">
                <a:solidFill>
                  <a:srgbClr val="171FE2"/>
                </a:solidFill>
                <a:latin typeface="Consolas" panose="020B0609020204030204" pitchFamily="49" charset="0"/>
              </a:rPr>
              <a:t>kubectl</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get</a:t>
            </a:r>
            <a:r>
              <a:rPr lang="it-IT" dirty="0">
                <a:solidFill>
                  <a:srgbClr val="171FE2"/>
                </a:solidFill>
                <a:latin typeface="Consolas" panose="020B0609020204030204" pitchFamily="49" charset="0"/>
              </a:rPr>
              <a:t> pvc </a:t>
            </a:r>
          </a:p>
          <a:p>
            <a:r>
              <a:rPr lang="it-IT" dirty="0"/>
              <a:t>Vedremo la riga del nostro </a:t>
            </a:r>
            <a:r>
              <a:rPr lang="it-IT" dirty="0" err="1"/>
              <a:t>claim</a:t>
            </a:r>
            <a:r>
              <a:rPr lang="it-IT" dirty="0"/>
              <a:t> con lo status </a:t>
            </a:r>
            <a:r>
              <a:rPr lang="it-IT" b="1" dirty="0" err="1"/>
              <a:t>Bound</a:t>
            </a:r>
            <a:r>
              <a:rPr lang="it-IT" dirty="0"/>
              <a:t> (Collegato con successo alla memoria fisica) o </a:t>
            </a:r>
            <a:r>
              <a:rPr lang="it-IT" b="1" dirty="0" err="1"/>
              <a:t>Pending</a:t>
            </a:r>
            <a:r>
              <a:rPr lang="it-IT" dirty="0"/>
              <a:t>.</a:t>
            </a:r>
            <a:endParaRPr lang="it-IT" dirty="0">
              <a:solidFill>
                <a:srgbClr val="171FE2"/>
              </a:solidFill>
            </a:endParaRPr>
          </a:p>
        </p:txBody>
      </p:sp>
      <p:sp>
        <p:nvSpPr>
          <p:cNvPr id="4" name="CasellaDiTesto 3">
            <a:extLst>
              <a:ext uri="{FF2B5EF4-FFF2-40B4-BE49-F238E27FC236}">
                <a16:creationId xmlns:a16="http://schemas.microsoft.com/office/drawing/2014/main" id="{AC077749-DBF7-5ACF-9281-B08B32E17E8B}"/>
              </a:ext>
            </a:extLst>
          </p:cNvPr>
          <p:cNvSpPr txBox="1"/>
          <p:nvPr/>
        </p:nvSpPr>
        <p:spPr>
          <a:xfrm>
            <a:off x="6553200" y="1589185"/>
            <a:ext cx="3857146" cy="2862322"/>
          </a:xfrm>
          <a:prstGeom prst="rect">
            <a:avLst/>
          </a:prstGeom>
          <a:noFill/>
        </p:spPr>
        <p:txBody>
          <a:bodyPr wrap="none" rtlCol="0">
            <a:spAutoFit/>
          </a:bodyPr>
          <a:lstStyle/>
          <a:p>
            <a:r>
              <a:rPr lang="it-IT" dirty="0" err="1">
                <a:solidFill>
                  <a:srgbClr val="171FE2"/>
                </a:solidFill>
                <a:latin typeface="Consolas" panose="020B0609020204030204" pitchFamily="49" charset="0"/>
              </a:rPr>
              <a:t>apiVersion</a:t>
            </a:r>
            <a:r>
              <a:rPr lang="it-IT" dirty="0">
                <a:solidFill>
                  <a:srgbClr val="171FE2"/>
                </a:solidFill>
                <a:latin typeface="Consolas" panose="020B0609020204030204" pitchFamily="49" charset="0"/>
              </a:rPr>
              <a:t>: v1</a:t>
            </a:r>
          </a:p>
          <a:p>
            <a:r>
              <a:rPr lang="it-IT" dirty="0" err="1">
                <a:solidFill>
                  <a:srgbClr val="171FE2"/>
                </a:solidFill>
                <a:latin typeface="Consolas" panose="020B0609020204030204" pitchFamily="49" charset="0"/>
              </a:rPr>
              <a:t>kind</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PersistentVolumeClaim</a:t>
            </a:r>
            <a:endParaRPr lang="it-IT" dirty="0">
              <a:solidFill>
                <a:srgbClr val="171FE2"/>
              </a:solidFill>
              <a:latin typeface="Consolas" panose="020B0609020204030204" pitchFamily="49" charset="0"/>
            </a:endParaRPr>
          </a:p>
          <a:p>
            <a:r>
              <a:rPr lang="it-IT" dirty="0">
                <a:solidFill>
                  <a:srgbClr val="171FE2"/>
                </a:solidFill>
                <a:latin typeface="Consolas" panose="020B0609020204030204" pitchFamily="49" charset="0"/>
              </a:rPr>
              <a:t>metadata:</a:t>
            </a:r>
          </a:p>
          <a:p>
            <a:r>
              <a:rPr lang="it-IT" dirty="0">
                <a:solidFill>
                  <a:srgbClr val="171FE2"/>
                </a:solidFill>
                <a:latin typeface="Consolas" panose="020B0609020204030204" pitchFamily="49" charset="0"/>
              </a:rPr>
              <a:t>  name: </a:t>
            </a:r>
            <a:r>
              <a:rPr lang="it-IT" dirty="0" err="1">
                <a:solidFill>
                  <a:srgbClr val="171FE2"/>
                </a:solidFill>
                <a:latin typeface="Consolas" panose="020B0609020204030204" pitchFamily="49" charset="0"/>
              </a:rPr>
              <a:t>mariadb</a:t>
            </a:r>
            <a:r>
              <a:rPr lang="it-IT" dirty="0">
                <a:solidFill>
                  <a:srgbClr val="171FE2"/>
                </a:solidFill>
                <a:latin typeface="Consolas" panose="020B0609020204030204" pitchFamily="49" charset="0"/>
              </a:rPr>
              <a:t>-storage-</a:t>
            </a:r>
            <a:r>
              <a:rPr lang="it-IT" dirty="0" err="1">
                <a:solidFill>
                  <a:srgbClr val="171FE2"/>
                </a:solidFill>
                <a:latin typeface="Consolas" panose="020B0609020204030204" pitchFamily="49" charset="0"/>
              </a:rPr>
              <a:t>claim</a:t>
            </a:r>
            <a:endParaRPr lang="it-IT" dirty="0">
              <a:solidFill>
                <a:srgbClr val="171FE2"/>
              </a:solidFill>
              <a:latin typeface="Consolas" panose="020B0609020204030204" pitchFamily="49" charset="0"/>
            </a:endParaRPr>
          </a:p>
          <a:p>
            <a:r>
              <a:rPr lang="it-IT" dirty="0" err="1">
                <a:solidFill>
                  <a:srgbClr val="171FE2"/>
                </a:solidFill>
                <a:latin typeface="Consolas" panose="020B0609020204030204" pitchFamily="49" charset="0"/>
              </a:rPr>
              <a:t>spec</a:t>
            </a:r>
            <a:r>
              <a:rPr lang="it-IT" dirty="0">
                <a:solidFill>
                  <a:srgbClr val="171FE2"/>
                </a:solidFill>
                <a:latin typeface="Consolas" panose="020B0609020204030204" pitchFamily="49" charset="0"/>
              </a:rPr>
              <a:t>:</a:t>
            </a:r>
          </a:p>
          <a:p>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accessModes</a:t>
            </a:r>
            <a:r>
              <a:rPr lang="it-IT" dirty="0">
                <a:solidFill>
                  <a:srgbClr val="171FE2"/>
                </a:solidFill>
                <a:latin typeface="Consolas" panose="020B0609020204030204" pitchFamily="49" charset="0"/>
              </a:rPr>
              <a:t>:</a:t>
            </a:r>
          </a:p>
          <a:p>
            <a:r>
              <a:rPr lang="it-IT" dirty="0">
                <a:solidFill>
                  <a:srgbClr val="171FE2"/>
                </a:solidFill>
                <a:latin typeface="Consolas" panose="020B0609020204030204" pitchFamily="49" charset="0"/>
              </a:rPr>
              <a:t>    - </a:t>
            </a:r>
            <a:r>
              <a:rPr lang="it-IT" dirty="0" err="1">
                <a:solidFill>
                  <a:srgbClr val="171FE2"/>
                </a:solidFill>
                <a:latin typeface="Consolas" panose="020B0609020204030204" pitchFamily="49" charset="0"/>
              </a:rPr>
              <a:t>ReadWriteOnce</a:t>
            </a:r>
            <a:endParaRPr lang="it-IT" dirty="0">
              <a:solidFill>
                <a:srgbClr val="171FE2"/>
              </a:solidFill>
              <a:latin typeface="Consolas" panose="020B0609020204030204" pitchFamily="49" charset="0"/>
            </a:endParaRPr>
          </a:p>
          <a:p>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resources</a:t>
            </a:r>
            <a:r>
              <a:rPr lang="it-IT" dirty="0">
                <a:solidFill>
                  <a:srgbClr val="171FE2"/>
                </a:solidFill>
                <a:latin typeface="Consolas" panose="020B0609020204030204" pitchFamily="49" charset="0"/>
              </a:rPr>
              <a:t>:</a:t>
            </a:r>
          </a:p>
          <a:p>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requests</a:t>
            </a:r>
            <a:r>
              <a:rPr lang="it-IT" dirty="0">
                <a:solidFill>
                  <a:srgbClr val="171FE2"/>
                </a:solidFill>
                <a:latin typeface="Consolas" panose="020B0609020204030204" pitchFamily="49" charset="0"/>
              </a:rPr>
              <a:t>:</a:t>
            </a:r>
          </a:p>
          <a:p>
            <a:r>
              <a:rPr lang="it-IT" dirty="0">
                <a:solidFill>
                  <a:srgbClr val="171FE2"/>
                </a:solidFill>
                <a:latin typeface="Consolas" panose="020B0609020204030204" pitchFamily="49" charset="0"/>
              </a:rPr>
              <a:t>      storage: 1Gi</a:t>
            </a:r>
          </a:p>
        </p:txBody>
      </p:sp>
      <p:sp>
        <p:nvSpPr>
          <p:cNvPr id="5" name="CasellaDiTesto 4">
            <a:extLst>
              <a:ext uri="{FF2B5EF4-FFF2-40B4-BE49-F238E27FC236}">
                <a16:creationId xmlns:a16="http://schemas.microsoft.com/office/drawing/2014/main" id="{3BB0B426-A1FB-0C3C-03A1-BE05A5B6754D}"/>
              </a:ext>
            </a:extLst>
          </p:cNvPr>
          <p:cNvSpPr txBox="1"/>
          <p:nvPr/>
        </p:nvSpPr>
        <p:spPr>
          <a:xfrm>
            <a:off x="6318251" y="4693584"/>
            <a:ext cx="5327650" cy="1477328"/>
          </a:xfrm>
          <a:prstGeom prst="rect">
            <a:avLst/>
          </a:prstGeom>
          <a:noFill/>
        </p:spPr>
        <p:txBody>
          <a:bodyPr wrap="square" rtlCol="0">
            <a:spAutoFit/>
          </a:bodyPr>
          <a:lstStyle/>
          <a:p>
            <a:r>
              <a:rPr lang="it-IT" dirty="0">
                <a:solidFill>
                  <a:srgbClr val="171FE2"/>
                </a:solidFill>
              </a:rPr>
              <a:t>In </a:t>
            </a:r>
            <a:r>
              <a:rPr lang="it-IT" dirty="0" err="1">
                <a:solidFill>
                  <a:srgbClr val="171FE2"/>
                </a:solidFill>
              </a:rPr>
              <a:t>Kubernetes</a:t>
            </a:r>
            <a:r>
              <a:rPr lang="it-IT" dirty="0">
                <a:solidFill>
                  <a:srgbClr val="171FE2"/>
                </a:solidFill>
              </a:rPr>
              <a:t> non si usa GB (Gigabyte) perché segue la base decimale, ma si usa </a:t>
            </a:r>
            <a:r>
              <a:rPr lang="it-IT" b="1" dirty="0">
                <a:solidFill>
                  <a:srgbClr val="171FE2"/>
                </a:solidFill>
              </a:rPr>
              <a:t>Gi</a:t>
            </a:r>
            <a:r>
              <a:rPr lang="it-IT" dirty="0">
                <a:solidFill>
                  <a:srgbClr val="171FE2"/>
                </a:solidFill>
              </a:rPr>
              <a:t> che sta per </a:t>
            </a:r>
            <a:r>
              <a:rPr lang="it-IT" b="1" dirty="0" err="1">
                <a:solidFill>
                  <a:srgbClr val="171FE2"/>
                </a:solidFill>
              </a:rPr>
              <a:t>Gibibyte</a:t>
            </a:r>
            <a:r>
              <a:rPr lang="it-IT" dirty="0">
                <a:solidFill>
                  <a:srgbClr val="171FE2"/>
                </a:solidFill>
              </a:rPr>
              <a:t>, basato sul sistema binario (1024 Megabyte). </a:t>
            </a:r>
          </a:p>
          <a:p>
            <a:r>
              <a:rPr lang="it-IT" dirty="0">
                <a:solidFill>
                  <a:srgbClr val="171FE2"/>
                </a:solidFill>
              </a:rPr>
              <a:t>È lo standard internazionale preciso per il calcolo delle memorie nei sistemi operativi Linux e Cloud«.</a:t>
            </a:r>
          </a:p>
        </p:txBody>
      </p:sp>
    </p:spTree>
    <p:extLst>
      <p:ext uri="{BB962C8B-B14F-4D97-AF65-F5344CB8AC3E}">
        <p14:creationId xmlns:p14="http://schemas.microsoft.com/office/powerpoint/2010/main" val="35287706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A370E-1170-E3BE-41CB-7248E7FBAF4C}"/>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AC724C95-9933-C5DF-5B45-A42DBC3A5E20}"/>
              </a:ext>
            </a:extLst>
          </p:cNvPr>
          <p:cNvSpPr>
            <a:spLocks noGrp="1"/>
          </p:cNvSpPr>
          <p:nvPr>
            <p:ph type="title"/>
          </p:nvPr>
        </p:nvSpPr>
        <p:spPr>
          <a:xfrm>
            <a:off x="838200" y="831206"/>
            <a:ext cx="10515600" cy="314198"/>
          </a:xfrm>
        </p:spPr>
        <p:txBody>
          <a:bodyPr/>
          <a:lstStyle/>
          <a:p>
            <a:r>
              <a:rPr lang="it-IT" dirty="0"/>
              <a:t>SLIDE 34: LAB PRACTICAL – CREARE LA PRENOTAZIONE DI MEMORIA (PVC) PER IL DATABASE</a:t>
            </a:r>
            <a:br>
              <a:rPr lang="it-IT" dirty="0"/>
            </a:br>
            <a:br>
              <a:rPr lang="it-IT" dirty="0"/>
            </a:br>
            <a:endParaRPr lang="it-IT" dirty="0"/>
          </a:p>
        </p:txBody>
      </p:sp>
      <p:sp>
        <p:nvSpPr>
          <p:cNvPr id="3" name="Contenuto della lezione">
            <a:extLst>
              <a:ext uri="{FF2B5EF4-FFF2-40B4-BE49-F238E27FC236}">
                <a16:creationId xmlns:a16="http://schemas.microsoft.com/office/drawing/2014/main" id="{DE4EA5A7-4AD5-22FA-4BEC-73B5A116A9F0}"/>
              </a:ext>
            </a:extLst>
          </p:cNvPr>
          <p:cNvSpPr>
            <a:spLocks noGrp="1"/>
          </p:cNvSpPr>
          <p:nvPr>
            <p:ph idx="1"/>
          </p:nvPr>
        </p:nvSpPr>
        <p:spPr>
          <a:xfrm>
            <a:off x="838200" y="1589185"/>
            <a:ext cx="10783824" cy="5460839"/>
          </a:xfrm>
        </p:spPr>
        <p:txBody>
          <a:bodyPr/>
          <a:lstStyle/>
          <a:p>
            <a:r>
              <a:rPr lang="it-IT" dirty="0"/>
              <a:t>Il PVC è </a:t>
            </a:r>
            <a:r>
              <a:rPr lang="it-IT" b="1" dirty="0" err="1"/>
              <a:t>Pending</a:t>
            </a:r>
            <a:r>
              <a:rPr lang="it-IT" dirty="0"/>
              <a:t> se </a:t>
            </a:r>
            <a:r>
              <a:rPr lang="it-IT" dirty="0" err="1"/>
              <a:t>Kubernates</a:t>
            </a:r>
            <a:r>
              <a:rPr lang="it-IT" dirty="0"/>
              <a:t> non trova un </a:t>
            </a:r>
            <a:r>
              <a:rPr lang="it-IT" dirty="0" err="1"/>
              <a:t>Pod</a:t>
            </a:r>
            <a:r>
              <a:rPr lang="it-IT" dirty="0"/>
              <a:t> che usa quella memoria.</a:t>
            </a:r>
          </a:p>
          <a:p>
            <a:r>
              <a:rPr lang="it-IT" dirty="0"/>
              <a:t>Qualora lo status del PVC fosse </a:t>
            </a:r>
            <a:r>
              <a:rPr lang="it-IT" dirty="0" err="1"/>
              <a:t>Pending</a:t>
            </a:r>
            <a:r>
              <a:rPr lang="it-IT" dirty="0"/>
              <a:t>, possiamo verificare il problema col comando:</a:t>
            </a:r>
          </a:p>
          <a:p>
            <a:r>
              <a:rPr lang="it-IT" dirty="0" err="1">
                <a:solidFill>
                  <a:srgbClr val="171FE2"/>
                </a:solidFill>
                <a:latin typeface="Consolas" panose="020B0609020204030204" pitchFamily="49" charset="0"/>
              </a:rPr>
              <a:t>kubectl</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describe</a:t>
            </a:r>
            <a:r>
              <a:rPr lang="it-IT" dirty="0">
                <a:solidFill>
                  <a:srgbClr val="171FE2"/>
                </a:solidFill>
                <a:latin typeface="Consolas" panose="020B0609020204030204" pitchFamily="49" charset="0"/>
              </a:rPr>
              <a:t> pvc </a:t>
            </a:r>
            <a:r>
              <a:rPr lang="it-IT" dirty="0" err="1">
                <a:solidFill>
                  <a:srgbClr val="171FE2"/>
                </a:solidFill>
                <a:latin typeface="Consolas" panose="020B0609020204030204" pitchFamily="49" charset="0"/>
              </a:rPr>
              <a:t>mariadb</a:t>
            </a:r>
            <a:r>
              <a:rPr lang="it-IT" dirty="0">
                <a:solidFill>
                  <a:srgbClr val="171FE2"/>
                </a:solidFill>
                <a:latin typeface="Consolas" panose="020B0609020204030204" pitchFamily="49" charset="0"/>
              </a:rPr>
              <a:t>-storage-</a:t>
            </a:r>
            <a:r>
              <a:rPr lang="it-IT" dirty="0" err="1">
                <a:solidFill>
                  <a:srgbClr val="171FE2"/>
                </a:solidFill>
                <a:latin typeface="Consolas" panose="020B0609020204030204" pitchFamily="49" charset="0"/>
              </a:rPr>
              <a:t>claim</a:t>
            </a:r>
            <a:endParaRPr lang="it-IT" dirty="0">
              <a:solidFill>
                <a:srgbClr val="171FE2"/>
              </a:solidFill>
              <a:latin typeface="Consolas" panose="020B0609020204030204" pitchFamily="49" charset="0"/>
            </a:endParaRPr>
          </a:p>
          <a:p>
            <a:r>
              <a:rPr lang="it-IT" dirty="0"/>
              <a:t>In output ci verrà dato un esisto in Events:</a:t>
            </a:r>
          </a:p>
          <a:p>
            <a:endParaRPr lang="it-IT" dirty="0"/>
          </a:p>
          <a:p>
            <a:endParaRPr lang="it-IT" dirty="0"/>
          </a:p>
          <a:p>
            <a:r>
              <a:rPr lang="it-IT" dirty="0"/>
              <a:t>l PVC è </a:t>
            </a:r>
            <a:r>
              <a:rPr lang="it-IT" dirty="0" err="1"/>
              <a:t>Pending</a:t>
            </a:r>
            <a:r>
              <a:rPr lang="it-IT" dirty="0"/>
              <a:t> perché la tua </a:t>
            </a:r>
            <a:r>
              <a:rPr lang="it-IT" dirty="0" err="1"/>
              <a:t>StorageClass</a:t>
            </a:r>
            <a:r>
              <a:rPr lang="it-IT" dirty="0"/>
              <a:t> usa la modalità </a:t>
            </a:r>
            <a:r>
              <a:rPr lang="it-IT" b="1" dirty="0" err="1"/>
              <a:t>WaitForFirstConsumer</a:t>
            </a:r>
            <a:r>
              <a:rPr lang="it-IT" dirty="0"/>
              <a:t>.</a:t>
            </a:r>
          </a:p>
          <a:p>
            <a:r>
              <a:rPr lang="it-IT" dirty="0"/>
              <a:t>In pratica </a:t>
            </a:r>
            <a:r>
              <a:rPr lang="it-IT" dirty="0" err="1"/>
              <a:t>Kubernetes</a:t>
            </a:r>
            <a:r>
              <a:rPr lang="it-IT" dirty="0"/>
              <a:t> aspetta che venga creato un </a:t>
            </a:r>
            <a:r>
              <a:rPr lang="it-IT" dirty="0" err="1"/>
              <a:t>Pod</a:t>
            </a:r>
            <a:r>
              <a:rPr lang="it-IT" dirty="0"/>
              <a:t> che utilizzi quel PVC prima di assegnare o creare il volume.</a:t>
            </a:r>
          </a:p>
          <a:p>
            <a:endParaRPr lang="it-IT" dirty="0"/>
          </a:p>
          <a:p>
            <a:endParaRPr lang="it-IT" dirty="0">
              <a:solidFill>
                <a:srgbClr val="171FE2"/>
              </a:solidFill>
              <a:latin typeface="Consolas" panose="020B0609020204030204" pitchFamily="49" charset="0"/>
            </a:endParaRPr>
          </a:p>
        </p:txBody>
      </p:sp>
      <p:pic>
        <p:nvPicPr>
          <p:cNvPr id="5" name="Immagine 4">
            <a:extLst>
              <a:ext uri="{FF2B5EF4-FFF2-40B4-BE49-F238E27FC236}">
                <a16:creationId xmlns:a16="http://schemas.microsoft.com/office/drawing/2014/main" id="{AE16EB0C-D174-31D2-1FF9-DD066C0EB6CF}"/>
              </a:ext>
            </a:extLst>
          </p:cNvPr>
          <p:cNvPicPr>
            <a:picLocks noChangeAspect="1"/>
          </p:cNvPicPr>
          <p:nvPr/>
        </p:nvPicPr>
        <p:blipFill>
          <a:blip r:embed="rId2"/>
          <a:stretch>
            <a:fillRect/>
          </a:stretch>
        </p:blipFill>
        <p:spPr>
          <a:xfrm>
            <a:off x="838200" y="3085122"/>
            <a:ext cx="10323150" cy="687756"/>
          </a:xfrm>
          <a:prstGeom prst="rect">
            <a:avLst/>
          </a:prstGeom>
        </p:spPr>
      </p:pic>
    </p:spTree>
    <p:extLst>
      <p:ext uri="{BB962C8B-B14F-4D97-AF65-F5344CB8AC3E}">
        <p14:creationId xmlns:p14="http://schemas.microsoft.com/office/powerpoint/2010/main" val="19055525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ED7ED-0A65-BDB6-BE70-A0C95440F9E2}"/>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FBAB778E-ACDB-685A-5572-6AE7CD1E0A9C}"/>
              </a:ext>
            </a:extLst>
          </p:cNvPr>
          <p:cNvSpPr>
            <a:spLocks noGrp="1"/>
          </p:cNvSpPr>
          <p:nvPr>
            <p:ph type="title"/>
          </p:nvPr>
        </p:nvSpPr>
        <p:spPr>
          <a:xfrm>
            <a:off x="838200" y="831206"/>
            <a:ext cx="10515600" cy="314198"/>
          </a:xfrm>
        </p:spPr>
        <p:txBody>
          <a:bodyPr/>
          <a:lstStyle/>
          <a:p>
            <a:r>
              <a:rPr lang="it-IT" dirty="0"/>
              <a:t>SLIDE 35: LAB PRACTICAL – CREARE LA PRENOTAZIONE DI MEMORIA (PVC) PER IL DATABASE</a:t>
            </a:r>
            <a:br>
              <a:rPr lang="it-IT" dirty="0"/>
            </a:br>
            <a:br>
              <a:rPr lang="it-IT" dirty="0"/>
            </a:br>
            <a:endParaRPr lang="it-IT" dirty="0"/>
          </a:p>
        </p:txBody>
      </p:sp>
      <p:sp>
        <p:nvSpPr>
          <p:cNvPr id="3" name="Contenuto della lezione">
            <a:extLst>
              <a:ext uri="{FF2B5EF4-FFF2-40B4-BE49-F238E27FC236}">
                <a16:creationId xmlns:a16="http://schemas.microsoft.com/office/drawing/2014/main" id="{86E9711D-E4F0-778D-767F-0596CD3CF8DB}"/>
              </a:ext>
            </a:extLst>
          </p:cNvPr>
          <p:cNvSpPr>
            <a:spLocks noGrp="1"/>
          </p:cNvSpPr>
          <p:nvPr>
            <p:ph idx="1"/>
          </p:nvPr>
        </p:nvSpPr>
        <p:spPr>
          <a:xfrm>
            <a:off x="838200" y="1589185"/>
            <a:ext cx="10783824" cy="5460839"/>
          </a:xfrm>
        </p:spPr>
        <p:txBody>
          <a:bodyPr/>
          <a:lstStyle/>
          <a:p>
            <a:r>
              <a:rPr lang="it-IT" dirty="0"/>
              <a:t>Una </a:t>
            </a:r>
            <a:r>
              <a:rPr lang="it-IT" b="1" dirty="0" err="1"/>
              <a:t>StorageClass</a:t>
            </a:r>
            <a:r>
              <a:rPr lang="it-IT" dirty="0"/>
              <a:t> non è la memoria o il disco stesso. È piuttosto una </a:t>
            </a:r>
            <a:r>
              <a:rPr lang="it-IT" b="1" dirty="0"/>
              <a:t>"classe" o "profilo" di storage</a:t>
            </a:r>
            <a:r>
              <a:rPr lang="it-IT" dirty="0"/>
              <a:t> che dice a </a:t>
            </a:r>
            <a:r>
              <a:rPr lang="it-IT" dirty="0" err="1"/>
              <a:t>Kubernetes</a:t>
            </a:r>
            <a:r>
              <a:rPr lang="it-IT" dirty="0"/>
              <a:t> </a:t>
            </a:r>
            <a:r>
              <a:rPr lang="it-IT" i="1" dirty="0"/>
              <a:t>come</a:t>
            </a:r>
            <a:r>
              <a:rPr lang="it-IT" dirty="0"/>
              <a:t> deve creare o assegnare i volumi.</a:t>
            </a:r>
          </a:p>
          <a:p>
            <a:r>
              <a:rPr lang="it-IT" dirty="0"/>
              <a:t>Un'analogia semplice:</a:t>
            </a:r>
          </a:p>
          <a:p>
            <a:r>
              <a:rPr lang="it-IT" b="1" dirty="0"/>
              <a:t>PVC (</a:t>
            </a:r>
            <a:r>
              <a:rPr lang="it-IT" b="1" dirty="0" err="1"/>
              <a:t>PersistentVolumeClaim</a:t>
            </a:r>
            <a:r>
              <a:rPr lang="it-IT" b="1" dirty="0"/>
              <a:t>)</a:t>
            </a:r>
            <a:r>
              <a:rPr lang="it-IT" dirty="0"/>
              <a:t> = "Vorrei un disco da 10 GB" </a:t>
            </a:r>
          </a:p>
          <a:p>
            <a:r>
              <a:rPr lang="it-IT" b="1" dirty="0" err="1"/>
              <a:t>StorageClass</a:t>
            </a:r>
            <a:r>
              <a:rPr lang="it-IT" dirty="0"/>
              <a:t> = "Che tipo di disco vuoi? SSD? HDD? Disco locale? Disco cloud?" </a:t>
            </a:r>
          </a:p>
          <a:p>
            <a:r>
              <a:rPr lang="it-IT" b="1" dirty="0"/>
              <a:t>PV (</a:t>
            </a:r>
            <a:r>
              <a:rPr lang="it-IT" b="1" dirty="0" err="1"/>
              <a:t>PersistentVolume</a:t>
            </a:r>
            <a:r>
              <a:rPr lang="it-IT" b="1" dirty="0"/>
              <a:t>)</a:t>
            </a:r>
            <a:r>
              <a:rPr lang="it-IT" dirty="0"/>
              <a:t> = il disco effettivo che viene assegnato</a:t>
            </a:r>
          </a:p>
          <a:p>
            <a:r>
              <a:rPr lang="it-IT" dirty="0" err="1">
                <a:solidFill>
                  <a:srgbClr val="171FE2"/>
                </a:solidFill>
                <a:latin typeface="Consolas" panose="020B0609020204030204" pitchFamily="49" charset="0"/>
              </a:rPr>
              <a:t>Pod</a:t>
            </a:r>
            <a:endParaRPr lang="it-IT" dirty="0">
              <a:solidFill>
                <a:srgbClr val="171FE2"/>
              </a:solidFill>
              <a:latin typeface="Consolas" panose="020B0609020204030204" pitchFamily="49" charset="0"/>
            </a:endParaRPr>
          </a:p>
          <a:p>
            <a:r>
              <a:rPr lang="it-IT" dirty="0">
                <a:solidFill>
                  <a:srgbClr val="171FE2"/>
                </a:solidFill>
                <a:latin typeface="Consolas" panose="020B0609020204030204" pitchFamily="49" charset="0"/>
              </a:rPr>
              <a:t> ↓</a:t>
            </a:r>
          </a:p>
          <a:p>
            <a:r>
              <a:rPr lang="it-IT" dirty="0">
                <a:solidFill>
                  <a:srgbClr val="171FE2"/>
                </a:solidFill>
                <a:latin typeface="Consolas" panose="020B0609020204030204" pitchFamily="49" charset="0"/>
              </a:rPr>
              <a:t>PVC (richiesta di storage)</a:t>
            </a:r>
          </a:p>
          <a:p>
            <a:r>
              <a:rPr lang="it-IT" dirty="0">
                <a:solidFill>
                  <a:srgbClr val="171FE2"/>
                </a:solidFill>
                <a:latin typeface="Consolas" panose="020B0609020204030204" pitchFamily="49" charset="0"/>
              </a:rPr>
              <a:t> ↓</a:t>
            </a:r>
          </a:p>
          <a:p>
            <a:r>
              <a:rPr lang="it-IT" dirty="0" err="1">
                <a:solidFill>
                  <a:srgbClr val="171FE2"/>
                </a:solidFill>
                <a:latin typeface="Consolas" panose="020B0609020204030204" pitchFamily="49" charset="0"/>
              </a:rPr>
              <a:t>StorageClass</a:t>
            </a:r>
            <a:r>
              <a:rPr lang="it-IT" dirty="0">
                <a:solidFill>
                  <a:srgbClr val="171FE2"/>
                </a:solidFill>
                <a:latin typeface="Consolas" panose="020B0609020204030204" pitchFamily="49" charset="0"/>
              </a:rPr>
              <a:t> (regole di provisioning)</a:t>
            </a:r>
          </a:p>
          <a:p>
            <a:r>
              <a:rPr lang="it-IT" dirty="0">
                <a:solidFill>
                  <a:srgbClr val="171FE2"/>
                </a:solidFill>
                <a:latin typeface="Consolas" panose="020B0609020204030204" pitchFamily="49" charset="0"/>
              </a:rPr>
              <a:t> ↓</a:t>
            </a:r>
          </a:p>
          <a:p>
            <a:r>
              <a:rPr lang="it-IT" dirty="0">
                <a:solidFill>
                  <a:srgbClr val="171FE2"/>
                </a:solidFill>
                <a:latin typeface="Consolas" panose="020B0609020204030204" pitchFamily="49" charset="0"/>
              </a:rPr>
              <a:t>PV (volume reale)</a:t>
            </a:r>
          </a:p>
        </p:txBody>
      </p:sp>
    </p:spTree>
    <p:extLst>
      <p:ext uri="{BB962C8B-B14F-4D97-AF65-F5344CB8AC3E}">
        <p14:creationId xmlns:p14="http://schemas.microsoft.com/office/powerpoint/2010/main" val="1685849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E6990-DE54-36B9-5C63-A108E5469CFB}"/>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ACD61A84-0519-E34F-8BDE-C5347000BBC1}"/>
              </a:ext>
            </a:extLst>
          </p:cNvPr>
          <p:cNvSpPr>
            <a:spLocks noGrp="1"/>
          </p:cNvSpPr>
          <p:nvPr>
            <p:ph type="title"/>
          </p:nvPr>
        </p:nvSpPr>
        <p:spPr>
          <a:xfrm>
            <a:off x="838200" y="831206"/>
            <a:ext cx="10515600" cy="314198"/>
          </a:xfrm>
        </p:spPr>
        <p:txBody>
          <a:bodyPr/>
          <a:lstStyle/>
          <a:p>
            <a:r>
              <a:rPr lang="it-IT" dirty="0"/>
              <a:t>SLIDE 36: LAB PRACTICAL – CREARE LA PRENOTAZIONE DI MEMORIA (PVC) PER IL DATABASE</a:t>
            </a:r>
            <a:br>
              <a:rPr lang="it-IT" dirty="0"/>
            </a:br>
            <a:br>
              <a:rPr lang="it-IT" dirty="0"/>
            </a:br>
            <a:endParaRPr lang="it-IT" dirty="0"/>
          </a:p>
        </p:txBody>
      </p:sp>
      <p:sp>
        <p:nvSpPr>
          <p:cNvPr id="3" name="Contenuto della lezione">
            <a:extLst>
              <a:ext uri="{FF2B5EF4-FFF2-40B4-BE49-F238E27FC236}">
                <a16:creationId xmlns:a16="http://schemas.microsoft.com/office/drawing/2014/main" id="{1750564B-A397-E6D9-607A-01662D8F1EBE}"/>
              </a:ext>
            </a:extLst>
          </p:cNvPr>
          <p:cNvSpPr>
            <a:spLocks noGrp="1"/>
          </p:cNvSpPr>
          <p:nvPr>
            <p:ph idx="1"/>
          </p:nvPr>
        </p:nvSpPr>
        <p:spPr>
          <a:xfrm>
            <a:off x="838200" y="1589185"/>
            <a:ext cx="10783824" cy="5460839"/>
          </a:xfrm>
        </p:spPr>
        <p:txBody>
          <a:bodyPr/>
          <a:lstStyle/>
          <a:p>
            <a:r>
              <a:rPr lang="it-IT" dirty="0"/>
              <a:t>Per verificare lo </a:t>
            </a:r>
            <a:r>
              <a:rPr lang="it-IT" dirty="0" err="1"/>
              <a:t>StorageClass</a:t>
            </a:r>
            <a:r>
              <a:rPr lang="it-IT" dirty="0"/>
              <a:t>:</a:t>
            </a:r>
          </a:p>
          <a:p>
            <a:r>
              <a:rPr lang="it-IT" dirty="0" err="1">
                <a:solidFill>
                  <a:srgbClr val="171FE2"/>
                </a:solidFill>
                <a:latin typeface="Consolas" panose="020B0609020204030204" pitchFamily="49" charset="0"/>
              </a:rPr>
              <a:t>kubectl</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get</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storageclass</a:t>
            </a:r>
            <a:endParaRPr lang="it-IT" dirty="0">
              <a:solidFill>
                <a:srgbClr val="171FE2"/>
              </a:solidFill>
              <a:latin typeface="Consolas" panose="020B0609020204030204" pitchFamily="49" charset="0"/>
            </a:endParaRPr>
          </a:p>
          <a:p>
            <a:r>
              <a:rPr lang="it-IT" dirty="0" err="1">
                <a:solidFill>
                  <a:srgbClr val="171FE2"/>
                </a:solidFill>
                <a:latin typeface="Consolas" panose="020B0609020204030204" pitchFamily="49" charset="0"/>
              </a:rPr>
              <a:t>kubectl</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describe</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storageclass</a:t>
            </a:r>
            <a:r>
              <a:rPr lang="it-IT" dirty="0">
                <a:solidFill>
                  <a:srgbClr val="171FE2"/>
                </a:solidFill>
                <a:latin typeface="Consolas" panose="020B0609020204030204" pitchFamily="49" charset="0"/>
              </a:rPr>
              <a:t> standard</a:t>
            </a:r>
          </a:p>
          <a:p>
            <a:endParaRPr lang="it-IT" dirty="0">
              <a:solidFill>
                <a:srgbClr val="171FE2"/>
              </a:solidFill>
              <a:latin typeface="Consolas" panose="020B0609020204030204" pitchFamily="49" charset="0"/>
            </a:endParaRPr>
          </a:p>
          <a:p>
            <a:endParaRPr lang="it-IT" dirty="0">
              <a:solidFill>
                <a:srgbClr val="171FE2"/>
              </a:solidFill>
              <a:latin typeface="Consolas" panose="020B0609020204030204" pitchFamily="49" charset="0"/>
            </a:endParaRPr>
          </a:p>
        </p:txBody>
      </p:sp>
      <p:pic>
        <p:nvPicPr>
          <p:cNvPr id="5" name="Immagine 4">
            <a:extLst>
              <a:ext uri="{FF2B5EF4-FFF2-40B4-BE49-F238E27FC236}">
                <a16:creationId xmlns:a16="http://schemas.microsoft.com/office/drawing/2014/main" id="{497A8455-6643-1851-248B-AB9B42B41B49}"/>
              </a:ext>
            </a:extLst>
          </p:cNvPr>
          <p:cNvPicPr>
            <a:picLocks noChangeAspect="1"/>
          </p:cNvPicPr>
          <p:nvPr/>
        </p:nvPicPr>
        <p:blipFill>
          <a:blip r:embed="rId2"/>
          <a:stretch>
            <a:fillRect/>
          </a:stretch>
        </p:blipFill>
        <p:spPr>
          <a:xfrm>
            <a:off x="838200" y="2974140"/>
            <a:ext cx="11074400" cy="2914316"/>
          </a:xfrm>
          <a:prstGeom prst="rect">
            <a:avLst/>
          </a:prstGeom>
        </p:spPr>
      </p:pic>
    </p:spTree>
    <p:extLst>
      <p:ext uri="{BB962C8B-B14F-4D97-AF65-F5344CB8AC3E}">
        <p14:creationId xmlns:p14="http://schemas.microsoft.com/office/powerpoint/2010/main" val="12090952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0EFBA-8D6F-08F1-CF79-EC2FA918E3D0}"/>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64F93D8C-5F68-50C9-56B7-07DC1327D069}"/>
              </a:ext>
            </a:extLst>
          </p:cNvPr>
          <p:cNvSpPr>
            <a:spLocks noGrp="1"/>
          </p:cNvSpPr>
          <p:nvPr>
            <p:ph type="title"/>
          </p:nvPr>
        </p:nvSpPr>
        <p:spPr>
          <a:xfrm>
            <a:off x="838200" y="831206"/>
            <a:ext cx="10515600" cy="314198"/>
          </a:xfrm>
        </p:spPr>
        <p:txBody>
          <a:bodyPr/>
          <a:lstStyle/>
          <a:p>
            <a:r>
              <a:rPr lang="it-IT" dirty="0"/>
              <a:t>SLIDE 37: LA SICUREZZA DEI DATI SENSIBILI – GLI OGGETTI SECRET IN KUBERNETES</a:t>
            </a:r>
            <a:br>
              <a:rPr lang="it-IT" dirty="0"/>
            </a:br>
            <a:br>
              <a:rPr lang="it-IT" dirty="0"/>
            </a:br>
            <a:endParaRPr lang="it-IT" dirty="0"/>
          </a:p>
        </p:txBody>
      </p:sp>
      <p:sp>
        <p:nvSpPr>
          <p:cNvPr id="3" name="Contenuto della lezione">
            <a:extLst>
              <a:ext uri="{FF2B5EF4-FFF2-40B4-BE49-F238E27FC236}">
                <a16:creationId xmlns:a16="http://schemas.microsoft.com/office/drawing/2014/main" id="{E8A996EB-5F7B-2349-8323-5B9A6BAF420D}"/>
              </a:ext>
            </a:extLst>
          </p:cNvPr>
          <p:cNvSpPr>
            <a:spLocks noGrp="1"/>
          </p:cNvSpPr>
          <p:nvPr>
            <p:ph idx="1"/>
          </p:nvPr>
        </p:nvSpPr>
        <p:spPr>
          <a:xfrm>
            <a:off x="838200" y="1589185"/>
            <a:ext cx="10783824" cy="5460839"/>
          </a:xfrm>
        </p:spPr>
        <p:txBody>
          <a:bodyPr/>
          <a:lstStyle/>
          <a:p>
            <a:r>
              <a:rPr lang="it-IT" dirty="0"/>
              <a:t>Nello sviluppo di software a livello </a:t>
            </a:r>
            <a:r>
              <a:rPr lang="it-IT" dirty="0" err="1"/>
              <a:t>enterprise</a:t>
            </a:r>
            <a:r>
              <a:rPr lang="it-IT" dirty="0"/>
              <a:t>, la sicurezza delle informazioni e la protezione delle credenziali sono argomenti su cui non è ammesso nessun tipo di errore o leggerezza. </a:t>
            </a:r>
          </a:p>
          <a:p>
            <a:r>
              <a:rPr lang="it-IT" dirty="0"/>
              <a:t>Fino ad ora, nei laboratori con Docker Compose, eravamo abituati a scrivere le password del database in chiaro all'interno dei file di configurazione o delle variabili d'ambiente. </a:t>
            </a:r>
          </a:p>
          <a:p>
            <a:r>
              <a:rPr lang="it-IT" dirty="0"/>
              <a:t>Questo approccio è estremamente pericoloso in produzione: se inserissimo la password di root del nostro database all'interno del file YAML e poi caricassimo quel file su un repository GitHub pubblico, chiunque nel mondo potrebbe leggere le nostre credenziali e violare i server aziendali. </a:t>
            </a:r>
          </a:p>
          <a:p>
            <a:r>
              <a:rPr lang="it-IT" dirty="0">
                <a:solidFill>
                  <a:srgbClr val="171FE2"/>
                </a:solidFill>
              </a:rPr>
              <a:t>Per risolvere questa vulnerabilità, </a:t>
            </a:r>
            <a:r>
              <a:rPr lang="it-IT" dirty="0" err="1">
                <a:solidFill>
                  <a:srgbClr val="171FE2"/>
                </a:solidFill>
              </a:rPr>
              <a:t>Kubernetes</a:t>
            </a:r>
            <a:r>
              <a:rPr lang="it-IT" dirty="0">
                <a:solidFill>
                  <a:srgbClr val="171FE2"/>
                </a:solidFill>
              </a:rPr>
              <a:t> introduce un oggetto specializzato chiamato </a:t>
            </a:r>
            <a:r>
              <a:rPr lang="it-IT" b="1" dirty="0">
                <a:solidFill>
                  <a:srgbClr val="171FE2"/>
                </a:solidFill>
              </a:rPr>
              <a:t>Secret</a:t>
            </a:r>
            <a:r>
              <a:rPr lang="it-IT" dirty="0">
                <a:solidFill>
                  <a:srgbClr val="171FE2"/>
                </a:solidFill>
              </a:rPr>
              <a:t> (Segreto).</a:t>
            </a:r>
            <a:endParaRPr lang="it-IT" dirty="0">
              <a:solidFill>
                <a:srgbClr val="171FE2"/>
              </a:solidFill>
              <a:latin typeface="Consolas" panose="020B0609020204030204" pitchFamily="49" charset="0"/>
            </a:endParaRPr>
          </a:p>
          <a:p>
            <a:endParaRPr lang="it-IT" dirty="0">
              <a:solidFill>
                <a:srgbClr val="171FE2"/>
              </a:solidFill>
              <a:latin typeface="Consolas" panose="020B0609020204030204" pitchFamily="49" charset="0"/>
            </a:endParaRPr>
          </a:p>
        </p:txBody>
      </p:sp>
    </p:spTree>
    <p:extLst>
      <p:ext uri="{BB962C8B-B14F-4D97-AF65-F5344CB8AC3E}">
        <p14:creationId xmlns:p14="http://schemas.microsoft.com/office/powerpoint/2010/main" val="19055926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163F4-B7DE-8286-FEC5-2482860D7A8E}"/>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BA9C232E-31C1-5F39-F2C8-C2C7DEAA907D}"/>
              </a:ext>
            </a:extLst>
          </p:cNvPr>
          <p:cNvSpPr>
            <a:spLocks noGrp="1"/>
          </p:cNvSpPr>
          <p:nvPr>
            <p:ph type="title"/>
          </p:nvPr>
        </p:nvSpPr>
        <p:spPr>
          <a:xfrm>
            <a:off x="838200" y="831206"/>
            <a:ext cx="10515600" cy="314198"/>
          </a:xfrm>
        </p:spPr>
        <p:txBody>
          <a:bodyPr/>
          <a:lstStyle/>
          <a:p>
            <a:r>
              <a:rPr lang="it-IT" dirty="0"/>
              <a:t>SLIDE 38: LA SICUREZZA DEI DATI SENSIBILI – GLI OGGETTI SECRET IN KUBERNETES</a:t>
            </a:r>
            <a:br>
              <a:rPr lang="it-IT" dirty="0"/>
            </a:br>
            <a:br>
              <a:rPr lang="it-IT" dirty="0"/>
            </a:br>
            <a:endParaRPr lang="it-IT" dirty="0"/>
          </a:p>
        </p:txBody>
      </p:sp>
      <p:sp>
        <p:nvSpPr>
          <p:cNvPr id="3" name="Contenuto della lezione">
            <a:extLst>
              <a:ext uri="{FF2B5EF4-FFF2-40B4-BE49-F238E27FC236}">
                <a16:creationId xmlns:a16="http://schemas.microsoft.com/office/drawing/2014/main" id="{9C5218AD-7546-8AF0-4DAF-264E42D19196}"/>
              </a:ext>
            </a:extLst>
          </p:cNvPr>
          <p:cNvSpPr>
            <a:spLocks noGrp="1"/>
          </p:cNvSpPr>
          <p:nvPr>
            <p:ph idx="1"/>
          </p:nvPr>
        </p:nvSpPr>
        <p:spPr>
          <a:xfrm>
            <a:off x="838200" y="1589185"/>
            <a:ext cx="10783824" cy="5460839"/>
          </a:xfrm>
        </p:spPr>
        <p:txBody>
          <a:bodyPr/>
          <a:lstStyle/>
          <a:p>
            <a:r>
              <a:rPr lang="it-IT" dirty="0"/>
              <a:t>Un Secret è un oggetto del cluster concepito esclusivamente per memorizzare e proteggere piccole quantità di dati sensibili, come password, chiavi di cifratura, token di autenticazione o stringhe di connessione. </a:t>
            </a:r>
          </a:p>
          <a:p>
            <a:r>
              <a:rPr lang="it-IT" dirty="0"/>
              <a:t>Invece di viaggiare nel codice, i dati sensibili vengono caricati direttamente all'interno della cassaforte interna di </a:t>
            </a:r>
            <a:r>
              <a:rPr lang="it-IT" dirty="0" err="1"/>
              <a:t>Kubernetes</a:t>
            </a:r>
            <a:r>
              <a:rPr lang="it-IT" dirty="0"/>
              <a:t> (criptati in formato Base64 o cifrati a riposo nell'</a:t>
            </a:r>
            <a:r>
              <a:rPr lang="it-IT" dirty="0" err="1"/>
              <a:t>etcd</a:t>
            </a:r>
            <a:r>
              <a:rPr lang="it-IT" dirty="0"/>
              <a:t>). </a:t>
            </a:r>
          </a:p>
          <a:p>
            <a:r>
              <a:rPr lang="it-IT" dirty="0">
                <a:solidFill>
                  <a:srgbClr val="171FE2"/>
                </a:solidFill>
              </a:rPr>
              <a:t>Quando un </a:t>
            </a:r>
            <a:r>
              <a:rPr lang="it-IT" dirty="0" err="1">
                <a:solidFill>
                  <a:srgbClr val="171FE2"/>
                </a:solidFill>
              </a:rPr>
              <a:t>Pod</a:t>
            </a:r>
            <a:r>
              <a:rPr lang="it-IT" dirty="0">
                <a:solidFill>
                  <a:srgbClr val="171FE2"/>
                </a:solidFill>
              </a:rPr>
              <a:t> (come il nostro </a:t>
            </a:r>
            <a:r>
              <a:rPr lang="it-IT" dirty="0" err="1">
                <a:solidFill>
                  <a:srgbClr val="171FE2"/>
                </a:solidFill>
              </a:rPr>
              <a:t>backend</a:t>
            </a:r>
            <a:r>
              <a:rPr lang="it-IT" dirty="0">
                <a:solidFill>
                  <a:srgbClr val="171FE2"/>
                </a:solidFill>
              </a:rPr>
              <a:t> Spring Boot o il database </a:t>
            </a:r>
            <a:r>
              <a:rPr lang="it-IT" dirty="0" err="1">
                <a:solidFill>
                  <a:srgbClr val="171FE2"/>
                </a:solidFill>
              </a:rPr>
              <a:t>MariaDB</a:t>
            </a:r>
            <a:r>
              <a:rPr lang="it-IT" dirty="0">
                <a:solidFill>
                  <a:srgbClr val="171FE2"/>
                </a:solidFill>
              </a:rPr>
              <a:t>) ha bisogno di conoscere la password per avviarsi, non la legge dal suo file YAML, ma la chiede al Control </a:t>
            </a:r>
            <a:r>
              <a:rPr lang="it-IT" dirty="0" err="1">
                <a:solidFill>
                  <a:srgbClr val="171FE2"/>
                </a:solidFill>
              </a:rPr>
              <a:t>Plane</a:t>
            </a:r>
            <a:r>
              <a:rPr lang="it-IT" dirty="0">
                <a:solidFill>
                  <a:srgbClr val="171FE2"/>
                </a:solidFill>
              </a:rPr>
              <a:t>, </a:t>
            </a:r>
            <a:r>
              <a:rPr lang="it-IT" i="1" dirty="0">
                <a:solidFill>
                  <a:srgbClr val="171FE2"/>
                </a:solidFill>
              </a:rPr>
              <a:t>iniettata direttamente nella RAM come variabile d'ambiente temporanea</a:t>
            </a:r>
            <a:r>
              <a:rPr lang="it-IT" dirty="0">
                <a:solidFill>
                  <a:srgbClr val="171FE2"/>
                </a:solidFill>
              </a:rPr>
              <a:t>. </a:t>
            </a:r>
          </a:p>
          <a:p>
            <a:r>
              <a:rPr lang="it-IT" dirty="0"/>
              <a:t>In questo modo, i file di configurazione YAML che salviamo su </a:t>
            </a:r>
            <a:r>
              <a:rPr lang="it-IT" dirty="0" err="1"/>
              <a:t>Git</a:t>
            </a:r>
            <a:r>
              <a:rPr lang="it-IT" dirty="0"/>
              <a:t> rimangono completamente privi di dati sensibili (puliti e anonimi), garantendo i massimi standard di sicurezza aziendali.</a:t>
            </a:r>
            <a:endParaRPr lang="it-IT" dirty="0">
              <a:solidFill>
                <a:srgbClr val="171FE2"/>
              </a:solidFill>
              <a:latin typeface="Consolas" panose="020B0609020204030204" pitchFamily="49" charset="0"/>
            </a:endParaRPr>
          </a:p>
        </p:txBody>
      </p:sp>
    </p:spTree>
    <p:extLst>
      <p:ext uri="{BB962C8B-B14F-4D97-AF65-F5344CB8AC3E}">
        <p14:creationId xmlns:p14="http://schemas.microsoft.com/office/powerpoint/2010/main" val="3727616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C39E-1A7F-DC54-69B4-27EE586244A9}"/>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0E65256B-21D5-8DD4-2098-527EE014D332}"/>
              </a:ext>
            </a:extLst>
          </p:cNvPr>
          <p:cNvSpPr>
            <a:spLocks noGrp="1"/>
          </p:cNvSpPr>
          <p:nvPr>
            <p:ph type="title"/>
          </p:nvPr>
        </p:nvSpPr>
        <p:spPr>
          <a:xfrm>
            <a:off x="838200" y="831206"/>
            <a:ext cx="10515600" cy="314198"/>
          </a:xfrm>
        </p:spPr>
        <p:txBody>
          <a:bodyPr/>
          <a:lstStyle/>
          <a:p>
            <a:r>
              <a:rPr lang="it-IT" dirty="0"/>
              <a:t>SLIDE 39: LAB PRACTICAL – CREARE LA CASSAFORTE DELLE PASSWORD CON KUBECTL</a:t>
            </a:r>
            <a:br>
              <a:rPr lang="it-IT" dirty="0"/>
            </a:br>
            <a:br>
              <a:rPr lang="it-IT" dirty="0"/>
            </a:br>
            <a:endParaRPr lang="it-IT" dirty="0"/>
          </a:p>
        </p:txBody>
      </p:sp>
      <p:sp>
        <p:nvSpPr>
          <p:cNvPr id="3" name="Contenuto della lezione">
            <a:extLst>
              <a:ext uri="{FF2B5EF4-FFF2-40B4-BE49-F238E27FC236}">
                <a16:creationId xmlns:a16="http://schemas.microsoft.com/office/drawing/2014/main" id="{B0578574-0E28-336A-8F8A-E003FDA06C49}"/>
              </a:ext>
            </a:extLst>
          </p:cNvPr>
          <p:cNvSpPr>
            <a:spLocks noGrp="1"/>
          </p:cNvSpPr>
          <p:nvPr>
            <p:ph idx="1"/>
          </p:nvPr>
        </p:nvSpPr>
        <p:spPr>
          <a:xfrm>
            <a:off x="838200" y="1589185"/>
            <a:ext cx="10783824" cy="5460839"/>
          </a:xfrm>
        </p:spPr>
        <p:txBody>
          <a:bodyPr/>
          <a:lstStyle/>
          <a:p>
            <a:r>
              <a:rPr lang="it-IT" dirty="0"/>
              <a:t>Passiamo alla pratica e andiamo a creare la cassaforte di sicurezza (Secret) che conterrà la password di amministrazione del nostro database </a:t>
            </a:r>
            <a:r>
              <a:rPr lang="it-IT" dirty="0" err="1"/>
              <a:t>MariaDB</a:t>
            </a:r>
            <a:r>
              <a:rPr lang="it-IT" dirty="0"/>
              <a:t>. </a:t>
            </a:r>
          </a:p>
          <a:p>
            <a:r>
              <a:rPr lang="it-IT" dirty="0"/>
              <a:t>Utilizzeremo un comando imperativo ad alto livello per istruire </a:t>
            </a:r>
            <a:r>
              <a:rPr lang="it-IT" dirty="0" err="1"/>
              <a:t>Kubernetes</a:t>
            </a:r>
            <a:r>
              <a:rPr lang="it-IT" dirty="0"/>
              <a:t> a generare un oggetto Secret generico protetto all'interno del nostro cluster locale.</a:t>
            </a:r>
          </a:p>
          <a:p>
            <a:r>
              <a:rPr lang="it-IT" dirty="0" err="1"/>
              <a:t>Eseguiamoil</a:t>
            </a:r>
            <a:r>
              <a:rPr lang="it-IT" dirty="0"/>
              <a:t> seguente comando, inserendo la chiave e la password scelte per il corso:</a:t>
            </a:r>
          </a:p>
          <a:p>
            <a:r>
              <a:rPr lang="it-IT" dirty="0" err="1">
                <a:solidFill>
                  <a:srgbClr val="171FE2"/>
                </a:solidFill>
                <a:latin typeface="Consolas" panose="020B0609020204030204" pitchFamily="49" charset="0"/>
              </a:rPr>
              <a:t>kubectl</a:t>
            </a:r>
            <a:r>
              <a:rPr lang="it-IT" dirty="0">
                <a:solidFill>
                  <a:srgbClr val="171FE2"/>
                </a:solidFill>
                <a:latin typeface="Consolas" panose="020B0609020204030204" pitchFamily="49" charset="0"/>
              </a:rPr>
              <a:t> create secret </a:t>
            </a:r>
            <a:r>
              <a:rPr lang="it-IT" dirty="0" err="1">
                <a:solidFill>
                  <a:srgbClr val="171FE2"/>
                </a:solidFill>
                <a:latin typeface="Consolas" panose="020B0609020204030204" pitchFamily="49" charset="0"/>
              </a:rPr>
              <a:t>generic</a:t>
            </a:r>
            <a:r>
              <a:rPr lang="it-IT" dirty="0">
                <a:solidFill>
                  <a:srgbClr val="171FE2"/>
                </a:solidFill>
                <a:latin typeface="Consolas" panose="020B0609020204030204" pitchFamily="49" charset="0"/>
              </a:rPr>
              <a:t> database-segreto --from-</a:t>
            </a:r>
            <a:r>
              <a:rPr lang="it-IT" dirty="0" err="1">
                <a:solidFill>
                  <a:srgbClr val="171FE2"/>
                </a:solidFill>
                <a:latin typeface="Consolas" panose="020B0609020204030204" pitchFamily="49" charset="0"/>
              </a:rPr>
              <a:t>literal</a:t>
            </a:r>
            <a:r>
              <a:rPr lang="it-IT" dirty="0">
                <a:solidFill>
                  <a:srgbClr val="171FE2"/>
                </a:solidFill>
                <a:latin typeface="Consolas" panose="020B0609020204030204" pitchFamily="49" charset="0"/>
              </a:rPr>
              <a:t>=password-root=Skillfactory2026!</a:t>
            </a:r>
          </a:p>
          <a:p>
            <a:r>
              <a:rPr lang="it-IT" dirty="0"/>
              <a:t>Stiamo chiedendo a </a:t>
            </a:r>
            <a:r>
              <a:rPr lang="it-IT" dirty="0" err="1"/>
              <a:t>kubectl</a:t>
            </a:r>
            <a:r>
              <a:rPr lang="it-IT" dirty="0"/>
              <a:t> di </a:t>
            </a:r>
            <a:r>
              <a:rPr lang="it-IT" i="1" dirty="0"/>
              <a:t>creare</a:t>
            </a:r>
            <a:r>
              <a:rPr lang="it-IT" dirty="0"/>
              <a:t> un oggetto di tipo </a:t>
            </a:r>
            <a:r>
              <a:rPr lang="it-IT" i="1" dirty="0"/>
              <a:t>secret</a:t>
            </a:r>
            <a:r>
              <a:rPr lang="it-IT" dirty="0"/>
              <a:t> di categoria </a:t>
            </a:r>
            <a:r>
              <a:rPr lang="it-IT" i="1" dirty="0" err="1"/>
              <a:t>generic</a:t>
            </a:r>
            <a:r>
              <a:rPr lang="it-IT" dirty="0"/>
              <a:t> (la categoria standard per le password testuali). </a:t>
            </a:r>
          </a:p>
          <a:p>
            <a:r>
              <a:rPr lang="it-IT" dirty="0"/>
              <a:t>Abbiamo deciso di assegnare all’oggetto Secret il nome identificativo database-segreto. </a:t>
            </a:r>
          </a:p>
          <a:p>
            <a:r>
              <a:rPr lang="it-IT" dirty="0">
                <a:solidFill>
                  <a:srgbClr val="171FE2"/>
                </a:solidFill>
              </a:rPr>
              <a:t>Attraverso il parametro --from-</a:t>
            </a:r>
            <a:r>
              <a:rPr lang="it-IT" dirty="0" err="1">
                <a:solidFill>
                  <a:srgbClr val="171FE2"/>
                </a:solidFill>
              </a:rPr>
              <a:t>literal</a:t>
            </a:r>
            <a:r>
              <a:rPr lang="it-IT" dirty="0">
                <a:solidFill>
                  <a:srgbClr val="171FE2"/>
                </a:solidFill>
              </a:rPr>
              <a:t>, andiamo a definire la coppia chiave-valore: la chiave si chiama password-root e il valore reale della password sarà Skillfactory2026!.</a:t>
            </a:r>
          </a:p>
          <a:p>
            <a:r>
              <a:rPr lang="it-IT" dirty="0"/>
              <a:t>Per verificare che la cassaforte sia effettivamente presente nel registro del cluster (</a:t>
            </a:r>
            <a:r>
              <a:rPr lang="it-IT" dirty="0" err="1"/>
              <a:t>etcd</a:t>
            </a:r>
            <a:r>
              <a:rPr lang="it-IT" dirty="0"/>
              <a:t>), eseguiamo il comando di ispezione:</a:t>
            </a:r>
          </a:p>
          <a:p>
            <a:r>
              <a:rPr lang="it-IT" dirty="0" err="1">
                <a:solidFill>
                  <a:srgbClr val="171FE2"/>
                </a:solidFill>
                <a:latin typeface="Consolas" panose="020B0609020204030204" pitchFamily="49" charset="0"/>
              </a:rPr>
              <a:t>kubectl</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get</a:t>
            </a:r>
            <a:r>
              <a:rPr lang="it-IT" dirty="0">
                <a:solidFill>
                  <a:srgbClr val="171FE2"/>
                </a:solidFill>
                <a:latin typeface="Consolas" panose="020B0609020204030204" pitchFamily="49" charset="0"/>
              </a:rPr>
              <a:t> secrets</a:t>
            </a:r>
          </a:p>
        </p:txBody>
      </p:sp>
    </p:spTree>
    <p:extLst>
      <p:ext uri="{BB962C8B-B14F-4D97-AF65-F5344CB8AC3E}">
        <p14:creationId xmlns:p14="http://schemas.microsoft.com/office/powerpoint/2010/main" val="34783373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8C535-C0FC-B8B2-D597-231AB77E7B3C}"/>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9A633CC2-6C4D-99AD-2686-F912319F298F}"/>
              </a:ext>
            </a:extLst>
          </p:cNvPr>
          <p:cNvSpPr>
            <a:spLocks noGrp="1"/>
          </p:cNvSpPr>
          <p:nvPr>
            <p:ph type="title"/>
          </p:nvPr>
        </p:nvSpPr>
        <p:spPr>
          <a:xfrm>
            <a:off x="838200" y="831206"/>
            <a:ext cx="10515600" cy="314198"/>
          </a:xfrm>
        </p:spPr>
        <p:txBody>
          <a:bodyPr/>
          <a:lstStyle/>
          <a:p>
            <a:r>
              <a:rPr lang="it-IT" dirty="0"/>
              <a:t>SLIDE 40: LAB PRACTICAL – CREARE LA CASSAFORTE DELLE PASSWORD CON KUBECTL</a:t>
            </a:r>
            <a:br>
              <a:rPr lang="it-IT" dirty="0"/>
            </a:br>
            <a:br>
              <a:rPr lang="it-IT" dirty="0"/>
            </a:br>
            <a:endParaRPr lang="it-IT" dirty="0"/>
          </a:p>
        </p:txBody>
      </p:sp>
      <p:sp>
        <p:nvSpPr>
          <p:cNvPr id="3" name="Contenuto della lezione">
            <a:extLst>
              <a:ext uri="{FF2B5EF4-FFF2-40B4-BE49-F238E27FC236}">
                <a16:creationId xmlns:a16="http://schemas.microsoft.com/office/drawing/2014/main" id="{4529E48E-065D-4B22-5A37-3CE8D416875C}"/>
              </a:ext>
            </a:extLst>
          </p:cNvPr>
          <p:cNvSpPr>
            <a:spLocks noGrp="1"/>
          </p:cNvSpPr>
          <p:nvPr>
            <p:ph idx="1"/>
          </p:nvPr>
        </p:nvSpPr>
        <p:spPr>
          <a:xfrm>
            <a:off x="838200" y="1589185"/>
            <a:ext cx="10783824" cy="5460839"/>
          </a:xfrm>
        </p:spPr>
        <p:txBody>
          <a:bodyPr/>
          <a:lstStyle/>
          <a:p>
            <a:r>
              <a:rPr lang="it-IT" dirty="0"/>
              <a:t>Vedremo apparire una tabella contenente il nostro database-segreto, la tipologia </a:t>
            </a:r>
            <a:r>
              <a:rPr lang="it-IT" dirty="0" err="1"/>
              <a:t>Opaque</a:t>
            </a:r>
            <a:r>
              <a:rPr lang="it-IT" dirty="0"/>
              <a:t> (che indica un segreto generico standard a protezione opaca) e il numero di elementi salvati all'interno (1 DATA). </a:t>
            </a:r>
          </a:p>
          <a:p>
            <a:endParaRPr lang="it-IT" dirty="0"/>
          </a:p>
          <a:p>
            <a:endParaRPr lang="it-IT" dirty="0"/>
          </a:p>
          <a:p>
            <a:r>
              <a:rPr lang="it-IT" dirty="0"/>
              <a:t>Se proviamo a lanciare un comando di ispezione profonda come:</a:t>
            </a:r>
          </a:p>
          <a:p>
            <a:r>
              <a:rPr lang="it-IT" dirty="0" err="1">
                <a:solidFill>
                  <a:srgbClr val="171FE2"/>
                </a:solidFill>
                <a:latin typeface="Consolas" panose="020B0609020204030204" pitchFamily="49" charset="0"/>
              </a:rPr>
              <a:t>kubectl</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describe</a:t>
            </a:r>
            <a:r>
              <a:rPr lang="it-IT" dirty="0">
                <a:solidFill>
                  <a:srgbClr val="171FE2"/>
                </a:solidFill>
                <a:latin typeface="Consolas" panose="020B0609020204030204" pitchFamily="49" charset="0"/>
              </a:rPr>
              <a:t> secret database-segreto</a:t>
            </a:r>
          </a:p>
          <a:p>
            <a:r>
              <a:rPr lang="it-IT" dirty="0"/>
              <a:t>noteremo che </a:t>
            </a:r>
            <a:r>
              <a:rPr lang="it-IT" dirty="0" err="1"/>
              <a:t>Kubernetes</a:t>
            </a:r>
            <a:r>
              <a:rPr lang="it-IT" dirty="0"/>
              <a:t>, per proteggere la nostra privacy, non mostrerà mai il testo della password in chiaro sul monitor, ma dirà soltanto la dimensione in byte del valore nascosto. </a:t>
            </a:r>
          </a:p>
          <a:p>
            <a:r>
              <a:rPr lang="it-IT" dirty="0"/>
              <a:t>La password è ora al sicuro nel cluster.</a:t>
            </a:r>
            <a:endParaRPr lang="it-IT" dirty="0">
              <a:solidFill>
                <a:srgbClr val="171FE2"/>
              </a:solidFill>
              <a:latin typeface="Consolas" panose="020B0609020204030204" pitchFamily="49" charset="0"/>
            </a:endParaRPr>
          </a:p>
        </p:txBody>
      </p:sp>
      <p:pic>
        <p:nvPicPr>
          <p:cNvPr id="5" name="Immagine 4">
            <a:extLst>
              <a:ext uri="{FF2B5EF4-FFF2-40B4-BE49-F238E27FC236}">
                <a16:creationId xmlns:a16="http://schemas.microsoft.com/office/drawing/2014/main" id="{674187DE-2C04-D56F-7878-7F56FF246C24}"/>
              </a:ext>
            </a:extLst>
          </p:cNvPr>
          <p:cNvPicPr>
            <a:picLocks noChangeAspect="1"/>
          </p:cNvPicPr>
          <p:nvPr/>
        </p:nvPicPr>
        <p:blipFill>
          <a:blip r:embed="rId2"/>
          <a:stretch>
            <a:fillRect/>
          </a:stretch>
        </p:blipFill>
        <p:spPr>
          <a:xfrm>
            <a:off x="3162300" y="2327275"/>
            <a:ext cx="5867400" cy="666750"/>
          </a:xfrm>
          <a:prstGeom prst="rect">
            <a:avLst/>
          </a:prstGeom>
        </p:spPr>
      </p:pic>
      <p:pic>
        <p:nvPicPr>
          <p:cNvPr id="7" name="Immagine 6">
            <a:extLst>
              <a:ext uri="{FF2B5EF4-FFF2-40B4-BE49-F238E27FC236}">
                <a16:creationId xmlns:a16="http://schemas.microsoft.com/office/drawing/2014/main" id="{302A6664-1D6F-321E-4158-3B81B98FBFF9}"/>
              </a:ext>
            </a:extLst>
          </p:cNvPr>
          <p:cNvPicPr>
            <a:picLocks noChangeAspect="1"/>
          </p:cNvPicPr>
          <p:nvPr/>
        </p:nvPicPr>
        <p:blipFill>
          <a:blip r:embed="rId3"/>
          <a:stretch>
            <a:fillRect/>
          </a:stretch>
        </p:blipFill>
        <p:spPr>
          <a:xfrm>
            <a:off x="5300662" y="4619522"/>
            <a:ext cx="6381245" cy="1990827"/>
          </a:xfrm>
          <a:prstGeom prst="rect">
            <a:avLst/>
          </a:prstGeom>
        </p:spPr>
      </p:pic>
    </p:spTree>
    <p:extLst>
      <p:ext uri="{BB962C8B-B14F-4D97-AF65-F5344CB8AC3E}">
        <p14:creationId xmlns:p14="http://schemas.microsoft.com/office/powerpoint/2010/main" val="25971290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05950-E267-300C-35EA-037049A5EA53}"/>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330EEFDA-B833-B011-F1C8-C9511D180F97}"/>
              </a:ext>
            </a:extLst>
          </p:cNvPr>
          <p:cNvSpPr>
            <a:spLocks noGrp="1"/>
          </p:cNvSpPr>
          <p:nvPr>
            <p:ph type="title"/>
          </p:nvPr>
        </p:nvSpPr>
        <p:spPr>
          <a:xfrm>
            <a:off x="838200" y="831206"/>
            <a:ext cx="10515600" cy="314198"/>
          </a:xfrm>
        </p:spPr>
        <p:txBody>
          <a:bodyPr/>
          <a:lstStyle/>
          <a:p>
            <a:r>
              <a:rPr lang="it-IT" dirty="0"/>
              <a:t>SLIDE 41: LAB PRACTICAL – CREARE LA CASSAFORTE DELLE PASSWORD CON KUBECTL</a:t>
            </a:r>
            <a:br>
              <a:rPr lang="it-IT" dirty="0"/>
            </a:br>
            <a:br>
              <a:rPr lang="it-IT" dirty="0"/>
            </a:br>
            <a:endParaRPr lang="it-IT" dirty="0"/>
          </a:p>
        </p:txBody>
      </p:sp>
      <p:sp>
        <p:nvSpPr>
          <p:cNvPr id="3" name="Contenuto della lezione">
            <a:extLst>
              <a:ext uri="{FF2B5EF4-FFF2-40B4-BE49-F238E27FC236}">
                <a16:creationId xmlns:a16="http://schemas.microsoft.com/office/drawing/2014/main" id="{50AE4508-FA12-CBDC-D855-37F16EC8BBCC}"/>
              </a:ext>
            </a:extLst>
          </p:cNvPr>
          <p:cNvSpPr>
            <a:spLocks noGrp="1"/>
          </p:cNvSpPr>
          <p:nvPr>
            <p:ph idx="1"/>
          </p:nvPr>
        </p:nvSpPr>
        <p:spPr>
          <a:xfrm>
            <a:off x="838200" y="1589185"/>
            <a:ext cx="10783824" cy="5460839"/>
          </a:xfrm>
        </p:spPr>
        <p:txBody>
          <a:bodyPr/>
          <a:lstStyle/>
          <a:p>
            <a:r>
              <a:rPr lang="it-IT" dirty="0"/>
              <a:t>Se abbiamo </a:t>
            </a:r>
            <a:r>
              <a:rPr lang="it-IT" i="1" dirty="0"/>
              <a:t>sbagliato a scrivere la password </a:t>
            </a:r>
            <a:r>
              <a:rPr lang="it-IT" dirty="0"/>
              <a:t>il modo più pulito ed elegante è distruggere il secret vecchio e rifarlo. </a:t>
            </a:r>
          </a:p>
          <a:p>
            <a:r>
              <a:rPr lang="it-IT" dirty="0"/>
              <a:t>Eseguiamo il comando: </a:t>
            </a:r>
          </a:p>
          <a:p>
            <a:r>
              <a:rPr lang="it-IT" dirty="0" err="1">
                <a:solidFill>
                  <a:srgbClr val="171FE2"/>
                </a:solidFill>
                <a:latin typeface="Consolas" panose="020B0609020204030204" pitchFamily="49" charset="0"/>
              </a:rPr>
              <a:t>kubectl</a:t>
            </a:r>
            <a:r>
              <a:rPr lang="it-IT" dirty="0">
                <a:solidFill>
                  <a:srgbClr val="171FE2"/>
                </a:solidFill>
                <a:latin typeface="Consolas" panose="020B0609020204030204" pitchFamily="49" charset="0"/>
              </a:rPr>
              <a:t> delete secret database-segreto </a:t>
            </a:r>
          </a:p>
          <a:p>
            <a:r>
              <a:rPr lang="it-IT" dirty="0"/>
              <a:t>per poi creare un secret nuovo. </a:t>
            </a:r>
          </a:p>
          <a:p>
            <a:r>
              <a:rPr lang="it-IT" dirty="0"/>
              <a:t>È la procedura standard consigliata per non lasciare tracce orfane.</a:t>
            </a:r>
            <a:endParaRPr lang="it-IT" dirty="0">
              <a:solidFill>
                <a:srgbClr val="171FE2"/>
              </a:solidFill>
              <a:latin typeface="Consolas" panose="020B0609020204030204" pitchFamily="49" charset="0"/>
            </a:endParaRPr>
          </a:p>
        </p:txBody>
      </p:sp>
    </p:spTree>
    <p:extLst>
      <p:ext uri="{BB962C8B-B14F-4D97-AF65-F5344CB8AC3E}">
        <p14:creationId xmlns:p14="http://schemas.microsoft.com/office/powerpoint/2010/main" val="35050845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14334-EFA8-3BB7-47E0-20B154C2F2D2}"/>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1B887308-FF16-930C-DFBF-66977257DD46}"/>
              </a:ext>
            </a:extLst>
          </p:cNvPr>
          <p:cNvSpPr>
            <a:spLocks noGrp="1"/>
          </p:cNvSpPr>
          <p:nvPr>
            <p:ph type="title"/>
          </p:nvPr>
        </p:nvSpPr>
        <p:spPr>
          <a:xfrm>
            <a:off x="838200" y="831206"/>
            <a:ext cx="10515600" cy="314198"/>
          </a:xfrm>
        </p:spPr>
        <p:txBody>
          <a:bodyPr/>
          <a:lstStyle/>
          <a:p>
            <a:r>
              <a:rPr lang="it-IT" dirty="0"/>
              <a:t>SLIDE 42: LAB PRACTICAL – </a:t>
            </a:r>
            <a:br>
              <a:rPr lang="it-IT" dirty="0"/>
            </a:br>
            <a:r>
              <a:rPr lang="it-IT" dirty="0"/>
              <a:t>COMPILARE IL MANIFESTO </a:t>
            </a:r>
            <a:br>
              <a:rPr lang="it-IT" dirty="0"/>
            </a:br>
            <a:r>
              <a:rPr lang="it-IT" dirty="0"/>
              <a:t>FINALE DEL DATABASE STATEFUL</a:t>
            </a:r>
            <a:br>
              <a:rPr lang="it-IT" dirty="0"/>
            </a:br>
            <a:br>
              <a:rPr lang="it-IT" dirty="0"/>
            </a:br>
            <a:endParaRPr lang="it-IT" dirty="0"/>
          </a:p>
        </p:txBody>
      </p:sp>
      <p:sp>
        <p:nvSpPr>
          <p:cNvPr id="3" name="Contenuto della lezione">
            <a:extLst>
              <a:ext uri="{FF2B5EF4-FFF2-40B4-BE49-F238E27FC236}">
                <a16:creationId xmlns:a16="http://schemas.microsoft.com/office/drawing/2014/main" id="{40910EB2-B423-9CA0-BDB9-396034D41B28}"/>
              </a:ext>
            </a:extLst>
          </p:cNvPr>
          <p:cNvSpPr>
            <a:spLocks noGrp="1"/>
          </p:cNvSpPr>
          <p:nvPr>
            <p:ph idx="1"/>
          </p:nvPr>
        </p:nvSpPr>
        <p:spPr>
          <a:xfrm>
            <a:off x="838200" y="1932085"/>
            <a:ext cx="5391150" cy="5460839"/>
          </a:xfrm>
        </p:spPr>
        <p:txBody>
          <a:bodyPr/>
          <a:lstStyle/>
          <a:p>
            <a:r>
              <a:rPr lang="it-IT" dirty="0"/>
              <a:t>Scriveremo il Manifesto YAML per il Deployment del database </a:t>
            </a:r>
            <a:r>
              <a:rPr lang="it-IT" dirty="0" err="1"/>
              <a:t>MariaDB</a:t>
            </a:r>
            <a:r>
              <a:rPr lang="it-IT" dirty="0"/>
              <a:t>.</a:t>
            </a:r>
          </a:p>
          <a:p>
            <a:r>
              <a:rPr lang="it-IT" dirty="0">
                <a:solidFill>
                  <a:srgbClr val="171FE2"/>
                </a:solidFill>
              </a:rPr>
              <a:t>Al suo interno collegheremo contemporaneamente lo stampo del container, il canale di prelievo della password dal Secret e l'aggancio del disco rigido esterno dal PVC.</a:t>
            </a:r>
          </a:p>
          <a:p>
            <a:r>
              <a:rPr lang="it-IT" dirty="0"/>
              <a:t>Creiamo </a:t>
            </a:r>
            <a:r>
              <a:rPr lang="it-IT" b="1" dirty="0"/>
              <a:t>deployment-</a:t>
            </a:r>
            <a:r>
              <a:rPr lang="it-IT" b="1" dirty="0" err="1"/>
              <a:t>database.yaml</a:t>
            </a:r>
            <a:r>
              <a:rPr lang="it-IT" dirty="0"/>
              <a:t>. </a:t>
            </a:r>
          </a:p>
        </p:txBody>
      </p:sp>
      <p:sp>
        <p:nvSpPr>
          <p:cNvPr id="4" name="CasellaDiTesto 3">
            <a:extLst>
              <a:ext uri="{FF2B5EF4-FFF2-40B4-BE49-F238E27FC236}">
                <a16:creationId xmlns:a16="http://schemas.microsoft.com/office/drawing/2014/main" id="{ADCABB44-1B67-CAE5-AB86-51C9AB35122C}"/>
              </a:ext>
            </a:extLst>
          </p:cNvPr>
          <p:cNvSpPr txBox="1"/>
          <p:nvPr/>
        </p:nvSpPr>
        <p:spPr>
          <a:xfrm>
            <a:off x="6184900" y="311150"/>
            <a:ext cx="4022255" cy="6494085"/>
          </a:xfrm>
          <a:prstGeom prst="rect">
            <a:avLst/>
          </a:prstGeom>
          <a:noFill/>
        </p:spPr>
        <p:txBody>
          <a:bodyPr wrap="none" rtlCol="0">
            <a:spAutoFit/>
          </a:bodyPr>
          <a:lstStyle/>
          <a:p>
            <a:r>
              <a:rPr lang="it-IT" sz="1300" dirty="0" err="1">
                <a:solidFill>
                  <a:srgbClr val="171FE2"/>
                </a:solidFill>
                <a:latin typeface="Consolas" panose="020B0609020204030204" pitchFamily="49" charset="0"/>
              </a:rPr>
              <a:t>apiVersion</a:t>
            </a:r>
            <a:r>
              <a:rPr lang="it-IT" sz="1300" dirty="0">
                <a:solidFill>
                  <a:srgbClr val="171FE2"/>
                </a:solidFill>
                <a:latin typeface="Consolas" panose="020B0609020204030204" pitchFamily="49" charset="0"/>
              </a:rPr>
              <a:t>: apps/v1</a:t>
            </a:r>
          </a:p>
          <a:p>
            <a:r>
              <a:rPr lang="it-IT" sz="1300" dirty="0" err="1">
                <a:solidFill>
                  <a:srgbClr val="171FE2"/>
                </a:solidFill>
                <a:latin typeface="Consolas" panose="020B0609020204030204" pitchFamily="49" charset="0"/>
              </a:rPr>
              <a:t>kind</a:t>
            </a:r>
            <a:r>
              <a:rPr lang="it-IT" sz="1300" dirty="0">
                <a:solidFill>
                  <a:srgbClr val="171FE2"/>
                </a:solidFill>
                <a:latin typeface="Consolas" panose="020B0609020204030204" pitchFamily="49" charset="0"/>
              </a:rPr>
              <a:t>: Deployment</a:t>
            </a:r>
          </a:p>
          <a:p>
            <a:r>
              <a:rPr lang="it-IT" sz="1300" dirty="0">
                <a:solidFill>
                  <a:srgbClr val="171FE2"/>
                </a:solidFill>
                <a:latin typeface="Consolas" panose="020B0609020204030204" pitchFamily="49" charset="0"/>
              </a:rPr>
              <a:t>metadata:</a:t>
            </a:r>
          </a:p>
          <a:p>
            <a:r>
              <a:rPr lang="it-IT" sz="1300" dirty="0">
                <a:solidFill>
                  <a:srgbClr val="171FE2"/>
                </a:solidFill>
                <a:latin typeface="Consolas" panose="020B0609020204030204" pitchFamily="49" charset="0"/>
              </a:rPr>
              <a:t>  name: </a:t>
            </a:r>
            <a:r>
              <a:rPr lang="it-IT" sz="1300" dirty="0" err="1">
                <a:solidFill>
                  <a:srgbClr val="171FE2"/>
                </a:solidFill>
                <a:latin typeface="Consolas" panose="020B0609020204030204" pitchFamily="49" charset="0"/>
              </a:rPr>
              <a:t>mariadb</a:t>
            </a:r>
            <a:r>
              <a:rPr lang="it-IT" sz="1300" dirty="0">
                <a:solidFill>
                  <a:srgbClr val="171FE2"/>
                </a:solidFill>
                <a:latin typeface="Consolas" panose="020B0609020204030204" pitchFamily="49" charset="0"/>
              </a:rPr>
              <a:t>-deployment</a:t>
            </a:r>
          </a:p>
          <a:p>
            <a:r>
              <a:rPr lang="it-IT" sz="1300" dirty="0" err="1">
                <a:solidFill>
                  <a:srgbClr val="171FE2"/>
                </a:solidFill>
                <a:latin typeface="Consolas" panose="020B0609020204030204" pitchFamily="49" charset="0"/>
              </a:rPr>
              <a:t>spec</a:t>
            </a:r>
            <a:r>
              <a:rPr lang="it-IT" sz="1300" dirty="0">
                <a:solidFill>
                  <a:srgbClr val="171FE2"/>
                </a:solidFill>
                <a:latin typeface="Consolas" panose="020B0609020204030204" pitchFamily="49" charset="0"/>
              </a:rPr>
              <a:t>:</a:t>
            </a:r>
          </a:p>
          <a:p>
            <a:r>
              <a:rPr lang="it-IT" sz="1300" dirty="0">
                <a:solidFill>
                  <a:srgbClr val="171FE2"/>
                </a:solidFill>
                <a:latin typeface="Consolas" panose="020B0609020204030204" pitchFamily="49" charset="0"/>
              </a:rPr>
              <a:t>  </a:t>
            </a:r>
            <a:r>
              <a:rPr lang="it-IT" sz="1300" dirty="0" err="1">
                <a:solidFill>
                  <a:srgbClr val="171FE2"/>
                </a:solidFill>
                <a:latin typeface="Consolas" panose="020B0609020204030204" pitchFamily="49" charset="0"/>
              </a:rPr>
              <a:t>replicas</a:t>
            </a:r>
            <a:r>
              <a:rPr lang="it-IT" sz="1300" dirty="0">
                <a:solidFill>
                  <a:srgbClr val="171FE2"/>
                </a:solidFill>
                <a:latin typeface="Consolas" panose="020B0609020204030204" pitchFamily="49" charset="0"/>
              </a:rPr>
              <a:t>: 1</a:t>
            </a:r>
          </a:p>
          <a:p>
            <a:r>
              <a:rPr lang="it-IT" sz="1300" dirty="0">
                <a:solidFill>
                  <a:srgbClr val="171FE2"/>
                </a:solidFill>
                <a:latin typeface="Consolas" panose="020B0609020204030204" pitchFamily="49" charset="0"/>
              </a:rPr>
              <a:t>  selector:</a:t>
            </a:r>
          </a:p>
          <a:p>
            <a:r>
              <a:rPr lang="it-IT" sz="1300" dirty="0">
                <a:solidFill>
                  <a:srgbClr val="171FE2"/>
                </a:solidFill>
                <a:latin typeface="Consolas" panose="020B0609020204030204" pitchFamily="49" charset="0"/>
              </a:rPr>
              <a:t>    </a:t>
            </a:r>
            <a:r>
              <a:rPr lang="it-IT" sz="1300" dirty="0" err="1">
                <a:solidFill>
                  <a:srgbClr val="171FE2"/>
                </a:solidFill>
                <a:latin typeface="Consolas" panose="020B0609020204030204" pitchFamily="49" charset="0"/>
              </a:rPr>
              <a:t>matchLabels</a:t>
            </a:r>
            <a:r>
              <a:rPr lang="it-IT" sz="1300" dirty="0">
                <a:solidFill>
                  <a:srgbClr val="171FE2"/>
                </a:solidFill>
                <a:latin typeface="Consolas" panose="020B0609020204030204" pitchFamily="49" charset="0"/>
              </a:rPr>
              <a:t>:</a:t>
            </a:r>
          </a:p>
          <a:p>
            <a:r>
              <a:rPr lang="it-IT" sz="1300" dirty="0">
                <a:solidFill>
                  <a:srgbClr val="171FE2"/>
                </a:solidFill>
                <a:latin typeface="Consolas" panose="020B0609020204030204" pitchFamily="49" charset="0"/>
              </a:rPr>
              <a:t>      app: database-</a:t>
            </a:r>
            <a:r>
              <a:rPr lang="it-IT" sz="1300" dirty="0" err="1">
                <a:solidFill>
                  <a:srgbClr val="171FE2"/>
                </a:solidFill>
                <a:latin typeface="Consolas" panose="020B0609020204030204" pitchFamily="49" charset="0"/>
              </a:rPr>
              <a:t>enterprise</a:t>
            </a:r>
            <a:endParaRPr lang="it-IT" sz="1300" dirty="0">
              <a:solidFill>
                <a:srgbClr val="171FE2"/>
              </a:solidFill>
              <a:latin typeface="Consolas" panose="020B0609020204030204" pitchFamily="49" charset="0"/>
            </a:endParaRPr>
          </a:p>
          <a:p>
            <a:r>
              <a:rPr lang="it-IT" sz="1300" dirty="0">
                <a:solidFill>
                  <a:srgbClr val="171FE2"/>
                </a:solidFill>
                <a:latin typeface="Consolas" panose="020B0609020204030204" pitchFamily="49" charset="0"/>
              </a:rPr>
              <a:t>  template:</a:t>
            </a:r>
          </a:p>
          <a:p>
            <a:r>
              <a:rPr lang="it-IT" sz="1300" dirty="0">
                <a:solidFill>
                  <a:srgbClr val="171FE2"/>
                </a:solidFill>
                <a:latin typeface="Consolas" panose="020B0609020204030204" pitchFamily="49" charset="0"/>
              </a:rPr>
              <a:t>    metadata:</a:t>
            </a:r>
          </a:p>
          <a:p>
            <a:r>
              <a:rPr lang="it-IT" sz="1300" dirty="0">
                <a:solidFill>
                  <a:srgbClr val="171FE2"/>
                </a:solidFill>
                <a:latin typeface="Consolas" panose="020B0609020204030204" pitchFamily="49" charset="0"/>
              </a:rPr>
              <a:t>      labels:</a:t>
            </a:r>
          </a:p>
          <a:p>
            <a:r>
              <a:rPr lang="it-IT" sz="1300" dirty="0">
                <a:solidFill>
                  <a:srgbClr val="171FE2"/>
                </a:solidFill>
                <a:latin typeface="Consolas" panose="020B0609020204030204" pitchFamily="49" charset="0"/>
              </a:rPr>
              <a:t>        app: database-</a:t>
            </a:r>
            <a:r>
              <a:rPr lang="it-IT" sz="1300" dirty="0" err="1">
                <a:solidFill>
                  <a:srgbClr val="171FE2"/>
                </a:solidFill>
                <a:latin typeface="Consolas" panose="020B0609020204030204" pitchFamily="49" charset="0"/>
              </a:rPr>
              <a:t>enterprise</a:t>
            </a:r>
            <a:endParaRPr lang="it-IT" sz="1300" dirty="0">
              <a:solidFill>
                <a:srgbClr val="171FE2"/>
              </a:solidFill>
              <a:latin typeface="Consolas" panose="020B0609020204030204" pitchFamily="49" charset="0"/>
            </a:endParaRPr>
          </a:p>
          <a:p>
            <a:r>
              <a:rPr lang="it-IT" sz="1300" dirty="0">
                <a:solidFill>
                  <a:srgbClr val="171FE2"/>
                </a:solidFill>
                <a:latin typeface="Consolas" panose="020B0609020204030204" pitchFamily="49" charset="0"/>
              </a:rPr>
              <a:t>    </a:t>
            </a:r>
            <a:r>
              <a:rPr lang="it-IT" sz="1300" dirty="0" err="1">
                <a:solidFill>
                  <a:srgbClr val="171FE2"/>
                </a:solidFill>
                <a:latin typeface="Consolas" panose="020B0609020204030204" pitchFamily="49" charset="0"/>
              </a:rPr>
              <a:t>spec</a:t>
            </a:r>
            <a:r>
              <a:rPr lang="it-IT" sz="1300" dirty="0">
                <a:solidFill>
                  <a:srgbClr val="171FE2"/>
                </a:solidFill>
                <a:latin typeface="Consolas" panose="020B0609020204030204" pitchFamily="49" charset="0"/>
              </a:rPr>
              <a:t>:</a:t>
            </a:r>
          </a:p>
          <a:p>
            <a:r>
              <a:rPr lang="it-IT" sz="1300" dirty="0">
                <a:solidFill>
                  <a:srgbClr val="171FE2"/>
                </a:solidFill>
                <a:latin typeface="Consolas" panose="020B0609020204030204" pitchFamily="49" charset="0"/>
              </a:rPr>
              <a:t>      containers:</a:t>
            </a:r>
          </a:p>
          <a:p>
            <a:r>
              <a:rPr lang="it-IT" sz="1300" dirty="0">
                <a:solidFill>
                  <a:srgbClr val="171FE2"/>
                </a:solidFill>
                <a:latin typeface="Consolas" panose="020B0609020204030204" pitchFamily="49" charset="0"/>
              </a:rPr>
              <a:t>      - name: </a:t>
            </a:r>
            <a:r>
              <a:rPr lang="it-IT" sz="1300" dirty="0" err="1">
                <a:solidFill>
                  <a:srgbClr val="171FE2"/>
                </a:solidFill>
                <a:latin typeface="Consolas" panose="020B0609020204030204" pitchFamily="49" charset="0"/>
              </a:rPr>
              <a:t>mariadb</a:t>
            </a:r>
            <a:r>
              <a:rPr lang="it-IT" sz="1300" dirty="0">
                <a:solidFill>
                  <a:srgbClr val="171FE2"/>
                </a:solidFill>
                <a:latin typeface="Consolas" panose="020B0609020204030204" pitchFamily="49" charset="0"/>
              </a:rPr>
              <a:t>-container</a:t>
            </a:r>
          </a:p>
          <a:p>
            <a:r>
              <a:rPr lang="it-IT" sz="1300" dirty="0">
                <a:solidFill>
                  <a:srgbClr val="171FE2"/>
                </a:solidFill>
                <a:latin typeface="Consolas" panose="020B0609020204030204" pitchFamily="49" charset="0"/>
              </a:rPr>
              <a:t>        image: mariadb:10.6</a:t>
            </a:r>
          </a:p>
          <a:p>
            <a:r>
              <a:rPr lang="it-IT" sz="1300" dirty="0">
                <a:solidFill>
                  <a:srgbClr val="171FE2"/>
                </a:solidFill>
                <a:latin typeface="Consolas" panose="020B0609020204030204" pitchFamily="49" charset="0"/>
              </a:rPr>
              <a:t>        ports:</a:t>
            </a:r>
          </a:p>
          <a:p>
            <a:r>
              <a:rPr lang="it-IT" sz="1300" dirty="0">
                <a:solidFill>
                  <a:srgbClr val="171FE2"/>
                </a:solidFill>
                <a:latin typeface="Consolas" panose="020B0609020204030204" pitchFamily="49" charset="0"/>
              </a:rPr>
              <a:t>        - </a:t>
            </a:r>
            <a:r>
              <a:rPr lang="it-IT" sz="1300" dirty="0" err="1">
                <a:solidFill>
                  <a:srgbClr val="171FE2"/>
                </a:solidFill>
                <a:latin typeface="Consolas" panose="020B0609020204030204" pitchFamily="49" charset="0"/>
              </a:rPr>
              <a:t>containerPort</a:t>
            </a:r>
            <a:r>
              <a:rPr lang="it-IT" sz="1300" dirty="0">
                <a:solidFill>
                  <a:srgbClr val="171FE2"/>
                </a:solidFill>
                <a:latin typeface="Consolas" panose="020B0609020204030204" pitchFamily="49" charset="0"/>
              </a:rPr>
              <a:t>: 3306</a:t>
            </a:r>
          </a:p>
          <a:p>
            <a:r>
              <a:rPr lang="it-IT" sz="1300" dirty="0">
                <a:solidFill>
                  <a:srgbClr val="171FE2"/>
                </a:solidFill>
                <a:latin typeface="Consolas" panose="020B0609020204030204" pitchFamily="49" charset="0"/>
              </a:rPr>
              <a:t>        </a:t>
            </a:r>
            <a:r>
              <a:rPr lang="it-IT" sz="1300" dirty="0" err="1">
                <a:solidFill>
                  <a:srgbClr val="171FE2"/>
                </a:solidFill>
                <a:latin typeface="Consolas" panose="020B0609020204030204" pitchFamily="49" charset="0"/>
              </a:rPr>
              <a:t>env</a:t>
            </a:r>
            <a:r>
              <a:rPr lang="it-IT" sz="1300" dirty="0">
                <a:solidFill>
                  <a:srgbClr val="171FE2"/>
                </a:solidFill>
                <a:latin typeface="Consolas" panose="020B0609020204030204" pitchFamily="49" charset="0"/>
              </a:rPr>
              <a:t>:</a:t>
            </a:r>
          </a:p>
          <a:p>
            <a:r>
              <a:rPr lang="it-IT" sz="1300" dirty="0">
                <a:solidFill>
                  <a:srgbClr val="171FE2"/>
                </a:solidFill>
                <a:latin typeface="Consolas" panose="020B0609020204030204" pitchFamily="49" charset="0"/>
              </a:rPr>
              <a:t>        - name: MARIADB_ROOT_PASSWORD</a:t>
            </a:r>
          </a:p>
          <a:p>
            <a:r>
              <a:rPr lang="it-IT" sz="1300" dirty="0">
                <a:solidFill>
                  <a:srgbClr val="171FE2"/>
                </a:solidFill>
                <a:latin typeface="Consolas" panose="020B0609020204030204" pitchFamily="49" charset="0"/>
              </a:rPr>
              <a:t>          </a:t>
            </a:r>
            <a:r>
              <a:rPr lang="it-IT" sz="1300" dirty="0" err="1">
                <a:solidFill>
                  <a:srgbClr val="171FE2"/>
                </a:solidFill>
                <a:latin typeface="Consolas" panose="020B0609020204030204" pitchFamily="49" charset="0"/>
              </a:rPr>
              <a:t>valueFrom</a:t>
            </a:r>
            <a:r>
              <a:rPr lang="it-IT" sz="1300" dirty="0">
                <a:solidFill>
                  <a:srgbClr val="171FE2"/>
                </a:solidFill>
                <a:latin typeface="Consolas" panose="020B0609020204030204" pitchFamily="49" charset="0"/>
              </a:rPr>
              <a:t>:</a:t>
            </a:r>
          </a:p>
          <a:p>
            <a:r>
              <a:rPr lang="it-IT" sz="1300" dirty="0">
                <a:solidFill>
                  <a:srgbClr val="171FE2"/>
                </a:solidFill>
                <a:latin typeface="Consolas" panose="020B0609020204030204" pitchFamily="49" charset="0"/>
              </a:rPr>
              <a:t>            </a:t>
            </a:r>
            <a:r>
              <a:rPr lang="it-IT" sz="1300" dirty="0" err="1">
                <a:solidFill>
                  <a:srgbClr val="171FE2"/>
                </a:solidFill>
                <a:latin typeface="Consolas" panose="020B0609020204030204" pitchFamily="49" charset="0"/>
              </a:rPr>
              <a:t>secretKeyRef</a:t>
            </a:r>
            <a:r>
              <a:rPr lang="it-IT" sz="1300" dirty="0">
                <a:solidFill>
                  <a:srgbClr val="171FE2"/>
                </a:solidFill>
                <a:latin typeface="Consolas" panose="020B0609020204030204" pitchFamily="49" charset="0"/>
              </a:rPr>
              <a:t>:</a:t>
            </a:r>
          </a:p>
          <a:p>
            <a:r>
              <a:rPr lang="it-IT" sz="1300" dirty="0">
                <a:solidFill>
                  <a:srgbClr val="171FE2"/>
                </a:solidFill>
                <a:latin typeface="Consolas" panose="020B0609020204030204" pitchFamily="49" charset="0"/>
              </a:rPr>
              <a:t>              name: database-segreto</a:t>
            </a:r>
          </a:p>
          <a:p>
            <a:r>
              <a:rPr lang="it-IT" sz="1300" dirty="0">
                <a:solidFill>
                  <a:srgbClr val="171FE2"/>
                </a:solidFill>
                <a:latin typeface="Consolas" panose="020B0609020204030204" pitchFamily="49" charset="0"/>
              </a:rPr>
              <a:t>              key: password-root</a:t>
            </a:r>
          </a:p>
          <a:p>
            <a:r>
              <a:rPr lang="it-IT" sz="1300" dirty="0">
                <a:solidFill>
                  <a:srgbClr val="171FE2"/>
                </a:solidFill>
                <a:latin typeface="Consolas" panose="020B0609020204030204" pitchFamily="49" charset="0"/>
              </a:rPr>
              <a:t>        </a:t>
            </a:r>
            <a:r>
              <a:rPr lang="it-IT" sz="1300" dirty="0" err="1">
                <a:solidFill>
                  <a:srgbClr val="171FE2"/>
                </a:solidFill>
                <a:latin typeface="Consolas" panose="020B0609020204030204" pitchFamily="49" charset="0"/>
              </a:rPr>
              <a:t>volumeMounts</a:t>
            </a:r>
            <a:r>
              <a:rPr lang="it-IT" sz="1300" dirty="0">
                <a:solidFill>
                  <a:srgbClr val="171FE2"/>
                </a:solidFill>
                <a:latin typeface="Consolas" panose="020B0609020204030204" pitchFamily="49" charset="0"/>
              </a:rPr>
              <a:t>:</a:t>
            </a:r>
          </a:p>
          <a:p>
            <a:r>
              <a:rPr lang="it-IT" sz="1300" dirty="0">
                <a:solidFill>
                  <a:srgbClr val="171FE2"/>
                </a:solidFill>
                <a:latin typeface="Consolas" panose="020B0609020204030204" pitchFamily="49" charset="0"/>
              </a:rPr>
              <a:t>        - name: </a:t>
            </a:r>
            <a:r>
              <a:rPr lang="it-IT" sz="1300" dirty="0" err="1">
                <a:solidFill>
                  <a:srgbClr val="171FE2"/>
                </a:solidFill>
                <a:latin typeface="Consolas" panose="020B0609020204030204" pitchFamily="49" charset="0"/>
              </a:rPr>
              <a:t>mariadb</a:t>
            </a:r>
            <a:r>
              <a:rPr lang="it-IT" sz="1300" dirty="0">
                <a:solidFill>
                  <a:srgbClr val="171FE2"/>
                </a:solidFill>
                <a:latin typeface="Consolas" panose="020B0609020204030204" pitchFamily="49" charset="0"/>
              </a:rPr>
              <a:t>-storage</a:t>
            </a:r>
          </a:p>
          <a:p>
            <a:r>
              <a:rPr lang="it-IT" sz="1300" dirty="0">
                <a:solidFill>
                  <a:srgbClr val="171FE2"/>
                </a:solidFill>
                <a:latin typeface="Consolas" panose="020B0609020204030204" pitchFamily="49" charset="0"/>
              </a:rPr>
              <a:t>          </a:t>
            </a:r>
            <a:r>
              <a:rPr lang="it-IT" sz="1300" dirty="0" err="1">
                <a:solidFill>
                  <a:srgbClr val="171FE2"/>
                </a:solidFill>
                <a:latin typeface="Consolas" panose="020B0609020204030204" pitchFamily="49" charset="0"/>
              </a:rPr>
              <a:t>mountPath</a:t>
            </a:r>
            <a:r>
              <a:rPr lang="it-IT" sz="1300" dirty="0">
                <a:solidFill>
                  <a:srgbClr val="171FE2"/>
                </a:solidFill>
                <a:latin typeface="Consolas" panose="020B0609020204030204" pitchFamily="49" charset="0"/>
              </a:rPr>
              <a:t>: /var/</a:t>
            </a:r>
            <a:r>
              <a:rPr lang="it-IT" sz="1300" dirty="0" err="1">
                <a:solidFill>
                  <a:srgbClr val="171FE2"/>
                </a:solidFill>
                <a:latin typeface="Consolas" panose="020B0609020204030204" pitchFamily="49" charset="0"/>
              </a:rPr>
              <a:t>lib</a:t>
            </a:r>
            <a:r>
              <a:rPr lang="it-IT" sz="1300" dirty="0">
                <a:solidFill>
                  <a:srgbClr val="171FE2"/>
                </a:solidFill>
                <a:latin typeface="Consolas" panose="020B0609020204030204" pitchFamily="49" charset="0"/>
              </a:rPr>
              <a:t>/</a:t>
            </a:r>
            <a:r>
              <a:rPr lang="it-IT" sz="1300" dirty="0" err="1">
                <a:solidFill>
                  <a:srgbClr val="171FE2"/>
                </a:solidFill>
                <a:latin typeface="Consolas" panose="020B0609020204030204" pitchFamily="49" charset="0"/>
              </a:rPr>
              <a:t>mysql</a:t>
            </a:r>
            <a:endParaRPr lang="it-IT" sz="1300" dirty="0">
              <a:solidFill>
                <a:srgbClr val="171FE2"/>
              </a:solidFill>
              <a:latin typeface="Consolas" panose="020B0609020204030204" pitchFamily="49" charset="0"/>
            </a:endParaRPr>
          </a:p>
          <a:p>
            <a:r>
              <a:rPr lang="it-IT" sz="1300" dirty="0">
                <a:solidFill>
                  <a:srgbClr val="171FE2"/>
                </a:solidFill>
                <a:latin typeface="Consolas" panose="020B0609020204030204" pitchFamily="49" charset="0"/>
              </a:rPr>
              <a:t>      </a:t>
            </a:r>
            <a:r>
              <a:rPr lang="it-IT" sz="1300" dirty="0" err="1">
                <a:solidFill>
                  <a:srgbClr val="171FE2"/>
                </a:solidFill>
                <a:latin typeface="Consolas" panose="020B0609020204030204" pitchFamily="49" charset="0"/>
              </a:rPr>
              <a:t>volumes</a:t>
            </a:r>
            <a:r>
              <a:rPr lang="it-IT" sz="1300" dirty="0">
                <a:solidFill>
                  <a:srgbClr val="171FE2"/>
                </a:solidFill>
                <a:latin typeface="Consolas" panose="020B0609020204030204" pitchFamily="49" charset="0"/>
              </a:rPr>
              <a:t>:</a:t>
            </a:r>
          </a:p>
          <a:p>
            <a:r>
              <a:rPr lang="it-IT" sz="1300" dirty="0">
                <a:solidFill>
                  <a:srgbClr val="171FE2"/>
                </a:solidFill>
                <a:latin typeface="Consolas" panose="020B0609020204030204" pitchFamily="49" charset="0"/>
              </a:rPr>
              <a:t>      - name: </a:t>
            </a:r>
            <a:r>
              <a:rPr lang="it-IT" sz="1300" dirty="0" err="1">
                <a:solidFill>
                  <a:srgbClr val="171FE2"/>
                </a:solidFill>
                <a:latin typeface="Consolas" panose="020B0609020204030204" pitchFamily="49" charset="0"/>
              </a:rPr>
              <a:t>mariadb</a:t>
            </a:r>
            <a:r>
              <a:rPr lang="it-IT" sz="1300" dirty="0">
                <a:solidFill>
                  <a:srgbClr val="171FE2"/>
                </a:solidFill>
                <a:latin typeface="Consolas" panose="020B0609020204030204" pitchFamily="49" charset="0"/>
              </a:rPr>
              <a:t>-storage</a:t>
            </a:r>
          </a:p>
          <a:p>
            <a:r>
              <a:rPr lang="it-IT" sz="1300" dirty="0">
                <a:solidFill>
                  <a:srgbClr val="171FE2"/>
                </a:solidFill>
                <a:latin typeface="Consolas" panose="020B0609020204030204" pitchFamily="49" charset="0"/>
              </a:rPr>
              <a:t>        </a:t>
            </a:r>
            <a:r>
              <a:rPr lang="it-IT" sz="1300" dirty="0" err="1">
                <a:solidFill>
                  <a:srgbClr val="171FE2"/>
                </a:solidFill>
                <a:latin typeface="Consolas" panose="020B0609020204030204" pitchFamily="49" charset="0"/>
              </a:rPr>
              <a:t>persistentVolumeClaim</a:t>
            </a:r>
            <a:r>
              <a:rPr lang="it-IT" sz="1300" dirty="0">
                <a:solidFill>
                  <a:srgbClr val="171FE2"/>
                </a:solidFill>
                <a:latin typeface="Consolas" panose="020B0609020204030204" pitchFamily="49" charset="0"/>
              </a:rPr>
              <a:t>:</a:t>
            </a:r>
          </a:p>
          <a:p>
            <a:r>
              <a:rPr lang="it-IT" sz="1300" dirty="0">
                <a:solidFill>
                  <a:srgbClr val="171FE2"/>
                </a:solidFill>
                <a:latin typeface="Consolas" panose="020B0609020204030204" pitchFamily="49" charset="0"/>
              </a:rPr>
              <a:t>          </a:t>
            </a:r>
            <a:r>
              <a:rPr lang="it-IT" sz="1300" dirty="0" err="1">
                <a:solidFill>
                  <a:srgbClr val="171FE2"/>
                </a:solidFill>
                <a:latin typeface="Consolas" panose="020B0609020204030204" pitchFamily="49" charset="0"/>
              </a:rPr>
              <a:t>claimName</a:t>
            </a:r>
            <a:r>
              <a:rPr lang="it-IT" sz="1300" dirty="0">
                <a:solidFill>
                  <a:srgbClr val="171FE2"/>
                </a:solidFill>
                <a:latin typeface="Consolas" panose="020B0609020204030204" pitchFamily="49" charset="0"/>
              </a:rPr>
              <a:t>: </a:t>
            </a:r>
            <a:r>
              <a:rPr lang="it-IT" sz="1300" dirty="0" err="1">
                <a:solidFill>
                  <a:srgbClr val="171FE2"/>
                </a:solidFill>
                <a:latin typeface="Consolas" panose="020B0609020204030204" pitchFamily="49" charset="0"/>
              </a:rPr>
              <a:t>mariadb</a:t>
            </a:r>
            <a:r>
              <a:rPr lang="it-IT" sz="1300" dirty="0">
                <a:solidFill>
                  <a:srgbClr val="171FE2"/>
                </a:solidFill>
                <a:latin typeface="Consolas" panose="020B0609020204030204" pitchFamily="49" charset="0"/>
              </a:rPr>
              <a:t>-storage-</a:t>
            </a:r>
            <a:r>
              <a:rPr lang="it-IT" sz="1300" dirty="0" err="1">
                <a:solidFill>
                  <a:srgbClr val="171FE2"/>
                </a:solidFill>
                <a:latin typeface="Consolas" panose="020B0609020204030204" pitchFamily="49" charset="0"/>
              </a:rPr>
              <a:t>claim</a:t>
            </a:r>
            <a:endParaRPr lang="it-IT" sz="1300" dirty="0">
              <a:solidFill>
                <a:srgbClr val="171FE2"/>
              </a:solidFill>
              <a:latin typeface="Consolas" panose="020B0609020204030204" pitchFamily="49" charset="0"/>
            </a:endParaRPr>
          </a:p>
        </p:txBody>
      </p:sp>
      <p:sp>
        <p:nvSpPr>
          <p:cNvPr id="5" name="CasellaDiTesto 4">
            <a:extLst>
              <a:ext uri="{FF2B5EF4-FFF2-40B4-BE49-F238E27FC236}">
                <a16:creationId xmlns:a16="http://schemas.microsoft.com/office/drawing/2014/main" id="{6C93733D-0FBF-D7A4-F36A-2605C6C3C8E5}"/>
              </a:ext>
            </a:extLst>
          </p:cNvPr>
          <p:cNvSpPr txBox="1"/>
          <p:nvPr/>
        </p:nvSpPr>
        <p:spPr>
          <a:xfrm>
            <a:off x="838200" y="4129028"/>
            <a:ext cx="5518149" cy="2585323"/>
          </a:xfrm>
          <a:prstGeom prst="rect">
            <a:avLst/>
          </a:prstGeom>
          <a:noFill/>
        </p:spPr>
        <p:txBody>
          <a:bodyPr wrap="square" rtlCol="0">
            <a:spAutoFit/>
          </a:bodyPr>
          <a:lstStyle/>
          <a:p>
            <a:r>
              <a:rPr lang="it-IT" dirty="0"/>
              <a:t>Abbiamo impostato </a:t>
            </a:r>
            <a:r>
              <a:rPr lang="it-IT" dirty="0" err="1"/>
              <a:t>replicas</a:t>
            </a:r>
            <a:r>
              <a:rPr lang="it-IT" dirty="0"/>
              <a:t>: 1 per il database, mentre per il </a:t>
            </a:r>
            <a:r>
              <a:rPr lang="it-IT" dirty="0" err="1"/>
              <a:t>backend</a:t>
            </a:r>
            <a:r>
              <a:rPr lang="it-IT" dirty="0"/>
              <a:t> avevamo messo 3 repliche. </a:t>
            </a:r>
            <a:endParaRPr lang="it-IT" i="1" dirty="0"/>
          </a:p>
          <a:p>
            <a:r>
              <a:rPr lang="it-IT" i="1" dirty="0">
                <a:solidFill>
                  <a:srgbClr val="171FE2"/>
                </a:solidFill>
              </a:rPr>
              <a:t>I database relazionali tradizionali come </a:t>
            </a:r>
            <a:r>
              <a:rPr lang="it-IT" i="1" dirty="0" err="1">
                <a:solidFill>
                  <a:srgbClr val="171FE2"/>
                </a:solidFill>
              </a:rPr>
              <a:t>MariaDB</a:t>
            </a:r>
            <a:r>
              <a:rPr lang="it-IT" i="1" dirty="0">
                <a:solidFill>
                  <a:srgbClr val="171FE2"/>
                </a:solidFill>
              </a:rPr>
              <a:t> o MySQL non possono essere duplicati a cuor leggero, perché creerebbero conflitti di scrittura sui file del disco. </a:t>
            </a:r>
          </a:p>
          <a:p>
            <a:r>
              <a:rPr lang="it-IT" i="1" dirty="0"/>
              <a:t>In un'architettura standard </a:t>
            </a:r>
            <a:r>
              <a:rPr lang="it-IT" i="1" dirty="0" err="1"/>
              <a:t>enterprise</a:t>
            </a:r>
            <a:r>
              <a:rPr lang="it-IT" i="1" dirty="0"/>
              <a:t>, il database gira in copia singola altamente protetta dal Self-</a:t>
            </a:r>
            <a:r>
              <a:rPr lang="it-IT" i="1" dirty="0" err="1"/>
              <a:t>Healing</a:t>
            </a:r>
            <a:r>
              <a:rPr lang="it-IT" i="1" dirty="0"/>
              <a:t>, mentre a scalare all'infinito sono i </a:t>
            </a:r>
            <a:r>
              <a:rPr lang="it-IT" i="1" dirty="0" err="1"/>
              <a:t>Pod</a:t>
            </a:r>
            <a:r>
              <a:rPr lang="it-IT" i="1" dirty="0"/>
              <a:t> del </a:t>
            </a:r>
            <a:r>
              <a:rPr lang="it-IT" i="1" dirty="0" err="1"/>
              <a:t>backend</a:t>
            </a:r>
            <a:r>
              <a:rPr lang="it-IT" i="1" dirty="0"/>
              <a:t> e del </a:t>
            </a:r>
            <a:r>
              <a:rPr lang="it-IT" i="1" dirty="0" err="1"/>
              <a:t>frontend</a:t>
            </a:r>
            <a:r>
              <a:rPr lang="it-IT" i="1" dirty="0"/>
              <a:t> che sono </a:t>
            </a:r>
            <a:r>
              <a:rPr lang="it-IT" i="1" dirty="0" err="1"/>
              <a:t>stateless</a:t>
            </a:r>
            <a:r>
              <a:rPr lang="it-IT" i="1" dirty="0"/>
              <a:t>"</a:t>
            </a:r>
            <a:r>
              <a:rPr lang="it-IT" dirty="0"/>
              <a:t>.</a:t>
            </a:r>
          </a:p>
        </p:txBody>
      </p:sp>
    </p:spTree>
    <p:extLst>
      <p:ext uri="{BB962C8B-B14F-4D97-AF65-F5344CB8AC3E}">
        <p14:creationId xmlns:p14="http://schemas.microsoft.com/office/powerpoint/2010/main" val="8857281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C5D50-B860-77E8-CB89-AC48FFCA6862}"/>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EAFA05CE-00A2-33F6-A740-1EE38CAE22D2}"/>
              </a:ext>
            </a:extLst>
          </p:cNvPr>
          <p:cNvSpPr>
            <a:spLocks noGrp="1"/>
          </p:cNvSpPr>
          <p:nvPr>
            <p:ph type="title"/>
          </p:nvPr>
        </p:nvSpPr>
        <p:spPr>
          <a:xfrm>
            <a:off x="838200" y="831206"/>
            <a:ext cx="10515600" cy="314198"/>
          </a:xfrm>
        </p:spPr>
        <p:txBody>
          <a:bodyPr/>
          <a:lstStyle/>
          <a:p>
            <a:r>
              <a:rPr lang="it-IT" dirty="0"/>
              <a:t>SLIDE 43: LAB PRACTICAL – </a:t>
            </a:r>
            <a:br>
              <a:rPr lang="it-IT" dirty="0"/>
            </a:br>
            <a:r>
              <a:rPr lang="it-IT" dirty="0"/>
              <a:t>COMPILARE IL MANIFESTO </a:t>
            </a:r>
            <a:br>
              <a:rPr lang="it-IT" dirty="0"/>
            </a:br>
            <a:r>
              <a:rPr lang="it-IT" dirty="0"/>
              <a:t>FINALE DEL DATABASE STATEFUL</a:t>
            </a:r>
            <a:br>
              <a:rPr lang="it-IT" dirty="0"/>
            </a:br>
            <a:br>
              <a:rPr lang="it-IT" dirty="0"/>
            </a:br>
            <a:endParaRPr lang="it-IT" dirty="0"/>
          </a:p>
        </p:txBody>
      </p:sp>
      <p:sp>
        <p:nvSpPr>
          <p:cNvPr id="3" name="Contenuto della lezione">
            <a:extLst>
              <a:ext uri="{FF2B5EF4-FFF2-40B4-BE49-F238E27FC236}">
                <a16:creationId xmlns:a16="http://schemas.microsoft.com/office/drawing/2014/main" id="{406D737F-AD7C-CD39-955C-8E5ADF723BFB}"/>
              </a:ext>
            </a:extLst>
          </p:cNvPr>
          <p:cNvSpPr>
            <a:spLocks noGrp="1"/>
          </p:cNvSpPr>
          <p:nvPr>
            <p:ph idx="1"/>
          </p:nvPr>
        </p:nvSpPr>
        <p:spPr>
          <a:xfrm>
            <a:off x="838200" y="1932085"/>
            <a:ext cx="5391150" cy="5460839"/>
          </a:xfrm>
        </p:spPr>
        <p:txBody>
          <a:bodyPr/>
          <a:lstStyle/>
          <a:p>
            <a:r>
              <a:rPr lang="it-IT" dirty="0"/>
              <a:t>Analizziamo i punti chiave: </a:t>
            </a:r>
          </a:p>
          <a:p>
            <a:r>
              <a:rPr lang="it-IT" dirty="0"/>
              <a:t>nella sezione </a:t>
            </a:r>
            <a:r>
              <a:rPr lang="it-IT" b="1" dirty="0" err="1"/>
              <a:t>env</a:t>
            </a:r>
            <a:r>
              <a:rPr lang="it-IT" dirty="0"/>
              <a:t> diciamo a </a:t>
            </a:r>
            <a:r>
              <a:rPr lang="it-IT" dirty="0" err="1"/>
              <a:t>MariaDB</a:t>
            </a:r>
            <a:r>
              <a:rPr lang="it-IT" dirty="0"/>
              <a:t> che la sua variabile d'obbligo MARIADB_ROOT_PASSWORD deve pescare il valore (</a:t>
            </a:r>
            <a:r>
              <a:rPr lang="it-IT" dirty="0" err="1"/>
              <a:t>valueFrom</a:t>
            </a:r>
            <a:r>
              <a:rPr lang="it-IT" dirty="0"/>
              <a:t>) dentro la cassaforte database-segreto alla chiave password-root.</a:t>
            </a:r>
          </a:p>
          <a:p>
            <a:r>
              <a:rPr lang="it-IT" dirty="0"/>
              <a:t>Con </a:t>
            </a:r>
            <a:r>
              <a:rPr lang="it-IT" b="1" dirty="0" err="1"/>
              <a:t>volumes</a:t>
            </a:r>
            <a:r>
              <a:rPr lang="it-IT" dirty="0"/>
              <a:t> andiamo a bussare al cluster per dire di prendere la prenotazione </a:t>
            </a:r>
            <a:r>
              <a:rPr lang="it-IT" dirty="0" err="1"/>
              <a:t>mariadb</a:t>
            </a:r>
            <a:r>
              <a:rPr lang="it-IT" dirty="0"/>
              <a:t>-storage-</a:t>
            </a:r>
            <a:r>
              <a:rPr lang="it-IT" dirty="0" err="1"/>
              <a:t>claim</a:t>
            </a:r>
            <a:r>
              <a:rPr lang="it-IT" dirty="0"/>
              <a:t> e di assegnarle lo spazio con i GB richiesti. </a:t>
            </a:r>
          </a:p>
          <a:p>
            <a:r>
              <a:rPr lang="it-IT" dirty="0"/>
              <a:t>Infine, tramite </a:t>
            </a:r>
            <a:r>
              <a:rPr lang="it-IT" b="1" dirty="0" err="1"/>
              <a:t>volumeMounts</a:t>
            </a:r>
            <a:r>
              <a:rPr lang="it-IT" dirty="0"/>
              <a:t>, prendiamo quel volume e lo "innestiamo" nella cartella interna del container /var/</a:t>
            </a:r>
            <a:r>
              <a:rPr lang="it-IT" dirty="0" err="1"/>
              <a:t>lib</a:t>
            </a:r>
            <a:r>
              <a:rPr lang="it-IT" dirty="0"/>
              <a:t>/</a:t>
            </a:r>
            <a:r>
              <a:rPr lang="it-IT" dirty="0" err="1"/>
              <a:t>mysql</a:t>
            </a:r>
            <a:r>
              <a:rPr lang="it-IT" dirty="0"/>
              <a:t>, che è il percorso ufficiale in cui </a:t>
            </a:r>
            <a:r>
              <a:rPr lang="it-IT" dirty="0" err="1"/>
              <a:t>MariaDB</a:t>
            </a:r>
            <a:r>
              <a:rPr lang="it-IT" dirty="0"/>
              <a:t> scrive i suoi file fisici. </a:t>
            </a:r>
          </a:p>
          <a:p>
            <a:r>
              <a:rPr lang="it-IT" dirty="0"/>
              <a:t>Eseguiamo:</a:t>
            </a:r>
          </a:p>
          <a:p>
            <a:r>
              <a:rPr lang="en-US" sz="1300" dirty="0" err="1">
                <a:solidFill>
                  <a:srgbClr val="171FE2"/>
                </a:solidFill>
                <a:latin typeface="Consolas" panose="020B0609020204030204" pitchFamily="49" charset="0"/>
              </a:rPr>
              <a:t>kubectl</a:t>
            </a:r>
            <a:r>
              <a:rPr lang="en-US" sz="1300" dirty="0">
                <a:solidFill>
                  <a:srgbClr val="171FE2"/>
                </a:solidFill>
                <a:latin typeface="Consolas" panose="020B0609020204030204" pitchFamily="49" charset="0"/>
              </a:rPr>
              <a:t> apply -f deployment-</a:t>
            </a:r>
            <a:r>
              <a:rPr lang="en-US" sz="1300" dirty="0" err="1">
                <a:solidFill>
                  <a:srgbClr val="171FE2"/>
                </a:solidFill>
                <a:latin typeface="Consolas" panose="020B0609020204030204" pitchFamily="49" charset="0"/>
              </a:rPr>
              <a:t>database.yaml</a:t>
            </a:r>
            <a:endParaRPr lang="it-IT" sz="1300" dirty="0">
              <a:solidFill>
                <a:srgbClr val="171FE2"/>
              </a:solidFill>
              <a:latin typeface="Consolas" panose="020B0609020204030204" pitchFamily="49" charset="0"/>
            </a:endParaRPr>
          </a:p>
        </p:txBody>
      </p:sp>
      <p:sp>
        <p:nvSpPr>
          <p:cNvPr id="4" name="CasellaDiTesto 3">
            <a:extLst>
              <a:ext uri="{FF2B5EF4-FFF2-40B4-BE49-F238E27FC236}">
                <a16:creationId xmlns:a16="http://schemas.microsoft.com/office/drawing/2014/main" id="{E78746CB-4529-877B-8DBC-7E8DAE3CBBEC}"/>
              </a:ext>
            </a:extLst>
          </p:cNvPr>
          <p:cNvSpPr txBox="1"/>
          <p:nvPr/>
        </p:nvSpPr>
        <p:spPr>
          <a:xfrm>
            <a:off x="6184900" y="311150"/>
            <a:ext cx="4022255" cy="6494085"/>
          </a:xfrm>
          <a:prstGeom prst="rect">
            <a:avLst/>
          </a:prstGeom>
          <a:noFill/>
        </p:spPr>
        <p:txBody>
          <a:bodyPr wrap="none" rtlCol="0">
            <a:spAutoFit/>
          </a:bodyPr>
          <a:lstStyle/>
          <a:p>
            <a:r>
              <a:rPr lang="it-IT" sz="1300" dirty="0" err="1">
                <a:solidFill>
                  <a:srgbClr val="171FE2"/>
                </a:solidFill>
                <a:latin typeface="Consolas" panose="020B0609020204030204" pitchFamily="49" charset="0"/>
              </a:rPr>
              <a:t>apiVersion</a:t>
            </a:r>
            <a:r>
              <a:rPr lang="it-IT" sz="1300" dirty="0">
                <a:solidFill>
                  <a:srgbClr val="171FE2"/>
                </a:solidFill>
                <a:latin typeface="Consolas" panose="020B0609020204030204" pitchFamily="49" charset="0"/>
              </a:rPr>
              <a:t>: apps/v1</a:t>
            </a:r>
          </a:p>
          <a:p>
            <a:r>
              <a:rPr lang="it-IT" sz="1300" dirty="0" err="1">
                <a:solidFill>
                  <a:srgbClr val="171FE2"/>
                </a:solidFill>
                <a:latin typeface="Consolas" panose="020B0609020204030204" pitchFamily="49" charset="0"/>
              </a:rPr>
              <a:t>kind</a:t>
            </a:r>
            <a:r>
              <a:rPr lang="it-IT" sz="1300" dirty="0">
                <a:solidFill>
                  <a:srgbClr val="171FE2"/>
                </a:solidFill>
                <a:latin typeface="Consolas" panose="020B0609020204030204" pitchFamily="49" charset="0"/>
              </a:rPr>
              <a:t>: Deployment</a:t>
            </a:r>
          </a:p>
          <a:p>
            <a:r>
              <a:rPr lang="it-IT" sz="1300" dirty="0">
                <a:solidFill>
                  <a:srgbClr val="171FE2"/>
                </a:solidFill>
                <a:latin typeface="Consolas" panose="020B0609020204030204" pitchFamily="49" charset="0"/>
              </a:rPr>
              <a:t>metadata:</a:t>
            </a:r>
          </a:p>
          <a:p>
            <a:r>
              <a:rPr lang="it-IT" sz="1300" dirty="0">
                <a:solidFill>
                  <a:srgbClr val="171FE2"/>
                </a:solidFill>
                <a:latin typeface="Consolas" panose="020B0609020204030204" pitchFamily="49" charset="0"/>
              </a:rPr>
              <a:t>  name: </a:t>
            </a:r>
            <a:r>
              <a:rPr lang="it-IT" sz="1300" dirty="0" err="1">
                <a:solidFill>
                  <a:srgbClr val="171FE2"/>
                </a:solidFill>
                <a:latin typeface="Consolas" panose="020B0609020204030204" pitchFamily="49" charset="0"/>
              </a:rPr>
              <a:t>mariadb</a:t>
            </a:r>
            <a:r>
              <a:rPr lang="it-IT" sz="1300" dirty="0">
                <a:solidFill>
                  <a:srgbClr val="171FE2"/>
                </a:solidFill>
                <a:latin typeface="Consolas" panose="020B0609020204030204" pitchFamily="49" charset="0"/>
              </a:rPr>
              <a:t>-deployment</a:t>
            </a:r>
          </a:p>
          <a:p>
            <a:r>
              <a:rPr lang="it-IT" sz="1300" dirty="0" err="1">
                <a:solidFill>
                  <a:srgbClr val="171FE2"/>
                </a:solidFill>
                <a:latin typeface="Consolas" panose="020B0609020204030204" pitchFamily="49" charset="0"/>
              </a:rPr>
              <a:t>spec</a:t>
            </a:r>
            <a:r>
              <a:rPr lang="it-IT" sz="1300" dirty="0">
                <a:solidFill>
                  <a:srgbClr val="171FE2"/>
                </a:solidFill>
                <a:latin typeface="Consolas" panose="020B0609020204030204" pitchFamily="49" charset="0"/>
              </a:rPr>
              <a:t>:</a:t>
            </a:r>
          </a:p>
          <a:p>
            <a:r>
              <a:rPr lang="it-IT" sz="1300" dirty="0">
                <a:solidFill>
                  <a:srgbClr val="171FE2"/>
                </a:solidFill>
                <a:latin typeface="Consolas" panose="020B0609020204030204" pitchFamily="49" charset="0"/>
              </a:rPr>
              <a:t>  </a:t>
            </a:r>
            <a:r>
              <a:rPr lang="it-IT" sz="1300" dirty="0" err="1">
                <a:solidFill>
                  <a:srgbClr val="171FE2"/>
                </a:solidFill>
                <a:latin typeface="Consolas" panose="020B0609020204030204" pitchFamily="49" charset="0"/>
              </a:rPr>
              <a:t>replicas</a:t>
            </a:r>
            <a:r>
              <a:rPr lang="it-IT" sz="1300" dirty="0">
                <a:solidFill>
                  <a:srgbClr val="171FE2"/>
                </a:solidFill>
                <a:latin typeface="Consolas" panose="020B0609020204030204" pitchFamily="49" charset="0"/>
              </a:rPr>
              <a:t>: 1</a:t>
            </a:r>
          </a:p>
          <a:p>
            <a:r>
              <a:rPr lang="it-IT" sz="1300" dirty="0">
                <a:solidFill>
                  <a:srgbClr val="171FE2"/>
                </a:solidFill>
                <a:latin typeface="Consolas" panose="020B0609020204030204" pitchFamily="49" charset="0"/>
              </a:rPr>
              <a:t>  selector:</a:t>
            </a:r>
          </a:p>
          <a:p>
            <a:r>
              <a:rPr lang="it-IT" sz="1300" dirty="0">
                <a:solidFill>
                  <a:srgbClr val="171FE2"/>
                </a:solidFill>
                <a:latin typeface="Consolas" panose="020B0609020204030204" pitchFamily="49" charset="0"/>
              </a:rPr>
              <a:t>    </a:t>
            </a:r>
            <a:r>
              <a:rPr lang="it-IT" sz="1300" dirty="0" err="1">
                <a:solidFill>
                  <a:srgbClr val="171FE2"/>
                </a:solidFill>
                <a:latin typeface="Consolas" panose="020B0609020204030204" pitchFamily="49" charset="0"/>
              </a:rPr>
              <a:t>matchLabels</a:t>
            </a:r>
            <a:r>
              <a:rPr lang="it-IT" sz="1300" dirty="0">
                <a:solidFill>
                  <a:srgbClr val="171FE2"/>
                </a:solidFill>
                <a:latin typeface="Consolas" panose="020B0609020204030204" pitchFamily="49" charset="0"/>
              </a:rPr>
              <a:t>:</a:t>
            </a:r>
          </a:p>
          <a:p>
            <a:r>
              <a:rPr lang="it-IT" sz="1300" dirty="0">
                <a:solidFill>
                  <a:srgbClr val="171FE2"/>
                </a:solidFill>
                <a:latin typeface="Consolas" panose="020B0609020204030204" pitchFamily="49" charset="0"/>
              </a:rPr>
              <a:t>      app: database-</a:t>
            </a:r>
            <a:r>
              <a:rPr lang="it-IT" sz="1300" dirty="0" err="1">
                <a:solidFill>
                  <a:srgbClr val="171FE2"/>
                </a:solidFill>
                <a:latin typeface="Consolas" panose="020B0609020204030204" pitchFamily="49" charset="0"/>
              </a:rPr>
              <a:t>enterprise</a:t>
            </a:r>
            <a:endParaRPr lang="it-IT" sz="1300" dirty="0">
              <a:solidFill>
                <a:srgbClr val="171FE2"/>
              </a:solidFill>
              <a:latin typeface="Consolas" panose="020B0609020204030204" pitchFamily="49" charset="0"/>
            </a:endParaRPr>
          </a:p>
          <a:p>
            <a:r>
              <a:rPr lang="it-IT" sz="1300" dirty="0">
                <a:solidFill>
                  <a:srgbClr val="171FE2"/>
                </a:solidFill>
                <a:latin typeface="Consolas" panose="020B0609020204030204" pitchFamily="49" charset="0"/>
              </a:rPr>
              <a:t>  template:</a:t>
            </a:r>
          </a:p>
          <a:p>
            <a:r>
              <a:rPr lang="it-IT" sz="1300" dirty="0">
                <a:solidFill>
                  <a:srgbClr val="171FE2"/>
                </a:solidFill>
                <a:latin typeface="Consolas" panose="020B0609020204030204" pitchFamily="49" charset="0"/>
              </a:rPr>
              <a:t>    metadata:</a:t>
            </a:r>
          </a:p>
          <a:p>
            <a:r>
              <a:rPr lang="it-IT" sz="1300" dirty="0">
                <a:solidFill>
                  <a:srgbClr val="171FE2"/>
                </a:solidFill>
                <a:latin typeface="Consolas" panose="020B0609020204030204" pitchFamily="49" charset="0"/>
              </a:rPr>
              <a:t>      labels:</a:t>
            </a:r>
          </a:p>
          <a:p>
            <a:r>
              <a:rPr lang="it-IT" sz="1300" dirty="0">
                <a:solidFill>
                  <a:srgbClr val="171FE2"/>
                </a:solidFill>
                <a:latin typeface="Consolas" panose="020B0609020204030204" pitchFamily="49" charset="0"/>
              </a:rPr>
              <a:t>        app: database-</a:t>
            </a:r>
            <a:r>
              <a:rPr lang="it-IT" sz="1300" dirty="0" err="1">
                <a:solidFill>
                  <a:srgbClr val="171FE2"/>
                </a:solidFill>
                <a:latin typeface="Consolas" panose="020B0609020204030204" pitchFamily="49" charset="0"/>
              </a:rPr>
              <a:t>enterprise</a:t>
            </a:r>
            <a:endParaRPr lang="it-IT" sz="1300" dirty="0">
              <a:solidFill>
                <a:srgbClr val="171FE2"/>
              </a:solidFill>
              <a:latin typeface="Consolas" panose="020B0609020204030204" pitchFamily="49" charset="0"/>
            </a:endParaRPr>
          </a:p>
          <a:p>
            <a:r>
              <a:rPr lang="it-IT" sz="1300" dirty="0">
                <a:solidFill>
                  <a:srgbClr val="171FE2"/>
                </a:solidFill>
                <a:latin typeface="Consolas" panose="020B0609020204030204" pitchFamily="49" charset="0"/>
              </a:rPr>
              <a:t>    </a:t>
            </a:r>
            <a:r>
              <a:rPr lang="it-IT" sz="1300" dirty="0" err="1">
                <a:solidFill>
                  <a:srgbClr val="171FE2"/>
                </a:solidFill>
                <a:latin typeface="Consolas" panose="020B0609020204030204" pitchFamily="49" charset="0"/>
              </a:rPr>
              <a:t>spec</a:t>
            </a:r>
            <a:r>
              <a:rPr lang="it-IT" sz="1300" dirty="0">
                <a:solidFill>
                  <a:srgbClr val="171FE2"/>
                </a:solidFill>
                <a:latin typeface="Consolas" panose="020B0609020204030204" pitchFamily="49" charset="0"/>
              </a:rPr>
              <a:t>:</a:t>
            </a:r>
          </a:p>
          <a:p>
            <a:r>
              <a:rPr lang="it-IT" sz="1300" dirty="0">
                <a:solidFill>
                  <a:srgbClr val="171FE2"/>
                </a:solidFill>
                <a:latin typeface="Consolas" panose="020B0609020204030204" pitchFamily="49" charset="0"/>
              </a:rPr>
              <a:t>      containers:</a:t>
            </a:r>
          </a:p>
          <a:p>
            <a:r>
              <a:rPr lang="it-IT" sz="1300" dirty="0">
                <a:solidFill>
                  <a:srgbClr val="171FE2"/>
                </a:solidFill>
                <a:latin typeface="Consolas" panose="020B0609020204030204" pitchFamily="49" charset="0"/>
              </a:rPr>
              <a:t>      - name: </a:t>
            </a:r>
            <a:r>
              <a:rPr lang="it-IT" sz="1300" dirty="0" err="1">
                <a:solidFill>
                  <a:srgbClr val="171FE2"/>
                </a:solidFill>
                <a:latin typeface="Consolas" panose="020B0609020204030204" pitchFamily="49" charset="0"/>
              </a:rPr>
              <a:t>mariadb</a:t>
            </a:r>
            <a:r>
              <a:rPr lang="it-IT" sz="1300" dirty="0">
                <a:solidFill>
                  <a:srgbClr val="171FE2"/>
                </a:solidFill>
                <a:latin typeface="Consolas" panose="020B0609020204030204" pitchFamily="49" charset="0"/>
              </a:rPr>
              <a:t>-container</a:t>
            </a:r>
          </a:p>
          <a:p>
            <a:r>
              <a:rPr lang="it-IT" sz="1300" dirty="0">
                <a:solidFill>
                  <a:srgbClr val="171FE2"/>
                </a:solidFill>
                <a:latin typeface="Consolas" panose="020B0609020204030204" pitchFamily="49" charset="0"/>
              </a:rPr>
              <a:t>        image: mariadb:10.6</a:t>
            </a:r>
          </a:p>
          <a:p>
            <a:r>
              <a:rPr lang="it-IT" sz="1300" dirty="0">
                <a:solidFill>
                  <a:srgbClr val="171FE2"/>
                </a:solidFill>
                <a:latin typeface="Consolas" panose="020B0609020204030204" pitchFamily="49" charset="0"/>
              </a:rPr>
              <a:t>        ports:</a:t>
            </a:r>
          </a:p>
          <a:p>
            <a:r>
              <a:rPr lang="it-IT" sz="1300" dirty="0">
                <a:solidFill>
                  <a:srgbClr val="171FE2"/>
                </a:solidFill>
                <a:latin typeface="Consolas" panose="020B0609020204030204" pitchFamily="49" charset="0"/>
              </a:rPr>
              <a:t>        - </a:t>
            </a:r>
            <a:r>
              <a:rPr lang="it-IT" sz="1300" dirty="0" err="1">
                <a:solidFill>
                  <a:srgbClr val="171FE2"/>
                </a:solidFill>
                <a:latin typeface="Consolas" panose="020B0609020204030204" pitchFamily="49" charset="0"/>
              </a:rPr>
              <a:t>containerPort</a:t>
            </a:r>
            <a:r>
              <a:rPr lang="it-IT" sz="1300" dirty="0">
                <a:solidFill>
                  <a:srgbClr val="171FE2"/>
                </a:solidFill>
                <a:latin typeface="Consolas" panose="020B0609020204030204" pitchFamily="49" charset="0"/>
              </a:rPr>
              <a:t>: 3306</a:t>
            </a:r>
          </a:p>
          <a:p>
            <a:r>
              <a:rPr lang="it-IT" sz="1300" dirty="0">
                <a:solidFill>
                  <a:srgbClr val="171FE2"/>
                </a:solidFill>
                <a:latin typeface="Consolas" panose="020B0609020204030204" pitchFamily="49" charset="0"/>
              </a:rPr>
              <a:t>        </a:t>
            </a:r>
            <a:r>
              <a:rPr lang="it-IT" sz="1300" dirty="0" err="1">
                <a:solidFill>
                  <a:srgbClr val="171FE2"/>
                </a:solidFill>
                <a:latin typeface="Consolas" panose="020B0609020204030204" pitchFamily="49" charset="0"/>
              </a:rPr>
              <a:t>env</a:t>
            </a:r>
            <a:r>
              <a:rPr lang="it-IT" sz="1300" dirty="0">
                <a:solidFill>
                  <a:srgbClr val="171FE2"/>
                </a:solidFill>
                <a:latin typeface="Consolas" panose="020B0609020204030204" pitchFamily="49" charset="0"/>
              </a:rPr>
              <a:t>:</a:t>
            </a:r>
          </a:p>
          <a:p>
            <a:r>
              <a:rPr lang="it-IT" sz="1300" dirty="0">
                <a:solidFill>
                  <a:srgbClr val="171FE2"/>
                </a:solidFill>
                <a:latin typeface="Consolas" panose="020B0609020204030204" pitchFamily="49" charset="0"/>
              </a:rPr>
              <a:t>        - name: MARIADB_ROOT_PASSWORD</a:t>
            </a:r>
          </a:p>
          <a:p>
            <a:r>
              <a:rPr lang="it-IT" sz="1300" dirty="0">
                <a:solidFill>
                  <a:srgbClr val="171FE2"/>
                </a:solidFill>
                <a:latin typeface="Consolas" panose="020B0609020204030204" pitchFamily="49" charset="0"/>
              </a:rPr>
              <a:t>          </a:t>
            </a:r>
            <a:r>
              <a:rPr lang="it-IT" sz="1300" dirty="0" err="1">
                <a:solidFill>
                  <a:srgbClr val="171FE2"/>
                </a:solidFill>
                <a:latin typeface="Consolas" panose="020B0609020204030204" pitchFamily="49" charset="0"/>
              </a:rPr>
              <a:t>valueFrom</a:t>
            </a:r>
            <a:r>
              <a:rPr lang="it-IT" sz="1300" dirty="0">
                <a:solidFill>
                  <a:srgbClr val="171FE2"/>
                </a:solidFill>
                <a:latin typeface="Consolas" panose="020B0609020204030204" pitchFamily="49" charset="0"/>
              </a:rPr>
              <a:t>:</a:t>
            </a:r>
          </a:p>
          <a:p>
            <a:r>
              <a:rPr lang="it-IT" sz="1300" dirty="0">
                <a:solidFill>
                  <a:srgbClr val="171FE2"/>
                </a:solidFill>
                <a:latin typeface="Consolas" panose="020B0609020204030204" pitchFamily="49" charset="0"/>
              </a:rPr>
              <a:t>            </a:t>
            </a:r>
            <a:r>
              <a:rPr lang="it-IT" sz="1300" dirty="0" err="1">
                <a:solidFill>
                  <a:srgbClr val="171FE2"/>
                </a:solidFill>
                <a:latin typeface="Consolas" panose="020B0609020204030204" pitchFamily="49" charset="0"/>
              </a:rPr>
              <a:t>secretKeyRef</a:t>
            </a:r>
            <a:r>
              <a:rPr lang="it-IT" sz="1300" dirty="0">
                <a:solidFill>
                  <a:srgbClr val="171FE2"/>
                </a:solidFill>
                <a:latin typeface="Consolas" panose="020B0609020204030204" pitchFamily="49" charset="0"/>
              </a:rPr>
              <a:t>:</a:t>
            </a:r>
          </a:p>
          <a:p>
            <a:r>
              <a:rPr lang="it-IT" sz="1300" dirty="0">
                <a:solidFill>
                  <a:srgbClr val="171FE2"/>
                </a:solidFill>
                <a:latin typeface="Consolas" panose="020B0609020204030204" pitchFamily="49" charset="0"/>
              </a:rPr>
              <a:t>              name: database-segreto</a:t>
            </a:r>
          </a:p>
          <a:p>
            <a:r>
              <a:rPr lang="it-IT" sz="1300" dirty="0">
                <a:solidFill>
                  <a:srgbClr val="171FE2"/>
                </a:solidFill>
                <a:latin typeface="Consolas" panose="020B0609020204030204" pitchFamily="49" charset="0"/>
              </a:rPr>
              <a:t>              key: password-root</a:t>
            </a:r>
          </a:p>
          <a:p>
            <a:r>
              <a:rPr lang="it-IT" sz="1300" dirty="0">
                <a:solidFill>
                  <a:srgbClr val="171FE2"/>
                </a:solidFill>
                <a:latin typeface="Consolas" panose="020B0609020204030204" pitchFamily="49" charset="0"/>
              </a:rPr>
              <a:t>        </a:t>
            </a:r>
            <a:r>
              <a:rPr lang="it-IT" sz="1300" dirty="0" err="1">
                <a:solidFill>
                  <a:srgbClr val="171FE2"/>
                </a:solidFill>
                <a:latin typeface="Consolas" panose="020B0609020204030204" pitchFamily="49" charset="0"/>
              </a:rPr>
              <a:t>volumeMounts</a:t>
            </a:r>
            <a:r>
              <a:rPr lang="it-IT" sz="1300" dirty="0">
                <a:solidFill>
                  <a:srgbClr val="171FE2"/>
                </a:solidFill>
                <a:latin typeface="Consolas" panose="020B0609020204030204" pitchFamily="49" charset="0"/>
              </a:rPr>
              <a:t>:</a:t>
            </a:r>
          </a:p>
          <a:p>
            <a:r>
              <a:rPr lang="it-IT" sz="1300" dirty="0">
                <a:solidFill>
                  <a:srgbClr val="171FE2"/>
                </a:solidFill>
                <a:latin typeface="Consolas" panose="020B0609020204030204" pitchFamily="49" charset="0"/>
              </a:rPr>
              <a:t>        - name: </a:t>
            </a:r>
            <a:r>
              <a:rPr lang="it-IT" sz="1300" dirty="0" err="1">
                <a:solidFill>
                  <a:srgbClr val="171FE2"/>
                </a:solidFill>
                <a:latin typeface="Consolas" panose="020B0609020204030204" pitchFamily="49" charset="0"/>
              </a:rPr>
              <a:t>mariadb</a:t>
            </a:r>
            <a:r>
              <a:rPr lang="it-IT" sz="1300" dirty="0">
                <a:solidFill>
                  <a:srgbClr val="171FE2"/>
                </a:solidFill>
                <a:latin typeface="Consolas" panose="020B0609020204030204" pitchFamily="49" charset="0"/>
              </a:rPr>
              <a:t>-storage</a:t>
            </a:r>
          </a:p>
          <a:p>
            <a:r>
              <a:rPr lang="it-IT" sz="1300" dirty="0">
                <a:solidFill>
                  <a:srgbClr val="171FE2"/>
                </a:solidFill>
                <a:latin typeface="Consolas" panose="020B0609020204030204" pitchFamily="49" charset="0"/>
              </a:rPr>
              <a:t>          </a:t>
            </a:r>
            <a:r>
              <a:rPr lang="it-IT" sz="1300" dirty="0" err="1">
                <a:solidFill>
                  <a:srgbClr val="171FE2"/>
                </a:solidFill>
                <a:latin typeface="Consolas" panose="020B0609020204030204" pitchFamily="49" charset="0"/>
              </a:rPr>
              <a:t>mountPath</a:t>
            </a:r>
            <a:r>
              <a:rPr lang="it-IT" sz="1300" dirty="0">
                <a:solidFill>
                  <a:srgbClr val="171FE2"/>
                </a:solidFill>
                <a:latin typeface="Consolas" panose="020B0609020204030204" pitchFamily="49" charset="0"/>
              </a:rPr>
              <a:t>: /var/</a:t>
            </a:r>
            <a:r>
              <a:rPr lang="it-IT" sz="1300" dirty="0" err="1">
                <a:solidFill>
                  <a:srgbClr val="171FE2"/>
                </a:solidFill>
                <a:latin typeface="Consolas" panose="020B0609020204030204" pitchFamily="49" charset="0"/>
              </a:rPr>
              <a:t>lib</a:t>
            </a:r>
            <a:r>
              <a:rPr lang="it-IT" sz="1300" dirty="0">
                <a:solidFill>
                  <a:srgbClr val="171FE2"/>
                </a:solidFill>
                <a:latin typeface="Consolas" panose="020B0609020204030204" pitchFamily="49" charset="0"/>
              </a:rPr>
              <a:t>/</a:t>
            </a:r>
            <a:r>
              <a:rPr lang="it-IT" sz="1300" dirty="0" err="1">
                <a:solidFill>
                  <a:srgbClr val="171FE2"/>
                </a:solidFill>
                <a:latin typeface="Consolas" panose="020B0609020204030204" pitchFamily="49" charset="0"/>
              </a:rPr>
              <a:t>mysql</a:t>
            </a:r>
            <a:endParaRPr lang="it-IT" sz="1300" dirty="0">
              <a:solidFill>
                <a:srgbClr val="171FE2"/>
              </a:solidFill>
              <a:latin typeface="Consolas" panose="020B0609020204030204" pitchFamily="49" charset="0"/>
            </a:endParaRPr>
          </a:p>
          <a:p>
            <a:r>
              <a:rPr lang="it-IT" sz="1300" dirty="0">
                <a:solidFill>
                  <a:srgbClr val="171FE2"/>
                </a:solidFill>
                <a:latin typeface="Consolas" panose="020B0609020204030204" pitchFamily="49" charset="0"/>
              </a:rPr>
              <a:t>      </a:t>
            </a:r>
            <a:r>
              <a:rPr lang="it-IT" sz="1300" dirty="0" err="1">
                <a:solidFill>
                  <a:srgbClr val="171FE2"/>
                </a:solidFill>
                <a:latin typeface="Consolas" panose="020B0609020204030204" pitchFamily="49" charset="0"/>
              </a:rPr>
              <a:t>volumes</a:t>
            </a:r>
            <a:r>
              <a:rPr lang="it-IT" sz="1300" dirty="0">
                <a:solidFill>
                  <a:srgbClr val="171FE2"/>
                </a:solidFill>
                <a:latin typeface="Consolas" panose="020B0609020204030204" pitchFamily="49" charset="0"/>
              </a:rPr>
              <a:t>:</a:t>
            </a:r>
          </a:p>
          <a:p>
            <a:r>
              <a:rPr lang="it-IT" sz="1300" dirty="0">
                <a:solidFill>
                  <a:srgbClr val="171FE2"/>
                </a:solidFill>
                <a:latin typeface="Consolas" panose="020B0609020204030204" pitchFamily="49" charset="0"/>
              </a:rPr>
              <a:t>      - name: </a:t>
            </a:r>
            <a:r>
              <a:rPr lang="it-IT" sz="1300" dirty="0" err="1">
                <a:solidFill>
                  <a:srgbClr val="171FE2"/>
                </a:solidFill>
                <a:latin typeface="Consolas" panose="020B0609020204030204" pitchFamily="49" charset="0"/>
              </a:rPr>
              <a:t>mariadb</a:t>
            </a:r>
            <a:r>
              <a:rPr lang="it-IT" sz="1300" dirty="0">
                <a:solidFill>
                  <a:srgbClr val="171FE2"/>
                </a:solidFill>
                <a:latin typeface="Consolas" panose="020B0609020204030204" pitchFamily="49" charset="0"/>
              </a:rPr>
              <a:t>-storage</a:t>
            </a:r>
          </a:p>
          <a:p>
            <a:r>
              <a:rPr lang="it-IT" sz="1300" dirty="0">
                <a:solidFill>
                  <a:srgbClr val="171FE2"/>
                </a:solidFill>
                <a:latin typeface="Consolas" panose="020B0609020204030204" pitchFamily="49" charset="0"/>
              </a:rPr>
              <a:t>        </a:t>
            </a:r>
            <a:r>
              <a:rPr lang="it-IT" sz="1300" dirty="0" err="1">
                <a:solidFill>
                  <a:srgbClr val="171FE2"/>
                </a:solidFill>
                <a:latin typeface="Consolas" panose="020B0609020204030204" pitchFamily="49" charset="0"/>
              </a:rPr>
              <a:t>persistentVolumeClaim</a:t>
            </a:r>
            <a:r>
              <a:rPr lang="it-IT" sz="1300" dirty="0">
                <a:solidFill>
                  <a:srgbClr val="171FE2"/>
                </a:solidFill>
                <a:latin typeface="Consolas" panose="020B0609020204030204" pitchFamily="49" charset="0"/>
              </a:rPr>
              <a:t>:</a:t>
            </a:r>
          </a:p>
          <a:p>
            <a:r>
              <a:rPr lang="it-IT" sz="1300" dirty="0">
                <a:solidFill>
                  <a:srgbClr val="171FE2"/>
                </a:solidFill>
                <a:latin typeface="Consolas" panose="020B0609020204030204" pitchFamily="49" charset="0"/>
              </a:rPr>
              <a:t>          </a:t>
            </a:r>
            <a:r>
              <a:rPr lang="it-IT" sz="1300" dirty="0" err="1">
                <a:solidFill>
                  <a:srgbClr val="171FE2"/>
                </a:solidFill>
                <a:latin typeface="Consolas" panose="020B0609020204030204" pitchFamily="49" charset="0"/>
              </a:rPr>
              <a:t>claimName</a:t>
            </a:r>
            <a:r>
              <a:rPr lang="it-IT" sz="1300" dirty="0">
                <a:solidFill>
                  <a:srgbClr val="171FE2"/>
                </a:solidFill>
                <a:latin typeface="Consolas" panose="020B0609020204030204" pitchFamily="49" charset="0"/>
              </a:rPr>
              <a:t>: </a:t>
            </a:r>
            <a:r>
              <a:rPr lang="it-IT" sz="1300" dirty="0" err="1">
                <a:solidFill>
                  <a:srgbClr val="171FE2"/>
                </a:solidFill>
                <a:latin typeface="Consolas" panose="020B0609020204030204" pitchFamily="49" charset="0"/>
              </a:rPr>
              <a:t>mariadb</a:t>
            </a:r>
            <a:r>
              <a:rPr lang="it-IT" sz="1300" dirty="0">
                <a:solidFill>
                  <a:srgbClr val="171FE2"/>
                </a:solidFill>
                <a:latin typeface="Consolas" panose="020B0609020204030204" pitchFamily="49" charset="0"/>
              </a:rPr>
              <a:t>-storage-</a:t>
            </a:r>
            <a:r>
              <a:rPr lang="it-IT" sz="1300" dirty="0" err="1">
                <a:solidFill>
                  <a:srgbClr val="171FE2"/>
                </a:solidFill>
                <a:latin typeface="Consolas" panose="020B0609020204030204" pitchFamily="49" charset="0"/>
              </a:rPr>
              <a:t>claim</a:t>
            </a:r>
            <a:endParaRPr lang="it-IT" sz="1300" dirty="0">
              <a:solidFill>
                <a:srgbClr val="171FE2"/>
              </a:solidFill>
              <a:latin typeface="Consolas" panose="020B0609020204030204" pitchFamily="49" charset="0"/>
            </a:endParaRPr>
          </a:p>
        </p:txBody>
      </p:sp>
    </p:spTree>
    <p:extLst>
      <p:ext uri="{BB962C8B-B14F-4D97-AF65-F5344CB8AC3E}">
        <p14:creationId xmlns:p14="http://schemas.microsoft.com/office/powerpoint/2010/main" val="6703260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1EF5E-5F3D-FFC9-4C20-E8416499AEBE}"/>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94FDD731-B3B0-3C6A-22F0-F0CACE1DC3E9}"/>
              </a:ext>
            </a:extLst>
          </p:cNvPr>
          <p:cNvSpPr>
            <a:spLocks noGrp="1"/>
          </p:cNvSpPr>
          <p:nvPr>
            <p:ph type="title"/>
          </p:nvPr>
        </p:nvSpPr>
        <p:spPr>
          <a:xfrm>
            <a:off x="838200" y="831206"/>
            <a:ext cx="10515600" cy="314198"/>
          </a:xfrm>
        </p:spPr>
        <p:txBody>
          <a:bodyPr/>
          <a:lstStyle/>
          <a:p>
            <a:r>
              <a:rPr lang="it-IT" dirty="0"/>
              <a:t>SLIDE 44: LA VISIONE D'INSIEME – L'ARCHITETTURA FINALE COMPLETA CLOUD-READY</a:t>
            </a:r>
            <a:br>
              <a:rPr lang="it-IT" dirty="0"/>
            </a:br>
            <a:endParaRPr lang="it-IT" dirty="0"/>
          </a:p>
        </p:txBody>
      </p:sp>
      <p:sp>
        <p:nvSpPr>
          <p:cNvPr id="3" name="Contenuto della lezione">
            <a:extLst>
              <a:ext uri="{FF2B5EF4-FFF2-40B4-BE49-F238E27FC236}">
                <a16:creationId xmlns:a16="http://schemas.microsoft.com/office/drawing/2014/main" id="{5BE5D7C1-3658-B978-8725-5EDE6031DC66}"/>
              </a:ext>
            </a:extLst>
          </p:cNvPr>
          <p:cNvSpPr>
            <a:spLocks noGrp="1"/>
          </p:cNvSpPr>
          <p:nvPr>
            <p:ph idx="1"/>
          </p:nvPr>
        </p:nvSpPr>
        <p:spPr>
          <a:xfrm>
            <a:off x="838200" y="1589185"/>
            <a:ext cx="10783824" cy="5460839"/>
          </a:xfrm>
        </p:spPr>
        <p:txBody>
          <a:bodyPr/>
          <a:lstStyle/>
          <a:p>
            <a:r>
              <a:rPr lang="it-IT" dirty="0"/>
              <a:t>In cima alla piramide c'è l'</a:t>
            </a:r>
            <a:r>
              <a:rPr lang="it-IT" b="1" dirty="0"/>
              <a:t>Utente Finale</a:t>
            </a:r>
            <a:r>
              <a:rPr lang="it-IT" dirty="0"/>
              <a:t>, che digita l'indirizzo internet sul proprio browser. </a:t>
            </a:r>
          </a:p>
          <a:p>
            <a:r>
              <a:rPr lang="it-IT" dirty="0"/>
              <a:t>La richiesta colpisce il </a:t>
            </a:r>
            <a:r>
              <a:rPr lang="it-IT" b="1" dirty="0"/>
              <a:t>Service Esterno (</a:t>
            </a:r>
            <a:r>
              <a:rPr lang="it-IT" b="1" dirty="0" err="1"/>
              <a:t>NodePort</a:t>
            </a:r>
            <a:r>
              <a:rPr lang="it-IT" b="1" dirty="0"/>
              <a:t>)</a:t>
            </a:r>
            <a:r>
              <a:rPr lang="it-IT" dirty="0"/>
              <a:t> sulla porta 32000 che abbiamo configurato su Windows. </a:t>
            </a:r>
          </a:p>
          <a:p>
            <a:r>
              <a:rPr lang="it-IT" dirty="0"/>
              <a:t>Questo Service si comporta come un vigile urbano: prende il traffico e lo scarica in modo bilanciato dentro uno dei </a:t>
            </a:r>
            <a:r>
              <a:rPr lang="it-IT" dirty="0" err="1"/>
              <a:t>Pod</a:t>
            </a:r>
            <a:r>
              <a:rPr lang="it-IT" dirty="0"/>
              <a:t> del </a:t>
            </a:r>
            <a:r>
              <a:rPr lang="it-IT" b="1" dirty="0" err="1"/>
              <a:t>Frontend</a:t>
            </a:r>
            <a:r>
              <a:rPr lang="it-IT" b="1" dirty="0"/>
              <a:t> React</a:t>
            </a:r>
            <a:r>
              <a:rPr lang="it-IT" dirty="0"/>
              <a:t>. Il codice del </a:t>
            </a:r>
            <a:r>
              <a:rPr lang="it-IT" dirty="0" err="1"/>
              <a:t>frontend</a:t>
            </a:r>
            <a:r>
              <a:rPr lang="it-IT" dirty="0"/>
              <a:t>, girando sul browser dell'utente, ha bisogno di leggere i dati e lancia una chiamata HTTP verso il nome DNS interno del secondo Service, il </a:t>
            </a:r>
            <a:r>
              <a:rPr lang="it-IT" b="1" dirty="0" err="1"/>
              <a:t>backend</a:t>
            </a:r>
            <a:r>
              <a:rPr lang="it-IT" b="1" dirty="0"/>
              <a:t>-service</a:t>
            </a:r>
            <a:r>
              <a:rPr lang="it-IT" dirty="0"/>
              <a:t>. </a:t>
            </a:r>
          </a:p>
          <a:p>
            <a:r>
              <a:rPr lang="it-IT" dirty="0" err="1"/>
              <a:t>Kubernetes</a:t>
            </a:r>
            <a:r>
              <a:rPr lang="it-IT" dirty="0"/>
              <a:t> traduce istantaneamente questo nome testuale in un IP privato e scarica la richiesta dentro uno dei tre </a:t>
            </a:r>
            <a:r>
              <a:rPr lang="it-IT" dirty="0" err="1"/>
              <a:t>Pod</a:t>
            </a:r>
            <a:r>
              <a:rPr lang="it-IT" dirty="0"/>
              <a:t> del </a:t>
            </a:r>
            <a:r>
              <a:rPr lang="it-IT" b="1" dirty="0" err="1"/>
              <a:t>Backend</a:t>
            </a:r>
            <a:r>
              <a:rPr lang="it-IT" b="1" dirty="0"/>
              <a:t> Spring Boot</a:t>
            </a:r>
            <a:r>
              <a:rPr lang="it-IT" dirty="0"/>
              <a:t> gestiti dal Deployment. </a:t>
            </a:r>
          </a:p>
          <a:p>
            <a:r>
              <a:rPr lang="it-IT" dirty="0"/>
              <a:t>Il </a:t>
            </a:r>
            <a:r>
              <a:rPr lang="it-IT" dirty="0" err="1"/>
              <a:t>backend</a:t>
            </a:r>
            <a:r>
              <a:rPr lang="it-IT" dirty="0"/>
              <a:t> Java si sveglia, elabora la logica di business e, per salvare le informazioni, apre una connessione interna verso il database </a:t>
            </a:r>
            <a:r>
              <a:rPr lang="it-IT" dirty="0" err="1"/>
              <a:t>MariaDB</a:t>
            </a:r>
            <a:r>
              <a:rPr lang="it-IT" dirty="0"/>
              <a:t>. </a:t>
            </a:r>
          </a:p>
          <a:p>
            <a:r>
              <a:rPr lang="it-IT" dirty="0"/>
              <a:t>La connessione avviene in totale sicurezza all'interno del cluster, e i dati finali vengono scritti nel container di </a:t>
            </a:r>
            <a:r>
              <a:rPr lang="it-IT" dirty="0" err="1"/>
              <a:t>MariaDB</a:t>
            </a:r>
            <a:r>
              <a:rPr lang="it-IT" dirty="0"/>
              <a:t>, il quale li spinge fuori dal proprio perimetro salvandoli dentro il </a:t>
            </a:r>
            <a:r>
              <a:rPr lang="it-IT" b="1" dirty="0" err="1"/>
              <a:t>PersistentVolume</a:t>
            </a:r>
            <a:r>
              <a:rPr lang="it-IT" dirty="0"/>
              <a:t> blindato. </a:t>
            </a:r>
          </a:p>
          <a:p>
            <a:r>
              <a:rPr lang="it-IT" dirty="0"/>
              <a:t>Se un server fisico prende fuoco in questo momento, </a:t>
            </a:r>
            <a:r>
              <a:rPr lang="it-IT" dirty="0" err="1"/>
              <a:t>Kubernetes</a:t>
            </a:r>
            <a:r>
              <a:rPr lang="it-IT" dirty="0"/>
              <a:t> sposta i </a:t>
            </a:r>
            <a:r>
              <a:rPr lang="it-IT" dirty="0" err="1"/>
              <a:t>Pod</a:t>
            </a:r>
            <a:r>
              <a:rPr lang="it-IT" dirty="0"/>
              <a:t>, riaggancia il disco e l'utente non sperimenta nemmeno un secondo di interruzione del servizio. </a:t>
            </a:r>
            <a:endParaRPr lang="it-IT" dirty="0">
              <a:solidFill>
                <a:srgbClr val="171FE2"/>
              </a:solidFill>
              <a:latin typeface="Consolas" panose="020B0609020204030204" pitchFamily="49" charset="0"/>
            </a:endParaRPr>
          </a:p>
        </p:txBody>
      </p:sp>
    </p:spTree>
    <p:extLst>
      <p:ext uri="{BB962C8B-B14F-4D97-AF65-F5344CB8AC3E}">
        <p14:creationId xmlns:p14="http://schemas.microsoft.com/office/powerpoint/2010/main" val="34998957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F8383-185D-280A-20EF-0C08060E10ED}"/>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44D1CE2D-1533-C67D-A3A2-F43E6855096B}"/>
              </a:ext>
            </a:extLst>
          </p:cNvPr>
          <p:cNvSpPr>
            <a:spLocks noGrp="1"/>
          </p:cNvSpPr>
          <p:nvPr>
            <p:ph type="title"/>
          </p:nvPr>
        </p:nvSpPr>
        <p:spPr>
          <a:xfrm>
            <a:off x="838200" y="831206"/>
            <a:ext cx="10515600" cy="314198"/>
          </a:xfrm>
        </p:spPr>
        <p:txBody>
          <a:bodyPr/>
          <a:lstStyle/>
          <a:p>
            <a:r>
              <a:rPr lang="it-IT" dirty="0"/>
              <a:t>SLIDE 45: LAB PRACTICAL – STRUMENTI DI TROUBLESHOOTING PER IL DOCENTE (QUANDO QUALCOSA NON VA)</a:t>
            </a:r>
            <a:br>
              <a:rPr lang="it-IT" dirty="0"/>
            </a:br>
            <a:endParaRPr lang="it-IT" dirty="0"/>
          </a:p>
        </p:txBody>
      </p:sp>
      <p:sp>
        <p:nvSpPr>
          <p:cNvPr id="3" name="Contenuto della lezione">
            <a:extLst>
              <a:ext uri="{FF2B5EF4-FFF2-40B4-BE49-F238E27FC236}">
                <a16:creationId xmlns:a16="http://schemas.microsoft.com/office/drawing/2014/main" id="{7C118BD5-4FEF-FB7E-D878-5873AD4FEF73}"/>
              </a:ext>
            </a:extLst>
          </p:cNvPr>
          <p:cNvSpPr>
            <a:spLocks noGrp="1"/>
          </p:cNvSpPr>
          <p:nvPr>
            <p:ph idx="1"/>
          </p:nvPr>
        </p:nvSpPr>
        <p:spPr>
          <a:xfrm>
            <a:off x="838200" y="1589185"/>
            <a:ext cx="10783824" cy="5460839"/>
          </a:xfrm>
        </p:spPr>
        <p:txBody>
          <a:bodyPr/>
          <a:lstStyle/>
          <a:p>
            <a:r>
              <a:rPr lang="it-IT" dirty="0"/>
              <a:t>Nel mondo reale dei sistemi IT aziendali (e soprattutto all'interno di un'aula di formazione durante le esercitazioni pratiche), le cose possono non funzionare al primo colpo. </a:t>
            </a:r>
          </a:p>
          <a:p>
            <a:r>
              <a:rPr lang="it-IT" dirty="0"/>
              <a:t>Un errore di battitura nello YAML, una porta occupata o un nome di una variabile d'ambiente errato possono bloccare l'avvio della nostra infrastruttura. </a:t>
            </a:r>
          </a:p>
          <a:p>
            <a:r>
              <a:rPr lang="it-IT" dirty="0"/>
              <a:t>Il professionista </a:t>
            </a:r>
            <a:r>
              <a:rPr lang="it-IT" dirty="0" err="1"/>
              <a:t>DevOps</a:t>
            </a:r>
            <a:r>
              <a:rPr lang="it-IT" dirty="0"/>
              <a:t> non è colui che non commette mai errori, ma colui che sa utilizzare con maestria gli strumenti di diagnostica (</a:t>
            </a:r>
            <a:r>
              <a:rPr lang="it-IT" dirty="0" err="1"/>
              <a:t>Troubleshooting</a:t>
            </a:r>
            <a:r>
              <a:rPr lang="it-IT" dirty="0"/>
              <a:t>) per scovare l'inghippo e risolverlo in pochi secondi. </a:t>
            </a:r>
          </a:p>
          <a:p>
            <a:r>
              <a:rPr lang="it-IT" dirty="0">
                <a:solidFill>
                  <a:srgbClr val="171FE2"/>
                </a:solidFill>
              </a:rPr>
              <a:t>Esploriamo la triade dei comandi salvavita di </a:t>
            </a:r>
            <a:r>
              <a:rPr lang="it-IT" dirty="0" err="1">
                <a:solidFill>
                  <a:srgbClr val="171FE2"/>
                </a:solidFill>
              </a:rPr>
              <a:t>Kubernetes</a:t>
            </a:r>
            <a:r>
              <a:rPr lang="it-IT" dirty="0">
                <a:solidFill>
                  <a:srgbClr val="171FE2"/>
                </a:solidFill>
              </a:rPr>
              <a:t> che dovete stampare nella vostra memoria.</a:t>
            </a:r>
            <a:endParaRPr lang="it-IT" dirty="0">
              <a:solidFill>
                <a:srgbClr val="171FE2"/>
              </a:solidFill>
              <a:latin typeface="Consolas" panose="020B0609020204030204" pitchFamily="49" charset="0"/>
            </a:endParaRPr>
          </a:p>
        </p:txBody>
      </p:sp>
    </p:spTree>
    <p:extLst>
      <p:ext uri="{BB962C8B-B14F-4D97-AF65-F5344CB8AC3E}">
        <p14:creationId xmlns:p14="http://schemas.microsoft.com/office/powerpoint/2010/main" val="31910265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1CA14-3292-2892-D0F7-AEF552CEC21E}"/>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699BF9D7-7930-B2A0-4CB8-2D5243B37817}"/>
              </a:ext>
            </a:extLst>
          </p:cNvPr>
          <p:cNvSpPr>
            <a:spLocks noGrp="1"/>
          </p:cNvSpPr>
          <p:nvPr>
            <p:ph type="title"/>
          </p:nvPr>
        </p:nvSpPr>
        <p:spPr>
          <a:xfrm>
            <a:off x="838200" y="831206"/>
            <a:ext cx="10515600" cy="314198"/>
          </a:xfrm>
        </p:spPr>
        <p:txBody>
          <a:bodyPr/>
          <a:lstStyle/>
          <a:p>
            <a:r>
              <a:rPr lang="it-IT" dirty="0"/>
              <a:t>SLIDE 46: LAB PRACTICAL – STRUMENTI DI TROUBLESHOOTING PER IL DOCENTE (QUANDO QUALCOSA NON VA)</a:t>
            </a:r>
            <a:br>
              <a:rPr lang="it-IT" dirty="0"/>
            </a:br>
            <a:endParaRPr lang="it-IT" dirty="0"/>
          </a:p>
        </p:txBody>
      </p:sp>
      <p:sp>
        <p:nvSpPr>
          <p:cNvPr id="3" name="Contenuto della lezione">
            <a:extLst>
              <a:ext uri="{FF2B5EF4-FFF2-40B4-BE49-F238E27FC236}">
                <a16:creationId xmlns:a16="http://schemas.microsoft.com/office/drawing/2014/main" id="{9EB6D33C-AB42-26DD-6F10-C82C8FBEF04C}"/>
              </a:ext>
            </a:extLst>
          </p:cNvPr>
          <p:cNvSpPr>
            <a:spLocks noGrp="1"/>
          </p:cNvSpPr>
          <p:nvPr>
            <p:ph idx="1"/>
          </p:nvPr>
        </p:nvSpPr>
        <p:spPr>
          <a:xfrm>
            <a:off x="838200" y="1589185"/>
            <a:ext cx="10783824" cy="5460839"/>
          </a:xfrm>
        </p:spPr>
        <p:txBody>
          <a:bodyPr/>
          <a:lstStyle/>
          <a:p>
            <a:r>
              <a:rPr lang="it-IT" dirty="0"/>
              <a:t>Immaginiamo che uno dei nostri </a:t>
            </a:r>
            <a:r>
              <a:rPr lang="it-IT" dirty="0" err="1"/>
              <a:t>Pod</a:t>
            </a:r>
            <a:r>
              <a:rPr lang="it-IT" dirty="0"/>
              <a:t> sia bloccato o non risponda:</a:t>
            </a:r>
          </a:p>
          <a:p>
            <a:r>
              <a:rPr lang="it-IT" dirty="0"/>
              <a:t>Il primo comando da lanciare, che abbiamo già usato, è il censimento dello stato: </a:t>
            </a:r>
          </a:p>
          <a:p>
            <a:r>
              <a:rPr lang="it-IT" dirty="0" err="1">
                <a:solidFill>
                  <a:srgbClr val="171FE2"/>
                </a:solidFill>
                <a:latin typeface="Consolas" panose="020B0609020204030204" pitchFamily="49" charset="0"/>
              </a:rPr>
              <a:t>kubectl</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get</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pods</a:t>
            </a:r>
            <a:endParaRPr lang="it-IT" dirty="0">
              <a:solidFill>
                <a:srgbClr val="171FE2"/>
              </a:solidFill>
              <a:latin typeface="Consolas" panose="020B0609020204030204" pitchFamily="49" charset="0"/>
            </a:endParaRPr>
          </a:p>
          <a:p>
            <a:r>
              <a:rPr lang="it-IT" dirty="0"/>
              <a:t>Se nella colonna STATUS notiamo diciture sospette come </a:t>
            </a:r>
            <a:r>
              <a:rPr lang="it-IT" i="1" dirty="0" err="1"/>
              <a:t>CrashLoopBackOff</a:t>
            </a:r>
            <a:r>
              <a:rPr lang="it-IT" dirty="0"/>
              <a:t> o </a:t>
            </a:r>
            <a:r>
              <a:rPr lang="it-IT" i="1" dirty="0" err="1"/>
              <a:t>Pending</a:t>
            </a:r>
            <a:r>
              <a:rPr lang="it-IT" dirty="0"/>
              <a:t>, dobbiamo attivare la fase investigativa. </a:t>
            </a:r>
          </a:p>
          <a:p>
            <a:r>
              <a:rPr lang="it-IT" dirty="0"/>
              <a:t>Il secondo comando, il più potente in assoluto per capire gli errori di configurazione di </a:t>
            </a:r>
            <a:r>
              <a:rPr lang="it-IT" dirty="0" err="1"/>
              <a:t>Kubernetes</a:t>
            </a:r>
            <a:r>
              <a:rPr lang="it-IT" dirty="0"/>
              <a:t>, è:</a:t>
            </a:r>
          </a:p>
          <a:p>
            <a:r>
              <a:rPr lang="it-IT" dirty="0" err="1">
                <a:solidFill>
                  <a:srgbClr val="171FE2"/>
                </a:solidFill>
                <a:latin typeface="Consolas" panose="020B0609020204030204" pitchFamily="49" charset="0"/>
              </a:rPr>
              <a:t>kubectl</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describe</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pod</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mariadb</a:t>
            </a:r>
            <a:r>
              <a:rPr lang="it-IT" dirty="0">
                <a:solidFill>
                  <a:srgbClr val="171FE2"/>
                </a:solidFill>
                <a:latin typeface="Consolas" panose="020B0609020204030204" pitchFamily="49" charset="0"/>
              </a:rPr>
              <a:t>-deployment-</a:t>
            </a:r>
            <a:r>
              <a:rPr lang="it-IT" dirty="0" err="1">
                <a:solidFill>
                  <a:srgbClr val="171FE2"/>
                </a:solidFill>
                <a:latin typeface="Consolas" panose="020B0609020204030204" pitchFamily="49" charset="0"/>
              </a:rPr>
              <a:t>xyz</a:t>
            </a:r>
            <a:endParaRPr lang="it-IT" dirty="0">
              <a:solidFill>
                <a:srgbClr val="171FE2"/>
              </a:solidFill>
              <a:latin typeface="Consolas" panose="020B0609020204030204" pitchFamily="49" charset="0"/>
            </a:endParaRPr>
          </a:p>
          <a:p>
            <a:r>
              <a:rPr lang="it-IT" dirty="0"/>
              <a:t>Scorriamo la schermata fino in fondo e leggete la sezione Events (Eventi). </a:t>
            </a:r>
          </a:p>
          <a:p>
            <a:r>
              <a:rPr lang="it-IT" dirty="0"/>
              <a:t>Qui </a:t>
            </a:r>
            <a:r>
              <a:rPr lang="it-IT" dirty="0" err="1"/>
              <a:t>Kubernetes</a:t>
            </a:r>
            <a:r>
              <a:rPr lang="it-IT" dirty="0"/>
              <a:t> parlerà in chiaro, dicendo ad esempio: "Non posso avviare il </a:t>
            </a:r>
            <a:r>
              <a:rPr lang="it-IT" dirty="0" err="1"/>
              <a:t>pod</a:t>
            </a:r>
            <a:r>
              <a:rPr lang="it-IT" dirty="0"/>
              <a:t> perché il </a:t>
            </a:r>
            <a:r>
              <a:rPr lang="it-IT" dirty="0" err="1"/>
              <a:t>PersistentVolumeClaim</a:t>
            </a:r>
            <a:r>
              <a:rPr lang="it-IT" dirty="0"/>
              <a:t> chiamato </a:t>
            </a:r>
            <a:r>
              <a:rPr lang="it-IT" dirty="0" err="1"/>
              <a:t>mariadb</a:t>
            </a:r>
            <a:r>
              <a:rPr lang="it-IT" dirty="0"/>
              <a:t>-storage-</a:t>
            </a:r>
            <a:r>
              <a:rPr lang="it-IT" dirty="0" err="1"/>
              <a:t>claim</a:t>
            </a:r>
            <a:r>
              <a:rPr lang="it-IT" dirty="0"/>
              <a:t> non esiste" oppure "L'immagine digitata non è stata trovata su Docker Hub". </a:t>
            </a:r>
          </a:p>
        </p:txBody>
      </p:sp>
    </p:spTree>
    <p:extLst>
      <p:ext uri="{BB962C8B-B14F-4D97-AF65-F5344CB8AC3E}">
        <p14:creationId xmlns:p14="http://schemas.microsoft.com/office/powerpoint/2010/main" val="1612834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9DBBB-F0C5-3E36-F161-6A5189D0F611}"/>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89FA1FB1-82A8-64A3-2128-B7F9F36870E9}"/>
              </a:ext>
            </a:extLst>
          </p:cNvPr>
          <p:cNvSpPr>
            <a:spLocks noGrp="1"/>
          </p:cNvSpPr>
          <p:nvPr>
            <p:ph type="title"/>
          </p:nvPr>
        </p:nvSpPr>
        <p:spPr>
          <a:xfrm>
            <a:off x="838200" y="831206"/>
            <a:ext cx="10515600" cy="314198"/>
          </a:xfrm>
        </p:spPr>
        <p:txBody>
          <a:bodyPr/>
          <a:lstStyle/>
          <a:p>
            <a:r>
              <a:rPr lang="it-IT" dirty="0"/>
              <a:t>SLIDE 47: LAB PRACTICAL – STRUMENTI DI TROUBLESHOOTING PER IL DOCENTE (QUANDO QUALCOSA NON VA)</a:t>
            </a:r>
            <a:br>
              <a:rPr lang="it-IT" dirty="0"/>
            </a:br>
            <a:endParaRPr lang="it-IT" dirty="0"/>
          </a:p>
        </p:txBody>
      </p:sp>
      <p:sp>
        <p:nvSpPr>
          <p:cNvPr id="3" name="Contenuto della lezione">
            <a:extLst>
              <a:ext uri="{FF2B5EF4-FFF2-40B4-BE49-F238E27FC236}">
                <a16:creationId xmlns:a16="http://schemas.microsoft.com/office/drawing/2014/main" id="{AD6F1D5E-F602-A7EC-EE20-300364F41CCD}"/>
              </a:ext>
            </a:extLst>
          </p:cNvPr>
          <p:cNvSpPr>
            <a:spLocks noGrp="1"/>
          </p:cNvSpPr>
          <p:nvPr>
            <p:ph idx="1"/>
          </p:nvPr>
        </p:nvSpPr>
        <p:spPr>
          <a:xfrm>
            <a:off x="838200" y="1589185"/>
            <a:ext cx="10783824" cy="5460839"/>
          </a:xfrm>
        </p:spPr>
        <p:txBody>
          <a:bodyPr/>
          <a:lstStyle/>
          <a:p>
            <a:r>
              <a:rPr lang="it-IT" dirty="0"/>
              <a:t>Se gli eventi dicono che la configurazione di </a:t>
            </a:r>
            <a:r>
              <a:rPr lang="it-IT" dirty="0" err="1"/>
              <a:t>Kubernetes</a:t>
            </a:r>
            <a:r>
              <a:rPr lang="it-IT" dirty="0"/>
              <a:t> è corretta ma l'applicazione continua a fallire, l'errore risiede dentro il codice dell'applicazione stessa (un errore Java o un fallimento di </a:t>
            </a:r>
            <a:r>
              <a:rPr lang="it-IT" dirty="0" err="1"/>
              <a:t>MariaDB</a:t>
            </a:r>
            <a:r>
              <a:rPr lang="it-IT" dirty="0"/>
              <a:t>). </a:t>
            </a:r>
          </a:p>
          <a:p>
            <a:r>
              <a:rPr lang="it-IT" dirty="0"/>
              <a:t>In questo caso eseguiamo il comando che va a leggere lo standard output del container:</a:t>
            </a:r>
          </a:p>
          <a:p>
            <a:r>
              <a:rPr lang="it-IT" dirty="0" err="1">
                <a:solidFill>
                  <a:srgbClr val="171FE2"/>
                </a:solidFill>
                <a:latin typeface="Consolas" panose="020B0609020204030204" pitchFamily="49" charset="0"/>
              </a:rPr>
              <a:t>kubectl</a:t>
            </a:r>
            <a:r>
              <a:rPr lang="it-IT" dirty="0">
                <a:solidFill>
                  <a:srgbClr val="171FE2"/>
                </a:solidFill>
                <a:latin typeface="Consolas" panose="020B0609020204030204" pitchFamily="49" charset="0"/>
              </a:rPr>
              <a:t> logs </a:t>
            </a:r>
            <a:r>
              <a:rPr lang="it-IT" dirty="0" err="1">
                <a:solidFill>
                  <a:srgbClr val="171FE2"/>
                </a:solidFill>
                <a:latin typeface="Consolas" panose="020B0609020204030204" pitchFamily="49" charset="0"/>
              </a:rPr>
              <a:t>mariadb</a:t>
            </a:r>
            <a:r>
              <a:rPr lang="it-IT" dirty="0">
                <a:solidFill>
                  <a:srgbClr val="171FE2"/>
                </a:solidFill>
                <a:latin typeface="Consolas" panose="020B0609020204030204" pitchFamily="49" charset="0"/>
              </a:rPr>
              <a:t>-deployment-</a:t>
            </a:r>
            <a:r>
              <a:rPr lang="it-IT" dirty="0" err="1">
                <a:solidFill>
                  <a:srgbClr val="171FE2"/>
                </a:solidFill>
                <a:latin typeface="Consolas" panose="020B0609020204030204" pitchFamily="49" charset="0"/>
              </a:rPr>
              <a:t>xyz</a:t>
            </a:r>
            <a:endParaRPr lang="it-IT" dirty="0">
              <a:solidFill>
                <a:srgbClr val="171FE2"/>
              </a:solidFill>
              <a:latin typeface="Consolas" panose="020B0609020204030204" pitchFamily="49" charset="0"/>
            </a:endParaRPr>
          </a:p>
          <a:p>
            <a:r>
              <a:rPr lang="it-IT" dirty="0"/>
              <a:t>Questo comando mostrerà le righe di log native di </a:t>
            </a:r>
            <a:r>
              <a:rPr lang="it-IT" dirty="0" err="1"/>
              <a:t>MariaDB</a:t>
            </a:r>
            <a:r>
              <a:rPr lang="it-IT" dirty="0"/>
              <a:t> o di Spring Boot, mostrando l'errore esatto (ad esempio un errore di sintassi SQL o una password errata). </a:t>
            </a:r>
          </a:p>
          <a:p>
            <a:r>
              <a:rPr lang="it-IT" dirty="0"/>
              <a:t>Con questa triade di comandi — </a:t>
            </a:r>
            <a:r>
              <a:rPr lang="it-IT" b="1" dirty="0" err="1"/>
              <a:t>get</a:t>
            </a:r>
            <a:r>
              <a:rPr lang="it-IT" b="1" dirty="0"/>
              <a:t> </a:t>
            </a:r>
            <a:r>
              <a:rPr lang="it-IT" dirty="0"/>
              <a:t>per vedere il sintomo, </a:t>
            </a:r>
            <a:r>
              <a:rPr lang="it-IT" b="1" dirty="0" err="1"/>
              <a:t>describe</a:t>
            </a:r>
            <a:r>
              <a:rPr lang="it-IT" dirty="0"/>
              <a:t> per vedere l'errore del cluster, e </a:t>
            </a:r>
            <a:r>
              <a:rPr lang="it-IT" b="1" dirty="0"/>
              <a:t>logs</a:t>
            </a:r>
            <a:r>
              <a:rPr lang="it-IT" dirty="0"/>
              <a:t> per vedere l'errore del codice saremo in grado di riparare </a:t>
            </a:r>
            <a:r>
              <a:rPr lang="it-IT"/>
              <a:t>qualsiasi cluster.</a:t>
            </a:r>
            <a:endParaRPr lang="it-IT" dirty="0">
              <a:solidFill>
                <a:srgbClr val="171FE2"/>
              </a:solidFill>
              <a:latin typeface="Consolas" panose="020B0609020204030204" pitchFamily="49" charset="0"/>
            </a:endParaRPr>
          </a:p>
        </p:txBody>
      </p:sp>
    </p:spTree>
    <p:extLst>
      <p:ext uri="{BB962C8B-B14F-4D97-AF65-F5344CB8AC3E}">
        <p14:creationId xmlns:p14="http://schemas.microsoft.com/office/powerpoint/2010/main" val="21605766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5E02355-4941-9C10-CA1D-649F04DB5143}"/>
              </a:ext>
            </a:extLst>
          </p:cNvPr>
          <p:cNvSpPr>
            <a:spLocks noGrp="1"/>
          </p:cNvSpPr>
          <p:nvPr>
            <p:ph type="title"/>
          </p:nvPr>
        </p:nvSpPr>
        <p:spPr/>
        <p:txBody>
          <a:bodyPr/>
          <a:lstStyle/>
          <a:p>
            <a:r>
              <a:rPr lang="it-IT" spc="0" dirty="0">
                <a:latin typeface="Neue Haas Grotesk Text Pro" panose="020B0504020202020204" pitchFamily="34" charset="0"/>
              </a:rPr>
              <a:t>GRAZIE PER L’ATTENZIONE</a:t>
            </a:r>
          </a:p>
        </p:txBody>
      </p:sp>
    </p:spTree>
    <p:extLst>
      <p:ext uri="{BB962C8B-B14F-4D97-AF65-F5344CB8AC3E}">
        <p14:creationId xmlns:p14="http://schemas.microsoft.com/office/powerpoint/2010/main" val="3003246572"/>
      </p:ext>
    </p:extLst>
  </p:cSld>
  <p:clrMapOvr>
    <a:masterClrMapping/>
  </p:clrMapOvr>
</p:sld>
</file>

<file path=ppt/theme/theme1.xml><?xml version="1.0" encoding="utf-8"?>
<a:theme xmlns:a="http://schemas.openxmlformats.org/drawingml/2006/main" name="Intr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3455C6CD0B9BF4DB2CA3009677D9668" ma:contentTypeVersion="17" ma:contentTypeDescription="Create a new document." ma:contentTypeScope="" ma:versionID="6361f2605a906a42d9630ca59d277a8b">
  <xsd:schema xmlns:xsd="http://www.w3.org/2001/XMLSchema" xmlns:xs="http://www.w3.org/2001/XMLSchema" xmlns:p="http://schemas.microsoft.com/office/2006/metadata/properties" xmlns:ns2="8b3acf13-3a58-43b2-a29e-f23503de136d" xmlns:ns3="21b72fd8-e7d0-49ac-9795-d1b0bc6b7e1c" targetNamespace="http://schemas.microsoft.com/office/2006/metadata/properties" ma:root="true" ma:fieldsID="ae4eb9e2c998b5efed80ec6126f835fa" ns2:_="" ns3:_="">
    <xsd:import namespace="8b3acf13-3a58-43b2-a29e-f23503de136d"/>
    <xsd:import namespace="21b72fd8-e7d0-49ac-9795-d1b0bc6b7e1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Argoment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3acf13-3a58-43b2-a29e-f23503de13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6f31c764-9f90-46cb-b927-e7c76de0672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Argomento" ma:index="24" nillable="true" ma:displayName="Argomento" ma:format="Dropdown" ma:internalName="Argomento">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1b72fd8-e7d0-49ac-9795-d1b0bc6b7e1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40603bf2-5c45-4900-ad6d-aa2e93470d68}" ma:internalName="TaxCatchAll" ma:showField="CatchAllData" ma:web="21b72fd8-e7d0-49ac-9795-d1b0bc6b7e1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21b72fd8-e7d0-49ac-9795-d1b0bc6b7e1c" xsi:nil="true"/>
    <lcf76f155ced4ddcb4097134ff3c332f xmlns="8b3acf13-3a58-43b2-a29e-f23503de136d">
      <Terms xmlns="http://schemas.microsoft.com/office/infopath/2007/PartnerControls"/>
    </lcf76f155ced4ddcb4097134ff3c332f>
    <Argomento xmlns="8b3acf13-3a58-43b2-a29e-f23503de136d" xsi:nil="true"/>
  </documentManagement>
</p:properties>
</file>

<file path=customXml/itemProps1.xml><?xml version="1.0" encoding="utf-8"?>
<ds:datastoreItem xmlns:ds="http://schemas.openxmlformats.org/officeDocument/2006/customXml" ds:itemID="{70468F63-B318-4D5F-A1DF-86BE98AC22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b3acf13-3a58-43b2-a29e-f23503de136d"/>
    <ds:schemaRef ds:uri="21b72fd8-e7d0-49ac-9795-d1b0bc6b7e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7C65656-B2D8-4C19-A873-091B25A5212E}">
  <ds:schemaRefs>
    <ds:schemaRef ds:uri="http://schemas.microsoft.com/sharepoint/v3/contenttype/forms"/>
  </ds:schemaRefs>
</ds:datastoreItem>
</file>

<file path=customXml/itemProps3.xml><?xml version="1.0" encoding="utf-8"?>
<ds:datastoreItem xmlns:ds="http://schemas.openxmlformats.org/officeDocument/2006/customXml" ds:itemID="{6766878A-54ED-4867-B478-72A29DC19B89}">
  <ds:schemaRefs>
    <ds:schemaRef ds:uri="http://schemas.microsoft.com/office/2006/metadata/properties"/>
    <ds:schemaRef ds:uri="http://schemas.microsoft.com/office/infopath/2007/PartnerControls"/>
    <ds:schemaRef ds:uri="21b72fd8-e7d0-49ac-9795-d1b0bc6b7e1c"/>
    <ds:schemaRef ds:uri="8b3acf13-3a58-43b2-a29e-f23503de136d"/>
  </ds:schemaRefs>
</ds:datastoreItem>
</file>

<file path=docProps/app.xml><?xml version="1.0" encoding="utf-8"?>
<Properties xmlns="http://schemas.openxmlformats.org/officeDocument/2006/extended-properties" xmlns:vt="http://schemas.openxmlformats.org/officeDocument/2006/docPropsVTypes">
  <Template/>
  <TotalTime>1793</TotalTime>
  <Words>6981</Words>
  <Application>Microsoft Office PowerPoint</Application>
  <PresentationFormat>Widescreen</PresentationFormat>
  <Paragraphs>486</Paragraphs>
  <Slides>50</Slides>
  <Notes>1</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50</vt:i4>
      </vt:variant>
    </vt:vector>
  </HeadingPairs>
  <TitlesOfParts>
    <vt:vector size="56" baseType="lpstr">
      <vt:lpstr>Arial</vt:lpstr>
      <vt:lpstr>Calibri</vt:lpstr>
      <vt:lpstr>Consolas</vt:lpstr>
      <vt:lpstr>Neue Haas Grotesk Display Pro</vt:lpstr>
      <vt:lpstr>Neue Haas Grotesk Text Pro</vt:lpstr>
      <vt:lpstr>Intro</vt:lpstr>
      <vt:lpstr>Presentazione standard di PowerPoint</vt:lpstr>
      <vt:lpstr>Presentazione standard di PowerPoint</vt:lpstr>
      <vt:lpstr>SLIDE 1: IL PROBLEMA DEL NETWORKING – L'IP EFFIMERO DEI POD</vt:lpstr>
      <vt:lpstr>SLIDE 2: IL PROBLEMA DEL NETWORKING – L'IP EFFIMERO DEI POD</vt:lpstr>
      <vt:lpstr>SLIDE 3: IL CONCETTO DI SERVICE – IL CENTRALINO FISSO E IL BILANCIATORE DI CARICO</vt:lpstr>
      <vt:lpstr>SLIDE 4: IL CONCETTO DI SERVICE – IL CENTRALINO FISSO E IL BILANCIATORE DI CARICO</vt:lpstr>
      <vt:lpstr>SLIDE 5: IL CONCETTO DI SERVICE – IL CENTRALINO FISSO E IL BILANCIATORE DI CARICO</vt:lpstr>
      <vt:lpstr>SLIDE 6: TIPOLOGIE DI SERVICE – SCEGLIERE LA STRATEGIA DI ESPOSIZIONE CORRETTA</vt:lpstr>
      <vt:lpstr>SLIDE 7: TIPOLOGIE DI SERVICE – SCEGLIERE LA STRATEGIA DI ESPOSIZIONE CORRETTA</vt:lpstr>
      <vt:lpstr>SLIDE 8: ANATOMIA DELLO YAML DI UN SERVICE – IL PONTE TRA PORTE REALI E VIRTUALI</vt:lpstr>
      <vt:lpstr>SLIDE 9: ANATOMIA DELLO YAML DI UN SERVICE – IL PONTE TRA PORTE REALI E VIRTUALI</vt:lpstr>
      <vt:lpstr>SLIDE 10: LAB PRACTICAL – STRUTTURARE E LANCIARE IL SERVICE INTERNO (CLUSTERIP)</vt:lpstr>
      <vt:lpstr>SLIDE 11: LAB PRACTICAL – STRUTTURARE E LANCIARE IL SERVICE INTERNO (CLUSTERIP)</vt:lpstr>
      <vt:lpstr>SLIDE 12: LAB PRACTICAL – STRUTTURARE E LANCIARE IL SERVICE INTERNO (CLUSTERIP)</vt:lpstr>
      <vt:lpstr>SLIDE 13: LAB PRACTICAL – ESPORRE L'APPLICAZIONE ALL'ESTERNO CON UN SERVICE NODEPORT</vt:lpstr>
      <vt:lpstr>SLIDE 14: LAB PRACTICAL – ESPORRE L'APPLICAZIONE ALL'ESTERNO CON UN SERVICE NODEPORT</vt:lpstr>
      <vt:lpstr>SLIDE 15: LAB PRACTICAL – ESPORRE L'APPLICAZIONE ALL'ESTERNO CON UN SERVICE NODEPORT</vt:lpstr>
      <vt:lpstr>SLIDE 16: LAB PRACTICAL – ESPORRE L'APPLICAZIONE ALL'ESTERNO CON UN SERVICE NODEPORT</vt:lpstr>
      <vt:lpstr>SLIDE 17: LAB PRACTICAL – ESPORRE L'APPLICAZIONE ALL'ESTERNO CON UN SERVICE NODEPORT</vt:lpstr>
      <vt:lpstr>SLIDE 18: LAB PRACTICAL – ESPORRE L'APPLICAZIONE ALL'ESTERNO CON UN SERVICE NODEPORT</vt:lpstr>
      <vt:lpstr>SLIDE 19: LAB PRACTICAL – ESPORRE L'APPLICAZIONE ALL'ESTERNO CON UN SERVICE NODEPORT</vt:lpstr>
      <vt:lpstr>SLIDE 20: LAB PRACTICAL – ESPORRE L'APPLICAZIONE ALL'ESTERNO CON UN SERVICE NODEPORT</vt:lpstr>
      <vt:lpstr>SLIDE 21: Recap sull’importanza dell’oggetto Service</vt:lpstr>
      <vt:lpstr>SLIDE 22: Recap sull’importanza dell’oggetto Service</vt:lpstr>
      <vt:lpstr>SLIDE 23: Recap sull’importanza dell’oggetto Service</vt:lpstr>
      <vt:lpstr>SLIDE 24: Recap sull’importanza dell’oggetto Service</vt:lpstr>
      <vt:lpstr>SLIDE 25: IL CONCETTO DI NAMESPACE – I CASSETTI DEL CLUSTER ENTERPRISE</vt:lpstr>
      <vt:lpstr>SLIDE 26: IL CONCETTO DI NAMESPACE – I CASSETTI DEL CLUSTER ENTERPRISE</vt:lpstr>
      <vt:lpstr>SLIDE 27: LAB PRACTICAL – ISPEZIONARE I NAMESPACE DI SISTEMA E CREARNE UNO PERSONALIZZATO</vt:lpstr>
      <vt:lpstr>SLIDE 28: LAB PRACTICAL – ISPEZIONARE I NAMESPACE DI SISTEMA E CREARNE UNO PERSONALIZZATO</vt:lpstr>
      <vt:lpstr>SLIDE 29: IL PROBLEMA DELLA PERSISTENZA – POD STATELESS VS STATEFUL </vt:lpstr>
      <vt:lpstr>SLIDE 30: IL PROBLEMA DELLA PERSISTENZA – POD STATELESS VS STATEFUL </vt:lpstr>
      <vt:lpstr>SLIDE 31: IL MECCANISMO DEGLI STORAGE – PERSISTENTVOLUME (PV) E CLAIM (PVC) </vt:lpstr>
      <vt:lpstr>SLIDE 32: LAB PRACTICAL – CREARE LA PRENOTAZIONE DI MEMORIA (PVC) PER IL DATABASE </vt:lpstr>
      <vt:lpstr>SLIDE 33: LAB PRACTICAL – CREARE LA PRENOTAZIONE DI MEMORIA (PVC) PER IL DATABASE </vt:lpstr>
      <vt:lpstr>SLIDE 34: LAB PRACTICAL – CREARE LA PRENOTAZIONE DI MEMORIA (PVC) PER IL DATABASE  </vt:lpstr>
      <vt:lpstr>SLIDE 35: LAB PRACTICAL – CREARE LA PRENOTAZIONE DI MEMORIA (PVC) PER IL DATABASE  </vt:lpstr>
      <vt:lpstr>SLIDE 36: LAB PRACTICAL – CREARE LA PRENOTAZIONE DI MEMORIA (PVC) PER IL DATABASE  </vt:lpstr>
      <vt:lpstr>SLIDE 37: LA SICUREZZA DEI DATI SENSIBILI – GLI OGGETTI SECRET IN KUBERNETES  </vt:lpstr>
      <vt:lpstr>SLIDE 38: LA SICUREZZA DEI DATI SENSIBILI – GLI OGGETTI SECRET IN KUBERNETES  </vt:lpstr>
      <vt:lpstr>SLIDE 39: LAB PRACTICAL – CREARE LA CASSAFORTE DELLE PASSWORD CON KUBECTL  </vt:lpstr>
      <vt:lpstr>SLIDE 40: LAB PRACTICAL – CREARE LA CASSAFORTE DELLE PASSWORD CON KUBECTL  </vt:lpstr>
      <vt:lpstr>SLIDE 41: LAB PRACTICAL – CREARE LA CASSAFORTE DELLE PASSWORD CON KUBECTL  </vt:lpstr>
      <vt:lpstr>SLIDE 42: LAB PRACTICAL –  COMPILARE IL MANIFESTO  FINALE DEL DATABASE STATEFUL  </vt:lpstr>
      <vt:lpstr>SLIDE 43: LAB PRACTICAL –  COMPILARE IL MANIFESTO  FINALE DEL DATABASE STATEFUL  </vt:lpstr>
      <vt:lpstr>SLIDE 44: LA VISIONE D'INSIEME – L'ARCHITETTURA FINALE COMPLETA CLOUD-READY </vt:lpstr>
      <vt:lpstr>SLIDE 45: LAB PRACTICAL – STRUMENTI DI TROUBLESHOOTING PER IL DOCENTE (QUANDO QUALCOSA NON VA) </vt:lpstr>
      <vt:lpstr>SLIDE 46: LAB PRACTICAL – STRUMENTI DI TROUBLESHOOTING PER IL DOCENTE (QUANDO QUALCOSA NON VA) </vt:lpstr>
      <vt:lpstr>SLIDE 47: LAB PRACTICAL – STRUMENTI DI TROUBLESHOOTING PER IL DOCENTE (QUANDO QUALCOSA NON VA) </vt:lpstr>
      <vt:lpstr>GRAZIE PER L’ATTENZIONE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Davide Grillo</dc:creator>
  <cp:lastModifiedBy>Mirko Ony</cp:lastModifiedBy>
  <cp:revision>382</cp:revision>
  <dcterms:created xsi:type="dcterms:W3CDTF">2023-09-21T07:59:23Z</dcterms:created>
  <dcterms:modified xsi:type="dcterms:W3CDTF">2026-06-13T17:10:42Z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0x010100D3455C6CD0B9BF4DB2CA3009677D9668</vt:lpwstr>
  </property>
</Properties>
</file>