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4"/>
  </p:notesMasterIdLst>
  <p:handoutMasterIdLst>
    <p:handoutMasterId r:id="rId25"/>
  </p:handoutMasterIdLst>
  <p:sldIdLst>
    <p:sldId id="262" r:id="rId5"/>
    <p:sldId id="259" r:id="rId6"/>
    <p:sldId id="258" r:id="rId7"/>
    <p:sldId id="263" r:id="rId8"/>
    <p:sldId id="264" r:id="rId9"/>
    <p:sldId id="273" r:id="rId10"/>
    <p:sldId id="274" r:id="rId11"/>
    <p:sldId id="275" r:id="rId12"/>
    <p:sldId id="277" r:id="rId13"/>
    <p:sldId id="276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61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3" autoAdjust="0"/>
    <p:restoredTop sz="92907" autoAdjust="0"/>
  </p:normalViewPr>
  <p:slideViewPr>
    <p:cSldViewPr snapToGrid="0" showGuides="1">
      <p:cViewPr varScale="1">
        <p:scale>
          <a:sx n="105" d="100"/>
          <a:sy n="105" d="100"/>
        </p:scale>
        <p:origin x="41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6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0: </a:t>
            </a:r>
            <a:r>
              <a:rPr lang="it-IT"/>
              <a:t>La metodologia DevOps</a:t>
            </a:r>
            <a:endParaRPr lang="it-IT" dirty="0"/>
          </a:p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Lo Sviluppo Software Tradizionale e il Muro della Diffidenza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Il modello classico di gestione dell'Information Technology si basa su una netta separazione strutturale tra il team di sviluppo, denominato </a:t>
            </a:r>
            <a:r>
              <a:rPr lang="it-IT" b="1" dirty="0"/>
              <a:t>DEV</a:t>
            </a:r>
            <a:r>
              <a:rPr lang="it-IT" dirty="0"/>
              <a:t>, e il team addetto alla gestione sistemistica, noto come </a:t>
            </a:r>
            <a:r>
              <a:rPr lang="it-IT" b="1" dirty="0"/>
              <a:t>OPS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Il reparto degli sviluppatori ha come obiettivo primario il rilascio continuo di nuove funzionalità e aggiornamenti nel minor tempo possibile, lavorando in ambienti locali sui propri PC dove </a:t>
            </a:r>
            <a:r>
              <a:rPr lang="it-IT" dirty="0">
                <a:solidFill>
                  <a:srgbClr val="171FE2"/>
                </a:solidFill>
              </a:rPr>
              <a:t>ottimizza la velocità di modifica a discapito della standardizzazione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Al contrario, il team delle </a:t>
            </a:r>
            <a:r>
              <a:rPr lang="it-IT" dirty="0" err="1"/>
              <a:t>operation</a:t>
            </a:r>
            <a:r>
              <a:rPr lang="it-IT" dirty="0"/>
              <a:t> ha come metrica di successo la stabilità assoluta dei server aziendali, la sicurezza perimetrale e la continuità del servizio, motivo per cui tende a </a:t>
            </a:r>
            <a:r>
              <a:rPr lang="it-IT" dirty="0">
                <a:solidFill>
                  <a:srgbClr val="171FE2"/>
                </a:solidFill>
              </a:rPr>
              <a:t>resistere ai cambiamenti infrastrutturali frequenti che potrebbero introdurre elementi di instabilità o vulnerabilità nel sistema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91F50-AA8F-901D-4F57-4C380FA3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CC71FAB-83DF-0334-74B9-D053D4041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La Crisi degli Ambienti di Esecuzione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2F1FFC-C4C5-354B-2645-59DDB14FF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La mancanza di allineamento tra i reparti si manifesta macroscopicamente al momento del rilascio del software attraverso il celebre sintomo distruttivo noto come </a:t>
            </a:r>
            <a:r>
              <a:rPr lang="it-IT" b="1" dirty="0"/>
              <a:t>Ma sul mio PC funziona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Questa problematica deriva dalla </a:t>
            </a:r>
            <a:r>
              <a:rPr lang="it-IT" dirty="0">
                <a:solidFill>
                  <a:srgbClr val="171FE2"/>
                </a:solidFill>
              </a:rPr>
              <a:t>discrepanza radicale tra l'ambiente locale dello sviluppatore</a:t>
            </a:r>
            <a:r>
              <a:rPr lang="it-IT" dirty="0"/>
              <a:t>, basato su sistemi operativi commerciali come </a:t>
            </a:r>
            <a:r>
              <a:rPr lang="it-IT" dirty="0">
                <a:solidFill>
                  <a:srgbClr val="171FE2"/>
                </a:solidFill>
              </a:rPr>
              <a:t>Windows o </a:t>
            </a:r>
            <a:r>
              <a:rPr lang="it-IT" dirty="0" err="1">
                <a:solidFill>
                  <a:srgbClr val="171FE2"/>
                </a:solidFill>
              </a:rPr>
              <a:t>macOS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/>
              <a:t>con permessi di amministrazione totali e risorse dedicate, </a:t>
            </a:r>
            <a:r>
              <a:rPr lang="it-IT" dirty="0">
                <a:solidFill>
                  <a:srgbClr val="171FE2"/>
                </a:solidFill>
              </a:rPr>
              <a:t>e l'ambiente di produzione reale, composto da distribuzioni Linux Enterprise blindate con policy di sicurezza estremamente restrittive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Quando il software viene trasferito da un ecosistema protetto a una rete ostile emergono sistematicamente crash dovuti </a:t>
            </a:r>
            <a:r>
              <a:rPr lang="it-IT" dirty="0">
                <a:solidFill>
                  <a:srgbClr val="171FE2"/>
                </a:solidFill>
              </a:rPr>
              <a:t>al disallineamento dei </a:t>
            </a:r>
            <a:r>
              <a:rPr lang="it-IT" b="1" dirty="0" err="1">
                <a:solidFill>
                  <a:srgbClr val="171FE2"/>
                </a:solidFill>
              </a:rPr>
              <a:t>runtime</a:t>
            </a:r>
            <a:r>
              <a:rPr lang="it-IT" dirty="0"/>
              <a:t>, come versioni differenti della Java Virtual Machine o degli interpreti Python, all'utilizzo involontario di </a:t>
            </a:r>
            <a:r>
              <a:rPr lang="it-IT" dirty="0">
                <a:solidFill>
                  <a:srgbClr val="171FE2"/>
                </a:solidFill>
              </a:rPr>
              <a:t>percorsi assoluti legati al file system di Windows non riconosciuti da Linux</a:t>
            </a:r>
            <a:r>
              <a:rPr lang="it-IT" dirty="0"/>
              <a:t>, e alla presenza di </a:t>
            </a:r>
            <a:r>
              <a:rPr lang="it-IT" dirty="0">
                <a:solidFill>
                  <a:srgbClr val="171FE2"/>
                </a:solidFill>
              </a:rPr>
              <a:t>dipendenze</a:t>
            </a:r>
            <a:r>
              <a:rPr lang="it-IT" dirty="0"/>
              <a:t> nascoste </a:t>
            </a:r>
            <a:r>
              <a:rPr lang="it-IT" dirty="0">
                <a:solidFill>
                  <a:srgbClr val="171FE2"/>
                </a:solidFill>
              </a:rPr>
              <a:t>installate manualmente sul PC locale ma assenti nel gestore pacchetti del server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521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42B7-F96B-5039-8B40-2886CE67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6ADE5593-A99A-9016-B7F8-385DA8C5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BD91D08-D056-3071-E890-D45406877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risolvere definitivamente la crisi dei rilasci è nata la metodologia </a:t>
            </a:r>
            <a:r>
              <a:rPr lang="it-IT" b="1" dirty="0" err="1"/>
              <a:t>DevOps</a:t>
            </a:r>
            <a:r>
              <a:rPr lang="it-IT" dirty="0"/>
              <a:t>. </a:t>
            </a:r>
          </a:p>
          <a:p>
            <a:r>
              <a:rPr lang="it-IT" b="1" dirty="0"/>
              <a:t>Cosa NON è il </a:t>
            </a:r>
            <a:r>
              <a:rPr lang="it-IT" b="1" dirty="0" err="1"/>
              <a:t>DevOps</a:t>
            </a:r>
            <a:r>
              <a:rPr lang="it-IT" b="1" dirty="0"/>
              <a:t> (I Falsi Miti del Mercato IT)</a:t>
            </a:r>
            <a:endParaRPr lang="it-IT" dirty="0"/>
          </a:p>
          <a:p>
            <a:r>
              <a:rPr lang="it-IT" dirty="0"/>
              <a:t>🚫 </a:t>
            </a:r>
            <a:r>
              <a:rPr lang="it-IT" b="1" dirty="0"/>
              <a:t>Non è un software:</a:t>
            </a:r>
            <a:r>
              <a:rPr lang="it-IT" dirty="0"/>
              <a:t> Non esiste un programma chiamato </a:t>
            </a:r>
            <a:r>
              <a:rPr lang="it-IT" dirty="0" err="1"/>
              <a:t>DevOps</a:t>
            </a:r>
            <a:r>
              <a:rPr lang="it-IT" dirty="0"/>
              <a:t> da installare sul computer per risolvere i problemi di architettura.</a:t>
            </a:r>
          </a:p>
          <a:p>
            <a:r>
              <a:rPr lang="it-IT" dirty="0"/>
              <a:t>🚫 </a:t>
            </a:r>
            <a:r>
              <a:rPr lang="it-IT" b="1" dirty="0"/>
              <a:t>Non è uno strumento:</a:t>
            </a:r>
            <a:r>
              <a:rPr lang="it-IT" dirty="0"/>
              <a:t> L'utilizzo isolato di </a:t>
            </a:r>
            <a:r>
              <a:rPr lang="it-IT" dirty="0" err="1"/>
              <a:t>Git</a:t>
            </a:r>
            <a:r>
              <a:rPr lang="it-IT" dirty="0"/>
              <a:t>, Docker o Jenkins non trasforma un'azienda tradizionale in un'organizzazione </a:t>
            </a:r>
            <a:r>
              <a:rPr lang="it-IT" dirty="0" err="1"/>
              <a:t>DevOps</a:t>
            </a:r>
            <a:r>
              <a:rPr lang="it-IT" dirty="0"/>
              <a:t>.</a:t>
            </a:r>
          </a:p>
          <a:p>
            <a:r>
              <a:rPr lang="it-IT" dirty="0"/>
              <a:t>🚫 </a:t>
            </a:r>
            <a:r>
              <a:rPr lang="it-IT" b="1" dirty="0"/>
              <a:t>Non è un singolo ruolo:</a:t>
            </a:r>
            <a:r>
              <a:rPr lang="it-IT" dirty="0"/>
              <a:t> Definire una persona come "Ingegnere </a:t>
            </a:r>
            <a:r>
              <a:rPr lang="it-IT" dirty="0" err="1"/>
              <a:t>DevOps</a:t>
            </a:r>
            <a:r>
              <a:rPr lang="it-IT" dirty="0"/>
              <a:t>" all'interno di un team isolato ricrea lo stesso </a:t>
            </a:r>
            <a:r>
              <a:rPr lang="it-IT" dirty="0">
                <a:solidFill>
                  <a:srgbClr val="171FE2"/>
                </a:solidFill>
              </a:rPr>
              <a:t>errore dei silos.</a:t>
            </a:r>
          </a:p>
          <a:p>
            <a:endParaRPr lang="it-IT" dirty="0"/>
          </a:p>
          <a:p>
            <a:r>
              <a:rPr lang="it-IT" b="1" dirty="0"/>
              <a:t>La Definizione Tecnica della Metodologia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Una </a:t>
            </a:r>
            <a:r>
              <a:rPr lang="it-IT" b="1" dirty="0"/>
              <a:t>filosofia e cultura aziendale</a:t>
            </a:r>
            <a:r>
              <a:rPr lang="it-IT" dirty="0"/>
              <a:t> volta a integrare, automatizzare e standardizzare i processi tra il team Dev e il team 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Condivisione totale degli obiettivi di business: la stabilità del server diventa un problema del Dev, la velocità di rilascio diventa una priorità </a:t>
            </a:r>
            <a:r>
              <a:rPr lang="it-IT" dirty="0" err="1"/>
              <a:t>dell'Ops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323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F410-FA41-2899-8AC7-371962B3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ADBF842E-BBB6-6779-78DE-FA690C8B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CC39E5D-A40F-B5E5-E708-A35E8A2E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Nel contesto aziendale e informatico, un </a:t>
            </a:r>
            <a:r>
              <a:rPr lang="it-IT" b="1" dirty="0"/>
              <a:t>silo</a:t>
            </a:r>
            <a:r>
              <a:rPr lang="it-IT" dirty="0"/>
              <a:t> è un gruppo, team o reparto che lavora in modo isolato dagli altri, con poca comunicazione e poca responsabilità condivisa.</a:t>
            </a:r>
          </a:p>
          <a:p>
            <a:r>
              <a:rPr lang="it-IT" b="1" dirty="0"/>
              <a:t>Esempio classico prima di </a:t>
            </a:r>
            <a:r>
              <a:rPr lang="it-IT" b="1" dirty="0" err="1"/>
              <a:t>DevOps</a:t>
            </a:r>
            <a:endParaRPr lang="it-IT" b="1" dirty="0"/>
          </a:p>
          <a:p>
            <a:r>
              <a:rPr lang="it-IT" b="1" dirty="0"/>
              <a:t>Team Sviluppo (Dev)</a:t>
            </a:r>
            <a:endParaRPr lang="it-IT" dirty="0"/>
          </a:p>
          <a:p>
            <a:r>
              <a:rPr lang="it-IT" dirty="0"/>
              <a:t>Scrive il codice. </a:t>
            </a:r>
          </a:p>
          <a:p>
            <a:r>
              <a:rPr lang="it-IT" dirty="0"/>
              <a:t>Considera il lavoro finito quando il software è pronto. </a:t>
            </a:r>
          </a:p>
          <a:p>
            <a:r>
              <a:rPr lang="it-IT" dirty="0"/>
              <a:t>↓</a:t>
            </a:r>
          </a:p>
          <a:p>
            <a:r>
              <a:rPr lang="it-IT" b="1" dirty="0"/>
              <a:t>Team Operations (Ops)</a:t>
            </a:r>
            <a:endParaRPr lang="it-IT" dirty="0"/>
          </a:p>
          <a:p>
            <a:r>
              <a:rPr lang="it-IT" dirty="0"/>
              <a:t>Riceve il software. </a:t>
            </a:r>
          </a:p>
          <a:p>
            <a:r>
              <a:rPr lang="it-IT" dirty="0"/>
              <a:t>Deve installarlo, gestirlo e risolvere i problemi in produzione.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Quando qualcosa va storto:</a:t>
            </a:r>
          </a:p>
          <a:p>
            <a:r>
              <a:rPr lang="it-IT" dirty="0"/>
              <a:t>Dev dice: </a:t>
            </a:r>
            <a:r>
              <a:rPr lang="it-IT" i="1" dirty="0"/>
              <a:t>"Sul mio computer funziona."</a:t>
            </a:r>
            <a:r>
              <a:rPr lang="it-IT" dirty="0"/>
              <a:t> </a:t>
            </a:r>
          </a:p>
          <a:p>
            <a:r>
              <a:rPr lang="it-IT" dirty="0"/>
              <a:t>Ops dice: </a:t>
            </a:r>
            <a:r>
              <a:rPr lang="it-IT" i="1" dirty="0"/>
              <a:t>"L'applicazione è stata sviluppata male."</a:t>
            </a:r>
            <a:r>
              <a:rPr lang="it-IT" dirty="0"/>
              <a:t> </a:t>
            </a:r>
          </a:p>
          <a:p>
            <a:r>
              <a:rPr lang="it-IT" dirty="0">
                <a:solidFill>
                  <a:srgbClr val="171FE2"/>
                </a:solidFill>
              </a:rPr>
              <a:t>Nessuno si sente pienamente responsabile del risultato finale.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165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91FE-F9B6-5E18-BD7C-16565376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020B24C3-2929-843F-5568-D8746120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4F09E7D-9140-A1B4-2DB6-8E1550F1D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I Tre Pilastri Fondamentali del Modello</a:t>
            </a:r>
            <a:endParaRPr lang="it-IT" dirty="0"/>
          </a:p>
          <a:p>
            <a:r>
              <a:rPr lang="it-IT" b="1" dirty="0"/>
              <a:t>Collaborazione e Responsabilità Condivisa:</a:t>
            </a:r>
            <a:r>
              <a:rPr lang="it-IT" dirty="0"/>
              <a:t> I programmatori partecipano alla reperibilità sui server; i sistemisti supportano la scrittura del codice di automazione.</a:t>
            </a:r>
          </a:p>
          <a:p>
            <a:r>
              <a:rPr lang="it-IT" dirty="0">
                <a:solidFill>
                  <a:srgbClr val="171FE2"/>
                </a:solidFill>
              </a:rPr>
              <a:t>Entrambi sono responsabili del risultato finale</a:t>
            </a:r>
            <a:r>
              <a:rPr lang="it-IT" dirty="0"/>
              <a:t>. </a:t>
            </a:r>
          </a:p>
          <a:p>
            <a:r>
              <a:rPr lang="it-IT" dirty="0"/>
              <a:t>Ad esempio:</a:t>
            </a:r>
          </a:p>
          <a:p>
            <a:r>
              <a:rPr lang="it-IT" dirty="0"/>
              <a:t>lo sviluppatore sa leggere i log e capire cosa succede in produzione; </a:t>
            </a:r>
          </a:p>
          <a:p>
            <a:r>
              <a:rPr lang="it-IT" dirty="0"/>
              <a:t>il sistemista contribuisce agli script di automazione e alle pipeline CI/CD.</a:t>
            </a:r>
          </a:p>
          <a:p>
            <a:endParaRPr lang="it-IT" dirty="0"/>
          </a:p>
          <a:p>
            <a:r>
              <a:rPr lang="it-IT" b="1" dirty="0"/>
              <a:t>Automazione dell'Infrastruttura (</a:t>
            </a:r>
            <a:r>
              <a:rPr lang="it-IT" b="1" dirty="0" err="1"/>
              <a:t>IaC</a:t>
            </a:r>
            <a:r>
              <a:rPr lang="it-IT" b="1" dirty="0"/>
              <a:t>):</a:t>
            </a:r>
            <a:r>
              <a:rPr lang="it-IT" dirty="0"/>
              <a:t> Eliminazione totale di qualsiasi configurazione manuale dei server eseguita via terminale SSH o pannelli grafici.</a:t>
            </a:r>
          </a:p>
          <a:p>
            <a:r>
              <a:rPr lang="it-IT" dirty="0"/>
              <a:t>Invece di "fare le cose a mano", </a:t>
            </a:r>
            <a:r>
              <a:rPr lang="it-IT" dirty="0">
                <a:solidFill>
                  <a:srgbClr val="171FE2"/>
                </a:solidFill>
              </a:rPr>
              <a:t>si descrive ciò che serve </a:t>
            </a:r>
            <a:r>
              <a:rPr lang="it-IT" dirty="0"/>
              <a:t>(a livello di risorse, dipendenze e librerie) e il sistema lo crea automaticamente attraverso manifesti (es. YAML).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529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1498-7DAE-39A9-12A2-79A5C493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62B46B4-7F70-952D-3A1A-90D19750B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6: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09EEBF8-E152-FC39-2518-D92F6478B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 err="1"/>
              <a:t>IaC</a:t>
            </a:r>
            <a:r>
              <a:rPr lang="it-IT" dirty="0"/>
              <a:t> significa </a:t>
            </a:r>
            <a:r>
              <a:rPr lang="it-IT" b="1" dirty="0" err="1"/>
              <a:t>Infrastructure</a:t>
            </a:r>
            <a:r>
              <a:rPr lang="it-IT" b="1" dirty="0"/>
              <a:t> </a:t>
            </a:r>
            <a:r>
              <a:rPr lang="it-IT" b="1" dirty="0" err="1"/>
              <a:t>as</a:t>
            </a:r>
            <a:r>
              <a:rPr lang="it-IT" b="1" dirty="0"/>
              <a:t> Code</a:t>
            </a:r>
            <a:r>
              <a:rPr lang="it-IT" dirty="0"/>
              <a:t>.</a:t>
            </a:r>
          </a:p>
          <a:p>
            <a:r>
              <a:rPr lang="it-IT" b="1" dirty="0"/>
              <a:t>Prima della </a:t>
            </a:r>
            <a:r>
              <a:rPr lang="it-IT" b="1" dirty="0" err="1"/>
              <a:t>IaC</a:t>
            </a:r>
            <a:endParaRPr lang="it-IT" b="1" dirty="0"/>
          </a:p>
          <a:p>
            <a:r>
              <a:rPr lang="it-IT" dirty="0"/>
              <a:t>Un amministratore entra nel server: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ssh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server-produzione</a:t>
            </a:r>
          </a:p>
          <a:p>
            <a:r>
              <a:rPr lang="it-IT" dirty="0"/>
              <a:t>e configura tutto manualmente: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apt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install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b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mkdir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/app</a:t>
            </a:r>
            <a:b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nano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config.conf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Problema:</a:t>
            </a:r>
          </a:p>
          <a:p>
            <a:r>
              <a:rPr lang="it-IT" dirty="0"/>
              <a:t>nessuno ricorda esattamente cosa è stato fatto; </a:t>
            </a:r>
          </a:p>
          <a:p>
            <a:r>
              <a:rPr lang="it-IT" dirty="0"/>
              <a:t>due server possono diventare diversi; </a:t>
            </a:r>
          </a:p>
          <a:p>
            <a:r>
              <a:rPr lang="it-IT" dirty="0"/>
              <a:t>è facile commettere errori.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131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B49C-8CD3-6B2F-9D1E-F76957A1F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88FAE89-A9DA-E463-575B-74CAC92B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7: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56C8036-DC5C-5A22-845D-624A3822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Con </a:t>
            </a:r>
            <a:r>
              <a:rPr lang="it-IT" b="1" dirty="0" err="1"/>
              <a:t>IaC</a:t>
            </a:r>
            <a:endParaRPr lang="it-IT" b="1" dirty="0"/>
          </a:p>
          <a:p>
            <a:r>
              <a:rPr lang="it-IT" dirty="0"/>
              <a:t>Le configurazioni vengono scritte in file di codice.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- name: Install nginx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apt: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  name: nginx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  state: present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Il codice rimane in un documento </a:t>
            </a:r>
            <a:r>
              <a:rPr lang="it-IT" dirty="0" err="1"/>
              <a:t>yaml</a:t>
            </a:r>
            <a:r>
              <a:rPr lang="it-IT" dirty="0"/>
              <a:t> e non viene quindi perso.</a:t>
            </a:r>
          </a:p>
          <a:p>
            <a:r>
              <a:rPr lang="it-IT" dirty="0"/>
              <a:t>Rimane la testimonianza della libreria che si è voluta recuperare.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709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7FF8C-DB20-B524-A6DE-8FAF4C8B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36371A0-F2A7-C710-6CFD-FC719768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8: La Rivoluzione Culturale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757ECC9-4753-D477-EA20-821CF635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5353360"/>
          </a:xfrm>
        </p:spPr>
        <p:txBody>
          <a:bodyPr/>
          <a:lstStyle/>
          <a:p>
            <a:r>
              <a:rPr lang="it-IT" b="1" dirty="0"/>
              <a:t>Ciclo di Feedback Continuo:</a:t>
            </a:r>
            <a:r>
              <a:rPr lang="it-IT" dirty="0"/>
              <a:t> Raccolta automatica dei log e delle metriche per identificare le regressioni pochi minuti dopo la scrittura del codice.</a:t>
            </a:r>
          </a:p>
          <a:p>
            <a:r>
              <a:rPr lang="it-IT" dirty="0"/>
              <a:t>Significa capire rapidamente se una modifica ha creato problemi.</a:t>
            </a:r>
          </a:p>
          <a:p>
            <a:r>
              <a:rPr lang="it-IT" b="1" dirty="0"/>
              <a:t>Scenario</a:t>
            </a:r>
          </a:p>
          <a:p>
            <a:r>
              <a:rPr lang="it-IT" dirty="0"/>
              <a:t>Ore 10:00:</a:t>
            </a:r>
          </a:p>
          <a:p>
            <a:r>
              <a:rPr lang="it-IT" dirty="0"/>
              <a:t>uno sviluppatore modifica il codice. </a:t>
            </a:r>
          </a:p>
          <a:p>
            <a:r>
              <a:rPr lang="it-IT" dirty="0"/>
              <a:t>Ore 10:05:</a:t>
            </a:r>
          </a:p>
          <a:p>
            <a:r>
              <a:rPr lang="it-IT" dirty="0"/>
              <a:t>il </a:t>
            </a:r>
            <a:r>
              <a:rPr lang="it-IT" dirty="0" err="1"/>
              <a:t>deploy</a:t>
            </a:r>
            <a:r>
              <a:rPr lang="it-IT" dirty="0"/>
              <a:t> va in produzione. </a:t>
            </a:r>
          </a:p>
          <a:p>
            <a:r>
              <a:rPr lang="it-IT" dirty="0"/>
              <a:t>Ore 10:06:</a:t>
            </a:r>
          </a:p>
          <a:p>
            <a:r>
              <a:rPr lang="it-IT" dirty="0"/>
              <a:t>il sistema di monitoraggio rileva che gli errori sono aumentati del 300%. </a:t>
            </a:r>
          </a:p>
          <a:p>
            <a:r>
              <a:rPr lang="it-IT" dirty="0"/>
              <a:t>Ore 10:07:</a:t>
            </a:r>
          </a:p>
          <a:p>
            <a:r>
              <a:rPr lang="it-IT" dirty="0"/>
              <a:t>arriva una notifica al team. </a:t>
            </a:r>
          </a:p>
          <a:p>
            <a:r>
              <a:rPr lang="it-IT" dirty="0"/>
              <a:t>Il problema viene scoperto quasi subito.</a:t>
            </a:r>
          </a:p>
          <a:p>
            <a:r>
              <a:rPr lang="it-IT" b="1" dirty="0">
                <a:solidFill>
                  <a:srgbClr val="171FE2"/>
                </a:solidFill>
              </a:rPr>
              <a:t>Obiettivo:</a:t>
            </a:r>
            <a:r>
              <a:rPr lang="it-IT" dirty="0">
                <a:solidFill>
                  <a:srgbClr val="171FE2"/>
                </a:solidFill>
              </a:rPr>
              <a:t> scoprire gli errori pochi minuti dopo averli introdotti, non giorni dopo.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864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5ADB0-D9CF-E0D7-47A6-7346EF4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854336E3-BB36-0753-6E14-86709B7BE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9: La Pipeline CI/CD come Catena di Montaggio del Software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98F1847-0801-BBEE-B92E-63316B513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La traduzione pratica della cultura </a:t>
            </a:r>
            <a:r>
              <a:rPr lang="it-IT" dirty="0" err="1"/>
              <a:t>DevOps</a:t>
            </a:r>
            <a:r>
              <a:rPr lang="it-IT" dirty="0"/>
              <a:t> prende la forma della pipeline </a:t>
            </a:r>
            <a:r>
              <a:rPr lang="it-IT" b="1" dirty="0"/>
              <a:t>CI/CD</a:t>
            </a:r>
            <a:r>
              <a:rPr lang="it-IT" dirty="0"/>
              <a:t>, </a:t>
            </a:r>
            <a:r>
              <a:rPr lang="it-IT" dirty="0">
                <a:solidFill>
                  <a:srgbClr val="171FE2"/>
                </a:solidFill>
              </a:rPr>
              <a:t>una vera e possibile catena di montaggio automatizzata </a:t>
            </a:r>
            <a:r>
              <a:rPr lang="it-IT" dirty="0"/>
              <a:t>che governa il ciclo di vita del software moderno. </a:t>
            </a:r>
          </a:p>
          <a:p>
            <a:endParaRPr lang="it-IT" dirty="0"/>
          </a:p>
          <a:p>
            <a:r>
              <a:rPr lang="it-IT" dirty="0"/>
              <a:t>Le applicazioni odierne non vengono più rilasciate tramite pesanti pacchetti semestrali accumulati nel tempo, ma evolvono costantemente attraverso un flusso continuo rappresentato visivamente dal simbolo dell'</a:t>
            </a:r>
            <a:r>
              <a:rPr lang="it-IT" b="1" dirty="0"/>
              <a:t>infinito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Ogni singola modifica effettuata da un programmatore deve percorrere una serie di controlli infrastrutturali rigidi e automatizzati prima di poter essere installata sui server di produzione. </a:t>
            </a:r>
          </a:p>
        </p:txBody>
      </p:sp>
    </p:spTree>
    <p:extLst>
      <p:ext uri="{BB962C8B-B14F-4D97-AF65-F5344CB8AC3E}">
        <p14:creationId xmlns:p14="http://schemas.microsoft.com/office/powerpoint/2010/main" val="393713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432A-269A-B391-832E-2A2C22FE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C5B943F-F5AC-9C54-7868-9E45EC3D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10: La Pipeline CI/CD come Catena di Montaggio del Software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DF6C92B-A7F9-9E5C-F64B-F021C561D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L'Analisi Dettagliata delle Fasi Infrastrutturali (CI+CD)</a:t>
            </a:r>
          </a:p>
          <a:p>
            <a:r>
              <a:rPr lang="it-IT" b="1" dirty="0"/>
              <a:t>PLAN &amp; CODE:</a:t>
            </a:r>
            <a:r>
              <a:rPr lang="it-IT" dirty="0"/>
              <a:t> Gli sviluppatori pianificano le attività su piattaforme di tracciamento e </a:t>
            </a:r>
            <a:r>
              <a:rPr lang="it-IT" dirty="0">
                <a:solidFill>
                  <a:srgbClr val="171FE2"/>
                </a:solidFill>
              </a:rPr>
              <a:t>scrivono il codice sorgente </a:t>
            </a:r>
            <a:r>
              <a:rPr lang="it-IT" dirty="0"/>
              <a:t>utilizzando sistemi </a:t>
            </a:r>
            <a:r>
              <a:rPr lang="it-IT" b="1" dirty="0" err="1"/>
              <a:t>Git</a:t>
            </a:r>
            <a:r>
              <a:rPr lang="it-IT" dirty="0"/>
              <a:t>.</a:t>
            </a:r>
          </a:p>
          <a:p>
            <a:r>
              <a:rPr lang="it-IT" b="1" dirty="0"/>
              <a:t>BUILD:</a:t>
            </a:r>
            <a:r>
              <a:rPr lang="it-IT" dirty="0"/>
              <a:t> Server dedicati intercettano le modifiche, scaricano le dipendenze esterne e </a:t>
            </a:r>
            <a:r>
              <a:rPr lang="it-IT" dirty="0">
                <a:solidFill>
                  <a:srgbClr val="171FE2"/>
                </a:solidFill>
              </a:rPr>
              <a:t>compilano i sorgenti verificando l'assenza di errori sintattici</a:t>
            </a:r>
            <a:r>
              <a:rPr lang="it-IT" dirty="0"/>
              <a:t>.</a:t>
            </a:r>
          </a:p>
          <a:p>
            <a:r>
              <a:rPr lang="it-IT" b="1" dirty="0"/>
              <a:t>TEST:</a:t>
            </a:r>
            <a:r>
              <a:rPr lang="it-IT" dirty="0"/>
              <a:t> Esecuzione automatica di suite di test software per </a:t>
            </a:r>
            <a:r>
              <a:rPr lang="it-IT" dirty="0">
                <a:solidFill>
                  <a:srgbClr val="171FE2"/>
                </a:solidFill>
              </a:rPr>
              <a:t>garantire che le nuove funzionalità non abbiano rotto le logiche esistenti</a:t>
            </a:r>
            <a:r>
              <a:rPr lang="it-IT" dirty="0"/>
              <a:t>.</a:t>
            </a:r>
          </a:p>
          <a:p>
            <a:r>
              <a:rPr lang="it-IT" b="1" dirty="0"/>
              <a:t>RELEASE &amp; DEPLOY:</a:t>
            </a:r>
            <a:r>
              <a:rPr lang="it-IT" dirty="0"/>
              <a:t> </a:t>
            </a:r>
            <a:r>
              <a:rPr lang="it-IT" dirty="0">
                <a:solidFill>
                  <a:srgbClr val="171FE2"/>
                </a:solidFill>
              </a:rPr>
              <a:t>Trasferimento sicuro del pacchetto software validato </a:t>
            </a:r>
            <a:r>
              <a:rPr lang="it-IT" dirty="0"/>
              <a:t>all'interno dei server di </a:t>
            </a:r>
            <a:r>
              <a:rPr lang="it-IT" dirty="0" err="1"/>
              <a:t>staging</a:t>
            </a:r>
            <a:r>
              <a:rPr lang="it-IT" dirty="0"/>
              <a:t> o di produzione aziendali.</a:t>
            </a:r>
          </a:p>
          <a:p>
            <a:r>
              <a:rPr lang="it-IT" b="1" dirty="0"/>
              <a:t>OPERATE &amp; MONITOR:</a:t>
            </a:r>
            <a:r>
              <a:rPr lang="it-IT" dirty="0"/>
              <a:t> </a:t>
            </a:r>
            <a:r>
              <a:rPr lang="it-IT" dirty="0">
                <a:solidFill>
                  <a:srgbClr val="171FE2"/>
                </a:solidFill>
              </a:rPr>
              <a:t>Raccolta in tempo reale dei dati di utilizzo</a:t>
            </a:r>
            <a:r>
              <a:rPr lang="it-IT" dirty="0"/>
              <a:t>, dei tempi di risposta HTTP e dei crash di sistema subiti dagli utenti.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19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E76E-2B75-B6BE-B10C-B8987C6F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BDC6CB6-F8AE-365B-1550-FAF87BE6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11: Focus sulla </a:t>
            </a:r>
            <a:r>
              <a:rPr lang="it-IT" dirty="0" err="1"/>
              <a:t>Continuous</a:t>
            </a:r>
            <a:r>
              <a:rPr lang="it-IT" dirty="0"/>
              <a:t> Integration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9E3498D-A291-ED58-88FC-50F57DF16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All'interno della catena di montaggio </a:t>
            </a:r>
            <a:r>
              <a:rPr lang="it-IT" dirty="0" err="1"/>
              <a:t>DevOps</a:t>
            </a:r>
            <a:r>
              <a:rPr lang="it-IT" dirty="0"/>
              <a:t>, la </a:t>
            </a:r>
            <a:r>
              <a:rPr lang="it-IT" b="1" dirty="0" err="1"/>
              <a:t>Continuous</a:t>
            </a:r>
            <a:r>
              <a:rPr lang="it-IT" b="1" dirty="0"/>
              <a:t> Integration</a:t>
            </a:r>
            <a:r>
              <a:rPr lang="it-IT" dirty="0"/>
              <a:t> rappresenta la fase software </a:t>
            </a:r>
            <a:r>
              <a:rPr lang="it-IT" dirty="0">
                <a:solidFill>
                  <a:srgbClr val="171FE2"/>
                </a:solidFill>
              </a:rPr>
              <a:t>automatizzata</a:t>
            </a:r>
            <a:r>
              <a:rPr lang="it-IT" dirty="0"/>
              <a:t> deputata alla </a:t>
            </a:r>
            <a:r>
              <a:rPr lang="it-IT" dirty="0">
                <a:solidFill>
                  <a:srgbClr val="171FE2"/>
                </a:solidFill>
              </a:rPr>
              <a:t>validazione, compilazione e test automatico del codice ad </a:t>
            </a:r>
            <a:r>
              <a:rPr lang="it-IT" b="1" dirty="0">
                <a:solidFill>
                  <a:srgbClr val="171FE2"/>
                </a:solidFill>
              </a:rPr>
              <a:t>ogni singola modifica</a:t>
            </a:r>
            <a:r>
              <a:rPr lang="it-IT" dirty="0"/>
              <a:t>. </a:t>
            </a:r>
          </a:p>
          <a:p>
            <a:r>
              <a:rPr lang="it-IT" dirty="0"/>
              <a:t>Nei modelli di sviluppo tradizionali i programmatori lavoravano isolati sui propri computer per settimane senza confrontarsi, affrontando al momento dell'unione dei file (merge) una fase critica nota come </a:t>
            </a:r>
            <a:r>
              <a:rPr lang="it-IT" b="1" dirty="0"/>
              <a:t>Integration Hell</a:t>
            </a:r>
            <a:r>
              <a:rPr lang="it-IT" dirty="0"/>
              <a:t>, caratterizzata da centinaia di conflitti logici insanabili che bloccavano i progetti per giorni. </a:t>
            </a:r>
            <a:r>
              <a:rPr lang="it-IT" dirty="0">
                <a:solidFill>
                  <a:srgbClr val="171FE2"/>
                </a:solidFill>
              </a:rPr>
              <a:t>L'Integrazione Continua risolve questo scenario obbligando il team </a:t>
            </a:r>
            <a:r>
              <a:rPr lang="it-IT" b="1" dirty="0">
                <a:solidFill>
                  <a:srgbClr val="171FE2"/>
                </a:solidFill>
              </a:rPr>
              <a:t>a inviare le proprie modifiche al server </a:t>
            </a:r>
            <a:r>
              <a:rPr lang="it-IT" b="1" dirty="0" err="1">
                <a:solidFill>
                  <a:srgbClr val="171FE2"/>
                </a:solidFill>
              </a:rPr>
              <a:t>Git</a:t>
            </a:r>
            <a:r>
              <a:rPr lang="it-IT" b="1" dirty="0">
                <a:solidFill>
                  <a:srgbClr val="171FE2"/>
                </a:solidFill>
              </a:rPr>
              <a:t> centrale più volte al giorno</a:t>
            </a:r>
            <a:r>
              <a:rPr lang="it-IT" dirty="0"/>
              <a:t>.</a:t>
            </a:r>
          </a:p>
          <a:p>
            <a:r>
              <a:rPr lang="it-IT" dirty="0">
                <a:solidFill>
                  <a:srgbClr val="171FE2"/>
                </a:solidFill>
              </a:rPr>
              <a:t>Ogni comando di </a:t>
            </a:r>
            <a:r>
              <a:rPr lang="it-IT" i="1" dirty="0" err="1">
                <a:solidFill>
                  <a:srgbClr val="171FE2"/>
                </a:solidFill>
              </a:rPr>
              <a:t>Push</a:t>
            </a:r>
            <a:r>
              <a:rPr lang="it-IT" dirty="0">
                <a:solidFill>
                  <a:srgbClr val="171FE2"/>
                </a:solidFill>
              </a:rPr>
              <a:t> attiva istantaneamente un evento automatico</a:t>
            </a:r>
            <a:r>
              <a:rPr lang="it-IT" dirty="0"/>
              <a:t> che risveglia piattaforme specializzate come </a:t>
            </a:r>
            <a:r>
              <a:rPr lang="it-IT" b="1" dirty="0"/>
              <a:t>GitHub Actions</a:t>
            </a:r>
            <a:r>
              <a:rPr lang="it-IT" dirty="0"/>
              <a:t> o Jenkins per avviare i task di verifica in un ambiente isolato. </a:t>
            </a:r>
          </a:p>
          <a:p>
            <a:r>
              <a:rPr lang="it-IT" dirty="0"/>
              <a:t>Il server di CI clona il repository, risolve le dipendenze esterne tramite gestori come Maven o </a:t>
            </a:r>
            <a:r>
              <a:rPr lang="it-IT" dirty="0" err="1"/>
              <a:t>npm</a:t>
            </a:r>
            <a:r>
              <a:rPr lang="it-IT" dirty="0"/>
              <a:t> ed esegue la compilazione evidenziando subito gli errori di sintassi. Subito dopo vengono avviati gli </a:t>
            </a:r>
            <a:r>
              <a:rPr lang="it-IT" b="1" dirty="0">
                <a:solidFill>
                  <a:srgbClr val="171FE2"/>
                </a:solidFill>
              </a:rPr>
              <a:t>Unit Test</a:t>
            </a:r>
            <a:r>
              <a:rPr lang="it-IT" dirty="0">
                <a:solidFill>
                  <a:srgbClr val="171FE2"/>
                </a:solidFill>
              </a:rPr>
              <a:t> per scovare bug logici prima che l'applicazione venga distribuita</a:t>
            </a:r>
            <a:r>
              <a:rPr lang="it-IT" dirty="0"/>
              <a:t>. Se un solo controllo o test fallisce, la pipeline si interrompe immediatamente, il codice viene rifiutato e lo sviluppatore riceve una notifica dettagliata per correggere l'errore a pochi minuti di distanza dalla sua effettiva scrittura nel sistema.</a:t>
            </a:r>
          </a:p>
        </p:txBody>
      </p:sp>
    </p:spTree>
    <p:extLst>
      <p:ext uri="{BB962C8B-B14F-4D97-AF65-F5344CB8AC3E}">
        <p14:creationId xmlns:p14="http://schemas.microsoft.com/office/powerpoint/2010/main" val="2364150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50D9-8843-7707-92B7-9C821F9E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3F94BBD-41B8-2FFB-5282-0352E571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12: </a:t>
            </a:r>
            <a:r>
              <a:rPr lang="en-US" dirty="0"/>
              <a:t>Focus </a:t>
            </a:r>
            <a:r>
              <a:rPr lang="en-US" dirty="0" err="1"/>
              <a:t>sulla</a:t>
            </a:r>
            <a:r>
              <a:rPr lang="en-US" dirty="0"/>
              <a:t> Continuous Delivery e Continuous Deployment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0DCC15B-99F4-1351-54F9-8E7FCA6CB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>
                <a:solidFill>
                  <a:srgbClr val="171FE2"/>
                </a:solidFill>
              </a:rPr>
              <a:t>Superata la fase di integrazione</a:t>
            </a:r>
            <a:r>
              <a:rPr lang="it-IT" dirty="0"/>
              <a:t>, il flusso </a:t>
            </a:r>
            <a:r>
              <a:rPr lang="it-IT" dirty="0" err="1"/>
              <a:t>DevOps</a:t>
            </a:r>
            <a:r>
              <a:rPr lang="it-IT" dirty="0"/>
              <a:t> si estende verso il rilascio finale attraverso le metodologie di </a:t>
            </a:r>
            <a:r>
              <a:rPr lang="it-IT" b="1" dirty="0" err="1"/>
              <a:t>Continuous</a:t>
            </a:r>
            <a:r>
              <a:rPr lang="it-IT" b="1" dirty="0"/>
              <a:t> Delivery</a:t>
            </a:r>
            <a:r>
              <a:rPr lang="it-IT" dirty="0"/>
              <a:t> e </a:t>
            </a:r>
            <a:r>
              <a:rPr lang="it-IT" b="1" dirty="0" err="1"/>
              <a:t>Continuous</a:t>
            </a:r>
            <a:r>
              <a:rPr lang="it-IT" b="1" dirty="0"/>
              <a:t> Deployment</a:t>
            </a:r>
            <a:r>
              <a:rPr lang="it-IT" dirty="0"/>
              <a:t>, il cui scopo è portare valore all'utente senza interruzioni di servizio. </a:t>
            </a:r>
          </a:p>
          <a:p>
            <a:r>
              <a:rPr lang="it-IT" dirty="0"/>
              <a:t>Nella </a:t>
            </a:r>
            <a:r>
              <a:rPr lang="it-IT" b="1" dirty="0"/>
              <a:t>Distribuzione Continua </a:t>
            </a:r>
            <a:r>
              <a:rPr lang="it-IT" dirty="0">
                <a:solidFill>
                  <a:srgbClr val="171FE2"/>
                </a:solidFill>
              </a:rPr>
              <a:t>il software supera tutti i test e viene considerato stabile al cento per cento</a:t>
            </a:r>
            <a:r>
              <a:rPr lang="it-IT" dirty="0"/>
              <a:t>, generando un pacchetto pronto per la produzione memorizzato in un registro sicuro, ma il </a:t>
            </a:r>
            <a:r>
              <a:rPr lang="it-IT" dirty="0" err="1"/>
              <a:t>deploy</a:t>
            </a:r>
            <a:r>
              <a:rPr lang="it-IT" dirty="0"/>
              <a:t> effettivo sui server live richiede un'</a:t>
            </a:r>
            <a:r>
              <a:rPr lang="it-IT" b="1" dirty="0"/>
              <a:t>approvazione manuale</a:t>
            </a:r>
            <a:r>
              <a:rPr lang="it-IT" dirty="0"/>
              <a:t> da parte di un manager, configurazione ideale per aziende con vincoli legali o finestre di manutenzione programmate. </a:t>
            </a:r>
          </a:p>
          <a:p>
            <a:r>
              <a:rPr lang="it-IT" dirty="0"/>
              <a:t>Nel </a:t>
            </a:r>
            <a:r>
              <a:rPr lang="it-IT" b="1" dirty="0"/>
              <a:t>Rilascio Continuo </a:t>
            </a:r>
            <a:r>
              <a:rPr lang="it-IT" dirty="0"/>
              <a:t>si raggiunge la massima </a:t>
            </a:r>
            <a:r>
              <a:rPr lang="it-IT" dirty="0">
                <a:solidFill>
                  <a:srgbClr val="171FE2"/>
                </a:solidFill>
              </a:rPr>
              <a:t>automazione eliminando ogni filtro umano</a:t>
            </a:r>
            <a:r>
              <a:rPr lang="it-IT" dirty="0"/>
              <a:t>: se il codice supera i test della CI, la pipeline lo installa </a:t>
            </a:r>
            <a:r>
              <a:rPr lang="it-IT" b="1" dirty="0"/>
              <a:t>direttamente in produzione</a:t>
            </a:r>
            <a:r>
              <a:rPr lang="it-IT" dirty="0"/>
              <a:t> in tempo reale, riducendo a pochi minuti il tempo tra la scrittura del codice e il suo utilizzo reale. </a:t>
            </a:r>
          </a:p>
        </p:txBody>
      </p:sp>
    </p:spTree>
    <p:extLst>
      <p:ext uri="{BB962C8B-B14F-4D97-AF65-F5344CB8AC3E}">
        <p14:creationId xmlns:p14="http://schemas.microsoft.com/office/powerpoint/2010/main" val="238352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E444-20FC-F8F0-2EC8-0F9BE23F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B554355-976C-C43A-8EC6-228CC9AD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13: Docker come Standard di Distribuzione </a:t>
            </a:r>
            <a:r>
              <a:rPr lang="it-IT" dirty="0" err="1"/>
              <a:t>DevOps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6D0CBFA-F2A9-1D5D-5BD1-A8066BBA8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L'efficienza di una pipeline automatizzata richiede un metodo universale per impacchettare il software, e </a:t>
            </a:r>
            <a:r>
              <a:rPr lang="it-IT" b="1" dirty="0"/>
              <a:t>Docker</a:t>
            </a:r>
            <a:r>
              <a:rPr lang="it-IT" dirty="0"/>
              <a:t> risponde a questa esigenza introducendo lo standard dei container.</a:t>
            </a:r>
          </a:p>
          <a:p>
            <a:r>
              <a:rPr lang="it-IT" dirty="0"/>
              <a:t>Docker inserisce l'applicazione all'interno di un pacchetto standardizzato chiamato </a:t>
            </a:r>
            <a:r>
              <a:rPr lang="it-IT" b="1" dirty="0"/>
              <a:t>Container</a:t>
            </a:r>
            <a:r>
              <a:rPr lang="it-IT" dirty="0"/>
              <a:t> che non ospita solo il codice compilato, ma </a:t>
            </a:r>
            <a:r>
              <a:rPr lang="it-IT" dirty="0">
                <a:solidFill>
                  <a:srgbClr val="171FE2"/>
                </a:solidFill>
              </a:rPr>
              <a:t>include l'intero ecosistema vitale necessario alla sua esecuzione</a:t>
            </a:r>
            <a:r>
              <a:rPr lang="it-IT" dirty="0"/>
              <a:t>. </a:t>
            </a:r>
          </a:p>
          <a:p>
            <a:r>
              <a:rPr lang="it-IT" dirty="0"/>
              <a:t>Questa scatola digitale comprende una distribuzione Linux minimale e leggerissima come </a:t>
            </a:r>
            <a:r>
              <a:rPr lang="it-IT" b="1" dirty="0"/>
              <a:t>Alpine Linux</a:t>
            </a:r>
            <a:r>
              <a:rPr lang="it-IT" dirty="0"/>
              <a:t>, le versioni esatte e immutabili di tutte le librerie esterne, i file di configurazione, i permessi di sicurezza e la mappatura delle porte di rete logiche. </a:t>
            </a:r>
          </a:p>
          <a:p>
            <a:r>
              <a:rPr lang="it-IT" dirty="0"/>
              <a:t>Nel flusso </a:t>
            </a:r>
            <a:r>
              <a:rPr lang="it-IT" dirty="0" err="1"/>
              <a:t>DevOps</a:t>
            </a:r>
            <a:r>
              <a:rPr lang="it-IT" dirty="0"/>
              <a:t> lo sviluppatore definisce questa infrastruttura scrivendo un semplice file di testo chiamato </a:t>
            </a:r>
            <a:r>
              <a:rPr lang="it-IT" b="1" dirty="0" err="1"/>
              <a:t>Dockerfile</a:t>
            </a:r>
            <a:r>
              <a:rPr lang="it-IT" dirty="0"/>
              <a:t>, che la pipeline di CI utilizza per compilare un'</a:t>
            </a:r>
            <a:r>
              <a:rPr lang="it-IT" b="1" dirty="0"/>
              <a:t>Immagine</a:t>
            </a:r>
            <a:r>
              <a:rPr lang="it-IT" dirty="0"/>
              <a:t> binaria sigillata e memorizzata in un registro centrale. </a:t>
            </a:r>
          </a:p>
          <a:p>
            <a:r>
              <a:rPr lang="it-IT" dirty="0"/>
              <a:t>Questa immagine è strutturalmente immutabile, eliminando per sempre il problema della discrepanza tra ambienti e garantendo un comportamento identico sul PC dello sviluppatore, sui server di test e sull'infrastruttura Cloud finale.</a:t>
            </a:r>
          </a:p>
        </p:txBody>
      </p:sp>
    </p:spTree>
    <p:extLst>
      <p:ext uri="{BB962C8B-B14F-4D97-AF65-F5344CB8AC3E}">
        <p14:creationId xmlns:p14="http://schemas.microsoft.com/office/powerpoint/2010/main" val="193314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8EC6-DEA3-81BF-129B-56EC0602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3F21E69-127D-6BB2-D654-762FB702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14: L'Evoluzione Architetturale dal Monolito ai Microservizi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8BA5B1A-6022-C44A-66E4-827C50B15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La standardizzazione dei container ha accelerato la transizione dei sistemi software complessi dalle vecchie architetture a </a:t>
            </a:r>
            <a:r>
              <a:rPr lang="it-IT" b="1" dirty="0"/>
              <a:t>Monolito</a:t>
            </a:r>
            <a:r>
              <a:rPr lang="it-IT" dirty="0"/>
              <a:t> verso i moderni modelli a </a:t>
            </a:r>
            <a:r>
              <a:rPr lang="it-IT" b="1" dirty="0"/>
              <a:t>Microservizi</a:t>
            </a:r>
            <a:r>
              <a:rPr lang="it-IT" dirty="0"/>
              <a:t>.</a:t>
            </a:r>
          </a:p>
          <a:p>
            <a:r>
              <a:rPr lang="it-IT" dirty="0"/>
              <a:t>Nel modello tradizionale l'intera logica di business di un'azienda, come la gestione degli utenti, il carrello e i pagamenti, risiede in un unico gigantesco blocco di codice installato interamente sopra una macchina virtuale pesante. Questa struttura rappresenta un pericoloso </a:t>
            </a:r>
            <a:r>
              <a:rPr lang="it-IT" b="1" dirty="0"/>
              <a:t>Single Point of </a:t>
            </a:r>
            <a:r>
              <a:rPr lang="it-IT" b="1" dirty="0" err="1"/>
              <a:t>Failure</a:t>
            </a:r>
            <a:r>
              <a:rPr lang="it-IT" dirty="0"/>
              <a:t>, </a:t>
            </a:r>
            <a:r>
              <a:rPr lang="it-IT" b="1" dirty="0">
                <a:solidFill>
                  <a:srgbClr val="171FE2"/>
                </a:solidFill>
              </a:rPr>
              <a:t>poiché un bug di memoria o un crash nel modulo dei pagamenti causa l'interruzione immediata dell'intera piattaforma web</a:t>
            </a:r>
            <a:r>
              <a:rPr lang="it-IT" dirty="0"/>
              <a:t>, costringendo inoltre a scalare l'intero sistema duplicando il monolito con immensi sprechi di RAM e CPU anche se lo stress da traffico coinvolge un solo modulo. </a:t>
            </a:r>
          </a:p>
          <a:p>
            <a:r>
              <a:rPr lang="it-IT" dirty="0"/>
              <a:t>L'architettura a Microservizi scompone l'applicazione in piccoli programmi autonomi e focalizzati su una singola attività di business, in cui ogni modulo viene isolato e avviato dentro un </a:t>
            </a:r>
            <a:r>
              <a:rPr lang="it-IT" b="1" dirty="0"/>
              <a:t>container Docker indipendente</a:t>
            </a:r>
            <a:r>
              <a:rPr lang="it-IT" dirty="0"/>
              <a:t> dotato di un proprio database. </a:t>
            </a:r>
          </a:p>
          <a:p>
            <a:r>
              <a:rPr lang="it-IT" dirty="0"/>
              <a:t>La comunicazione tra questi elementi avviene via rete tramite protocolli standard leggeri come le </a:t>
            </a:r>
            <a:r>
              <a:rPr lang="it-IT" b="1" dirty="0"/>
              <a:t>API REST HTTP</a:t>
            </a:r>
            <a:r>
              <a:rPr lang="it-IT" dirty="0"/>
              <a:t>, garantendo una scalabilità selettiva dove l'azienda può replicare solo i container sotto stress ottimizzando i costi del Cloud e permettendo ai diversi team di sviluppo di scegliere linguaggi differenti in totale autonomia strutturale.</a:t>
            </a:r>
          </a:p>
        </p:txBody>
      </p:sp>
    </p:spTree>
    <p:extLst>
      <p:ext uri="{BB962C8B-B14F-4D97-AF65-F5344CB8AC3E}">
        <p14:creationId xmlns:p14="http://schemas.microsoft.com/office/powerpoint/2010/main" val="3512860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D0F5-5BF7-7EF2-868F-B22ADE2A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D6E5CBE-1404-D2D2-5B22-B072CD64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15: I Limiti di Docker nel Mondo Enterprise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92202AB-6B32-F94D-1963-9B36A0D34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Nonostante l'agilità offerta dall'isolamento dei microservizi, il passaggio dal computer locale del programmatore ai grandi data center aziendali evidenzia i limiti strutturali di </a:t>
            </a:r>
            <a:r>
              <a:rPr lang="it-IT" b="1" dirty="0"/>
              <a:t>Docker</a:t>
            </a:r>
            <a:r>
              <a:rPr lang="it-IT" dirty="0"/>
              <a:t> se utilizzato come strumento singolo. </a:t>
            </a:r>
          </a:p>
          <a:p>
            <a:r>
              <a:rPr lang="it-IT" dirty="0"/>
              <a:t>Docker e Docker Compose sono progettati per gestire i container all'interno di una singola macchina o di un server isolato, ma le architetture Enterprise di produzione richiedono la distribuzione e il controllo di centinaia di container posizionati su una flotta di decine di server fisici distinti. </a:t>
            </a:r>
          </a:p>
          <a:p>
            <a:r>
              <a:rPr lang="it-IT" dirty="0"/>
              <a:t>In questo scenario la gestione manuale tramite terminale diventa impraticabile e introduce problematiche critiche che Docker da solo non può risolvere. Emerge il problema della </a:t>
            </a:r>
            <a:r>
              <a:rPr lang="it-IT" b="1" dirty="0"/>
              <a:t>Fault </a:t>
            </a:r>
            <a:r>
              <a:rPr lang="it-IT" b="1" dirty="0" err="1"/>
              <a:t>Tolerance</a:t>
            </a:r>
            <a:r>
              <a:rPr lang="it-IT" dirty="0"/>
              <a:t>, ovvero la necessità di capire chi sposterà e riavvierà i container su un server sano se l'hardware sottostante dovesse guastarsi nella notte. </a:t>
            </a:r>
          </a:p>
          <a:p>
            <a:r>
              <a:rPr lang="it-IT" dirty="0"/>
              <a:t>Si presenta la sfida dell'</a:t>
            </a:r>
            <a:r>
              <a:rPr lang="it-IT" b="1" dirty="0"/>
              <a:t>Auto-Scaling</a:t>
            </a:r>
            <a:r>
              <a:rPr lang="it-IT" dirty="0"/>
              <a:t>, essenziale per automatizzare la clonazione dei container web durante i picchi improvvisi di utenti, e del </a:t>
            </a:r>
            <a:r>
              <a:rPr lang="it-IT" b="1" dirty="0"/>
              <a:t>Load Balancing</a:t>
            </a:r>
            <a:r>
              <a:rPr lang="it-IT" dirty="0"/>
              <a:t>, necessario per distribuire il traffico di rete in modo equo tra le varie repliche. </a:t>
            </a:r>
          </a:p>
          <a:p>
            <a:r>
              <a:rPr lang="it-IT" dirty="0"/>
              <a:t>Docker non possiede gli strumenti nativi per gestire i rilasci senza disservizi o per orchestrare i volumi dati quando un container viene spostato da una macchina all'altra, richiedendo l'introduzione di una piattaforma di orchestrazione superiore.</a:t>
            </a:r>
          </a:p>
        </p:txBody>
      </p:sp>
    </p:spTree>
    <p:extLst>
      <p:ext uri="{BB962C8B-B14F-4D97-AF65-F5344CB8AC3E}">
        <p14:creationId xmlns:p14="http://schemas.microsoft.com/office/powerpoint/2010/main" val="315605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4007-4518-687D-C723-35615174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DAD577F-9C82-BC92-FA39-C3307EA4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16: </a:t>
            </a:r>
            <a:r>
              <a:rPr lang="it-IT" dirty="0" err="1"/>
              <a:t>Kubernetes</a:t>
            </a:r>
            <a:r>
              <a:rPr lang="it-IT" dirty="0"/>
              <a:t> come Soluzione Enterprise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5231468-D869-8DB1-E0D3-82C285C66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governare la complessità dei container su larga scala si rende necessario l'utilizzo di </a:t>
            </a:r>
            <a:r>
              <a:rPr lang="it-IT" b="1" dirty="0" err="1"/>
              <a:t>Kubernetes</a:t>
            </a:r>
            <a:r>
              <a:rPr lang="it-IT" dirty="0"/>
              <a:t>, la piattaforma di orchestrazione Open Source di livello Enterprise creata originariamente da Google per gestire i propri carichi di lavoro globali. </a:t>
            </a:r>
          </a:p>
          <a:p>
            <a:r>
              <a:rPr lang="it-IT" dirty="0"/>
              <a:t>Spesso abbreviato con l'acronimo </a:t>
            </a:r>
            <a:r>
              <a:rPr lang="it-IT" b="1" dirty="0"/>
              <a:t>K8s</a:t>
            </a:r>
            <a:r>
              <a:rPr lang="it-IT" dirty="0"/>
              <a:t>, questo strumento non sostituisce Docker ma si posiziona al di sopra di esso, agendo come un vero e proprio cervello centrale che dirige un intero </a:t>
            </a:r>
            <a:r>
              <a:rPr lang="it-IT" b="1" dirty="0"/>
              <a:t>Cluster</a:t>
            </a:r>
            <a:r>
              <a:rPr lang="it-IT" dirty="0"/>
              <a:t> di server fisici o virtuali. </a:t>
            </a:r>
          </a:p>
          <a:p>
            <a:r>
              <a:rPr lang="it-IT" dirty="0" err="1"/>
              <a:t>Kubernetes</a:t>
            </a:r>
            <a:r>
              <a:rPr lang="it-IT" dirty="0"/>
              <a:t> introduce funzionalità fondamentali per rendere un'applicazione Cloud indistruttibile, a partire dal </a:t>
            </a:r>
            <a:r>
              <a:rPr lang="it-IT" b="1" dirty="0"/>
              <a:t>Self-</a:t>
            </a:r>
            <a:r>
              <a:rPr lang="it-IT" b="1" dirty="0" err="1"/>
              <a:t>Healing</a:t>
            </a:r>
            <a:r>
              <a:rPr lang="it-IT" dirty="0"/>
              <a:t>, un sistema di monitoraggio costante che rileva i crash dei container e li ricrea in pochi millisecondi. </a:t>
            </a:r>
          </a:p>
          <a:p>
            <a:r>
              <a:rPr lang="it-IT" dirty="0"/>
              <a:t>Attraverso l'</a:t>
            </a:r>
            <a:r>
              <a:rPr lang="it-IT" b="1" dirty="0" err="1"/>
              <a:t>Horizontal</a:t>
            </a:r>
            <a:r>
              <a:rPr lang="it-IT" b="1" dirty="0"/>
              <a:t> </a:t>
            </a:r>
            <a:r>
              <a:rPr lang="it-IT" b="1" dirty="0" err="1"/>
              <a:t>Pod</a:t>
            </a:r>
            <a:r>
              <a:rPr lang="it-IT" b="1" dirty="0"/>
              <a:t> </a:t>
            </a:r>
            <a:r>
              <a:rPr lang="it-IT" b="1" dirty="0" err="1"/>
              <a:t>Autoscaling</a:t>
            </a:r>
            <a:r>
              <a:rPr lang="it-IT" dirty="0"/>
              <a:t>, K8s analizza l'uso della CPU e incrementa il numero di container se il carico supera le soglie impostate, riducendoli quando il traffico cala per ottimizzare i costi infrastrutturali. La gestione della rete viene automatizzata tramite i servizi di </a:t>
            </a:r>
            <a:r>
              <a:rPr lang="it-IT" b="1" dirty="0"/>
              <a:t>Service Discovery</a:t>
            </a:r>
            <a:r>
              <a:rPr lang="it-IT" dirty="0"/>
              <a:t> e Load Balancing, che assegnano DNS interni stabili e smistano le richieste degli utenti. </a:t>
            </a:r>
          </a:p>
          <a:p>
            <a:r>
              <a:rPr lang="it-IT" dirty="0"/>
              <a:t>K8s opera secondo un modello dichiarativo: l'amministratore definisce lo </a:t>
            </a:r>
            <a:r>
              <a:rPr lang="it-IT" b="1" dirty="0"/>
              <a:t>Stato Desiderato</a:t>
            </a:r>
            <a:r>
              <a:rPr lang="it-IT" dirty="0"/>
              <a:t> dell'infrastruttura all'interno di file di configurazione YAML e l'orchestratore lavora continuamente per farlo coincidere con lo stato reale, risolvendo i guasti in totale autonomia.</a:t>
            </a:r>
          </a:p>
        </p:txBody>
      </p:sp>
    </p:spTree>
    <p:extLst>
      <p:ext uri="{BB962C8B-B14F-4D97-AF65-F5344CB8AC3E}">
        <p14:creationId xmlns:p14="http://schemas.microsoft.com/office/powerpoint/2010/main" val="347188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3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1216</TotalTime>
  <Words>2381</Words>
  <Application>Microsoft Office PowerPoint</Application>
  <PresentationFormat>Widescreen</PresentationFormat>
  <Paragraphs>130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Lo Sviluppo Software Tradizionale e il Muro della Diffidenza</vt:lpstr>
      <vt:lpstr>Slide 2: La Crisi degli Ambienti di Esecuzione</vt:lpstr>
      <vt:lpstr>Slide 3: La Rivoluzione Culturale DevOps</vt:lpstr>
      <vt:lpstr>Slide 4: La Rivoluzione Culturale DevOps</vt:lpstr>
      <vt:lpstr>Slide 5: La Rivoluzione Culturale DevOps</vt:lpstr>
      <vt:lpstr>Slide 6: La Rivoluzione Culturale DevOps</vt:lpstr>
      <vt:lpstr>Slide 7: La Rivoluzione Culturale DevOps</vt:lpstr>
      <vt:lpstr>Slide 8: La Rivoluzione Culturale DevOps</vt:lpstr>
      <vt:lpstr>Slide 9: La Pipeline CI/CD come Catena di Montaggio del Software</vt:lpstr>
      <vt:lpstr>Slide 10: La Pipeline CI/CD come Catena di Montaggio del Software</vt:lpstr>
      <vt:lpstr>Slide 11: Focus sulla Continuous Integration</vt:lpstr>
      <vt:lpstr>Slide 12: Focus sulla Continuous Delivery e Continuous Deployment</vt:lpstr>
      <vt:lpstr>Slide 13: Docker come Standard di Distribuzione DevOps</vt:lpstr>
      <vt:lpstr>Slide 14: L'Evoluzione Architetturale dal Monolito ai Microservizi</vt:lpstr>
      <vt:lpstr>Slide 15: I Limiti di Docker nel Mondo Enterprise</vt:lpstr>
      <vt:lpstr>Slide 16: Kubernetes come Soluzione Enterprise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200</cp:revision>
  <dcterms:created xsi:type="dcterms:W3CDTF">2023-09-21T07:59:23Z</dcterms:created>
  <dcterms:modified xsi:type="dcterms:W3CDTF">2026-06-15T22:19:06Z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