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4"/>
  </p:sldMasterIdLst>
  <p:notesMasterIdLst>
    <p:notesMasterId r:id="rId15"/>
  </p:notesMasterIdLst>
  <p:handoutMasterIdLst>
    <p:handoutMasterId r:id="rId16"/>
  </p:handoutMasterIdLst>
  <p:sldIdLst>
    <p:sldId id="262" r:id="rId5"/>
    <p:sldId id="259" r:id="rId6"/>
    <p:sldId id="258" r:id="rId7"/>
    <p:sldId id="264" r:id="rId8"/>
    <p:sldId id="263" r:id="rId9"/>
    <p:sldId id="265" r:id="rId10"/>
    <p:sldId id="266" r:id="rId11"/>
    <p:sldId id="267" r:id="rId12"/>
    <p:sldId id="268" r:id="rId13"/>
    <p:sldId id="261" r:id="rId1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1FE2"/>
    <a:srgbClr val="0C0C0D"/>
    <a:srgbClr val="F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33" autoAdjust="0"/>
    <p:restoredTop sz="92907" autoAdjust="0"/>
  </p:normalViewPr>
  <p:slideViewPr>
    <p:cSldViewPr snapToGrid="0" showGuides="1">
      <p:cViewPr varScale="1">
        <p:scale>
          <a:sx n="66" d="100"/>
          <a:sy n="66" d="100"/>
        </p:scale>
        <p:origin x="606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56" d="100"/>
          <a:sy n="56" d="100"/>
        </p:scale>
        <p:origin x="190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8BF59EF6-0FF4-3C26-C2BB-DB4C8164691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A684938-E2E5-17C8-EF87-D39DC23A0CE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567D21-D55F-4A7B-94FF-7608FD989819}" type="datetimeFigureOut">
              <a:rPr lang="it-IT" smtClean="0"/>
              <a:t>08/06/2026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1588DC1-54E0-DA10-6330-B5B85E54BE3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BF496F1-A8FC-84F6-A381-661BDD027C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1F2323-8915-4474-89BB-0944B80755B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145869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0B2B73-14A8-482F-9803-A95CC73B5B34}" type="datetimeFigureOut">
              <a:rPr lang="it-IT" smtClean="0"/>
              <a:t>08/06/2026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FDE81-C331-4896-AC61-55381248B14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46805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8FDE81-C331-4896-AC61-55381248B14B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47248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jpg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fondo">
            <a:extLst>
              <a:ext uri="{FF2B5EF4-FFF2-40B4-BE49-F238E27FC236}">
                <a16:creationId xmlns:a16="http://schemas.microsoft.com/office/drawing/2014/main" id="{3151B56A-A6F1-5CFE-90D4-C91637CA43DC}"/>
              </a:ext>
            </a:extLst>
          </p:cNvPr>
          <p:cNvGrpSpPr/>
          <p:nvPr userDrawn="1"/>
        </p:nvGrpSpPr>
        <p:grpSpPr>
          <a:xfrm>
            <a:off x="0" y="0"/>
            <a:ext cx="12191999" cy="6857998"/>
            <a:chOff x="0" y="0"/>
            <a:chExt cx="12191999" cy="6857998"/>
          </a:xfrm>
        </p:grpSpPr>
        <p:pic>
          <p:nvPicPr>
            <p:cNvPr id="8" name="bg object 16">
              <a:extLst>
                <a:ext uri="{FF2B5EF4-FFF2-40B4-BE49-F238E27FC236}">
                  <a16:creationId xmlns:a16="http://schemas.microsoft.com/office/drawing/2014/main" id="{F245C0BF-8E93-514B-6EA0-0DB46DDE199E}"/>
                </a:ext>
              </a:extLst>
            </p:cNvPr>
            <p:cNvPicPr/>
            <p:nvPr userDrawn="1"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8"/>
            </a:xfrm>
            <a:prstGeom prst="rect">
              <a:avLst/>
            </a:prstGeom>
          </p:spPr>
        </p:pic>
        <p:sp>
          <p:nvSpPr>
            <p:cNvPr id="9" name="Sfondo nero">
              <a:extLst>
                <a:ext uri="{FF2B5EF4-FFF2-40B4-BE49-F238E27FC236}">
                  <a16:creationId xmlns:a16="http://schemas.microsoft.com/office/drawing/2014/main" id="{7E15F8EB-6BFE-6BE4-8488-2A37B82D22A6}"/>
                </a:ext>
              </a:extLst>
            </p:cNvPr>
            <p:cNvSpPr/>
            <p:nvPr userDrawn="1"/>
          </p:nvSpPr>
          <p:spPr>
            <a:xfrm>
              <a:off x="228600" y="203061"/>
              <a:ext cx="11734800" cy="6451878"/>
            </a:xfrm>
            <a:custGeom>
              <a:avLst/>
              <a:gdLst/>
              <a:ahLst/>
              <a:cxnLst/>
              <a:rect l="l" t="t" r="r" b="b"/>
              <a:pathLst>
                <a:path w="11506200" h="6248400">
                  <a:moveTo>
                    <a:pt x="11506200" y="0"/>
                  </a:moveTo>
                  <a:lnTo>
                    <a:pt x="0" y="0"/>
                  </a:lnTo>
                  <a:lnTo>
                    <a:pt x="0" y="6248400"/>
                  </a:lnTo>
                  <a:lnTo>
                    <a:pt x="11506200" y="6248400"/>
                  </a:lnTo>
                  <a:lnTo>
                    <a:pt x="1150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b="0" i="0" dirty="0">
                <a:latin typeface="Arial" panose="020B0604020202020204" pitchFamily="34" charset="0"/>
              </a:endParaRPr>
            </a:p>
          </p:txBody>
        </p:sp>
      </p:grpSp>
      <p:pic>
        <p:nvPicPr>
          <p:cNvPr id="3" name="Logo">
            <a:extLst>
              <a:ext uri="{FF2B5EF4-FFF2-40B4-BE49-F238E27FC236}">
                <a16:creationId xmlns:a16="http://schemas.microsoft.com/office/drawing/2014/main" id="{4C834844-A2F7-AC9C-2087-6061FCF61E4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81312" y="3055807"/>
            <a:ext cx="6429375" cy="746384"/>
          </a:xfrm>
          <a:prstGeom prst="rect">
            <a:avLst/>
          </a:prstGeom>
        </p:spPr>
      </p:pic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38E5D1B6-A890-892D-9858-91BBCF4C4D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3160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olo della l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>
            <a:extLst>
              <a:ext uri="{FF2B5EF4-FFF2-40B4-BE49-F238E27FC236}">
                <a16:creationId xmlns:a16="http://schemas.microsoft.com/office/drawing/2014/main" id="{03BCE473-8FC3-9F4F-E292-BFC28ABE7B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498" b="7498"/>
          <a:stretch/>
        </p:blipFill>
        <p:spPr>
          <a:xfrm>
            <a:off x="8" y="4"/>
            <a:ext cx="12191984" cy="6857991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D46FDB36-122C-6ED3-0E68-A0444075919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49604" y="2315869"/>
            <a:ext cx="2692791" cy="5580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Neue Haas Grotesk Display Pro" panose="020D0304030502050203" pitchFamily="34" charset="0"/>
                <a:ea typeface="+mj-ea"/>
                <a:cs typeface="+mj-cs"/>
              </a:defRPr>
            </a:lvl1pPr>
          </a:lstStyle>
          <a:p>
            <a:r>
              <a:rPr lang="it-IT" dirty="0"/>
              <a:t>Lezione n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0F8F589-6BFD-59A4-6E34-32CA9C30E50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3152912"/>
            <a:ext cx="10515600" cy="6728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chemeClr val="bg1"/>
                </a:solidFill>
                <a:latin typeface="Neue Haas Grotesk Display Pro" panose="020D030403050205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TITOLO DELLA LEZIONE</a:t>
            </a:r>
          </a:p>
        </p:txBody>
      </p:sp>
      <p:sp>
        <p:nvSpPr>
          <p:cNvPr id="7" name="Autore">
            <a:extLst>
              <a:ext uri="{FF2B5EF4-FFF2-40B4-BE49-F238E27FC236}">
                <a16:creationId xmlns:a16="http://schemas.microsoft.com/office/drawing/2014/main" id="{21C9F551-AFE9-0973-2117-C6CBF8585A06}"/>
              </a:ext>
            </a:extLst>
          </p:cNvPr>
          <p:cNvSpPr txBox="1"/>
          <p:nvPr userDrawn="1"/>
        </p:nvSpPr>
        <p:spPr>
          <a:xfrm>
            <a:off x="9435948" y="349177"/>
            <a:ext cx="2337564" cy="1583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  <a:tabLst>
                <a:tab pos="982980" algn="l"/>
              </a:tabLst>
            </a:pPr>
            <a:r>
              <a:rPr lang="it-IT" sz="950" b="1" spc="300" dirty="0">
                <a:solidFill>
                  <a:schemeClr val="bg1"/>
                </a:solidFill>
                <a:latin typeface="Arial"/>
                <a:cs typeface="Arial"/>
              </a:rPr>
              <a:t>Autore: Mirko Onorato</a:t>
            </a:r>
            <a:endParaRPr lang="it-IT" sz="950" spc="3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C4425D4D-A67B-8DB9-9A03-E768C2FD3E34}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10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8488" y="285335"/>
            <a:ext cx="2211023" cy="314198"/>
          </a:xfrm>
          <a:prstGeom prst="rect">
            <a:avLst/>
          </a:prstGeom>
        </p:spPr>
      </p:pic>
      <p:sp>
        <p:nvSpPr>
          <p:cNvPr id="13" name="Segnaposto numero diapositiva 6" hidden="1">
            <a:extLst>
              <a:ext uri="{FF2B5EF4-FFF2-40B4-BE49-F238E27FC236}">
                <a16:creationId xmlns:a16="http://schemas.microsoft.com/office/drawing/2014/main" id="{F8AAF250-B3FA-F808-9996-FA310B7EEA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/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481FF4BB-6EC3-F2A7-6542-58D51086A02D}"/>
              </a:ext>
            </a:extLst>
          </p:cNvPr>
          <p:cNvPicPr preferRelativeResize="0"/>
          <p:nvPr userDrawn="1"/>
        </p:nvPicPr>
        <p:blipFill rotWithShape="1">
          <a:blip r:embed="rId5" cstate="print"/>
          <a:srcRect l="1386" t="187" r="342" b="95555"/>
          <a:stretch/>
        </p:blipFill>
        <p:spPr>
          <a:xfrm>
            <a:off x="0" y="0"/>
            <a:ext cx="12191992" cy="20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285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L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98DC6F-CD43-0811-A979-B271C0C3A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  <a:prstGeom prst="rect">
            <a:avLst/>
          </a:prstGeom>
        </p:spPr>
        <p:txBody>
          <a:bodyPr/>
          <a:lstStyle>
            <a:lvl1pPr>
              <a:defRPr sz="2200" b="1">
                <a:solidFill>
                  <a:srgbClr val="171FE2"/>
                </a:solidFill>
                <a:latin typeface="Neue Haas Grotesk Text Pro" panose="020B0504020202020204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2E0480-F66A-DF55-F8D6-E7F6741750C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8488" y="1399311"/>
            <a:ext cx="11355024" cy="48033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it-IT" dirty="0"/>
              <a:t>Contenuto della lezione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4F14CEF-205B-0C08-0A06-82B440095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7E4DB6AF-4CA5-F1AF-60DE-4AC9236D4298}"/>
              </a:ext>
            </a:extLst>
          </p:cNvPr>
          <p:cNvSpPr/>
          <p:nvPr userDrawn="1"/>
        </p:nvSpPr>
        <p:spPr>
          <a:xfrm>
            <a:off x="0" y="-2"/>
            <a:ext cx="12192000" cy="179193"/>
          </a:xfrm>
          <a:prstGeom prst="rect">
            <a:avLst/>
          </a:prstGeom>
          <a:solidFill>
            <a:srgbClr val="171F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590B833C-D2A8-59BC-D3D6-DC5153499B29}"/>
              </a:ext>
            </a:extLst>
          </p:cNvPr>
          <p:cNvSpPr txBox="1"/>
          <p:nvPr userDrawn="1"/>
        </p:nvSpPr>
        <p:spPr>
          <a:xfrm>
            <a:off x="9435948" y="349177"/>
            <a:ext cx="2337564" cy="1583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  <a:tabLst>
                <a:tab pos="982980" algn="l"/>
              </a:tabLst>
            </a:pPr>
            <a:r>
              <a:rPr lang="it-IT" sz="950" b="1" spc="300" dirty="0">
                <a:solidFill>
                  <a:schemeClr val="tx1"/>
                </a:solidFill>
                <a:latin typeface="Arial"/>
                <a:cs typeface="Arial"/>
              </a:rPr>
              <a:t>Autore: Mirko Onorato</a:t>
            </a:r>
            <a:endParaRPr lang="it-IT" sz="950" spc="3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9" name="Elemento grafico 8">
            <a:extLst>
              <a:ext uri="{FF2B5EF4-FFF2-40B4-BE49-F238E27FC236}">
                <a16:creationId xmlns:a16="http://schemas.microsoft.com/office/drawing/2014/main" id="{545164C9-21E1-0EF7-17C2-2E5528B7FC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8488" y="285335"/>
            <a:ext cx="2211023" cy="31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562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Laborato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>
            <a:extLst>
              <a:ext uri="{FF2B5EF4-FFF2-40B4-BE49-F238E27FC236}">
                <a16:creationId xmlns:a16="http://schemas.microsoft.com/office/drawing/2014/main" id="{5DB3A6F7-B730-F638-2762-1FD1042E5DD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B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698DC6F-CD43-0811-A979-B271C0C3A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31206"/>
            <a:ext cx="10515600" cy="314198"/>
          </a:xfrm>
          <a:prstGeom prst="rect">
            <a:avLst/>
          </a:prstGeom>
        </p:spPr>
        <p:txBody>
          <a:bodyPr/>
          <a:lstStyle>
            <a:lvl1pPr>
              <a:defRPr sz="2200" b="1">
                <a:solidFill>
                  <a:schemeClr val="tx1"/>
                </a:solidFill>
                <a:latin typeface="Neue Haas Grotesk Text Pro" panose="020B0504020202020204" pitchFamily="34" charset="0"/>
              </a:defRPr>
            </a:lvl1pPr>
          </a:lstStyle>
          <a:p>
            <a:r>
              <a:rPr lang="it-IT" dirty="0"/>
              <a:t>Titolo del laboratorio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2E0480-F66A-DF55-F8D6-E7F6741750C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8488" y="1399311"/>
            <a:ext cx="11355024" cy="48033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it-IT" dirty="0"/>
              <a:t>Traccia del laboratorio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4F14CEF-205B-0C08-0A06-82B440095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7E4DB6AF-4CA5-F1AF-60DE-4AC9236D4298}"/>
              </a:ext>
            </a:extLst>
          </p:cNvPr>
          <p:cNvSpPr/>
          <p:nvPr userDrawn="1"/>
        </p:nvSpPr>
        <p:spPr>
          <a:xfrm>
            <a:off x="0" y="-2"/>
            <a:ext cx="12192000" cy="17919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590B833C-D2A8-59BC-D3D6-DC5153499B29}"/>
              </a:ext>
            </a:extLst>
          </p:cNvPr>
          <p:cNvSpPr txBox="1"/>
          <p:nvPr userDrawn="1"/>
        </p:nvSpPr>
        <p:spPr>
          <a:xfrm>
            <a:off x="9435948" y="349177"/>
            <a:ext cx="2337564" cy="1583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  <a:tabLst>
                <a:tab pos="982980" algn="l"/>
              </a:tabLst>
            </a:pPr>
            <a:r>
              <a:rPr lang="it-IT" sz="950" b="1" spc="300" dirty="0">
                <a:solidFill>
                  <a:schemeClr val="tx1"/>
                </a:solidFill>
                <a:latin typeface="Arial"/>
                <a:cs typeface="Arial"/>
              </a:rPr>
              <a:t>Autore: Nome Cognome</a:t>
            </a:r>
            <a:endParaRPr lang="it-IT" sz="950" spc="3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9" name="Elemento grafico 8">
            <a:extLst>
              <a:ext uri="{FF2B5EF4-FFF2-40B4-BE49-F238E27FC236}">
                <a16:creationId xmlns:a16="http://schemas.microsoft.com/office/drawing/2014/main" id="{545164C9-21E1-0EF7-17C2-2E5528B7FC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8488" y="285335"/>
            <a:ext cx="2211023" cy="31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784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Ou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fondo">
            <a:extLst>
              <a:ext uri="{FF2B5EF4-FFF2-40B4-BE49-F238E27FC236}">
                <a16:creationId xmlns:a16="http://schemas.microsoft.com/office/drawing/2014/main" id="{3151B56A-A6F1-5CFE-90D4-C91637CA43DC}"/>
              </a:ext>
            </a:extLst>
          </p:cNvPr>
          <p:cNvGrpSpPr/>
          <p:nvPr userDrawn="1"/>
        </p:nvGrpSpPr>
        <p:grpSpPr>
          <a:xfrm>
            <a:off x="0" y="0"/>
            <a:ext cx="12191999" cy="6857998"/>
            <a:chOff x="0" y="0"/>
            <a:chExt cx="12191999" cy="6857998"/>
          </a:xfrm>
        </p:grpSpPr>
        <p:pic>
          <p:nvPicPr>
            <p:cNvPr id="8" name="bg object 16">
              <a:extLst>
                <a:ext uri="{FF2B5EF4-FFF2-40B4-BE49-F238E27FC236}">
                  <a16:creationId xmlns:a16="http://schemas.microsoft.com/office/drawing/2014/main" id="{F245C0BF-8E93-514B-6EA0-0DB46DDE199E}"/>
                </a:ext>
              </a:extLst>
            </p:cNvPr>
            <p:cNvPicPr/>
            <p:nvPr userDrawn="1"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8"/>
            </a:xfrm>
            <a:prstGeom prst="rect">
              <a:avLst/>
            </a:prstGeom>
          </p:spPr>
        </p:pic>
        <p:sp>
          <p:nvSpPr>
            <p:cNvPr id="9" name="Sfondo nero">
              <a:extLst>
                <a:ext uri="{FF2B5EF4-FFF2-40B4-BE49-F238E27FC236}">
                  <a16:creationId xmlns:a16="http://schemas.microsoft.com/office/drawing/2014/main" id="{7E15F8EB-6BFE-6BE4-8488-2A37B82D22A6}"/>
                </a:ext>
              </a:extLst>
            </p:cNvPr>
            <p:cNvSpPr/>
            <p:nvPr userDrawn="1"/>
          </p:nvSpPr>
          <p:spPr>
            <a:xfrm>
              <a:off x="228600" y="203061"/>
              <a:ext cx="11734800" cy="6451878"/>
            </a:xfrm>
            <a:custGeom>
              <a:avLst/>
              <a:gdLst/>
              <a:ahLst/>
              <a:cxnLst/>
              <a:rect l="l" t="t" r="r" b="b"/>
              <a:pathLst>
                <a:path w="11506200" h="6248400">
                  <a:moveTo>
                    <a:pt x="11506200" y="0"/>
                  </a:moveTo>
                  <a:lnTo>
                    <a:pt x="0" y="0"/>
                  </a:lnTo>
                  <a:lnTo>
                    <a:pt x="0" y="6248400"/>
                  </a:lnTo>
                  <a:lnTo>
                    <a:pt x="11506200" y="6248400"/>
                  </a:lnTo>
                  <a:lnTo>
                    <a:pt x="1150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b="0" i="0" dirty="0">
                <a:latin typeface="Arial" panose="020B0604020202020204" pitchFamily="34" charset="0"/>
              </a:endParaRPr>
            </a:p>
          </p:txBody>
        </p:sp>
      </p:grpSp>
      <p:sp>
        <p:nvSpPr>
          <p:cNvPr id="10" name="Segnaposto numero diapositiva 5">
            <a:extLst>
              <a:ext uri="{FF2B5EF4-FFF2-40B4-BE49-F238E27FC236}">
                <a16:creationId xmlns:a16="http://schemas.microsoft.com/office/drawing/2014/main" id="{A234C8D3-EBFE-A5AB-FBEC-506345C26835}"/>
              </a:ext>
            </a:extLst>
          </p:cNvPr>
          <p:cNvSpPr txBox="1">
            <a:spLocks/>
          </p:cNvSpPr>
          <p:nvPr userDrawn="1"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Neue Haas Grotesk Text Pro" panose="020B05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/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6DDC59E2-35B7-B79B-0CDA-5FE67578D3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4735" y="2446545"/>
            <a:ext cx="5342528" cy="620212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295F674-D64B-ECCA-4DA2-D47F8EABE2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98283" y="3791244"/>
            <a:ext cx="7995432" cy="535518"/>
          </a:xfrm>
          <a:prstGeom prst="rect">
            <a:avLst/>
          </a:prstGeom>
        </p:spPr>
        <p:txBody>
          <a:bodyPr anchor="ctr"/>
          <a:lstStyle>
            <a:lvl1pPr algn="ctr">
              <a:defRPr sz="3600" b="1" spc="300">
                <a:solidFill>
                  <a:schemeClr val="bg1"/>
                </a:solidFill>
                <a:latin typeface="Neue Haas Grotesk Display Pro" panose="020D0304030502050203" pitchFamily="34" charset="0"/>
              </a:defRPr>
            </a:lvl1pPr>
          </a:lstStyle>
          <a:p>
            <a:r>
              <a:rPr lang="it-IT" dirty="0"/>
              <a:t>GRAZIE PER L’ATTENZIONE</a:t>
            </a:r>
          </a:p>
        </p:txBody>
      </p:sp>
    </p:spTree>
    <p:extLst>
      <p:ext uri="{BB962C8B-B14F-4D97-AF65-F5344CB8AC3E}">
        <p14:creationId xmlns:p14="http://schemas.microsoft.com/office/powerpoint/2010/main" val="1288546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fondo">
            <a:extLst>
              <a:ext uri="{FF2B5EF4-FFF2-40B4-BE49-F238E27FC236}">
                <a16:creationId xmlns:a16="http://schemas.microsoft.com/office/drawing/2014/main" id="{3151B56A-A6F1-5CFE-90D4-C91637CA43DC}"/>
              </a:ext>
            </a:extLst>
          </p:cNvPr>
          <p:cNvGrpSpPr/>
          <p:nvPr userDrawn="1"/>
        </p:nvGrpSpPr>
        <p:grpSpPr>
          <a:xfrm>
            <a:off x="0" y="0"/>
            <a:ext cx="12191999" cy="6857998"/>
            <a:chOff x="0" y="0"/>
            <a:chExt cx="12191999" cy="6857998"/>
          </a:xfrm>
        </p:grpSpPr>
        <p:pic>
          <p:nvPicPr>
            <p:cNvPr id="8" name="bg object 16">
              <a:extLst>
                <a:ext uri="{FF2B5EF4-FFF2-40B4-BE49-F238E27FC236}">
                  <a16:creationId xmlns:a16="http://schemas.microsoft.com/office/drawing/2014/main" id="{F245C0BF-8E93-514B-6EA0-0DB46DDE199E}"/>
                </a:ext>
              </a:extLst>
            </p:cNvPr>
            <p:cNvPicPr/>
            <p:nvPr userDrawn="1"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8"/>
            </a:xfrm>
            <a:prstGeom prst="rect">
              <a:avLst/>
            </a:prstGeom>
          </p:spPr>
        </p:pic>
        <p:sp>
          <p:nvSpPr>
            <p:cNvPr id="9" name="Sfondo nero">
              <a:extLst>
                <a:ext uri="{FF2B5EF4-FFF2-40B4-BE49-F238E27FC236}">
                  <a16:creationId xmlns:a16="http://schemas.microsoft.com/office/drawing/2014/main" id="{7E15F8EB-6BFE-6BE4-8488-2A37B82D22A6}"/>
                </a:ext>
              </a:extLst>
            </p:cNvPr>
            <p:cNvSpPr/>
            <p:nvPr userDrawn="1"/>
          </p:nvSpPr>
          <p:spPr>
            <a:xfrm>
              <a:off x="228600" y="203061"/>
              <a:ext cx="11734800" cy="6451878"/>
            </a:xfrm>
            <a:custGeom>
              <a:avLst/>
              <a:gdLst/>
              <a:ahLst/>
              <a:cxnLst/>
              <a:rect l="l" t="t" r="r" b="b"/>
              <a:pathLst>
                <a:path w="11506200" h="6248400">
                  <a:moveTo>
                    <a:pt x="11506200" y="0"/>
                  </a:moveTo>
                  <a:lnTo>
                    <a:pt x="0" y="0"/>
                  </a:lnTo>
                  <a:lnTo>
                    <a:pt x="0" y="6248400"/>
                  </a:lnTo>
                  <a:lnTo>
                    <a:pt x="11506200" y="6248400"/>
                  </a:lnTo>
                  <a:lnTo>
                    <a:pt x="1150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b="0" i="0" dirty="0">
                <a:latin typeface="Arial" panose="020B0604020202020204" pitchFamily="34" charset="0"/>
              </a:endParaRPr>
            </a:p>
          </p:txBody>
        </p:sp>
      </p:grpSp>
      <p:sp>
        <p:nvSpPr>
          <p:cNvPr id="10" name="Segnaposto numero diapositiva 5">
            <a:extLst>
              <a:ext uri="{FF2B5EF4-FFF2-40B4-BE49-F238E27FC236}">
                <a16:creationId xmlns:a16="http://schemas.microsoft.com/office/drawing/2014/main" id="{A234C8D3-EBFE-A5AB-FBEC-506345C26835}"/>
              </a:ext>
            </a:extLst>
          </p:cNvPr>
          <p:cNvSpPr txBox="1">
            <a:spLocks/>
          </p:cNvSpPr>
          <p:nvPr userDrawn="1"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Neue Haas Grotesk Text Pro" panose="020B05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/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6DDC59E2-35B7-B79B-0CDA-5FE67578D3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4735" y="2446545"/>
            <a:ext cx="5342528" cy="620212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295F674-D64B-ECCA-4DA2-D47F8EABE2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98283" y="3791244"/>
            <a:ext cx="7995432" cy="535518"/>
          </a:xfrm>
          <a:prstGeom prst="rect">
            <a:avLst/>
          </a:prstGeom>
        </p:spPr>
        <p:txBody>
          <a:bodyPr anchor="ctr"/>
          <a:lstStyle>
            <a:lvl1pPr algn="ctr">
              <a:defRPr sz="3600" b="1" spc="300">
                <a:solidFill>
                  <a:schemeClr val="bg1"/>
                </a:solidFill>
                <a:latin typeface="Neue Haas Grotesk Display Pro" panose="020D0304030502050203" pitchFamily="34" charset="0"/>
              </a:defRPr>
            </a:lvl1pPr>
          </a:lstStyle>
          <a:p>
            <a:r>
              <a:rPr lang="it-IT" dirty="0"/>
              <a:t>BREAK</a:t>
            </a:r>
          </a:p>
        </p:txBody>
      </p:sp>
    </p:spTree>
    <p:extLst>
      <p:ext uri="{BB962C8B-B14F-4D97-AF65-F5344CB8AC3E}">
        <p14:creationId xmlns:p14="http://schemas.microsoft.com/office/powerpoint/2010/main" val="736105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Sfondo">
            <a:extLst>
              <a:ext uri="{FF2B5EF4-FFF2-40B4-BE49-F238E27FC236}">
                <a16:creationId xmlns:a16="http://schemas.microsoft.com/office/drawing/2014/main" id="{0871CBC8-6163-D253-2648-0C5B2A35DADC}"/>
              </a:ext>
            </a:extLst>
          </p:cNvPr>
          <p:cNvGrpSpPr/>
          <p:nvPr userDrawn="1"/>
        </p:nvGrpSpPr>
        <p:grpSpPr>
          <a:xfrm>
            <a:off x="0" y="0"/>
            <a:ext cx="12191999" cy="6857998"/>
            <a:chOff x="0" y="0"/>
            <a:chExt cx="12191999" cy="6857998"/>
          </a:xfrm>
        </p:grpSpPr>
        <p:pic>
          <p:nvPicPr>
            <p:cNvPr id="7" name="bg object 16">
              <a:extLst>
                <a:ext uri="{FF2B5EF4-FFF2-40B4-BE49-F238E27FC236}">
                  <a16:creationId xmlns:a16="http://schemas.microsoft.com/office/drawing/2014/main" id="{D3B481F3-FDD2-E9B0-AAF0-6B05C97B7493}"/>
                </a:ext>
              </a:extLst>
            </p:cNvPr>
            <p:cNvPicPr/>
            <p:nvPr userDrawn="1"/>
          </p:nvPicPr>
          <p:blipFill>
            <a:blip r:embed="rId8" cstate="print"/>
            <a:stretch>
              <a:fillRect/>
            </a:stretch>
          </p:blipFill>
          <p:spPr>
            <a:xfrm>
              <a:off x="0" y="0"/>
              <a:ext cx="12191999" cy="6857998"/>
            </a:xfrm>
            <a:prstGeom prst="rect">
              <a:avLst/>
            </a:prstGeom>
          </p:spPr>
        </p:pic>
        <p:sp>
          <p:nvSpPr>
            <p:cNvPr id="8" name="Sfondo nero">
              <a:extLst>
                <a:ext uri="{FF2B5EF4-FFF2-40B4-BE49-F238E27FC236}">
                  <a16:creationId xmlns:a16="http://schemas.microsoft.com/office/drawing/2014/main" id="{2B2124EE-D2EC-EB26-C788-2D1671E2C0D4}"/>
                </a:ext>
              </a:extLst>
            </p:cNvPr>
            <p:cNvSpPr/>
            <p:nvPr userDrawn="1"/>
          </p:nvSpPr>
          <p:spPr>
            <a:xfrm>
              <a:off x="228600" y="203061"/>
              <a:ext cx="11734800" cy="6451878"/>
            </a:xfrm>
            <a:custGeom>
              <a:avLst/>
              <a:gdLst/>
              <a:ahLst/>
              <a:cxnLst/>
              <a:rect l="l" t="t" r="r" b="b"/>
              <a:pathLst>
                <a:path w="11506200" h="6248400">
                  <a:moveTo>
                    <a:pt x="11506200" y="0"/>
                  </a:moveTo>
                  <a:lnTo>
                    <a:pt x="0" y="0"/>
                  </a:lnTo>
                  <a:lnTo>
                    <a:pt x="0" y="6248400"/>
                  </a:lnTo>
                  <a:lnTo>
                    <a:pt x="11506200" y="6248400"/>
                  </a:lnTo>
                  <a:lnTo>
                    <a:pt x="1150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b="0" i="0" dirty="0">
                <a:latin typeface="Arial" panose="020B0604020202020204" pitchFamily="34" charset="0"/>
              </a:endParaRPr>
            </a:p>
          </p:txBody>
        </p:sp>
      </p:grpSp>
      <p:sp>
        <p:nvSpPr>
          <p:cNvPr id="6" name="Segnaposto numero diapositiva 5" hidden="1">
            <a:extLst>
              <a:ext uri="{FF2B5EF4-FFF2-40B4-BE49-F238E27FC236}">
                <a16:creationId xmlns:a16="http://schemas.microsoft.com/office/drawing/2014/main" id="{8BF62DA6-567D-9738-C9B4-B35130FB09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  <a:latin typeface="Neue Haas Grotesk Text Pro" panose="020B0504020202020204" pitchFamily="34" charset="0"/>
              </a:defRPr>
            </a:lvl1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08AF4DDA-AF5C-9192-0A90-B2EE16B197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81312" y="3055807"/>
            <a:ext cx="6429375" cy="74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315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1" r:id="rId2"/>
    <p:sldLayoutId id="2147483674" r:id="rId3"/>
    <p:sldLayoutId id="2147483692" r:id="rId4"/>
    <p:sldLayoutId id="2147483678" r:id="rId5"/>
    <p:sldLayoutId id="2147483694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9659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614AE908-95ED-7A3B-515A-275CA83184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2795046"/>
            <a:ext cx="10515600" cy="1445982"/>
          </a:xfrm>
        </p:spPr>
        <p:txBody>
          <a:bodyPr/>
          <a:lstStyle/>
          <a:p>
            <a:r>
              <a:rPr lang="it-IT"/>
              <a:t>MODULO 3: </a:t>
            </a:r>
            <a:r>
              <a:rPr lang="it-IT" dirty="0"/>
              <a:t>Architettura di Rete, Reverse Proxy e Sicurezza Locale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DAC5512-E772-1D07-1956-6544F2732A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05E91E-B103-4211-9892-B5CF4BF06646}" type="slidenum">
              <a:rPr lang="it-IT" smtClean="0">
                <a:solidFill>
                  <a:srgbClr val="0C0C0D"/>
                </a:solidFill>
              </a:rPr>
              <a:pPr/>
              <a:t>2</a:t>
            </a:fld>
            <a:endParaRPr lang="it-IT" dirty="0">
              <a:solidFill>
                <a:srgbClr val="0C0C0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79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C232A863-9AB2-F1DD-0EBE-01D055E0C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1: I Pilastri delle Reti Docker: Il Driver Bridge Virtuale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4B7AE27A-7139-F647-C23C-B014C3A3B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dirty="0"/>
              <a:t>Quando Docker Engine viene avviato su una macchina </a:t>
            </a:r>
            <a:r>
              <a:rPr lang="it-IT" dirty="0" err="1"/>
              <a:t>host</a:t>
            </a:r>
            <a:r>
              <a:rPr lang="it-IT" dirty="0"/>
              <a:t>, isola i container non solo a livello di file e processi, ma anche sotto il profilo delle comunicazioni telematiche. </a:t>
            </a:r>
          </a:p>
          <a:p>
            <a:r>
              <a:rPr lang="it-IT" dirty="0"/>
              <a:t>Di default, il motore (Docker Daemon) crea una rete virtuale privata di tipo Bridge (associata all'interfaccia di sistema docker0). </a:t>
            </a:r>
          </a:p>
          <a:p>
            <a:r>
              <a:rPr lang="it-IT" dirty="0"/>
              <a:t>Ogni volta che un nuovo container viene sollevato, il Daemon gli assegna un'interfaccia di rete virtuale privata e un indirizzo IP dinamico non accessibile direttamente dall'esterno (solitamente appartenente alla sottorete 172.17.0.0/16). </a:t>
            </a:r>
          </a:p>
          <a:p>
            <a:r>
              <a:rPr lang="it-IT" dirty="0"/>
              <a:t>I container collegati alla medesima rete bridge possono comunicare liberamente tra loro utilizzando i propri indirizzi IP, ma questa modalità nativa presenta un limite: gli IP cambiano a ogni riavvio. </a:t>
            </a:r>
          </a:p>
          <a:p>
            <a:r>
              <a:rPr lang="it-IT" dirty="0"/>
              <a:t>Per strutturare un'architettura stabile, è necessario creare reti bridge personalizzate, le quali sbloccano la risoluzione dei nomi tramite un server DNS interno automatico.</a:t>
            </a:r>
          </a:p>
          <a:p>
            <a:r>
              <a:rPr lang="it-IT" dirty="0">
                <a:solidFill>
                  <a:srgbClr val="171FE2"/>
                </a:solidFill>
              </a:rPr>
              <a:t>La rete bridge di default (quella standard) non supporta la risoluzione dei nomi tramite DNS. Se vogliamo che i container si parlino usando il loro nome (es. "database" o "</a:t>
            </a:r>
            <a:r>
              <a:rPr lang="it-IT" dirty="0" err="1">
                <a:solidFill>
                  <a:srgbClr val="171FE2"/>
                </a:solidFill>
              </a:rPr>
              <a:t>backend</a:t>
            </a:r>
            <a:r>
              <a:rPr lang="it-IT" dirty="0">
                <a:solidFill>
                  <a:srgbClr val="171FE2"/>
                </a:solidFill>
              </a:rPr>
              <a:t>"), dobbiamo tassativamente creare una rete bridge custom.</a:t>
            </a:r>
            <a:endParaRPr lang="it-IT" b="1" dirty="0">
              <a:solidFill>
                <a:srgbClr val="171FE2"/>
              </a:solidFill>
            </a:endParaRPr>
          </a:p>
        </p:txBody>
      </p:sp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0A34DE43-08B1-290A-D6C2-1F28E294F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26178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8C121-FAD7-46AE-61FD-38CEAE64C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103A03B4-9AB8-5200-96B7-E4A293BFE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2: Il Server DNS Interno e il Meccanismo di Service Discovery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A907BA2F-77EA-F9DE-F7CF-9C0C31CF6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dirty="0"/>
              <a:t>Nelle reti bridge personalizzate (create tramite il comando </a:t>
            </a:r>
            <a:r>
              <a:rPr lang="it-IT" b="1" dirty="0" err="1">
                <a:latin typeface="Consolas" panose="020B0609020204030204" pitchFamily="49" charset="0"/>
              </a:rPr>
              <a:t>docker</a:t>
            </a:r>
            <a:r>
              <a:rPr lang="it-IT" b="1" dirty="0">
                <a:latin typeface="Consolas" panose="020B0609020204030204" pitchFamily="49" charset="0"/>
              </a:rPr>
              <a:t> network create mia-rete</a:t>
            </a:r>
            <a:r>
              <a:rPr lang="it-IT" dirty="0"/>
              <a:t>), Docker attiva un server DNS embedded iper-leggero operante all'indirizzo IP virtuale 127.0.0.11. </a:t>
            </a:r>
          </a:p>
          <a:p>
            <a:r>
              <a:rPr lang="it-IT" dirty="0"/>
              <a:t>Questo meccanismo abilita il cosiddetto </a:t>
            </a:r>
            <a:r>
              <a:rPr lang="it-IT" b="1" dirty="0"/>
              <a:t>Service Discovery</a:t>
            </a:r>
            <a:r>
              <a:rPr lang="it-IT" dirty="0"/>
              <a:t> (Scoperta dei Servizi).</a:t>
            </a:r>
          </a:p>
          <a:p>
            <a:r>
              <a:rPr lang="it-IT" dirty="0"/>
              <a:t>Quando il container dell'applicazione </a:t>
            </a:r>
            <a:r>
              <a:rPr lang="it-IT" dirty="0" err="1"/>
              <a:t>backend</a:t>
            </a:r>
            <a:r>
              <a:rPr lang="it-IT" dirty="0"/>
              <a:t> ha la necessità di interrogare il database </a:t>
            </a:r>
            <a:r>
              <a:rPr lang="it-IT" dirty="0" err="1"/>
              <a:t>MariaDB</a:t>
            </a:r>
            <a:r>
              <a:rPr lang="it-IT" dirty="0"/>
              <a:t>, lo sviluppatore non deve configurare un indirizzo IP statico nel codice. </a:t>
            </a:r>
          </a:p>
          <a:p>
            <a:r>
              <a:rPr lang="it-IT" dirty="0"/>
              <a:t>Sarà sufficiente istruire l'applicazione a contattare la stringa di testo corrispondente al nome del container (es. </a:t>
            </a:r>
            <a:r>
              <a:rPr lang="it-IT" dirty="0" err="1"/>
              <a:t>jdbc:mariadb</a:t>
            </a:r>
            <a:r>
              <a:rPr lang="it-IT" dirty="0"/>
              <a:t>://</a:t>
            </a:r>
            <a:r>
              <a:rPr lang="it-IT" b="1" dirty="0">
                <a:solidFill>
                  <a:srgbClr val="171FE2"/>
                </a:solidFill>
              </a:rPr>
              <a:t>database-container</a:t>
            </a:r>
            <a:r>
              <a:rPr lang="it-IT" dirty="0"/>
              <a:t>:3306/</a:t>
            </a:r>
            <a:r>
              <a:rPr lang="it-IT" dirty="0" err="1"/>
              <a:t>db</a:t>
            </a:r>
            <a:r>
              <a:rPr lang="it-IT" dirty="0"/>
              <a:t>). </a:t>
            </a:r>
          </a:p>
          <a:p>
            <a:r>
              <a:rPr lang="it-IT" dirty="0"/>
              <a:t>Il DNS interno intercetta la richiesta, </a:t>
            </a:r>
            <a:r>
              <a:rPr lang="it-IT" dirty="0">
                <a:solidFill>
                  <a:srgbClr val="171FE2"/>
                </a:solidFill>
              </a:rPr>
              <a:t>traduce al volo il nome testuale nell'IP dinamico corrente</a:t>
            </a:r>
            <a:r>
              <a:rPr lang="it-IT" dirty="0"/>
              <a:t> del database e instrada i pacchetti dati in modo trasparente, garantendo il </a:t>
            </a:r>
            <a:r>
              <a:rPr lang="it-IT" dirty="0">
                <a:solidFill>
                  <a:srgbClr val="171FE2"/>
                </a:solidFill>
              </a:rPr>
              <a:t>disaccoppiamento totale</a:t>
            </a:r>
            <a:r>
              <a:rPr lang="it-IT" dirty="0"/>
              <a:t>.</a:t>
            </a:r>
          </a:p>
          <a:p>
            <a:r>
              <a:rPr lang="it-IT" dirty="0"/>
              <a:t>l’</a:t>
            </a:r>
            <a:r>
              <a:rPr lang="it-IT" dirty="0" err="1"/>
              <a:t>ip</a:t>
            </a:r>
            <a:r>
              <a:rPr lang="it-IT" dirty="0"/>
              <a:t> statico avrebbe causato un accoppiamento inevitabile tra i due container.</a:t>
            </a:r>
          </a:p>
        </p:txBody>
      </p:sp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91C104B0-2742-2FA8-D3AA-257DEA054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17372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A41C8-7194-48D2-06BF-C469F9503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ACFF9BBF-2938-7461-43F0-57A7FB80F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3: </a:t>
            </a:r>
            <a:r>
              <a:rPr lang="it-IT" dirty="0" err="1"/>
              <a:t>Nginx</a:t>
            </a:r>
            <a:r>
              <a:rPr lang="it-IT" dirty="0"/>
              <a:t> come Reverse Proxy e Governatore di Container Locali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29562B77-4CC6-01E5-0A45-E28887607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dirty="0"/>
              <a:t>Nel contesto dello sviluppo locale, è possibile utilizzare il container ufficiale </a:t>
            </a:r>
            <a:r>
              <a:rPr lang="it-IT" dirty="0" err="1"/>
              <a:t>Nginx</a:t>
            </a:r>
            <a:r>
              <a:rPr lang="it-IT" dirty="0"/>
              <a:t> per governare, centralizzare e proteggere il flusso di traffico diretto verso molteplici microservizi posizionati nella stessa rete virtuale. </a:t>
            </a:r>
          </a:p>
          <a:p>
            <a:r>
              <a:rPr lang="it-IT" dirty="0"/>
              <a:t>Invece di esporre le porte di ogni singolo container sulla macchina </a:t>
            </a:r>
            <a:r>
              <a:rPr lang="it-IT" dirty="0" err="1"/>
              <a:t>host</a:t>
            </a:r>
            <a:r>
              <a:rPr lang="it-IT" dirty="0"/>
              <a:t> (evitando di occupare porte casuali come la 8080, 8098, o 3000), l'unica porta aperta verso il PC dello sviluppatore sarà la porta 80 (e la 443 per l'HTTPS) del container </a:t>
            </a:r>
            <a:r>
              <a:rPr lang="it-IT" dirty="0" err="1"/>
              <a:t>Nginx</a:t>
            </a:r>
            <a:r>
              <a:rPr lang="it-IT" dirty="0"/>
              <a:t>.</a:t>
            </a:r>
          </a:p>
          <a:p>
            <a:r>
              <a:rPr lang="it-IT" dirty="0"/>
              <a:t>Configurato come Reverse Proxy, </a:t>
            </a:r>
            <a:r>
              <a:rPr lang="it-IT" dirty="0" err="1"/>
              <a:t>Nginx</a:t>
            </a:r>
            <a:r>
              <a:rPr lang="it-IT" dirty="0"/>
              <a:t> riceve tutte le richieste provenienti dal browser locale, analizza l'intestazione dell'URL (l'Host Header, ad esempio </a:t>
            </a:r>
            <a:r>
              <a:rPr lang="it-IT" dirty="0" err="1"/>
              <a:t>api.local</a:t>
            </a:r>
            <a:r>
              <a:rPr lang="it-IT" dirty="0"/>
              <a:t> o </a:t>
            </a:r>
            <a:r>
              <a:rPr lang="it-IT" dirty="0" err="1"/>
              <a:t>app.local</a:t>
            </a:r>
            <a:r>
              <a:rPr lang="it-IT" dirty="0"/>
              <a:t>) e provvede a smistare internamente il traffico verso il container corretto sfruttando il DNS di rete di Docker.</a:t>
            </a:r>
          </a:p>
          <a:p>
            <a:r>
              <a:rPr lang="it-IT" dirty="0" err="1">
                <a:solidFill>
                  <a:srgbClr val="171FE2"/>
                </a:solidFill>
              </a:rPr>
              <a:t>Nginx</a:t>
            </a:r>
            <a:r>
              <a:rPr lang="it-IT" dirty="0">
                <a:solidFill>
                  <a:srgbClr val="171FE2"/>
                </a:solidFill>
              </a:rPr>
              <a:t> agisce come un vigile urbano all'ingresso del perimetro della rete dei container.</a:t>
            </a:r>
          </a:p>
        </p:txBody>
      </p:sp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2CFCFD20-D2BE-83B8-1A99-29AB2B8DA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69508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81944-B3A8-4BD3-6A8A-6D7285E25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F29F12A6-29BD-6C91-35F2-377E5BAAF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4: Simulazione di Domini Reali in Locale: Il File </a:t>
            </a:r>
            <a:r>
              <a:rPr lang="it-IT" dirty="0" err="1"/>
              <a:t>hosts</a:t>
            </a:r>
            <a:endParaRPr lang="it-IT" dirty="0"/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330BBEAF-9125-D5AE-6697-45B871304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dirty="0"/>
              <a:t>Per testare il comportamento di </a:t>
            </a:r>
            <a:r>
              <a:rPr lang="it-IT" dirty="0" err="1"/>
              <a:t>Nginx</a:t>
            </a:r>
            <a:r>
              <a:rPr lang="it-IT" dirty="0"/>
              <a:t> come Reverse Proxy e simulare l'instradamento basato su domini reali senza dover acquistare un dominio Internet o configurare server DNS pubblici, si ricorre alla manipolazione del file </a:t>
            </a:r>
            <a:r>
              <a:rPr lang="it-IT" dirty="0" err="1"/>
              <a:t>hosts</a:t>
            </a:r>
            <a:r>
              <a:rPr lang="it-IT" dirty="0"/>
              <a:t> del sistema operativo ospitante.</a:t>
            </a:r>
          </a:p>
          <a:p>
            <a:r>
              <a:rPr lang="it-IT" dirty="0"/>
              <a:t>Questo file (situato in /</a:t>
            </a:r>
            <a:r>
              <a:rPr lang="it-IT" dirty="0" err="1"/>
              <a:t>etc</a:t>
            </a:r>
            <a:r>
              <a:rPr lang="it-IT" dirty="0"/>
              <a:t>/</a:t>
            </a:r>
            <a:r>
              <a:rPr lang="it-IT" dirty="0" err="1"/>
              <a:t>hosts</a:t>
            </a:r>
            <a:r>
              <a:rPr lang="it-IT" dirty="0"/>
              <a:t> su Linux/</a:t>
            </a:r>
            <a:r>
              <a:rPr lang="it-IT" dirty="0" err="1"/>
              <a:t>macOS</a:t>
            </a:r>
            <a:r>
              <a:rPr lang="it-IT" dirty="0"/>
              <a:t> e in C:\Windows\System32\drivers\etc\hosts su Windows) funge da registro DNS locale prioritario per il computer. </a:t>
            </a:r>
          </a:p>
          <a:p>
            <a:r>
              <a:rPr lang="it-IT" dirty="0"/>
              <a:t>Inserendo una riga del tipo 127.0.0.1 </a:t>
            </a:r>
            <a:r>
              <a:rPr lang="it-IT" dirty="0" err="1"/>
              <a:t>applicazione.local</a:t>
            </a:r>
            <a:r>
              <a:rPr lang="it-IT" dirty="0"/>
              <a:t> </a:t>
            </a:r>
            <a:r>
              <a:rPr lang="it-IT" dirty="0" err="1"/>
              <a:t>api.local</a:t>
            </a:r>
            <a:r>
              <a:rPr lang="it-IT" dirty="0"/>
              <a:t>, indichiamo al browser del nostro PC di non interpellare i server DNS di Google o della rete internet, ma di reindirizzare immediatamente quel traffico sul </a:t>
            </a:r>
            <a:r>
              <a:rPr lang="it-IT" dirty="0" err="1"/>
              <a:t>socket</a:t>
            </a:r>
            <a:r>
              <a:rPr lang="it-IT" dirty="0"/>
              <a:t> di </a:t>
            </a:r>
            <a:r>
              <a:rPr lang="it-IT" dirty="0" err="1"/>
              <a:t>loopback</a:t>
            </a:r>
            <a:r>
              <a:rPr lang="it-IT" dirty="0"/>
              <a:t> locale, impattando direttamente contro le porte esposte dal container </a:t>
            </a:r>
            <a:r>
              <a:rPr lang="it-IT" dirty="0" err="1"/>
              <a:t>Nginx</a:t>
            </a:r>
            <a:r>
              <a:rPr lang="it-IT" dirty="0"/>
              <a:t>.</a:t>
            </a:r>
          </a:p>
        </p:txBody>
      </p:sp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5F7DFC0B-7E24-F22A-0DB9-CF68067C5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92978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90CA1-B44C-F6B3-1767-AA9F8E6D0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95A4F52D-2AC7-7A08-BFD2-896C80B0E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5: Architettura TLS/SSL e la Sfida del Rinnovo Automatico in Locale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DFF6A2EB-769A-0073-0011-84ECA4279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dirty="0"/>
              <a:t>Nelle infrastrutture di produzione, la sicurezza delle comunicazioni viene sigillata tramite certificati SSL/TLS emessi da autorità globali come </a:t>
            </a:r>
            <a:r>
              <a:rPr lang="it-IT" dirty="0" err="1"/>
              <a:t>Let's</a:t>
            </a:r>
            <a:r>
              <a:rPr lang="it-IT" dirty="0"/>
              <a:t> </a:t>
            </a:r>
            <a:r>
              <a:rPr lang="it-IT" dirty="0" err="1"/>
              <a:t>Encrypt</a:t>
            </a:r>
            <a:r>
              <a:rPr lang="it-IT" dirty="0"/>
              <a:t> tramite il protocollo automatizzato ACME (</a:t>
            </a:r>
            <a:r>
              <a:rPr lang="it-IT" dirty="0" err="1"/>
              <a:t>Automated</a:t>
            </a:r>
            <a:r>
              <a:rPr lang="it-IT" dirty="0"/>
              <a:t> Certificate Management Environment). </a:t>
            </a:r>
          </a:p>
          <a:p>
            <a:r>
              <a:rPr lang="it-IT" dirty="0"/>
              <a:t>Il container ufficiale di supporto, denominato </a:t>
            </a:r>
            <a:r>
              <a:rPr lang="it-IT" dirty="0" err="1"/>
              <a:t>Certbot</a:t>
            </a:r>
            <a:r>
              <a:rPr lang="it-IT" dirty="0"/>
              <a:t>, si occupa di negoziare con </a:t>
            </a:r>
            <a:r>
              <a:rPr lang="it-IT" dirty="0" err="1"/>
              <a:t>Let's</a:t>
            </a:r>
            <a:r>
              <a:rPr lang="it-IT" dirty="0"/>
              <a:t> </a:t>
            </a:r>
            <a:r>
              <a:rPr lang="it-IT" dirty="0" err="1"/>
              <a:t>Encrypt</a:t>
            </a:r>
            <a:r>
              <a:rPr lang="it-IT" dirty="0"/>
              <a:t> risolvendo una sfida (HTTP-01 challenge): deposita un file temporaneo in una cartella, e </a:t>
            </a:r>
            <a:r>
              <a:rPr lang="it-IT" dirty="0" err="1"/>
              <a:t>Let's</a:t>
            </a:r>
            <a:r>
              <a:rPr lang="it-IT" dirty="0"/>
              <a:t> </a:t>
            </a:r>
            <a:r>
              <a:rPr lang="it-IT" dirty="0" err="1"/>
              <a:t>Encrypt</a:t>
            </a:r>
            <a:r>
              <a:rPr lang="it-IT" dirty="0"/>
              <a:t> tenta di leggerlo via internet sulla porta 80 per verificare la proprietà del dominio. </a:t>
            </a:r>
          </a:p>
          <a:p>
            <a:r>
              <a:rPr lang="it-IT" dirty="0"/>
              <a:t>Tentare di eseguire questa procedura standard in ambiente locale fallirebbe sistematicamente, </a:t>
            </a:r>
            <a:r>
              <a:rPr lang="it-IT" dirty="0" err="1"/>
              <a:t>poichè</a:t>
            </a:r>
            <a:r>
              <a:rPr lang="it-IT" dirty="0"/>
              <a:t> i server di </a:t>
            </a:r>
            <a:r>
              <a:rPr lang="it-IT" dirty="0" err="1"/>
              <a:t>Let's</a:t>
            </a:r>
            <a:r>
              <a:rPr lang="it-IT" dirty="0"/>
              <a:t> </a:t>
            </a:r>
            <a:r>
              <a:rPr lang="it-IT" dirty="0" err="1"/>
              <a:t>Encrypt</a:t>
            </a:r>
            <a:r>
              <a:rPr lang="it-IT" dirty="0"/>
              <a:t> non possono raggiungere l'indirizzo </a:t>
            </a:r>
            <a:r>
              <a:rPr lang="it-IT" dirty="0">
                <a:solidFill>
                  <a:srgbClr val="171FE2"/>
                </a:solidFill>
              </a:rPr>
              <a:t>127.0.0.1</a:t>
            </a:r>
            <a:r>
              <a:rPr lang="it-IT" dirty="0"/>
              <a:t> o il dominio finto </a:t>
            </a:r>
            <a:r>
              <a:rPr lang="it-IT" dirty="0" err="1">
                <a:solidFill>
                  <a:srgbClr val="171FE2"/>
                </a:solidFill>
              </a:rPr>
              <a:t>applicazione.local</a:t>
            </a:r>
            <a:r>
              <a:rPr lang="it-IT" dirty="0">
                <a:solidFill>
                  <a:srgbClr val="171FE2"/>
                </a:solidFill>
              </a:rPr>
              <a:t> </a:t>
            </a:r>
            <a:r>
              <a:rPr lang="it-IT" dirty="0"/>
              <a:t>nascosto dietro il firewall del computer di sviluppo.</a:t>
            </a:r>
          </a:p>
        </p:txBody>
      </p:sp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200C1CD5-7C50-B0A8-43C0-D6E1ABE5C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8435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B036A-750A-7EAC-3D9F-A581C4FE0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0DC0E890-992D-E5F8-6DF9-CCD7B3FC2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6: Simulazione ACME: Integrazione </a:t>
            </a:r>
            <a:r>
              <a:rPr lang="it-IT" dirty="0" err="1"/>
              <a:t>Nginx</a:t>
            </a:r>
            <a:r>
              <a:rPr lang="it-IT" dirty="0"/>
              <a:t> e </a:t>
            </a:r>
            <a:r>
              <a:rPr lang="it-IT" dirty="0" err="1"/>
              <a:t>Certbot</a:t>
            </a:r>
            <a:r>
              <a:rPr lang="it-IT" dirty="0"/>
              <a:t> Mock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08C9C6E4-DEEB-B0CA-143C-56D05638F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dirty="0"/>
              <a:t>Per superare il vincolo del controllo remoto e simulare accuratamente il rinnovo automatico dei certificati SSL in locale, l'ingegneria software offre due percorsi integrabili in Docker. </a:t>
            </a:r>
          </a:p>
          <a:p>
            <a:r>
              <a:rPr lang="it-IT" dirty="0"/>
              <a:t>La prima soluzione prevede l'utilizzo di un container aggiuntivo operante come Server ACME Locale (es. step-ca di </a:t>
            </a:r>
            <a:r>
              <a:rPr lang="it-IT" dirty="0" err="1"/>
              <a:t>Smallstep</a:t>
            </a:r>
            <a:r>
              <a:rPr lang="it-IT" dirty="0"/>
              <a:t> o Pebble), che agisce come un "finto </a:t>
            </a:r>
            <a:r>
              <a:rPr lang="it-IT" dirty="0" err="1"/>
              <a:t>Let's</a:t>
            </a:r>
            <a:r>
              <a:rPr lang="it-IT" dirty="0"/>
              <a:t> </a:t>
            </a:r>
            <a:r>
              <a:rPr lang="it-IT" dirty="0" err="1"/>
              <a:t>Encrypt</a:t>
            </a:r>
            <a:r>
              <a:rPr lang="it-IT" dirty="0"/>
              <a:t>" interno alla rete bridge. </a:t>
            </a:r>
          </a:p>
          <a:p>
            <a:r>
              <a:rPr lang="it-IT" dirty="0"/>
              <a:t>La seconda opzione prevede la configurazione del container </a:t>
            </a:r>
            <a:r>
              <a:rPr lang="it-IT" dirty="0" err="1"/>
              <a:t>Certbot</a:t>
            </a:r>
            <a:r>
              <a:rPr lang="it-IT" dirty="0"/>
              <a:t> in modalità </a:t>
            </a:r>
            <a:r>
              <a:rPr lang="it-IT" dirty="0" err="1"/>
              <a:t>Staging</a:t>
            </a:r>
            <a:r>
              <a:rPr lang="it-IT" dirty="0"/>
              <a:t>/Self-</a:t>
            </a:r>
            <a:r>
              <a:rPr lang="it-IT" dirty="0" err="1"/>
              <a:t>Signed</a:t>
            </a:r>
            <a:r>
              <a:rPr lang="it-IT" dirty="0"/>
              <a:t> integrato via Volumi Condivisi. </a:t>
            </a:r>
          </a:p>
          <a:p>
            <a:r>
              <a:rPr lang="it-IT" dirty="0" err="1"/>
              <a:t>Nginx</a:t>
            </a:r>
            <a:r>
              <a:rPr lang="it-IT" dirty="0"/>
              <a:t> e </a:t>
            </a:r>
            <a:r>
              <a:rPr lang="it-IT" dirty="0" err="1"/>
              <a:t>Certbot</a:t>
            </a:r>
            <a:r>
              <a:rPr lang="it-IT" dirty="0"/>
              <a:t> vengono inseriti nello stesso file Docker Compose e condividono due volumi: uno per la cartella delle sfide (/var/www/</a:t>
            </a:r>
            <a:r>
              <a:rPr lang="it-IT" dirty="0" err="1"/>
              <a:t>certbot</a:t>
            </a:r>
            <a:r>
              <a:rPr lang="it-IT" dirty="0"/>
              <a:t>) e uno per le chiavi crittografiche certificate (/</a:t>
            </a:r>
            <a:r>
              <a:rPr lang="it-IT" dirty="0" err="1"/>
              <a:t>etc</a:t>
            </a:r>
            <a:r>
              <a:rPr lang="it-IT" dirty="0"/>
              <a:t>/</a:t>
            </a:r>
            <a:r>
              <a:rPr lang="it-IT" dirty="0" err="1"/>
              <a:t>letsencrypt</a:t>
            </a:r>
            <a:r>
              <a:rPr lang="it-IT" dirty="0"/>
              <a:t>).</a:t>
            </a:r>
          </a:p>
          <a:p>
            <a:r>
              <a:rPr lang="it-IT" dirty="0" err="1">
                <a:solidFill>
                  <a:srgbClr val="171FE2"/>
                </a:solidFill>
              </a:rPr>
              <a:t>Certbot</a:t>
            </a:r>
            <a:r>
              <a:rPr lang="it-IT" dirty="0">
                <a:solidFill>
                  <a:srgbClr val="171FE2"/>
                </a:solidFill>
              </a:rPr>
              <a:t> scrive i certificati nel volume, e </a:t>
            </a:r>
            <a:r>
              <a:rPr lang="it-IT" dirty="0" err="1">
                <a:solidFill>
                  <a:srgbClr val="171FE2"/>
                </a:solidFill>
              </a:rPr>
              <a:t>Nginx</a:t>
            </a:r>
            <a:r>
              <a:rPr lang="it-IT" dirty="0">
                <a:solidFill>
                  <a:srgbClr val="171FE2"/>
                </a:solidFill>
              </a:rPr>
              <a:t> li legge istantaneamente dallo stesso blocco di disco, senza bisogno di scambiare file via rete o ricostruire le immagini.</a:t>
            </a:r>
          </a:p>
        </p:txBody>
      </p:sp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D0A26AE1-ABD9-DD47-716E-35B45AD18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595837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9BB6D-FEA2-DF4E-D735-E3AE8C58B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958123BC-55BE-C18A-57E4-E7C501C23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Slide 7: Il Ciclo Continuo di Rinnovo Automatico a Runtime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3C4FDFB8-3855-ACF5-C502-17CEC9E95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dirty="0"/>
              <a:t>Una volta stabilito il ponte di collegamento tramite volumi tra </a:t>
            </a:r>
            <a:r>
              <a:rPr lang="it-IT" dirty="0" err="1"/>
              <a:t>Nginx</a:t>
            </a:r>
            <a:r>
              <a:rPr lang="it-IT" dirty="0"/>
              <a:t> e l'agente </a:t>
            </a:r>
            <a:r>
              <a:rPr lang="it-IT" dirty="0" err="1"/>
              <a:t>Certbot</a:t>
            </a:r>
            <a:r>
              <a:rPr lang="it-IT" dirty="0"/>
              <a:t> (o l'autorità di certificazione finta locale), è possibile automatizzare il ciclo di rinnovo per testarne la stabilità nel tempo. </a:t>
            </a:r>
          </a:p>
          <a:p>
            <a:r>
              <a:rPr lang="it-IT" dirty="0"/>
              <a:t>Nel container di </a:t>
            </a:r>
            <a:r>
              <a:rPr lang="it-IT" dirty="0" err="1"/>
              <a:t>Certbot</a:t>
            </a:r>
            <a:r>
              <a:rPr lang="it-IT" dirty="0"/>
              <a:t> viene configurato un punto di ingresso di avvio (un </a:t>
            </a:r>
            <a:r>
              <a:rPr lang="it-IT" dirty="0" err="1"/>
              <a:t>entrypoint</a:t>
            </a:r>
            <a:r>
              <a:rPr lang="it-IT" dirty="0"/>
              <a:t> custom o uno script di loop) che impone l'esecuzione permanente di un comando specifico: 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while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true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; do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certbot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renew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;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sleep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12h &amp;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wait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$!;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nginx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-s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reload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;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done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;</a:t>
            </a:r>
            <a:endParaRPr lang="it-IT" dirty="0"/>
          </a:p>
          <a:p>
            <a:r>
              <a:rPr lang="it-IT" dirty="0"/>
              <a:t>Questo comando istruisce </a:t>
            </a:r>
            <a:r>
              <a:rPr lang="it-IT" dirty="0" err="1"/>
              <a:t>Certbot</a:t>
            </a:r>
            <a:r>
              <a:rPr lang="it-IT" dirty="0"/>
              <a:t> a svegliarsi ogni 12 ore, verificare la validità dei certificati sul filesystem locale, richiedere un aggiornamento silenzioso al server di certificazione e, in caso di successo, inviare un segnale di ricaricamento a caldo (</a:t>
            </a:r>
            <a:r>
              <a:rPr lang="it-IT" dirty="0" err="1">
                <a:solidFill>
                  <a:srgbClr val="171FE2"/>
                </a:solidFill>
              </a:rPr>
              <a:t>nginx</a:t>
            </a:r>
            <a:r>
              <a:rPr lang="it-IT" dirty="0">
                <a:solidFill>
                  <a:srgbClr val="171FE2"/>
                </a:solidFill>
              </a:rPr>
              <a:t> -s </a:t>
            </a:r>
            <a:r>
              <a:rPr lang="it-IT" dirty="0" err="1">
                <a:solidFill>
                  <a:srgbClr val="171FE2"/>
                </a:solidFill>
              </a:rPr>
              <a:t>reload</a:t>
            </a:r>
            <a:r>
              <a:rPr lang="it-IT" dirty="0"/>
              <a:t>) al container proxy per aggiornare i canali HTTPS senza disconnettere gli utenti.</a:t>
            </a:r>
          </a:p>
          <a:p>
            <a:r>
              <a:rPr lang="it-IT" dirty="0"/>
              <a:t>Il concetto di "Zero </a:t>
            </a:r>
            <a:r>
              <a:rPr lang="it-IT" dirty="0" err="1"/>
              <a:t>Downtime</a:t>
            </a:r>
            <a:r>
              <a:rPr lang="it-IT" dirty="0"/>
              <a:t>": il comando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nginx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-s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reload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dirty="0"/>
              <a:t>non spegne il container </a:t>
            </a:r>
            <a:r>
              <a:rPr lang="it-IT" dirty="0" err="1"/>
              <a:t>Nginx</a:t>
            </a:r>
            <a:r>
              <a:rPr lang="it-IT" dirty="0"/>
              <a:t>, ma </a:t>
            </a:r>
            <a:r>
              <a:rPr lang="it-IT" dirty="0">
                <a:solidFill>
                  <a:srgbClr val="171FE2"/>
                </a:solidFill>
              </a:rPr>
              <a:t>ricarica semplicemente la configurazione e i nuovi certificati in memoria RAM, garantendo la continuità assoluta del servizio.</a:t>
            </a:r>
          </a:p>
        </p:txBody>
      </p:sp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16F77B01-43A5-8CA1-2853-C850205E2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827456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E02355-4941-9C10-CA1D-649F04DB5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pc="0" dirty="0">
                <a:latin typeface="Neue Haas Grotesk Text Pro" panose="020B0504020202020204" pitchFamily="34" charset="0"/>
              </a:rPr>
              <a:t>GRAZIE PER L’ATTENZIONE</a:t>
            </a:r>
          </a:p>
        </p:txBody>
      </p:sp>
    </p:spTree>
    <p:extLst>
      <p:ext uri="{BB962C8B-B14F-4D97-AF65-F5344CB8AC3E}">
        <p14:creationId xmlns:p14="http://schemas.microsoft.com/office/powerpoint/2010/main" val="3003246572"/>
      </p:ext>
    </p:extLst>
  </p:cSld>
  <p:clrMapOvr>
    <a:masterClrMapping/>
  </p:clrMapOvr>
</p:sld>
</file>

<file path=ppt/theme/theme1.xml><?xml version="1.0" encoding="utf-8"?>
<a:theme xmlns:a="http://schemas.openxmlformats.org/drawingml/2006/main" name="Intr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1b72fd8-e7d0-49ac-9795-d1b0bc6b7e1c" xsi:nil="true"/>
    <lcf76f155ced4ddcb4097134ff3c332f xmlns="8b3acf13-3a58-43b2-a29e-f23503de136d">
      <Terms xmlns="http://schemas.microsoft.com/office/infopath/2007/PartnerControls"/>
    </lcf76f155ced4ddcb4097134ff3c332f>
    <Argomento xmlns="8b3acf13-3a58-43b2-a29e-f23503de136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455C6CD0B9BF4DB2CA3009677D9668" ma:contentTypeVersion="17" ma:contentTypeDescription="Create a new document." ma:contentTypeScope="" ma:versionID="6361f2605a906a42d9630ca59d277a8b">
  <xsd:schema xmlns:xsd="http://www.w3.org/2001/XMLSchema" xmlns:xs="http://www.w3.org/2001/XMLSchema" xmlns:p="http://schemas.microsoft.com/office/2006/metadata/properties" xmlns:ns2="8b3acf13-3a58-43b2-a29e-f23503de136d" xmlns:ns3="21b72fd8-e7d0-49ac-9795-d1b0bc6b7e1c" targetNamespace="http://schemas.microsoft.com/office/2006/metadata/properties" ma:root="true" ma:fieldsID="ae4eb9e2c998b5efed80ec6126f835fa" ns2:_="" ns3:_="">
    <xsd:import namespace="8b3acf13-3a58-43b2-a29e-f23503de136d"/>
    <xsd:import namespace="21b72fd8-e7d0-49ac-9795-d1b0bc6b7e1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Argoment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3acf13-3a58-43b2-a29e-f23503de13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6f31c764-9f90-46cb-b927-e7c76de0672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rgomento" ma:index="24" nillable="true" ma:displayName="Argomento" ma:format="Dropdown" ma:internalName="Argomento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b72fd8-e7d0-49ac-9795-d1b0bc6b7e1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40603bf2-5c45-4900-ad6d-aa2e93470d68}" ma:internalName="TaxCatchAll" ma:showField="CatchAllData" ma:web="21b72fd8-e7d0-49ac-9795-d1b0bc6b7e1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7C65656-B2D8-4C19-A873-091B25A5212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766878A-54ED-4867-B478-72A29DC19B89}">
  <ds:schemaRefs>
    <ds:schemaRef ds:uri="http://schemas.microsoft.com/office/2006/metadata/properties"/>
    <ds:schemaRef ds:uri="http://schemas.microsoft.com/office/infopath/2007/PartnerControls"/>
    <ds:schemaRef ds:uri="21b72fd8-e7d0-49ac-9795-d1b0bc6b7e1c"/>
    <ds:schemaRef ds:uri="8b3acf13-3a58-43b2-a29e-f23503de136d"/>
  </ds:schemaRefs>
</ds:datastoreItem>
</file>

<file path=customXml/itemProps3.xml><?xml version="1.0" encoding="utf-8"?>
<ds:datastoreItem xmlns:ds="http://schemas.openxmlformats.org/officeDocument/2006/customXml" ds:itemID="{70468F63-B318-4D5F-A1DF-86BE98AC22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b3acf13-3a58-43b2-a29e-f23503de136d"/>
    <ds:schemaRef ds:uri="21b72fd8-e7d0-49ac-9795-d1b0bc6b7e1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771</TotalTime>
  <Words>1186</Words>
  <Application>Microsoft Office PowerPoint</Application>
  <PresentationFormat>Widescreen</PresentationFormat>
  <Paragraphs>50</Paragraphs>
  <Slides>10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6" baseType="lpstr">
      <vt:lpstr>Arial</vt:lpstr>
      <vt:lpstr>Calibri</vt:lpstr>
      <vt:lpstr>Consolas</vt:lpstr>
      <vt:lpstr>Neue Haas Grotesk Display Pro</vt:lpstr>
      <vt:lpstr>Neue Haas Grotesk Text Pro</vt:lpstr>
      <vt:lpstr>Intro</vt:lpstr>
      <vt:lpstr>Presentazione standard di PowerPoint</vt:lpstr>
      <vt:lpstr>Presentazione standard di PowerPoint</vt:lpstr>
      <vt:lpstr>Slide 1: I Pilastri delle Reti Docker: Il Driver Bridge Virtuale</vt:lpstr>
      <vt:lpstr>Slide 2: Il Server DNS Interno e il Meccanismo di Service Discovery</vt:lpstr>
      <vt:lpstr>Slide 3: Nginx come Reverse Proxy e Governatore di Container Locali</vt:lpstr>
      <vt:lpstr>Slide 4: Simulazione di Domini Reali in Locale: Il File hosts</vt:lpstr>
      <vt:lpstr>Slide 5: Architettura TLS/SSL e la Sfida del Rinnovo Automatico in Locale</vt:lpstr>
      <vt:lpstr>Slide 6: Simulazione ACME: Integrazione Nginx e Certbot Mock</vt:lpstr>
      <vt:lpstr>Slide 7: Il Ciclo Continuo di Rinnovo Automatico a Runtime</vt:lpstr>
      <vt:lpstr>GRAZIE PER L’ATTENZIONE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Davide Grillo</dc:creator>
  <cp:lastModifiedBy>Mirko Onorato</cp:lastModifiedBy>
  <cp:revision>128</cp:revision>
  <dcterms:created xsi:type="dcterms:W3CDTF">2023-09-21T07:59:23Z</dcterms:created>
  <dcterms:modified xsi:type="dcterms:W3CDTF">2026-06-08T10:58:44Z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0x010100D3455C6CD0B9BF4DB2CA3009677D9668</vt:lpwstr>
  </property>
</Properties>
</file>