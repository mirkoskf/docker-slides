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50"/>
  </p:notesMasterIdLst>
  <p:handoutMasterIdLst>
    <p:handoutMasterId r:id="rId51"/>
  </p:handoutMasterIdLst>
  <p:sldIdLst>
    <p:sldId id="262" r:id="rId5"/>
    <p:sldId id="259" r:id="rId6"/>
    <p:sldId id="258" r:id="rId7"/>
    <p:sldId id="263" r:id="rId8"/>
    <p:sldId id="264" r:id="rId9"/>
    <p:sldId id="265" r:id="rId10"/>
    <p:sldId id="267" r:id="rId11"/>
    <p:sldId id="266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1" r:id="rId24"/>
    <p:sldId id="280" r:id="rId25"/>
    <p:sldId id="282" r:id="rId26"/>
    <p:sldId id="283" r:id="rId27"/>
    <p:sldId id="284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261" r:id="rId4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FE2"/>
    <a:srgbClr val="0C0C0D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33" autoAdjust="0"/>
    <p:restoredTop sz="92907" autoAdjust="0"/>
  </p:normalViewPr>
  <p:slideViewPr>
    <p:cSldViewPr snapToGrid="0" showGuides="1">
      <p:cViewPr varScale="1">
        <p:scale>
          <a:sx n="66" d="100"/>
          <a:sy n="66" d="100"/>
        </p:scale>
        <p:origin x="60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6" d="100"/>
          <a:sy n="56" d="100"/>
        </p:scale>
        <p:origin x="190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8BF59EF6-0FF4-3C26-C2BB-DB4C816469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A684938-E2E5-17C8-EF87-D39DC23A0CE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67D21-D55F-4A7B-94FF-7608FD989819}" type="datetimeFigureOut">
              <a:rPr lang="it-IT" smtClean="0"/>
              <a:t>15/06/2026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1588DC1-54E0-DA10-6330-B5B85E54BE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BF496F1-A8FC-84F6-A381-661BDD027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1F2323-8915-4474-89BB-0944B80755B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145869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B2B73-14A8-482F-9803-A95CC73B5B34}" type="datetimeFigureOut">
              <a:rPr lang="it-IT" smtClean="0"/>
              <a:t>15/06/2026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FDE81-C331-4896-AC61-55381248B14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6805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FDE81-C331-4896-AC61-55381248B14B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7248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g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fondo">
            <a:extLst>
              <a:ext uri="{FF2B5EF4-FFF2-40B4-BE49-F238E27FC236}">
                <a16:creationId xmlns:a16="http://schemas.microsoft.com/office/drawing/2014/main" id="{3151B56A-A6F1-5CFE-90D4-C91637CA43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8" name="bg object 16">
              <a:extLst>
                <a:ext uri="{FF2B5EF4-FFF2-40B4-BE49-F238E27FC236}">
                  <a16:creationId xmlns:a16="http://schemas.microsoft.com/office/drawing/2014/main" id="{F245C0BF-8E93-514B-6EA0-0DB46DDE199E}"/>
                </a:ext>
              </a:extLst>
            </p:cNvPr>
            <p:cNvPicPr/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9" name="Sfondo nero">
              <a:extLst>
                <a:ext uri="{FF2B5EF4-FFF2-40B4-BE49-F238E27FC236}">
                  <a16:creationId xmlns:a16="http://schemas.microsoft.com/office/drawing/2014/main" id="{7E15F8EB-6BFE-6BE4-8488-2A37B82D22A6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pic>
        <p:nvPicPr>
          <p:cNvPr id="3" name="Logo">
            <a:extLst>
              <a:ext uri="{FF2B5EF4-FFF2-40B4-BE49-F238E27FC236}">
                <a16:creationId xmlns:a16="http://schemas.microsoft.com/office/drawing/2014/main" id="{4C834844-A2F7-AC9C-2087-6061FCF61E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81312" y="3055807"/>
            <a:ext cx="6429375" cy="746384"/>
          </a:xfrm>
          <a:prstGeom prst="rect">
            <a:avLst/>
          </a:prstGeom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38E5D1B6-A890-892D-9858-91BBCF4C4D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3160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olo della l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03BCE473-8FC3-9F4F-E292-BFC28ABE7B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498" b="7498"/>
          <a:stretch/>
        </p:blipFill>
        <p:spPr>
          <a:xfrm>
            <a:off x="8" y="4"/>
            <a:ext cx="12191984" cy="6857991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D46FDB36-122C-6ED3-0E68-A0444075919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49604" y="2315869"/>
            <a:ext cx="2692791" cy="5580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Neue Haas Grotesk Display Pro" panose="020D0304030502050203" pitchFamily="34" charset="0"/>
                <a:ea typeface="+mj-ea"/>
                <a:cs typeface="+mj-cs"/>
              </a:defRPr>
            </a:lvl1pPr>
          </a:lstStyle>
          <a:p>
            <a:r>
              <a:rPr lang="it-IT" dirty="0"/>
              <a:t>Lezione n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0F8F589-6BFD-59A4-6E34-32CA9C30E5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152912"/>
            <a:ext cx="10515600" cy="6728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chemeClr val="bg1"/>
                </a:solidFill>
                <a:latin typeface="Neue Haas Grotesk Display Pro" panose="020D030403050205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TITOLO DELLA LEZIONE</a:t>
            </a:r>
          </a:p>
        </p:txBody>
      </p:sp>
      <p:sp>
        <p:nvSpPr>
          <p:cNvPr id="7" name="Autore">
            <a:extLst>
              <a:ext uri="{FF2B5EF4-FFF2-40B4-BE49-F238E27FC236}">
                <a16:creationId xmlns:a16="http://schemas.microsoft.com/office/drawing/2014/main" id="{21C9F551-AFE9-0973-2117-C6CBF8585A06}"/>
              </a:ext>
            </a:extLst>
          </p:cNvPr>
          <p:cNvSpPr txBox="1"/>
          <p:nvPr userDrawn="1"/>
        </p:nvSpPr>
        <p:spPr>
          <a:xfrm>
            <a:off x="9435948" y="349177"/>
            <a:ext cx="2337564" cy="1583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tabLst>
                <a:tab pos="982980" algn="l"/>
              </a:tabLst>
            </a:pPr>
            <a:r>
              <a:rPr lang="it-IT" sz="950" b="1" spc="300" dirty="0">
                <a:solidFill>
                  <a:schemeClr val="bg1"/>
                </a:solidFill>
                <a:latin typeface="Arial"/>
                <a:cs typeface="Arial"/>
              </a:rPr>
              <a:t>Autore: Mirko Onorato</a:t>
            </a:r>
            <a:endParaRPr lang="it-IT" sz="950" spc="3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C4425D4D-A67B-8DB9-9A03-E768C2FD3E34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8488" y="285335"/>
            <a:ext cx="2211023" cy="314198"/>
          </a:xfrm>
          <a:prstGeom prst="rect">
            <a:avLst/>
          </a:prstGeom>
        </p:spPr>
      </p:pic>
      <p:sp>
        <p:nvSpPr>
          <p:cNvPr id="13" name="Segnaposto numero diapositiva 6" hidden="1">
            <a:extLst>
              <a:ext uri="{FF2B5EF4-FFF2-40B4-BE49-F238E27FC236}">
                <a16:creationId xmlns:a16="http://schemas.microsoft.com/office/drawing/2014/main" id="{F8AAF250-B3FA-F808-9996-FA310B7EEA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481FF4BB-6EC3-F2A7-6542-58D51086A02D}"/>
              </a:ext>
            </a:extLst>
          </p:cNvPr>
          <p:cNvPicPr preferRelativeResize="0"/>
          <p:nvPr userDrawn="1"/>
        </p:nvPicPr>
        <p:blipFill rotWithShape="1">
          <a:blip r:embed="rId5" cstate="print"/>
          <a:srcRect l="1386" t="187" r="342" b="95555"/>
          <a:stretch/>
        </p:blipFill>
        <p:spPr>
          <a:xfrm>
            <a:off x="0" y="0"/>
            <a:ext cx="12191992" cy="20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285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98DC6F-CD43-0811-A979-B271C0C3A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  <a:prstGeom prst="rect">
            <a:avLst/>
          </a:prstGeom>
        </p:spPr>
        <p:txBody>
          <a:bodyPr/>
          <a:lstStyle>
            <a:lvl1pPr>
              <a:defRPr sz="2200" b="1">
                <a:solidFill>
                  <a:srgbClr val="171FE2"/>
                </a:solidFill>
                <a:latin typeface="Neue Haas Grotesk Text Pro" panose="020B0504020202020204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2E0480-F66A-DF55-F8D6-E7F6741750C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8488" y="1399311"/>
            <a:ext cx="11355024" cy="48033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it-IT" dirty="0"/>
              <a:t>Contenuto della lezione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F14CEF-205B-0C08-0A06-82B44009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E4DB6AF-4CA5-F1AF-60DE-4AC9236D4298}"/>
              </a:ext>
            </a:extLst>
          </p:cNvPr>
          <p:cNvSpPr/>
          <p:nvPr userDrawn="1"/>
        </p:nvSpPr>
        <p:spPr>
          <a:xfrm>
            <a:off x="0" y="-2"/>
            <a:ext cx="12192000" cy="179193"/>
          </a:xfrm>
          <a:prstGeom prst="rect">
            <a:avLst/>
          </a:prstGeom>
          <a:solidFill>
            <a:srgbClr val="171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590B833C-D2A8-59BC-D3D6-DC5153499B29}"/>
              </a:ext>
            </a:extLst>
          </p:cNvPr>
          <p:cNvSpPr txBox="1"/>
          <p:nvPr userDrawn="1"/>
        </p:nvSpPr>
        <p:spPr>
          <a:xfrm>
            <a:off x="9435948" y="349177"/>
            <a:ext cx="2337564" cy="1583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tabLst>
                <a:tab pos="982980" algn="l"/>
              </a:tabLst>
            </a:pPr>
            <a:r>
              <a:rPr lang="it-IT" sz="950" b="1" spc="300" dirty="0">
                <a:solidFill>
                  <a:schemeClr val="tx1"/>
                </a:solidFill>
                <a:latin typeface="Arial"/>
                <a:cs typeface="Arial"/>
              </a:rPr>
              <a:t>Autore: Mirko Onorato</a:t>
            </a:r>
            <a:endParaRPr lang="it-IT" sz="950" spc="3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545164C9-21E1-0EF7-17C2-2E5528B7FC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8488" y="285335"/>
            <a:ext cx="2211023" cy="31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562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aborato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5DB3A6F7-B730-F638-2762-1FD1042E5DD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698DC6F-CD43-0811-A979-B271C0C3A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1206"/>
            <a:ext cx="10515600" cy="314198"/>
          </a:xfrm>
          <a:prstGeom prst="rect">
            <a:avLst/>
          </a:prstGeom>
        </p:spPr>
        <p:txBody>
          <a:bodyPr/>
          <a:lstStyle>
            <a:lvl1pPr>
              <a:defRPr sz="2200" b="1">
                <a:solidFill>
                  <a:schemeClr val="tx1"/>
                </a:solidFill>
                <a:latin typeface="Neue Haas Grotesk Text Pro" panose="020B0504020202020204" pitchFamily="34" charset="0"/>
              </a:defRPr>
            </a:lvl1pPr>
          </a:lstStyle>
          <a:p>
            <a:r>
              <a:rPr lang="it-IT" dirty="0"/>
              <a:t>Titolo del laboratorio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2E0480-F66A-DF55-F8D6-E7F6741750C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8488" y="1399311"/>
            <a:ext cx="11355024" cy="48033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it-IT" dirty="0"/>
              <a:t>Traccia del laboratorio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F14CEF-205B-0C08-0A06-82B44009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E4DB6AF-4CA5-F1AF-60DE-4AC9236D4298}"/>
              </a:ext>
            </a:extLst>
          </p:cNvPr>
          <p:cNvSpPr/>
          <p:nvPr userDrawn="1"/>
        </p:nvSpPr>
        <p:spPr>
          <a:xfrm>
            <a:off x="0" y="-2"/>
            <a:ext cx="12192000" cy="1791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590B833C-D2A8-59BC-D3D6-DC5153499B29}"/>
              </a:ext>
            </a:extLst>
          </p:cNvPr>
          <p:cNvSpPr txBox="1"/>
          <p:nvPr userDrawn="1"/>
        </p:nvSpPr>
        <p:spPr>
          <a:xfrm>
            <a:off x="9435948" y="349177"/>
            <a:ext cx="2337564" cy="1583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tabLst>
                <a:tab pos="982980" algn="l"/>
              </a:tabLst>
            </a:pPr>
            <a:r>
              <a:rPr lang="it-IT" sz="950" b="1" spc="300" dirty="0">
                <a:solidFill>
                  <a:schemeClr val="tx1"/>
                </a:solidFill>
                <a:latin typeface="Arial"/>
                <a:cs typeface="Arial"/>
              </a:rPr>
              <a:t>Autore: Nome Cognome</a:t>
            </a:r>
            <a:endParaRPr lang="it-IT" sz="950" spc="3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545164C9-21E1-0EF7-17C2-2E5528B7FC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8488" y="285335"/>
            <a:ext cx="2211023" cy="31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784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Ou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fondo">
            <a:extLst>
              <a:ext uri="{FF2B5EF4-FFF2-40B4-BE49-F238E27FC236}">
                <a16:creationId xmlns:a16="http://schemas.microsoft.com/office/drawing/2014/main" id="{3151B56A-A6F1-5CFE-90D4-C91637CA43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8" name="bg object 16">
              <a:extLst>
                <a:ext uri="{FF2B5EF4-FFF2-40B4-BE49-F238E27FC236}">
                  <a16:creationId xmlns:a16="http://schemas.microsoft.com/office/drawing/2014/main" id="{F245C0BF-8E93-514B-6EA0-0DB46DDE199E}"/>
                </a:ext>
              </a:extLst>
            </p:cNvPr>
            <p:cNvPicPr/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9" name="Sfondo nero">
              <a:extLst>
                <a:ext uri="{FF2B5EF4-FFF2-40B4-BE49-F238E27FC236}">
                  <a16:creationId xmlns:a16="http://schemas.microsoft.com/office/drawing/2014/main" id="{7E15F8EB-6BFE-6BE4-8488-2A37B82D22A6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A234C8D3-EBFE-A5AB-FBEC-506345C26835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Neue Haas Grotesk Text Pro" panose="020B05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6DDC59E2-35B7-B79B-0CDA-5FE67578D3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4735" y="2446545"/>
            <a:ext cx="5342528" cy="620212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295F674-D64B-ECCA-4DA2-D47F8EABE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8283" y="3791244"/>
            <a:ext cx="7995432" cy="535518"/>
          </a:xfrm>
          <a:prstGeom prst="rect">
            <a:avLst/>
          </a:prstGeom>
        </p:spPr>
        <p:txBody>
          <a:bodyPr anchor="ctr"/>
          <a:lstStyle>
            <a:lvl1pPr algn="ctr">
              <a:defRPr sz="3600" b="1" spc="300">
                <a:solidFill>
                  <a:schemeClr val="bg1"/>
                </a:solidFill>
                <a:latin typeface="Neue Haas Grotesk Display Pro" panose="020D0304030502050203" pitchFamily="34" charset="0"/>
              </a:defRPr>
            </a:lvl1pPr>
          </a:lstStyle>
          <a:p>
            <a:r>
              <a:rPr lang="it-IT" dirty="0"/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128854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fondo">
            <a:extLst>
              <a:ext uri="{FF2B5EF4-FFF2-40B4-BE49-F238E27FC236}">
                <a16:creationId xmlns:a16="http://schemas.microsoft.com/office/drawing/2014/main" id="{3151B56A-A6F1-5CFE-90D4-C91637CA43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8" name="bg object 16">
              <a:extLst>
                <a:ext uri="{FF2B5EF4-FFF2-40B4-BE49-F238E27FC236}">
                  <a16:creationId xmlns:a16="http://schemas.microsoft.com/office/drawing/2014/main" id="{F245C0BF-8E93-514B-6EA0-0DB46DDE199E}"/>
                </a:ext>
              </a:extLst>
            </p:cNvPr>
            <p:cNvPicPr/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9" name="Sfondo nero">
              <a:extLst>
                <a:ext uri="{FF2B5EF4-FFF2-40B4-BE49-F238E27FC236}">
                  <a16:creationId xmlns:a16="http://schemas.microsoft.com/office/drawing/2014/main" id="{7E15F8EB-6BFE-6BE4-8488-2A37B82D22A6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A234C8D3-EBFE-A5AB-FBEC-506345C26835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Neue Haas Grotesk Text Pro" panose="020B05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6DDC59E2-35B7-B79B-0CDA-5FE67578D3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4735" y="2446545"/>
            <a:ext cx="5342528" cy="620212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295F674-D64B-ECCA-4DA2-D47F8EABE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8283" y="3791244"/>
            <a:ext cx="7995432" cy="535518"/>
          </a:xfrm>
          <a:prstGeom prst="rect">
            <a:avLst/>
          </a:prstGeom>
        </p:spPr>
        <p:txBody>
          <a:bodyPr anchor="ctr"/>
          <a:lstStyle>
            <a:lvl1pPr algn="ctr">
              <a:defRPr sz="3600" b="1" spc="300">
                <a:solidFill>
                  <a:schemeClr val="bg1"/>
                </a:solidFill>
                <a:latin typeface="Neue Haas Grotesk Display Pro" panose="020D0304030502050203" pitchFamily="34" charset="0"/>
              </a:defRPr>
            </a:lvl1pPr>
          </a:lstStyle>
          <a:p>
            <a:r>
              <a:rPr lang="it-IT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736105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fondo">
            <a:extLst>
              <a:ext uri="{FF2B5EF4-FFF2-40B4-BE49-F238E27FC236}">
                <a16:creationId xmlns:a16="http://schemas.microsoft.com/office/drawing/2014/main" id="{0871CBC8-6163-D253-2648-0C5B2A35DA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7" name="bg object 16">
              <a:extLst>
                <a:ext uri="{FF2B5EF4-FFF2-40B4-BE49-F238E27FC236}">
                  <a16:creationId xmlns:a16="http://schemas.microsoft.com/office/drawing/2014/main" id="{D3B481F3-FDD2-E9B0-AAF0-6B05C97B7493}"/>
                </a:ext>
              </a:extLst>
            </p:cNvPr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8" name="Sfondo nero">
              <a:extLst>
                <a:ext uri="{FF2B5EF4-FFF2-40B4-BE49-F238E27FC236}">
                  <a16:creationId xmlns:a16="http://schemas.microsoft.com/office/drawing/2014/main" id="{2B2124EE-D2EC-EB26-C788-2D1671E2C0D4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sp>
        <p:nvSpPr>
          <p:cNvPr id="6" name="Segnaposto numero diapositiva 5" hidden="1">
            <a:extLst>
              <a:ext uri="{FF2B5EF4-FFF2-40B4-BE49-F238E27FC236}">
                <a16:creationId xmlns:a16="http://schemas.microsoft.com/office/drawing/2014/main" id="{8BF62DA6-567D-9738-C9B4-B35130FB0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  <a:latin typeface="Neue Haas Grotesk Text Pro" panose="020B0504020202020204" pitchFamily="34" charset="0"/>
              </a:defRPr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08AF4DDA-AF5C-9192-0A90-B2EE16B197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81312" y="3055807"/>
            <a:ext cx="6429375" cy="74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31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1" r:id="rId2"/>
    <p:sldLayoutId id="2147483674" r:id="rId3"/>
    <p:sldLayoutId id="2147483692" r:id="rId4"/>
    <p:sldLayoutId id="2147483678" r:id="rId5"/>
    <p:sldLayoutId id="214748369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9659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14AE908-95ED-7A3B-515A-275CA8318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795046"/>
            <a:ext cx="10515600" cy="1445982"/>
          </a:xfrm>
        </p:spPr>
        <p:txBody>
          <a:bodyPr/>
          <a:lstStyle/>
          <a:p>
            <a:r>
              <a:rPr lang="it-IT" dirty="0"/>
              <a:t>MODULO 1: Architettura di Base e Componenti Core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DAC5512-E772-1D07-1956-6544F2732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5E91E-B103-4211-9892-B5CF4BF06646}" type="slidenum">
              <a:rPr lang="it-IT" smtClean="0">
                <a:solidFill>
                  <a:srgbClr val="0C0C0D"/>
                </a:solidFill>
              </a:rPr>
              <a:pPr/>
              <a:t>2</a:t>
            </a:fld>
            <a:endParaRPr lang="it-IT" dirty="0">
              <a:solidFill>
                <a:srgbClr val="0C0C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79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C232A863-9AB2-F1DD-0EBE-01D055E0C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1: Introduzione a Docker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4B7AE27A-7139-F647-C23C-B014C3A3B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Docker è una piattaforma software Open Source </a:t>
            </a:r>
            <a:r>
              <a:rPr lang="it-IT" dirty="0">
                <a:solidFill>
                  <a:srgbClr val="171FE2"/>
                </a:solidFill>
              </a:rPr>
              <a:t>progettata per automatizzare la creazione, la distribuzione e l'esecuzione di applicazioni dentro ambienti isolati</a:t>
            </a:r>
            <a:r>
              <a:rPr lang="it-IT" dirty="0"/>
              <a:t>, leggeri e autosufficienti chiamati container. </a:t>
            </a:r>
          </a:p>
          <a:p>
            <a:endParaRPr lang="it-IT" dirty="0"/>
          </a:p>
          <a:p>
            <a:r>
              <a:rPr lang="it-IT" dirty="0"/>
              <a:t>Tradizionalmente, il deployment soffriva della </a:t>
            </a:r>
            <a:r>
              <a:rPr lang="it-IT" dirty="0">
                <a:solidFill>
                  <a:srgbClr val="171FE2"/>
                </a:solidFill>
              </a:rPr>
              <a:t>discrepanza tra gli ambienti di sviluppo e quelli di produzione</a:t>
            </a:r>
            <a:r>
              <a:rPr lang="it-IT" dirty="0"/>
              <a:t> (versioni di librerie differenti, patch del sistema operativo mancanti).</a:t>
            </a:r>
          </a:p>
          <a:p>
            <a:endParaRPr lang="it-IT" dirty="0"/>
          </a:p>
          <a:p>
            <a:r>
              <a:rPr lang="it-IT" dirty="0">
                <a:solidFill>
                  <a:srgbClr val="171FE2"/>
                </a:solidFill>
              </a:rPr>
              <a:t>Docker risolve radicalmente questa frizione non virtualizzando l'hardware</a:t>
            </a:r>
            <a:r>
              <a:rPr lang="it-IT" dirty="0"/>
              <a:t>, ma isolando i processi a livello software. Quindi non emula l’hardware (come accade per le Virtual Machine), né include un sistema operativo completo.</a:t>
            </a:r>
          </a:p>
          <a:p>
            <a:endParaRPr lang="it-IT" dirty="0"/>
          </a:p>
          <a:p>
            <a:r>
              <a:rPr lang="it-IT" dirty="0">
                <a:solidFill>
                  <a:srgbClr val="171FE2"/>
                </a:solidFill>
              </a:rPr>
              <a:t>I container racchiudono l'applicazione e l'esatto ecosistema di dipendenze </a:t>
            </a:r>
            <a:r>
              <a:rPr lang="it-IT" dirty="0"/>
              <a:t>di cui ha bisogno per girare. Questo garantisce che il software si comporti in modo identico su qualsiasi macchina ospitante (Host), azzerando i tempi di configurazione.</a:t>
            </a:r>
          </a:p>
          <a:p>
            <a:endParaRPr lang="it-IT" dirty="0"/>
          </a:p>
          <a:p>
            <a:r>
              <a:rPr lang="it-IT" dirty="0"/>
              <a:t>Docker non è nato per colmare il divario tra il mondo dello sviluppo (Dev) e quello delle operazioni sistemistiche (Ops), inaugurando di fatto l'era della metodologia </a:t>
            </a:r>
            <a:r>
              <a:rPr lang="it-IT" dirty="0" err="1"/>
              <a:t>DevOps</a:t>
            </a:r>
            <a:r>
              <a:rPr lang="it-IT" dirty="0"/>
              <a:t>.</a:t>
            </a:r>
            <a:endParaRPr lang="it-IT" b="1" dirty="0">
              <a:solidFill>
                <a:srgbClr val="171FE2"/>
              </a:solidFill>
            </a:endParaRP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0A34DE43-08B1-290A-D6C2-1F28E294F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26178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6D859-FDB5-3FEB-4CE3-29CC39917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EFAC1471-48FE-BBB1-0BD2-BEB468E19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2: L'Architettura Client-Server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B3849074-7AE0-0DAE-939B-F662D761F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L'architettura interna di Docker non è un blocco monolitico, bensì un sistema distribuito e altamente disaccoppiato basato sul pattern Client-Server. </a:t>
            </a:r>
          </a:p>
          <a:p>
            <a:r>
              <a:rPr lang="it-IT" dirty="0"/>
              <a:t>Quando un utente interagisce con Docker </a:t>
            </a:r>
            <a:r>
              <a:rPr lang="it-IT" dirty="0">
                <a:solidFill>
                  <a:srgbClr val="171FE2"/>
                </a:solidFill>
              </a:rPr>
              <a:t>digitando un comando nel terminale, non sta operando direttamente sui processi o sui file dei container</a:t>
            </a:r>
            <a:r>
              <a:rPr lang="it-IT" dirty="0"/>
              <a:t>. L'infrastruttura si articola su tre componenti fondamentali che cooperano a stadi: 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il Client (la </a:t>
            </a:r>
            <a:r>
              <a:rPr lang="it-IT" b="1" dirty="0"/>
              <a:t>Docker CLI</a:t>
            </a:r>
            <a:r>
              <a:rPr lang="it-IT" dirty="0"/>
              <a:t>), 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un canale di comunicazione intermedio basato su protocolli standard (la </a:t>
            </a:r>
            <a:r>
              <a:rPr lang="it-IT" b="1" dirty="0"/>
              <a:t>Docker Engine API</a:t>
            </a:r>
            <a:r>
              <a:rPr lang="it-IT" dirty="0"/>
              <a:t>), 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il Server di </a:t>
            </a:r>
            <a:r>
              <a:rPr lang="it-IT" dirty="0" err="1"/>
              <a:t>backend</a:t>
            </a:r>
            <a:r>
              <a:rPr lang="it-IT" dirty="0"/>
              <a:t> (il </a:t>
            </a:r>
            <a:r>
              <a:rPr lang="it-IT" b="1" dirty="0"/>
              <a:t>Docker </a:t>
            </a:r>
            <a:r>
              <a:rPr lang="it-IT" b="1" dirty="0" err="1"/>
              <a:t>Daemon</a:t>
            </a:r>
            <a:r>
              <a:rPr lang="it-IT" dirty="0"/>
              <a:t>, identificato dal processo di sistema </a:t>
            </a:r>
            <a:r>
              <a:rPr lang="it-IT" dirty="0" err="1"/>
              <a:t>dockerd</a:t>
            </a:r>
            <a:r>
              <a:rPr lang="it-IT" dirty="0"/>
              <a:t>).</a:t>
            </a:r>
          </a:p>
          <a:p>
            <a:r>
              <a:rPr lang="it-IT" dirty="0"/>
              <a:t>Questo disaccoppiamento ingegneristico è talmente profondo che i tre componenti possono risiedere sulla stessa macchina locale o essere distribuiti su nodi di rete differenti: uno sviluppatore può usare la CLI dal proprio computer portatile per impartire comandi a un </a:t>
            </a:r>
            <a:r>
              <a:rPr lang="it-IT" dirty="0" err="1"/>
              <a:t>Daemon</a:t>
            </a:r>
            <a:r>
              <a:rPr lang="it-IT" dirty="0"/>
              <a:t> che gira su un server Linux dedicato in Cloud.</a:t>
            </a: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6AE6654C-B15D-F67B-C967-229A1519C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84366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3332C-0683-E54B-22E7-580A183D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D3DB6545-C3D6-F561-9946-F2A58AEAE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3: La Docker CLI (Il Client)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BEEF7014-ABDE-5FF3-B12B-2B7729C7C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La Docker CLI (</a:t>
            </a:r>
            <a:r>
              <a:rPr lang="it-IT" dirty="0" err="1"/>
              <a:t>Command</a:t>
            </a:r>
            <a:r>
              <a:rPr lang="it-IT" dirty="0"/>
              <a:t> Line Interface) rappresenta l'interfaccia a riga di comando ufficiale con cui l'operatore umano o gli script di automazione comunicano le proprie intenzioni al sistema. </a:t>
            </a:r>
          </a:p>
          <a:p>
            <a:r>
              <a:rPr lang="it-IT" dirty="0"/>
              <a:t>Comandi come: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run</a:t>
            </a:r>
            <a:r>
              <a:rPr lang="it-IT" dirty="0"/>
              <a:t>,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ps</a:t>
            </a:r>
            <a:r>
              <a:rPr lang="it-IT" dirty="0"/>
              <a:t>,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build </a:t>
            </a:r>
            <a:r>
              <a:rPr lang="it-IT" dirty="0"/>
              <a:t>o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stop </a:t>
            </a:r>
            <a:r>
              <a:rPr lang="it-IT" dirty="0"/>
              <a:t>appartengono esclusivamente a questo strato dell'architettura. </a:t>
            </a:r>
          </a:p>
          <a:p>
            <a:r>
              <a:rPr lang="it-IT" dirty="0"/>
              <a:t>La CLI ha due compiti principali e strettamente circoscritti: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la cattura dell'input dell'utente con la conseguente </a:t>
            </a:r>
            <a:r>
              <a:rPr lang="it-IT" dirty="0">
                <a:solidFill>
                  <a:srgbClr val="171FE2"/>
                </a:solidFill>
              </a:rPr>
              <a:t>validazione sintattica </a:t>
            </a:r>
            <a:r>
              <a:rPr lang="it-IT" dirty="0"/>
              <a:t>locale del comando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la </a:t>
            </a:r>
            <a:r>
              <a:rPr lang="it-IT" dirty="0">
                <a:solidFill>
                  <a:srgbClr val="171FE2"/>
                </a:solidFill>
              </a:rPr>
              <a:t>traduzione di tale input in una richiesta HTTP </a:t>
            </a:r>
            <a:r>
              <a:rPr lang="it-IT" dirty="0"/>
              <a:t>strutturata secondo gli standard REST.</a:t>
            </a:r>
          </a:p>
          <a:p>
            <a:r>
              <a:rPr lang="it-IT" dirty="0"/>
              <a:t>La CLI non possiede alcuna intelligenza operativa per creare immagini o avviare processi. Se la CLI rileva un errore di battitura, blocca l'esecuzione immediatamente sul computer dell'utente, senza inviare alcuna richiesta al motore di </a:t>
            </a:r>
            <a:r>
              <a:rPr lang="it-IT" dirty="0" err="1"/>
              <a:t>backend</a:t>
            </a:r>
            <a:r>
              <a:rPr lang="it-IT" dirty="0"/>
              <a:t>.</a:t>
            </a:r>
          </a:p>
          <a:p>
            <a:r>
              <a:rPr lang="it-IT" dirty="0"/>
              <a:t>La CLI è un client "stupido" ma rigoroso: se scriviamo "</a:t>
            </a:r>
            <a:r>
              <a:rPr lang="it-IT" dirty="0" err="1"/>
              <a:t>docker</a:t>
            </a:r>
            <a:r>
              <a:rPr lang="it-IT" dirty="0"/>
              <a:t> </a:t>
            </a:r>
            <a:r>
              <a:rPr lang="it-IT" dirty="0" err="1"/>
              <a:t>runn</a:t>
            </a:r>
            <a:r>
              <a:rPr lang="it-IT" dirty="0"/>
              <a:t>", l'errore visualizzato è generato istantaneamente dalla CLI, senza che il motore Docker </a:t>
            </a:r>
            <a:r>
              <a:rPr lang="it-IT" dirty="0" err="1"/>
              <a:t>Daemon</a:t>
            </a:r>
            <a:r>
              <a:rPr lang="it-IT" dirty="0"/>
              <a:t> sia stato minimamente interpellato.</a:t>
            </a:r>
            <a:endParaRPr lang="it-IT" b="1" dirty="0">
              <a:solidFill>
                <a:srgbClr val="171FE2"/>
              </a:solidFill>
            </a:endParaRP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34E75093-0B8D-6AA8-72CD-D35A4BF7F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27689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4DD8A0-4B74-48A6-7E4F-BBD5F313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4: Il Docker </a:t>
            </a:r>
            <a:r>
              <a:rPr lang="it-IT" dirty="0" err="1"/>
              <a:t>Daemon</a:t>
            </a:r>
            <a:r>
              <a:rPr lang="it-IT" dirty="0"/>
              <a:t> (Il Motore Operativo </a:t>
            </a:r>
            <a:r>
              <a:rPr lang="it-IT" dirty="0" err="1"/>
              <a:t>dockerd</a:t>
            </a:r>
            <a:r>
              <a:rPr lang="it-IT" dirty="0"/>
              <a:t>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F556AA0-60FA-1C24-A92F-CAADC6F5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Il Docker </a:t>
            </a:r>
            <a:r>
              <a:rPr lang="it-IT" dirty="0" err="1"/>
              <a:t>Daemon</a:t>
            </a:r>
            <a:r>
              <a:rPr lang="it-IT" dirty="0"/>
              <a:t>, il cui nome di processo è </a:t>
            </a:r>
            <a:r>
              <a:rPr lang="it-IT" dirty="0" err="1"/>
              <a:t>dockerd</a:t>
            </a:r>
            <a:r>
              <a:rPr lang="it-IT" dirty="0"/>
              <a:t>, costituisce il cuore pulsante, permanente e intelligente di tutto l'ecosistema Docker Engine. </a:t>
            </a:r>
          </a:p>
          <a:p>
            <a:r>
              <a:rPr lang="it-IT" dirty="0">
                <a:solidFill>
                  <a:srgbClr val="171FE2"/>
                </a:solidFill>
              </a:rPr>
              <a:t>Gira costantemente in background </a:t>
            </a:r>
            <a:r>
              <a:rPr lang="it-IT" dirty="0"/>
              <a:t>come servizio del sistema operativo ospitante e </a:t>
            </a:r>
            <a:r>
              <a:rPr lang="it-IT" dirty="0">
                <a:solidFill>
                  <a:srgbClr val="171FE2"/>
                </a:solidFill>
              </a:rPr>
              <a:t>rimane in ascolto permanente delle richieste HTTP</a:t>
            </a:r>
            <a:r>
              <a:rPr lang="it-IT" dirty="0"/>
              <a:t> provenienti dalla CLI o da altri client autorizzati. </a:t>
            </a:r>
          </a:p>
          <a:p>
            <a:r>
              <a:rPr lang="it-IT" dirty="0"/>
              <a:t>Il </a:t>
            </a:r>
            <a:r>
              <a:rPr lang="it-IT" dirty="0" err="1"/>
              <a:t>Daemon</a:t>
            </a:r>
            <a:r>
              <a:rPr lang="it-IT" dirty="0"/>
              <a:t> è l'unico componente che possiede i privilegi e la logica per effettuare operazioni reali sul sistema: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si occupa di scaricare e catalogare le immagini dal cloud (Docker HUB);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allocare e partizionare lo spazio su disco per i dati (Docker storage);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configurare i bridge di rete virtuali per consentire la comunicazione tra i container;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invocare le chiamate di basso livello al kernel Linux per far nascere, monitorare o distruggere fisicamente i container.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B32344C-CE30-9739-9EED-036D14964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65713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C7A46-F264-42D7-A2A5-445A7F9F5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840226-07C6-6102-6B77-07FB6C230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5: La Docker Engine API ed i Payload JSON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99B57E-BD8D-1B00-1AAD-7C596735F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Le comunicazioni tra la CLI e il Daemon sfruttano la Docker Engine API, </a:t>
            </a:r>
            <a:r>
              <a:rPr lang="it-IT" dirty="0">
                <a:solidFill>
                  <a:srgbClr val="171FE2"/>
                </a:solidFill>
              </a:rPr>
              <a:t>un'interfaccia di programmazione guidata dalle specifiche HTTP </a:t>
            </a:r>
            <a:r>
              <a:rPr lang="it-IT" dirty="0"/>
              <a:t>e conforme all'architettura REST (</a:t>
            </a:r>
            <a:r>
              <a:rPr lang="it-IT" dirty="0" err="1"/>
              <a:t>Representational</a:t>
            </a:r>
            <a:r>
              <a:rPr lang="it-IT" dirty="0"/>
              <a:t> State Transfer).</a:t>
            </a:r>
          </a:p>
          <a:p>
            <a:endParaRPr lang="it-IT" dirty="0"/>
          </a:p>
          <a:p>
            <a:r>
              <a:rPr lang="it-IT" dirty="0"/>
              <a:t>Quando un utente digita sul terminale il comando di ispezione </a:t>
            </a:r>
            <a:r>
              <a:rPr lang="it-IT" dirty="0" err="1"/>
              <a:t>docker</a:t>
            </a:r>
            <a:r>
              <a:rPr lang="it-IT" dirty="0"/>
              <a:t> </a:t>
            </a:r>
            <a:r>
              <a:rPr lang="it-IT" dirty="0" err="1"/>
              <a:t>ps</a:t>
            </a:r>
            <a:r>
              <a:rPr lang="it-IT" dirty="0"/>
              <a:t>, la CLI intercetta il comando e genera silenziosamente una richiesta di rete di tipo </a:t>
            </a:r>
            <a:r>
              <a:rPr lang="it-IT" b="1" dirty="0">
                <a:solidFill>
                  <a:srgbClr val="171FE2"/>
                </a:solidFill>
                <a:latin typeface="Consolas" panose="020B0609020204030204" pitchFamily="49" charset="0"/>
              </a:rPr>
              <a:t>GET</a:t>
            </a:r>
            <a:r>
              <a:rPr lang="it-IT" dirty="0"/>
              <a:t> indirizzata all'endpoint: 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/containers/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json</a:t>
            </a:r>
            <a:r>
              <a:rPr lang="it-IT" dirty="0"/>
              <a:t>. </a:t>
            </a:r>
          </a:p>
          <a:p>
            <a:endParaRPr lang="it-IT" dirty="0"/>
          </a:p>
          <a:p>
            <a:r>
              <a:rPr lang="it-IT" dirty="0"/>
              <a:t>Il Daemon intercetta la richiesta HTTP, interroga la propria memoria interna sullo stato dei processi attivi, e confeziona una risposta contenente un payload in formato JSON strutturato. </a:t>
            </a:r>
          </a:p>
          <a:p>
            <a:endParaRPr lang="it-IT" dirty="0"/>
          </a:p>
          <a:p>
            <a:r>
              <a:rPr lang="it-IT" dirty="0"/>
              <a:t>Questo file JSON viene rispedito alla CLI, la quale ha il solo compito di fare il </a:t>
            </a:r>
            <a:r>
              <a:rPr lang="it-IT" dirty="0" err="1"/>
              <a:t>parsing</a:t>
            </a:r>
            <a:r>
              <a:rPr lang="it-IT" dirty="0"/>
              <a:t> dei dati e formattarli in una tabella leggibile per l'occhio umano.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70B41A5-75D8-B9B5-91E6-F08BDD372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24993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49B0A7-7BBA-AB18-A5C2-6D557F0F6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6: Il Canale di Comunicazione Locale (Unix </a:t>
            </a:r>
            <a:r>
              <a:rPr lang="it-IT" dirty="0" err="1"/>
              <a:t>Socket</a:t>
            </a:r>
            <a:r>
              <a:rPr lang="it-IT" dirty="0"/>
              <a:t>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3F2D4D-DD99-7749-AE46-0DF325B51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Nello scenario standard in cui la Docker CLI e il Docker Daemon risiedono sulla stessa identica macchina fisica o virtuale Linux, la comunicazione HTTP non attraversa la scheda di rete fisica, ma sfrutta un canale di trasporto interno ultra-veloce chiamato Unix Domain </a:t>
            </a:r>
            <a:r>
              <a:rPr lang="it-IT" dirty="0" err="1"/>
              <a:t>Socket</a:t>
            </a:r>
            <a:r>
              <a:rPr lang="it-IT" dirty="0"/>
              <a:t>. </a:t>
            </a:r>
          </a:p>
          <a:p>
            <a:endParaRPr lang="it-IT" dirty="0"/>
          </a:p>
          <a:p>
            <a:r>
              <a:rPr lang="it-IT" dirty="0"/>
              <a:t>Questo </a:t>
            </a:r>
            <a:r>
              <a:rPr lang="it-IT" dirty="0" err="1"/>
              <a:t>socket</a:t>
            </a:r>
            <a:r>
              <a:rPr lang="it-IT" dirty="0"/>
              <a:t> è rappresentato nel filesystem di Linux come un file speciale situato nel percorso /var/</a:t>
            </a:r>
            <a:r>
              <a:rPr lang="it-IT" dirty="0" err="1"/>
              <a:t>run</a:t>
            </a:r>
            <a:r>
              <a:rPr lang="it-IT" dirty="0"/>
              <a:t>/</a:t>
            </a:r>
            <a:r>
              <a:rPr lang="it-IT" dirty="0" err="1"/>
              <a:t>docker.sock</a:t>
            </a:r>
            <a:r>
              <a:rPr lang="it-IT" dirty="0"/>
              <a:t>. </a:t>
            </a:r>
          </a:p>
          <a:p>
            <a:endParaRPr lang="it-IT" dirty="0"/>
          </a:p>
          <a:p>
            <a:r>
              <a:rPr lang="it-IT" dirty="0"/>
              <a:t>Le chiamate HTTP REST </a:t>
            </a:r>
            <a:r>
              <a:rPr lang="it-IT" dirty="0">
                <a:solidFill>
                  <a:srgbClr val="171FE2"/>
                </a:solidFill>
              </a:rPr>
              <a:t>viaggiano attraverso questo file di comunicazione locale</a:t>
            </a:r>
            <a:r>
              <a:rPr lang="it-IT" dirty="0"/>
              <a:t>, aggirando completamente lo </a:t>
            </a:r>
            <a:r>
              <a:rPr lang="it-IT" dirty="0" err="1"/>
              <a:t>stack</a:t>
            </a:r>
            <a:r>
              <a:rPr lang="it-IT" dirty="0"/>
              <a:t> di rete TCP/IP, il che azzera la latenza e garantisce prestazioni elevatissime.</a:t>
            </a:r>
          </a:p>
          <a:p>
            <a:endParaRPr lang="it-IT" dirty="0"/>
          </a:p>
          <a:p>
            <a:r>
              <a:rPr lang="it-IT" dirty="0"/>
              <a:t>L'accesso a questo file è protetto da permessi di sicurezza stringenti: solo l'utente root o gli utenti esplicitamente inseriti nel gruppo di sistema chiamato </a:t>
            </a:r>
            <a:r>
              <a:rPr lang="it-IT" dirty="0" err="1"/>
              <a:t>docker</a:t>
            </a:r>
            <a:r>
              <a:rPr lang="it-IT" dirty="0"/>
              <a:t> hanno il diritto di scrivere in questo </a:t>
            </a:r>
            <a:r>
              <a:rPr lang="it-IT" dirty="0" err="1"/>
              <a:t>socket</a:t>
            </a:r>
            <a:r>
              <a:rPr lang="it-IT" dirty="0"/>
              <a:t> per impartire ordini al </a:t>
            </a:r>
            <a:r>
              <a:rPr lang="it-IT" dirty="0" err="1"/>
              <a:t>Daemon</a:t>
            </a:r>
            <a:r>
              <a:rPr lang="it-IT" dirty="0"/>
              <a:t>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44DCFD6-99A7-EF1E-AFD0-6F1B5A331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03208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2203D-2EDF-DFAA-556E-A8C41057C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89315A-0544-DED8-0910-064844209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7: Anatomia Ingegneristica di un'Immagine Docker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D033FC8-9B98-6A90-D4CB-CDB8AC1E5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Un'immagine Docker è un file archivio statico, protetto da scrittura in modo definitivo (Read-</a:t>
            </a:r>
            <a:r>
              <a:rPr lang="it-IT" dirty="0" err="1"/>
              <a:t>Only</a:t>
            </a:r>
            <a:r>
              <a:rPr lang="it-IT" dirty="0"/>
              <a:t>) e totalmente immutabile, che funge da pacchetto di distribuzione per il software. </a:t>
            </a:r>
          </a:p>
          <a:p>
            <a:r>
              <a:rPr lang="it-IT" dirty="0">
                <a:solidFill>
                  <a:srgbClr val="171FE2"/>
                </a:solidFill>
              </a:rPr>
              <a:t>Al suo interno non vi è alcuna esecuzione attiva. </a:t>
            </a:r>
          </a:p>
          <a:p>
            <a:r>
              <a:rPr lang="it-IT" dirty="0"/>
              <a:t>Un'immagine racchiude una porzione di filesystem minimale derivata da: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una distribuzione Linux leggera (es. Alpine);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le librerie di sistema necessarie;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 </a:t>
            </a:r>
            <a:r>
              <a:rPr lang="it-IT" dirty="0" err="1"/>
              <a:t>runtime</a:t>
            </a:r>
            <a:r>
              <a:rPr lang="it-IT" dirty="0"/>
              <a:t> applicativi (come Node.js, l'ambiente di esecuzione JRE di Java, o l'interprete Python);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le configurazioni di rete di default;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le variabili d'ambiente preimpostate;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il codice sorgente o binario dell'applicazione stessa. </a:t>
            </a:r>
          </a:p>
          <a:p>
            <a:r>
              <a:rPr lang="it-IT" dirty="0"/>
              <a:t>Le immagini sono progettate per essere </a:t>
            </a:r>
            <a:r>
              <a:rPr lang="it-IT" dirty="0" err="1"/>
              <a:t>autocontenute</a:t>
            </a:r>
            <a:r>
              <a:rPr lang="it-IT" dirty="0"/>
              <a:t> e rigide: una volta che un'immagine è stata creata (fase di build), il suo contenuto interno non può più essere alterato. </a:t>
            </a:r>
          </a:p>
          <a:p>
            <a:r>
              <a:rPr lang="it-IT" b="1" dirty="0">
                <a:solidFill>
                  <a:srgbClr val="171FE2"/>
                </a:solidFill>
              </a:rPr>
              <a:t>Per applicare una modifica al codice, è necessario generare una nuova versione dell'immagine.</a:t>
            </a:r>
          </a:p>
          <a:p>
            <a:r>
              <a:rPr lang="it-IT" dirty="0"/>
              <a:t>Un'immagine è come un file ISO di un sistema operativo o l'eseguibile stampato su un CD-ROM: è un modello fisso che garantisce che il punto di partenza sia sempre identico nel tempo.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C637473-A7E4-E0F2-9867-EE8E07886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09263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83848-D041-63CD-BB94-96C58ADC3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2BD6FB-405B-A8C6-C139-D43F5413A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8: La Natura Dinamica del Container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7085D09-56C2-7983-5CDC-6347F726F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Se l'immagine rappresenta la componente statica e progettuale del sistema, il container costituisce la controparte dinamica, vivente e operativa. </a:t>
            </a:r>
          </a:p>
          <a:p>
            <a:endParaRPr lang="it-IT" dirty="0"/>
          </a:p>
          <a:p>
            <a:r>
              <a:rPr lang="it-IT" b="1" dirty="0">
                <a:solidFill>
                  <a:srgbClr val="171FE2"/>
                </a:solidFill>
              </a:rPr>
              <a:t>Un container è un'istanza isolata in esecuzione di una specifica immagine Docker. </a:t>
            </a:r>
          </a:p>
          <a:p>
            <a:endParaRPr lang="it-IT" dirty="0"/>
          </a:p>
          <a:p>
            <a:r>
              <a:rPr lang="it-IT" dirty="0"/>
              <a:t>Riprendendo un'analogia classica, se l'immagine è il progetto architettonico disegnato su carta (</a:t>
            </a:r>
            <a:r>
              <a:rPr lang="it-IT" dirty="0" err="1"/>
              <a:t>blueprint</a:t>
            </a:r>
            <a:r>
              <a:rPr lang="it-IT" dirty="0"/>
              <a:t>), il container è l'edificio fisico reale costruito, cablato e abitato. </a:t>
            </a:r>
          </a:p>
          <a:p>
            <a:endParaRPr lang="it-IT" dirty="0"/>
          </a:p>
          <a:p>
            <a:r>
              <a:rPr lang="it-IT" b="1" dirty="0">
                <a:solidFill>
                  <a:srgbClr val="171FE2"/>
                </a:solidFill>
              </a:rPr>
              <a:t>Dal punto di vista del sistema operativo ospitante, il container non è una macchina virtuale pesante, ma un normale processo di sistema visibile nel Task Manager o tramite il comando top. </a:t>
            </a:r>
          </a:p>
          <a:p>
            <a:endParaRPr lang="it-IT" dirty="0"/>
          </a:p>
          <a:p>
            <a:r>
              <a:rPr lang="it-IT" dirty="0"/>
              <a:t>La differenza fondamentale rispetto a un processo comune risiede nel fatto che il container viene forzatamente racchiuso dal kernel Linux in un perimetro invalicabile di isolamento software.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6B5F43D-2647-959C-9C26-6D4F82A12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66155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95CF4-F901-F277-20C7-16CF12B01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2AEA4A-DD81-8EBD-5668-9B92F36D2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9: Il Parallelismo Espositivo con la Programmazione OOP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94BD526-6AE9-CAF0-0790-42EB89964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L'immagine Docker si comporta esattamente come una Classe (es. la classe Car in Java): definisce le proprietà, i metodi, le variabili e la struttura logica, ma non occupa spazio nella memoria RAM dinamica. </a:t>
            </a:r>
          </a:p>
          <a:p>
            <a:endParaRPr lang="it-IT" dirty="0"/>
          </a:p>
          <a:p>
            <a:r>
              <a:rPr lang="it-IT" dirty="0"/>
              <a:t>Il container corrisponde all'Oggetto istanziato concretamente (es. </a:t>
            </a:r>
            <a:r>
              <a:rPr lang="it-IT" dirty="0" err="1"/>
              <a:t>myCar</a:t>
            </a:r>
            <a:r>
              <a:rPr lang="it-IT" dirty="0"/>
              <a:t> = new Car()). </a:t>
            </a:r>
          </a:p>
          <a:p>
            <a:endParaRPr lang="it-IT" dirty="0"/>
          </a:p>
          <a:p>
            <a:r>
              <a:rPr lang="it-IT" dirty="0"/>
              <a:t>Utilizzando il comando di avvio </a:t>
            </a:r>
            <a:r>
              <a:rPr lang="it-IT" b="1" dirty="0" err="1"/>
              <a:t>docker</a:t>
            </a:r>
            <a:r>
              <a:rPr lang="it-IT" b="1" dirty="0"/>
              <a:t> </a:t>
            </a:r>
            <a:r>
              <a:rPr lang="it-IT" b="1" dirty="0" err="1"/>
              <a:t>run</a:t>
            </a:r>
            <a:r>
              <a:rPr lang="it-IT" dirty="0"/>
              <a:t>, il motore (Docker Daemon) alloca le </a:t>
            </a:r>
            <a:r>
              <a:rPr lang="it-IT" dirty="0">
                <a:solidFill>
                  <a:srgbClr val="171FE2"/>
                </a:solidFill>
              </a:rPr>
              <a:t>risorse in memoria </a:t>
            </a:r>
            <a:r>
              <a:rPr lang="it-IT" dirty="0"/>
              <a:t>(Docker storage) e genera un oggetto </a:t>
            </a:r>
            <a:r>
              <a:rPr lang="it-IT" dirty="0" err="1"/>
              <a:t>runtime</a:t>
            </a:r>
            <a:r>
              <a:rPr lang="it-IT" dirty="0"/>
              <a:t> indipendente. </a:t>
            </a:r>
          </a:p>
          <a:p>
            <a:endParaRPr lang="it-IT" dirty="0"/>
          </a:p>
          <a:p>
            <a:r>
              <a:rPr lang="it-IT" dirty="0"/>
              <a:t>Esattamente come da una singola classe si possono istanziare migliaia di oggetti separati, da una singola immagine Docker si possono lanciare contemporaneamente decine di container autonomi.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5EB2548-E506-78C8-85BD-9AAE74816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98539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F67E6-059C-08E9-5E15-FBF6BBEAA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E73C40-B057-CA45-5446-D47C56331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10: Decomposizione Sequenziale di </a:t>
            </a:r>
            <a:r>
              <a:rPr lang="it-IT" dirty="0" err="1"/>
              <a:t>docker</a:t>
            </a:r>
            <a:r>
              <a:rPr lang="it-IT" dirty="0"/>
              <a:t> </a:t>
            </a:r>
            <a:r>
              <a:rPr lang="it-IT" dirty="0" err="1"/>
              <a:t>run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A66A20F-EEA5-FFEC-D151-F68C6CB43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Il comando </a:t>
            </a:r>
            <a:r>
              <a:rPr lang="it-IT" b="1" dirty="0" err="1">
                <a:latin typeface="Consolas" panose="020B0609020204030204" pitchFamily="49" charset="0"/>
              </a:rPr>
              <a:t>docker</a:t>
            </a:r>
            <a:r>
              <a:rPr lang="it-IT" b="1" dirty="0">
                <a:latin typeface="Consolas" panose="020B0609020204030204" pitchFamily="49" charset="0"/>
              </a:rPr>
              <a:t> </a:t>
            </a:r>
            <a:r>
              <a:rPr lang="it-IT" b="1" dirty="0" err="1">
                <a:latin typeface="Consolas" panose="020B0609020204030204" pitchFamily="49" charset="0"/>
              </a:rPr>
              <a:t>run</a:t>
            </a:r>
            <a:r>
              <a:rPr lang="it-IT" b="1" dirty="0">
                <a:latin typeface="Consolas" panose="020B0609020204030204" pitchFamily="49" charset="0"/>
              </a:rPr>
              <a:t> </a:t>
            </a:r>
            <a:r>
              <a:rPr lang="it-IT" b="1" dirty="0" err="1">
                <a:latin typeface="Consolas" panose="020B0609020204030204" pitchFamily="49" charset="0"/>
              </a:rPr>
              <a:t>nginx</a:t>
            </a:r>
            <a:r>
              <a:rPr lang="it-IT" b="1" dirty="0">
                <a:latin typeface="Consolas" panose="020B0609020204030204" pitchFamily="49" charset="0"/>
              </a:rPr>
              <a:t> </a:t>
            </a:r>
            <a:r>
              <a:rPr lang="it-IT" dirty="0"/>
              <a:t>è il comando più utilizzato in Docker che unisce tre comandi atomici distinti. </a:t>
            </a:r>
          </a:p>
          <a:p>
            <a:endParaRPr lang="it-IT" dirty="0"/>
          </a:p>
          <a:p>
            <a:r>
              <a:rPr lang="it-IT" dirty="0"/>
              <a:t>Quando lo digitiamo, il Daemon esegue la seguente sequenza: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per prima cosa </a:t>
            </a:r>
            <a:r>
              <a:rPr lang="it-IT" b="1" dirty="0">
                <a:solidFill>
                  <a:srgbClr val="171FE2"/>
                </a:solidFill>
              </a:rPr>
              <a:t>interroga i cataloghi </a:t>
            </a:r>
            <a:r>
              <a:rPr lang="it-IT" dirty="0">
                <a:solidFill>
                  <a:srgbClr val="171FE2"/>
                </a:solidFill>
              </a:rPr>
              <a:t>dello storage locale </a:t>
            </a:r>
            <a:r>
              <a:rPr lang="it-IT" dirty="0"/>
              <a:t>per verificare se l'immagine richiesta sia presente; se l'immagine non c'è, invoca internamente un comando di </a:t>
            </a:r>
            <a:r>
              <a:rPr lang="it-IT" b="1" dirty="0" err="1">
                <a:solidFill>
                  <a:srgbClr val="171FE2"/>
                </a:solidFill>
              </a:rPr>
              <a:t>docker</a:t>
            </a:r>
            <a:r>
              <a:rPr lang="it-IT" b="1" dirty="0">
                <a:solidFill>
                  <a:srgbClr val="171FE2"/>
                </a:solidFill>
              </a:rPr>
              <a:t> pull </a:t>
            </a:r>
            <a:r>
              <a:rPr lang="it-IT" dirty="0"/>
              <a:t>per scaricarla dal cloud (</a:t>
            </a:r>
            <a:r>
              <a:rPr lang="it-IT" b="1" dirty="0">
                <a:solidFill>
                  <a:srgbClr val="171FE2"/>
                </a:solidFill>
              </a:rPr>
              <a:t>Docker HUB</a:t>
            </a:r>
            <a:r>
              <a:rPr lang="it-IT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Successivamente, esegue un </a:t>
            </a:r>
            <a:r>
              <a:rPr lang="it-IT" b="1" dirty="0" err="1">
                <a:solidFill>
                  <a:srgbClr val="171FE2"/>
                </a:solidFill>
              </a:rPr>
              <a:t>docker</a:t>
            </a:r>
            <a:r>
              <a:rPr lang="it-IT" b="1" dirty="0">
                <a:solidFill>
                  <a:srgbClr val="171FE2"/>
                </a:solidFill>
              </a:rPr>
              <a:t> create</a:t>
            </a:r>
            <a:r>
              <a:rPr lang="it-IT" dirty="0"/>
              <a:t>: alloca lo spazio su disco, imposta le configurazioni e prepara il perimetro isolato, </a:t>
            </a:r>
            <a:r>
              <a:rPr lang="it-IT" dirty="0">
                <a:solidFill>
                  <a:srgbClr val="171FE2"/>
                </a:solidFill>
              </a:rPr>
              <a:t>generando un container </a:t>
            </a:r>
            <a:r>
              <a:rPr lang="it-IT" dirty="0"/>
              <a:t>in stato "</a:t>
            </a:r>
            <a:r>
              <a:rPr lang="it-IT" dirty="0" err="1"/>
              <a:t>Created</a:t>
            </a:r>
            <a:r>
              <a:rPr lang="it-IT" dirty="0"/>
              <a:t>" (spento).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Infine, invoca un </a:t>
            </a:r>
            <a:r>
              <a:rPr lang="it-IT" b="1" dirty="0" err="1">
                <a:solidFill>
                  <a:srgbClr val="171FE2"/>
                </a:solidFill>
              </a:rPr>
              <a:t>docker</a:t>
            </a:r>
            <a:r>
              <a:rPr lang="it-IT" b="1" dirty="0">
                <a:solidFill>
                  <a:srgbClr val="171FE2"/>
                </a:solidFill>
              </a:rPr>
              <a:t> start</a:t>
            </a:r>
            <a:r>
              <a:rPr lang="it-IT" dirty="0"/>
              <a:t>, il quale accende i motori del container, aggancia i canali di input/output e </a:t>
            </a:r>
            <a:r>
              <a:rPr lang="it-IT" dirty="0">
                <a:solidFill>
                  <a:srgbClr val="171FE2"/>
                </a:solidFill>
              </a:rPr>
              <a:t>avvia il processo principale </a:t>
            </a:r>
            <a:r>
              <a:rPr lang="it-IT" dirty="0"/>
              <a:t>configurato nel metadato dell'immagine.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"</a:t>
            </a:r>
            <a:r>
              <a:rPr lang="it-IT" dirty="0" err="1"/>
              <a:t>docker</a:t>
            </a:r>
            <a:r>
              <a:rPr lang="it-IT" dirty="0"/>
              <a:t> </a:t>
            </a:r>
            <a:r>
              <a:rPr lang="it-IT" dirty="0" err="1"/>
              <a:t>run</a:t>
            </a:r>
            <a:r>
              <a:rPr lang="it-IT" dirty="0"/>
              <a:t>" è un comando "macro". Conoscere la triade </a:t>
            </a:r>
            <a:r>
              <a:rPr lang="it-IT" b="1" dirty="0">
                <a:solidFill>
                  <a:srgbClr val="171FE2"/>
                </a:solidFill>
              </a:rPr>
              <a:t>(Pull -&gt; Create -&gt; Start) </a:t>
            </a:r>
            <a:r>
              <a:rPr lang="it-IT" dirty="0"/>
              <a:t>è fondamentale per capire lo stato dei container e diagnosticare i problemi quando un container fallisce l'avvio.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0798F79-1E72-1381-A562-773D6CCC8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54461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6806D-A5C3-756C-8239-E7EA22368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2C1D42-0F47-5BD6-65E1-519E17184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11: Il Registro Centrale Cloud: Docker Hub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8A2519-8705-7BAE-1E9B-A8080388B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 container non potrebbero essere distribuiti globalmente senza un'infrastruttura di </a:t>
            </a:r>
            <a:r>
              <a:rPr lang="it-IT" b="1" dirty="0">
                <a:solidFill>
                  <a:srgbClr val="171FE2"/>
                </a:solidFill>
              </a:rPr>
              <a:t>catalogazione dei file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dirty="0"/>
              <a:t>Questo ruolo è ricoperto da Docker Hub, il </a:t>
            </a:r>
            <a:r>
              <a:rPr lang="it-IT" b="1" dirty="0">
                <a:solidFill>
                  <a:srgbClr val="171FE2"/>
                </a:solidFill>
              </a:rPr>
              <a:t>registro pubblico</a:t>
            </a:r>
            <a:r>
              <a:rPr lang="it-IT" dirty="0"/>
              <a:t>, ufficiale e centralizzato basato sul Cloud in cui vengono memorizzate, indicizzate e distribuite le immagini dei container. </a:t>
            </a:r>
          </a:p>
          <a:p>
            <a:endParaRPr lang="it-IT" dirty="0"/>
          </a:p>
          <a:p>
            <a:r>
              <a:rPr lang="it-IT" dirty="0"/>
              <a:t>Docker Hub funziona in modo analogo a GitHub per i depositi di codice o a Google Play Store per le applicazioni mobile. </a:t>
            </a:r>
          </a:p>
          <a:p>
            <a:endParaRPr lang="it-IT" dirty="0"/>
          </a:p>
          <a:p>
            <a:r>
              <a:rPr lang="it-IT" dirty="0"/>
              <a:t>Contiene decine di migliaia di immagini pronte all'uso, </a:t>
            </a:r>
            <a:r>
              <a:rPr lang="it-IT" dirty="0">
                <a:solidFill>
                  <a:srgbClr val="171FE2"/>
                </a:solidFill>
              </a:rPr>
              <a:t>suddivise tra immagini ufficiali </a:t>
            </a:r>
            <a:r>
              <a:rPr lang="it-IT" dirty="0"/>
              <a:t>(curate direttamente dai team di sviluppo di tecnologie leader come Oracle per Java, l'organizzazione Apache, o il team di Microsoft per SQL Server) e </a:t>
            </a:r>
            <a:r>
              <a:rPr lang="it-IT" dirty="0">
                <a:solidFill>
                  <a:srgbClr val="171FE2"/>
                </a:solidFill>
              </a:rPr>
              <a:t>immagini create dalla community</a:t>
            </a:r>
            <a:r>
              <a:rPr lang="it-IT" dirty="0"/>
              <a:t>. </a:t>
            </a:r>
          </a:p>
          <a:p>
            <a:endParaRPr lang="it-IT" dirty="0"/>
          </a:p>
          <a:p>
            <a:r>
              <a:rPr lang="it-IT" dirty="0">
                <a:solidFill>
                  <a:srgbClr val="171FE2"/>
                </a:solidFill>
              </a:rPr>
              <a:t>Quando il Docker </a:t>
            </a:r>
            <a:r>
              <a:rPr lang="it-IT" dirty="0" err="1">
                <a:solidFill>
                  <a:srgbClr val="171FE2"/>
                </a:solidFill>
              </a:rPr>
              <a:t>Daemon</a:t>
            </a:r>
            <a:r>
              <a:rPr lang="it-IT" dirty="0">
                <a:solidFill>
                  <a:srgbClr val="171FE2"/>
                </a:solidFill>
              </a:rPr>
              <a:t> locale necessita di un'immagine non presente sul PC, si rivolge di default a questo immenso archivio web.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D3EA8DF-2E56-BC02-42F5-4BEAE5242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54888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ED731-98E1-C2FB-1CB0-E5600E25D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18E07E-447F-AE88-4AE5-09E5757D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12: Logica Strategica del Comando </a:t>
            </a:r>
            <a:r>
              <a:rPr lang="it-IT" dirty="0" err="1"/>
              <a:t>docker</a:t>
            </a:r>
            <a:r>
              <a:rPr lang="it-IT" dirty="0"/>
              <a:t> pull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00BB042-4D9A-0D98-AB91-2FE557AFA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Sebbene il comando </a:t>
            </a:r>
            <a:r>
              <a:rPr lang="it-IT" b="1" dirty="0" err="1"/>
              <a:t>docker</a:t>
            </a:r>
            <a:r>
              <a:rPr lang="it-IT" b="1" dirty="0"/>
              <a:t> </a:t>
            </a:r>
            <a:r>
              <a:rPr lang="it-IT" b="1" dirty="0" err="1"/>
              <a:t>run</a:t>
            </a:r>
            <a:r>
              <a:rPr lang="it-IT" b="1" dirty="0"/>
              <a:t> </a:t>
            </a:r>
            <a:r>
              <a:rPr lang="it-IT" dirty="0"/>
              <a:t>sia in grado di scaricare autonomamente le immagini mancanti da Docker Hub, l'utilizzo esplicito e preventivo del comando </a:t>
            </a:r>
            <a:r>
              <a:rPr lang="it-IT" b="1" dirty="0" err="1">
                <a:latin typeface="Consolas" panose="020B0609020204030204" pitchFamily="49" charset="0"/>
              </a:rPr>
              <a:t>docker</a:t>
            </a:r>
            <a:r>
              <a:rPr lang="it-IT" b="1" dirty="0">
                <a:latin typeface="Consolas" panose="020B0609020204030204" pitchFamily="49" charset="0"/>
              </a:rPr>
              <a:t> pull </a:t>
            </a:r>
            <a:r>
              <a:rPr lang="it-IT" b="1" dirty="0" err="1">
                <a:latin typeface="Consolas" panose="020B0609020204030204" pitchFamily="49" charset="0"/>
              </a:rPr>
              <a:t>nome_immagine</a:t>
            </a:r>
            <a:r>
              <a:rPr lang="it-IT" b="1" dirty="0">
                <a:latin typeface="Consolas" panose="020B0609020204030204" pitchFamily="49" charset="0"/>
              </a:rPr>
              <a:t> </a:t>
            </a:r>
            <a:r>
              <a:rPr lang="it-IT" dirty="0"/>
              <a:t>costituisce una best practice fondamentale negli scenari sistemistici professionali. </a:t>
            </a:r>
          </a:p>
          <a:p>
            <a:r>
              <a:rPr lang="it-IT" dirty="0">
                <a:solidFill>
                  <a:srgbClr val="171FE2"/>
                </a:solidFill>
              </a:rPr>
              <a:t>Il comando pull ha il compito esclusivo di contattare il registro remoto (Docker HUB), verificare la disponibilità dell'immagine e scaricarla nello storage locale </a:t>
            </a:r>
            <a:r>
              <a:rPr lang="it-IT" dirty="0" err="1">
                <a:solidFill>
                  <a:srgbClr val="171FE2"/>
                </a:solidFill>
              </a:rPr>
              <a:t>dell'host</a:t>
            </a:r>
            <a:r>
              <a:rPr lang="it-IT" dirty="0">
                <a:solidFill>
                  <a:srgbClr val="171FE2"/>
                </a:solidFill>
              </a:rPr>
              <a:t>, </a:t>
            </a:r>
            <a:r>
              <a:rPr lang="it-IT" b="1" dirty="0">
                <a:solidFill>
                  <a:srgbClr val="171FE2"/>
                </a:solidFill>
              </a:rPr>
              <a:t>senza avviarla </a:t>
            </a:r>
            <a:r>
              <a:rPr lang="it-IT" dirty="0">
                <a:solidFill>
                  <a:srgbClr val="171FE2"/>
                </a:solidFill>
              </a:rPr>
              <a:t>in memoria. </a:t>
            </a:r>
          </a:p>
          <a:p>
            <a:r>
              <a:rPr lang="it-IT" dirty="0"/>
              <a:t>Questa operazione si rivela strategica in tre contesti: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durante le finestre di manutenzione notturna dei server (per </a:t>
            </a:r>
            <a:r>
              <a:rPr lang="it-IT" b="1" dirty="0">
                <a:solidFill>
                  <a:srgbClr val="171FE2"/>
                </a:solidFill>
              </a:rPr>
              <a:t>scaricare i file pesanti in anticipo</a:t>
            </a:r>
            <a:r>
              <a:rPr lang="it-IT" dirty="0"/>
              <a:t>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>
                <a:solidFill>
                  <a:srgbClr val="171FE2"/>
                </a:solidFill>
              </a:rPr>
              <a:t>per aggiornare un'immagine locale all'ultima versione </a:t>
            </a:r>
            <a:r>
              <a:rPr lang="it-IT" dirty="0"/>
              <a:t>stabile pubblicata nel cloud (sostituendo la versione vecchia con la nuova);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all'interno delle pipeline di </a:t>
            </a:r>
            <a:r>
              <a:rPr lang="it-IT" dirty="0" err="1"/>
              <a:t>Continuous</a:t>
            </a:r>
            <a:r>
              <a:rPr lang="it-IT" dirty="0"/>
              <a:t> Integration (CI/CD) per testare la disponibilità dei pacchetti.</a:t>
            </a:r>
          </a:p>
          <a:p>
            <a:r>
              <a:rPr lang="it-IT" dirty="0"/>
              <a:t>Il pull esplicito evita ritardi a </a:t>
            </a:r>
            <a:r>
              <a:rPr lang="it-IT" dirty="0" err="1"/>
              <a:t>runtime</a:t>
            </a:r>
            <a:r>
              <a:rPr lang="it-IT" dirty="0"/>
              <a:t>. </a:t>
            </a:r>
          </a:p>
          <a:p>
            <a:r>
              <a:rPr lang="it-IT" b="1" dirty="0">
                <a:solidFill>
                  <a:srgbClr val="171FE2"/>
                </a:solidFill>
              </a:rPr>
              <a:t>Se un'immagine pesa 1GB, fare "</a:t>
            </a:r>
            <a:r>
              <a:rPr lang="it-IT" b="1" dirty="0" err="1">
                <a:solidFill>
                  <a:srgbClr val="171FE2"/>
                </a:solidFill>
              </a:rPr>
              <a:t>docker</a:t>
            </a:r>
            <a:r>
              <a:rPr lang="it-IT" b="1" dirty="0">
                <a:solidFill>
                  <a:srgbClr val="171FE2"/>
                </a:solidFill>
              </a:rPr>
              <a:t> </a:t>
            </a:r>
            <a:r>
              <a:rPr lang="it-IT" b="1" dirty="0" err="1">
                <a:solidFill>
                  <a:srgbClr val="171FE2"/>
                </a:solidFill>
              </a:rPr>
              <a:t>run</a:t>
            </a:r>
            <a:r>
              <a:rPr lang="it-IT" b="1" dirty="0">
                <a:solidFill>
                  <a:srgbClr val="171FE2"/>
                </a:solidFill>
              </a:rPr>
              <a:t>" in produzione senza aver fatto prima il "pull" esporrebbe il servizio a minuti di inattività forzata a causa del download.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D74839B-4AA9-E13A-A0B1-4196EE166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94213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51DED-DF52-F901-1428-AB4D4E037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64482B-54E6-BAFA-24ED-5A1C464A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13: L'Ingegneria dell'Isolamento: I </a:t>
            </a:r>
            <a:r>
              <a:rPr lang="it-IT" dirty="0" err="1"/>
              <a:t>Namespaces</a:t>
            </a:r>
            <a:r>
              <a:rPr lang="it-IT" dirty="0"/>
              <a:t> del Kernel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12C736-85FE-2812-EF00-A86309257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L'inganno visivo di Docker, che fa apparire un container come se fosse una macchina virtuale indipendente, è reso possibile da una </a:t>
            </a:r>
            <a:r>
              <a:rPr lang="it-IT" b="1" dirty="0">
                <a:solidFill>
                  <a:srgbClr val="171FE2"/>
                </a:solidFill>
              </a:rPr>
              <a:t>funzionalità nativa del kernel Linux </a:t>
            </a:r>
            <a:r>
              <a:rPr lang="it-IT" dirty="0"/>
              <a:t>introdotta a partire dai primi anni 2000: i </a:t>
            </a:r>
            <a:r>
              <a:rPr lang="it-IT" dirty="0" err="1"/>
              <a:t>Namespaces</a:t>
            </a:r>
            <a:r>
              <a:rPr lang="it-IT" dirty="0"/>
              <a:t>. </a:t>
            </a:r>
          </a:p>
          <a:p>
            <a:r>
              <a:rPr lang="it-IT" dirty="0"/>
              <a:t>Un </a:t>
            </a:r>
            <a:r>
              <a:rPr lang="it-IT" dirty="0" err="1">
                <a:solidFill>
                  <a:srgbClr val="171FE2"/>
                </a:solidFill>
              </a:rPr>
              <a:t>Namespace</a:t>
            </a:r>
            <a:r>
              <a:rPr lang="it-IT" dirty="0"/>
              <a:t> agisce come una barriera di visibilità logica a livello di kernel. </a:t>
            </a:r>
          </a:p>
          <a:p>
            <a:r>
              <a:rPr lang="it-IT" dirty="0"/>
              <a:t>Quando Docker avvia un container, gli assegna un set di </a:t>
            </a:r>
            <a:r>
              <a:rPr lang="it-IT" dirty="0" err="1"/>
              <a:t>Namespaces</a:t>
            </a:r>
            <a:r>
              <a:rPr lang="it-IT" dirty="0"/>
              <a:t> dedicati: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Il </a:t>
            </a:r>
            <a:r>
              <a:rPr lang="it-IT" b="1" dirty="0"/>
              <a:t>PID </a:t>
            </a:r>
            <a:r>
              <a:rPr lang="it-IT" b="1" dirty="0" err="1"/>
              <a:t>Namespace</a:t>
            </a:r>
            <a:r>
              <a:rPr lang="it-IT" b="1" dirty="0"/>
              <a:t> </a:t>
            </a:r>
            <a:r>
              <a:rPr lang="it-IT" dirty="0">
                <a:solidFill>
                  <a:srgbClr val="171FE2"/>
                </a:solidFill>
              </a:rPr>
              <a:t>isola l'albero dei processi</a:t>
            </a:r>
            <a:r>
              <a:rPr lang="it-IT" dirty="0"/>
              <a:t>: il programma dentro il container vede se stesso come l'ID di processo 1 (il sovrano del sistema), ignaro dei processi </a:t>
            </a:r>
            <a:r>
              <a:rPr lang="it-IT" dirty="0" err="1"/>
              <a:t>dell'host</a:t>
            </a:r>
            <a:r>
              <a:rPr lang="it-IT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Il </a:t>
            </a:r>
            <a:r>
              <a:rPr lang="it-IT" b="1" dirty="0"/>
              <a:t>NET </a:t>
            </a:r>
            <a:r>
              <a:rPr lang="it-IT" b="1" dirty="0" err="1"/>
              <a:t>Namespace</a:t>
            </a:r>
            <a:r>
              <a:rPr lang="it-IT" b="1" dirty="0"/>
              <a:t> </a:t>
            </a:r>
            <a:r>
              <a:rPr lang="it-IT" dirty="0"/>
              <a:t>fornisce al container interfacce di rete, tabelle di </a:t>
            </a:r>
            <a:r>
              <a:rPr lang="it-IT" dirty="0" err="1"/>
              <a:t>routing</a:t>
            </a:r>
            <a:r>
              <a:rPr lang="it-IT" dirty="0"/>
              <a:t> e porte IP private e indipendenti. 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Il </a:t>
            </a:r>
            <a:r>
              <a:rPr lang="it-IT" b="1" dirty="0"/>
              <a:t>MNT </a:t>
            </a:r>
            <a:r>
              <a:rPr lang="it-IT" b="1" dirty="0" err="1"/>
              <a:t>Namespace</a:t>
            </a:r>
            <a:r>
              <a:rPr lang="it-IT" b="1" dirty="0"/>
              <a:t> </a:t>
            </a:r>
            <a:r>
              <a:rPr lang="it-IT" dirty="0"/>
              <a:t>isola i punti di montaggio del disco, impedendo al container di scorgere i file al di fuori della propria cartella radice virtuale.</a:t>
            </a:r>
          </a:p>
          <a:p>
            <a:r>
              <a:rPr lang="it-IT" b="1" dirty="0">
                <a:solidFill>
                  <a:srgbClr val="171FE2"/>
                </a:solidFill>
              </a:rPr>
              <a:t>I </a:t>
            </a:r>
            <a:r>
              <a:rPr lang="it-IT" b="1" dirty="0" err="1">
                <a:solidFill>
                  <a:srgbClr val="171FE2"/>
                </a:solidFill>
              </a:rPr>
              <a:t>Namespaces</a:t>
            </a:r>
            <a:r>
              <a:rPr lang="it-IT" b="1" dirty="0">
                <a:solidFill>
                  <a:srgbClr val="171FE2"/>
                </a:solidFill>
              </a:rPr>
              <a:t> </a:t>
            </a:r>
            <a:r>
              <a:rPr lang="it-IT" dirty="0"/>
              <a:t>rispondono alla domanda di sicurezza: "Quali risorse del sistema ho il diritto di vedere?". Essi </a:t>
            </a:r>
            <a:r>
              <a:rPr lang="it-IT" b="1" dirty="0">
                <a:solidFill>
                  <a:srgbClr val="171FE2"/>
                </a:solidFill>
              </a:rPr>
              <a:t>creano l'illusione ottica di un sistema operativo dedicato</a:t>
            </a:r>
            <a:r>
              <a:rPr lang="it-IT" dirty="0"/>
              <a:t>.</a:t>
            </a:r>
            <a:endParaRPr lang="it-IT" dirty="0">
              <a:solidFill>
                <a:srgbClr val="171FE2"/>
              </a:solidFill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7D0056F-7173-BD00-8134-79C760298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227930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185A6-6019-4041-4FBA-64B00E1F3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E9258F-F031-9BD9-3DC0-8BEE39AB9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14: La Regolazione delle Risorse Fisiche: I Control Groups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C923ACB-D7AE-3F38-F3C1-1EA3FACD7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Se i </a:t>
            </a:r>
            <a:r>
              <a:rPr lang="it-IT" dirty="0" err="1"/>
              <a:t>Namespaces</a:t>
            </a:r>
            <a:r>
              <a:rPr lang="it-IT" dirty="0"/>
              <a:t> garantiscono che un container non possa vedere o interferire con i dati altrui, essi </a:t>
            </a:r>
            <a:r>
              <a:rPr lang="it-IT" dirty="0">
                <a:solidFill>
                  <a:srgbClr val="171FE2"/>
                </a:solidFill>
              </a:rPr>
              <a:t>non offrono alcuna protezione contro l'esaurimento delle risorse fisiche dell'hardware </a:t>
            </a:r>
            <a:r>
              <a:rPr lang="it-IT" dirty="0"/>
              <a:t>(CPU, RAM, disco). </a:t>
            </a:r>
          </a:p>
          <a:p>
            <a:endParaRPr lang="it-IT" dirty="0"/>
          </a:p>
          <a:p>
            <a:r>
              <a:rPr lang="it-IT" dirty="0"/>
              <a:t>Un container difettoso o sotto attacco potrebbe avviare cicli infiniti, saturando il processore </a:t>
            </a:r>
            <a:r>
              <a:rPr lang="it-IT" dirty="0" err="1"/>
              <a:t>dell'host</a:t>
            </a:r>
            <a:r>
              <a:rPr lang="it-IT" dirty="0"/>
              <a:t> e mandando in crash l'intero server. </a:t>
            </a:r>
          </a:p>
          <a:p>
            <a:endParaRPr lang="it-IT" dirty="0"/>
          </a:p>
          <a:p>
            <a:r>
              <a:rPr lang="it-IT" dirty="0"/>
              <a:t>Per prevenire questo scenario catastrofico, Docker implementa una </a:t>
            </a:r>
            <a:r>
              <a:rPr lang="it-IT" dirty="0">
                <a:solidFill>
                  <a:srgbClr val="171FE2"/>
                </a:solidFill>
              </a:rPr>
              <a:t>seconda tecnologia nativa del kernel Linux</a:t>
            </a:r>
            <a:r>
              <a:rPr lang="it-IT" dirty="0"/>
              <a:t> denominata </a:t>
            </a:r>
            <a:r>
              <a:rPr lang="it-IT" b="1" dirty="0"/>
              <a:t>Control Groups </a:t>
            </a:r>
            <a:r>
              <a:rPr lang="it-IT" dirty="0"/>
              <a:t>(abbreviata in </a:t>
            </a:r>
            <a:r>
              <a:rPr lang="it-IT" dirty="0" err="1"/>
              <a:t>cgroups</a:t>
            </a:r>
            <a:r>
              <a:rPr lang="it-IT" dirty="0"/>
              <a:t>). </a:t>
            </a:r>
          </a:p>
          <a:p>
            <a:endParaRPr lang="it-IT" dirty="0"/>
          </a:p>
          <a:p>
            <a:r>
              <a:rPr lang="it-IT" dirty="0"/>
              <a:t>I </a:t>
            </a:r>
            <a:r>
              <a:rPr lang="it-IT" dirty="0" err="1"/>
              <a:t>cgroups</a:t>
            </a:r>
            <a:r>
              <a:rPr lang="it-IT" dirty="0"/>
              <a:t> agiscono come una vera e propria dogana hardware. </a:t>
            </a:r>
            <a:r>
              <a:rPr lang="it-IT" dirty="0">
                <a:solidFill>
                  <a:srgbClr val="171FE2"/>
                </a:solidFill>
              </a:rPr>
              <a:t>Permettono al Docker Daemon di stabilire barriere fisiche invalicabili per ogni singolo container</a:t>
            </a:r>
            <a:r>
              <a:rPr lang="it-IT" dirty="0"/>
              <a:t>. </a:t>
            </a:r>
          </a:p>
          <a:p>
            <a:endParaRPr lang="it-IT" dirty="0"/>
          </a:p>
          <a:p>
            <a:r>
              <a:rPr lang="it-IT" dirty="0"/>
              <a:t>È possibile decretare, ad esempio, che </a:t>
            </a:r>
            <a:r>
              <a:rPr lang="it-IT" dirty="0">
                <a:solidFill>
                  <a:srgbClr val="171FE2"/>
                </a:solidFill>
              </a:rPr>
              <a:t>un container non possa mai consumare più di 512MB di RAM e il 20% della potenza di calcolo di un singolo core della CPU</a:t>
            </a:r>
            <a:r>
              <a:rPr lang="it-IT" dirty="0"/>
              <a:t>.</a:t>
            </a:r>
          </a:p>
          <a:p>
            <a:r>
              <a:rPr lang="it-IT" dirty="0"/>
              <a:t>I </a:t>
            </a:r>
            <a:r>
              <a:rPr lang="it-IT" dirty="0" err="1"/>
              <a:t>cgroups</a:t>
            </a:r>
            <a:r>
              <a:rPr lang="it-IT" dirty="0"/>
              <a:t> rispondono alla domanda: "Quante risorse fisiche dell'hardware ho il diritto di consumare?". </a:t>
            </a:r>
            <a:endParaRPr lang="it-IT" dirty="0">
              <a:solidFill>
                <a:srgbClr val="171FE2"/>
              </a:solidFill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9E7C11F-5945-3AF2-634A-ADBEC00C8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64433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4CE5B-9A02-AD49-0F40-27D64B987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86FADF-5229-CBA0-4AD7-ED2D4B73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15: Analisi Comparativa Radicale: Docker contro le Macchine Virtuali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25171F8-FBDD-1946-79AC-44771FBE8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Uno degli errori concettuali più gravi consiste nel definire Docker come "una macchina virtuale leggera".</a:t>
            </a:r>
          </a:p>
          <a:p>
            <a:r>
              <a:rPr lang="it-IT" dirty="0"/>
              <a:t>L'architettura di una Macchina Virtuale (VM) poggia su </a:t>
            </a:r>
            <a:r>
              <a:rPr lang="it-IT" b="1" dirty="0">
                <a:solidFill>
                  <a:srgbClr val="171FE2"/>
                </a:solidFill>
              </a:rPr>
              <a:t>uno strato software pesante </a:t>
            </a:r>
            <a:r>
              <a:rPr lang="it-IT" dirty="0"/>
              <a:t>chiamato </a:t>
            </a:r>
            <a:r>
              <a:rPr lang="it-IT" dirty="0" err="1"/>
              <a:t>Hypervisor</a:t>
            </a:r>
            <a:r>
              <a:rPr lang="it-IT" dirty="0"/>
              <a:t> (come VMware </a:t>
            </a:r>
            <a:r>
              <a:rPr lang="it-IT" dirty="0" err="1"/>
              <a:t>ESXi</a:t>
            </a:r>
            <a:r>
              <a:rPr lang="it-IT" dirty="0"/>
              <a:t> o </a:t>
            </a:r>
            <a:r>
              <a:rPr lang="it-IT" dirty="0" err="1"/>
              <a:t>VirtualBox</a:t>
            </a:r>
            <a:r>
              <a:rPr lang="it-IT" dirty="0"/>
              <a:t>), il quale ha il compito di virtualizzare l'hardware fisico. </a:t>
            </a:r>
          </a:p>
          <a:p>
            <a:endParaRPr lang="it-IT" dirty="0"/>
          </a:p>
          <a:p>
            <a:r>
              <a:rPr lang="it-IT" dirty="0"/>
              <a:t>Sopra l'hardware finto, </a:t>
            </a:r>
            <a:r>
              <a:rPr lang="it-IT" b="1" dirty="0">
                <a:solidFill>
                  <a:srgbClr val="171FE2"/>
                </a:solidFill>
              </a:rPr>
              <a:t>ogni VM deve installare un Sistema Operativo Ospite (Guest OS) completo di kernel, driver e utility di sistema</a:t>
            </a:r>
            <a:r>
              <a:rPr lang="it-IT" dirty="0"/>
              <a:t>, occupando immediatamente gigabyte di spazio su disco e centinaia di megabyte di RAM statica solo per rimanere accesa. </a:t>
            </a:r>
          </a:p>
          <a:p>
            <a:endParaRPr lang="it-IT" dirty="0"/>
          </a:p>
          <a:p>
            <a:r>
              <a:rPr lang="it-IT" dirty="0"/>
              <a:t>Docker elimina radicalmente l'</a:t>
            </a:r>
            <a:r>
              <a:rPr lang="it-IT" dirty="0" err="1"/>
              <a:t>Hypervisor</a:t>
            </a:r>
            <a:r>
              <a:rPr lang="it-IT" dirty="0"/>
              <a:t> e il Guest OS. </a:t>
            </a:r>
          </a:p>
          <a:p>
            <a:endParaRPr lang="it-IT" dirty="0"/>
          </a:p>
          <a:p>
            <a:r>
              <a:rPr lang="it-IT" dirty="0">
                <a:solidFill>
                  <a:srgbClr val="171FE2"/>
                </a:solidFill>
              </a:rPr>
              <a:t>Tutti i container condividono lo stesso kernel della macchina </a:t>
            </a:r>
            <a:r>
              <a:rPr lang="it-IT" dirty="0" err="1">
                <a:solidFill>
                  <a:srgbClr val="171FE2"/>
                </a:solidFill>
              </a:rPr>
              <a:t>host</a:t>
            </a:r>
            <a:r>
              <a:rPr lang="it-IT" dirty="0"/>
              <a:t>. I processi girano nativamente </a:t>
            </a:r>
            <a:r>
              <a:rPr lang="it-IT" dirty="0" err="1"/>
              <a:t>sull'host</a:t>
            </a:r>
            <a:r>
              <a:rPr lang="it-IT" dirty="0"/>
              <a:t>, azzerando i consumi inutili di RAM e CPU.</a:t>
            </a:r>
          </a:p>
          <a:p>
            <a:endParaRPr lang="it-IT" dirty="0"/>
          </a:p>
          <a:p>
            <a:r>
              <a:rPr lang="it-IT" dirty="0"/>
              <a:t>Docker elimina l'intera scatola del "Guest OS", che è il vero parassita di risorse computazionali nelle infrastrutture VM tradizionali.</a:t>
            </a:r>
            <a:endParaRPr lang="it-IT" dirty="0">
              <a:solidFill>
                <a:srgbClr val="171FE2"/>
              </a:solidFill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7697A51-CE6C-0C5F-5627-46A874833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93168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C324A-E284-B9A9-91D1-1C4715928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EAC564-BC86-D0EC-3357-0F68D73D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16: Il Concetto di Filesystem Isolato in Docker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3311E7-D181-847D-AB92-5D60678CC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Per poter comprendere la struttura interna di un'immagine Docker, occorre prima isolare il concetto di filesystem. </a:t>
            </a:r>
          </a:p>
          <a:p>
            <a:endParaRPr lang="it-IT" dirty="0"/>
          </a:p>
          <a:p>
            <a:r>
              <a:rPr lang="it-IT" dirty="0"/>
              <a:t>Nel contesto della containerizzazione, </a:t>
            </a:r>
            <a:r>
              <a:rPr lang="it-IT" dirty="0">
                <a:solidFill>
                  <a:srgbClr val="171FE2"/>
                </a:solidFill>
              </a:rPr>
              <a:t>il filesystem rappresenta </a:t>
            </a:r>
            <a:r>
              <a:rPr lang="it-IT" dirty="0"/>
              <a:t>la struttura gerarchica ad albero organizzata in cartelle e file (</a:t>
            </a:r>
            <a:r>
              <a:rPr lang="it-IT" dirty="0">
                <a:solidFill>
                  <a:srgbClr val="171FE2"/>
                </a:solidFill>
              </a:rPr>
              <a:t>la classica radice Linux </a:t>
            </a:r>
            <a:r>
              <a:rPr lang="it-IT" dirty="0"/>
              <a:t>/ corredata dalle sue sottocartelle standard come </a:t>
            </a:r>
            <a:r>
              <a:rPr lang="it-IT" dirty="0">
                <a:solidFill>
                  <a:srgbClr val="171FE2"/>
                </a:solidFill>
              </a:rPr>
              <a:t>/</a:t>
            </a:r>
            <a:r>
              <a:rPr lang="it-IT" dirty="0" err="1">
                <a:solidFill>
                  <a:srgbClr val="171FE2"/>
                </a:solidFill>
              </a:rPr>
              <a:t>usr</a:t>
            </a:r>
            <a:r>
              <a:rPr lang="it-IT" dirty="0">
                <a:solidFill>
                  <a:srgbClr val="171FE2"/>
                </a:solidFill>
              </a:rPr>
              <a:t>, /var, /</a:t>
            </a:r>
            <a:r>
              <a:rPr lang="it-IT" dirty="0" err="1">
                <a:solidFill>
                  <a:srgbClr val="171FE2"/>
                </a:solidFill>
              </a:rPr>
              <a:t>etc</a:t>
            </a:r>
            <a:r>
              <a:rPr lang="it-IT" dirty="0">
                <a:solidFill>
                  <a:srgbClr val="171FE2"/>
                </a:solidFill>
              </a:rPr>
              <a:t>, /app</a:t>
            </a:r>
            <a:r>
              <a:rPr lang="it-IT" dirty="0"/>
              <a:t>) che l'applicazione sperimenta come proprio hard disk privato. </a:t>
            </a:r>
          </a:p>
          <a:p>
            <a:endParaRPr lang="it-IT" dirty="0"/>
          </a:p>
          <a:p>
            <a:r>
              <a:rPr lang="it-IT" dirty="0">
                <a:solidFill>
                  <a:srgbClr val="171FE2"/>
                </a:solidFill>
              </a:rPr>
              <a:t>Ogni immagine Docker racchiude al suo interno un filesystem nativo preconfezionato</a:t>
            </a:r>
            <a:r>
              <a:rPr lang="it-IT" dirty="0"/>
              <a:t>. </a:t>
            </a:r>
          </a:p>
          <a:p>
            <a:endParaRPr lang="it-IT" dirty="0"/>
          </a:p>
          <a:p>
            <a:r>
              <a:rPr lang="it-IT" dirty="0"/>
              <a:t>Quando il Docker Daemon avvia il processo interno del container, gli impone questo filesystem isolato come unica realtà visibile. </a:t>
            </a:r>
          </a:p>
          <a:p>
            <a:endParaRPr lang="it-IT" dirty="0"/>
          </a:p>
          <a:p>
            <a:r>
              <a:rPr lang="it-IT" dirty="0"/>
              <a:t>Il programma del container leggerà e scriverà file convinto di trovarsi su un computer dedicato, rimanendo strutturalmente impossibilitato ad accedere o corrompere i file sensibili del sistema operativo ospitante.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E25819C-D163-2461-57FE-C57F72E1F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975748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82F35-6786-B2D0-2B25-91A66E6E8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172C81-59FB-8E7B-68EC-EFFF1C0C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17: La Struttura Incrementale a Layer (Pila di Delta)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58ED2F3-4A30-F048-6FC1-C0CC1230A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La caratteristica più innovativa delle immagini Docker risiede nel fatto che esse non sono file monolitici o immagini specchio giganti (come i file .ISO o .IMG). </a:t>
            </a:r>
          </a:p>
          <a:p>
            <a:endParaRPr lang="it-IT" dirty="0"/>
          </a:p>
          <a:p>
            <a:r>
              <a:rPr lang="it-IT" dirty="0">
                <a:solidFill>
                  <a:srgbClr val="171FE2"/>
                </a:solidFill>
              </a:rPr>
              <a:t>Un'immagine Docker è strutturata come una pila di strati sovrapposti chiamati </a:t>
            </a:r>
            <a:r>
              <a:rPr lang="it-IT" dirty="0" err="1">
                <a:solidFill>
                  <a:srgbClr val="171FE2"/>
                </a:solidFill>
              </a:rPr>
              <a:t>layer</a:t>
            </a:r>
            <a:r>
              <a:rPr lang="it-IT" dirty="0"/>
              <a:t>. </a:t>
            </a:r>
          </a:p>
          <a:p>
            <a:endParaRPr lang="it-IT" dirty="0"/>
          </a:p>
          <a:p>
            <a:r>
              <a:rPr lang="it-IT" dirty="0"/>
              <a:t>Ogni </a:t>
            </a:r>
            <a:r>
              <a:rPr lang="it-IT" dirty="0" err="1"/>
              <a:t>layer</a:t>
            </a:r>
            <a:r>
              <a:rPr lang="it-IT" dirty="0"/>
              <a:t> rappresenta una singola modifica incrementale (un delta di file) applicata al filesystem, </a:t>
            </a:r>
            <a:r>
              <a:rPr lang="it-IT" dirty="0">
                <a:solidFill>
                  <a:srgbClr val="171FE2"/>
                </a:solidFill>
              </a:rPr>
              <a:t>rispetto allo stato dello strato immediatamente inferiore</a:t>
            </a:r>
            <a:r>
              <a:rPr lang="it-IT" dirty="0"/>
              <a:t>. </a:t>
            </a:r>
          </a:p>
          <a:p>
            <a:endParaRPr lang="it-IT" dirty="0"/>
          </a:p>
          <a:p>
            <a:r>
              <a:rPr lang="it-IT" dirty="0"/>
              <a:t>Quando scriviamo un </a:t>
            </a:r>
            <a:r>
              <a:rPr lang="it-IT" b="1" dirty="0" err="1"/>
              <a:t>Dockerfile</a:t>
            </a:r>
            <a:r>
              <a:rPr lang="it-IT" dirty="0"/>
              <a:t>, </a:t>
            </a:r>
            <a:r>
              <a:rPr lang="it-IT" dirty="0">
                <a:solidFill>
                  <a:srgbClr val="171FE2"/>
                </a:solidFill>
              </a:rPr>
              <a:t>ogni singola istruzione che modifica fisicamente i file </a:t>
            </a:r>
            <a:r>
              <a:rPr lang="it-IT" dirty="0"/>
              <a:t>(ad esempio l'aggiunta di un pacchetto con </a:t>
            </a:r>
            <a:r>
              <a:rPr lang="it-IT" b="1" dirty="0">
                <a:solidFill>
                  <a:srgbClr val="171FE2"/>
                </a:solidFill>
              </a:rPr>
              <a:t>RUN</a:t>
            </a:r>
            <a:r>
              <a:rPr lang="it-IT" dirty="0"/>
              <a:t> </a:t>
            </a:r>
            <a:r>
              <a:rPr lang="it-IT" dirty="0" err="1"/>
              <a:t>apt</a:t>
            </a:r>
            <a:r>
              <a:rPr lang="it-IT" dirty="0"/>
              <a:t> </a:t>
            </a:r>
            <a:r>
              <a:rPr lang="it-IT" dirty="0" err="1"/>
              <a:t>install</a:t>
            </a:r>
            <a:r>
              <a:rPr lang="it-IT" dirty="0"/>
              <a:t>, o la copia del codice sorgente con </a:t>
            </a:r>
            <a:r>
              <a:rPr lang="it-IT" b="1" dirty="0">
                <a:solidFill>
                  <a:srgbClr val="171FE2"/>
                </a:solidFill>
              </a:rPr>
              <a:t>COPY</a:t>
            </a:r>
            <a:r>
              <a:rPr lang="it-IT" dirty="0"/>
              <a:t>) genera un nuovo </a:t>
            </a:r>
            <a:r>
              <a:rPr lang="it-IT" dirty="0" err="1"/>
              <a:t>layer</a:t>
            </a:r>
            <a:r>
              <a:rPr lang="it-IT" dirty="0"/>
              <a:t> indipendente sul disco rigido (Docker storage). </a:t>
            </a:r>
          </a:p>
          <a:p>
            <a:r>
              <a:rPr lang="it-IT" dirty="0"/>
              <a:t>L'immagine finale non è altro che un indice logico, una ricetta ordinata che dice a Docker quali </a:t>
            </a:r>
            <a:r>
              <a:rPr lang="it-IT" dirty="0" err="1"/>
              <a:t>layer</a:t>
            </a:r>
            <a:r>
              <a:rPr lang="it-IT" dirty="0"/>
              <a:t> sovrapporre per ricostruire il filesystem definitivo.</a:t>
            </a:r>
          </a:p>
          <a:p>
            <a:r>
              <a:rPr lang="it-IT" b="1" dirty="0">
                <a:solidFill>
                  <a:srgbClr val="171FE2"/>
                </a:solidFill>
              </a:rPr>
              <a:t>L’immagine è una pila ordinata di </a:t>
            </a:r>
            <a:r>
              <a:rPr lang="it-IT" b="1" dirty="0" err="1">
                <a:solidFill>
                  <a:srgbClr val="171FE2"/>
                </a:solidFill>
              </a:rPr>
              <a:t>layers</a:t>
            </a:r>
            <a:r>
              <a:rPr lang="it-IT" b="1" dirty="0">
                <a:solidFill>
                  <a:srgbClr val="171FE2"/>
                </a:solidFill>
              </a:rPr>
              <a:t>. L’ultimo </a:t>
            </a:r>
            <a:r>
              <a:rPr lang="it-IT" b="1" dirty="0" err="1">
                <a:solidFill>
                  <a:srgbClr val="171FE2"/>
                </a:solidFill>
              </a:rPr>
              <a:t>layer</a:t>
            </a:r>
            <a:r>
              <a:rPr lang="it-IT" b="1" dirty="0">
                <a:solidFill>
                  <a:srgbClr val="171FE2"/>
                </a:solidFill>
              </a:rPr>
              <a:t> aggiunto ci posiziona in testa.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E19871C-8F1D-BD58-B450-F58323DCF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815200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FEF3A-8F68-B871-D29F-31506E19E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9FD6D2-37D0-9F1C-8F34-9AFF78CF0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18: L'Immutabilità dei Layer e la Condivisione Globale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69622B9-960C-5A1D-0431-E904293EB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Tutti i </a:t>
            </a:r>
            <a:r>
              <a:rPr lang="it-IT" dirty="0" err="1"/>
              <a:t>layer</a:t>
            </a:r>
            <a:r>
              <a:rPr lang="it-IT" dirty="0"/>
              <a:t> che compongono un'immagine Docker, una volta generati durante la fase di compilazione (build), vengono permanentemente sigillati e contrassegnati come Read-</a:t>
            </a:r>
            <a:r>
              <a:rPr lang="it-IT" dirty="0" err="1"/>
              <a:t>Only</a:t>
            </a:r>
            <a:r>
              <a:rPr lang="it-IT" dirty="0"/>
              <a:t> (sola lettura). </a:t>
            </a:r>
          </a:p>
          <a:p>
            <a:endParaRPr lang="it-IT" dirty="0"/>
          </a:p>
          <a:p>
            <a:r>
              <a:rPr lang="it-IT" dirty="0"/>
              <a:t>Nessun processo può alterare il contenuto di un </a:t>
            </a:r>
            <a:r>
              <a:rPr lang="it-IT" dirty="0" err="1"/>
              <a:t>layer</a:t>
            </a:r>
            <a:r>
              <a:rPr lang="it-IT" dirty="0"/>
              <a:t> esistente. Questa immutabilità strutturale sblocca un vantaggio ingegneristico straordinario: la condivisione globale dei </a:t>
            </a:r>
            <a:r>
              <a:rPr lang="it-IT" dirty="0" err="1"/>
              <a:t>layer</a:t>
            </a:r>
            <a:r>
              <a:rPr lang="it-IT" dirty="0"/>
              <a:t> sul disco della macchina </a:t>
            </a:r>
            <a:r>
              <a:rPr lang="it-IT" dirty="0" err="1"/>
              <a:t>host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dirty="0">
                <a:solidFill>
                  <a:srgbClr val="171FE2"/>
                </a:solidFill>
              </a:rPr>
              <a:t>Se i </a:t>
            </a:r>
            <a:r>
              <a:rPr lang="it-IT" dirty="0" err="1">
                <a:solidFill>
                  <a:srgbClr val="171FE2"/>
                </a:solidFill>
              </a:rPr>
              <a:t>layer</a:t>
            </a:r>
            <a:r>
              <a:rPr lang="it-IT" dirty="0">
                <a:solidFill>
                  <a:srgbClr val="171FE2"/>
                </a:solidFill>
              </a:rPr>
              <a:t> risultano immutabili, possono essere usati da tutte le immagini.</a:t>
            </a:r>
          </a:p>
          <a:p>
            <a:r>
              <a:rPr lang="it-IT" dirty="0"/>
              <a:t>Se sulla stessa macchina sviluppiamo o eseguiamo cinque applicazioni diverse (ad esempio cinque microservizi Spring Boot differenti) che poggiano tutti sulla stessa identica immagine di base Ubuntu:24.04, </a:t>
            </a:r>
            <a:r>
              <a:rPr lang="it-IT" dirty="0">
                <a:solidFill>
                  <a:srgbClr val="171FE2"/>
                </a:solidFill>
              </a:rPr>
              <a:t>il Docker </a:t>
            </a:r>
            <a:r>
              <a:rPr lang="it-IT" dirty="0" err="1">
                <a:solidFill>
                  <a:srgbClr val="171FE2"/>
                </a:solidFill>
              </a:rPr>
              <a:t>Daemon</a:t>
            </a:r>
            <a:r>
              <a:rPr lang="it-IT" dirty="0">
                <a:solidFill>
                  <a:srgbClr val="171FE2"/>
                </a:solidFill>
              </a:rPr>
              <a:t> memorizzerà i </a:t>
            </a:r>
            <a:r>
              <a:rPr lang="it-IT" dirty="0" err="1">
                <a:solidFill>
                  <a:srgbClr val="171FE2"/>
                </a:solidFill>
              </a:rPr>
              <a:t>layer</a:t>
            </a:r>
            <a:r>
              <a:rPr lang="it-IT" dirty="0">
                <a:solidFill>
                  <a:srgbClr val="171FE2"/>
                </a:solidFill>
              </a:rPr>
              <a:t> della base Ubuntu una sola volta sull'hard disk</a:t>
            </a:r>
            <a:r>
              <a:rPr lang="it-IT" dirty="0"/>
              <a:t>. </a:t>
            </a:r>
          </a:p>
          <a:p>
            <a:r>
              <a:rPr lang="it-IT" dirty="0"/>
              <a:t>Le immagini applicative si limiteranno a puntare a quel blocco comune condivisibile, ottimizzando lo storage.</a:t>
            </a:r>
          </a:p>
          <a:p>
            <a:r>
              <a:rPr lang="it-IT" dirty="0"/>
              <a:t>Un’immagine è una referenza che usa i </a:t>
            </a:r>
            <a:r>
              <a:rPr lang="it-IT" dirty="0" err="1"/>
              <a:t>layer</a:t>
            </a:r>
            <a:r>
              <a:rPr lang="it-IT" dirty="0"/>
              <a:t> con un ordine preciso.</a:t>
            </a:r>
          </a:p>
          <a:p>
            <a:r>
              <a:rPr lang="it-IT" dirty="0">
                <a:solidFill>
                  <a:srgbClr val="171FE2"/>
                </a:solidFill>
              </a:rPr>
              <a:t>10 VM Ubuntu consumerebbero 10 volte lo spazio del sistema operativo. Con Docker, lo spazio consumato per la base è fisso a 1.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0ADB05E-6FDD-ADA3-6CC0-021BCE8D5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676022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C2098-09D1-A383-D95E-9636DB39F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7CACAE-0208-418D-3C3C-769BCC785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19: Il Layer Scrivibile del Container (</a:t>
            </a:r>
            <a:r>
              <a:rPr lang="it-IT" dirty="0" err="1"/>
              <a:t>Writable</a:t>
            </a:r>
            <a:r>
              <a:rPr lang="it-IT" dirty="0"/>
              <a:t> Layer)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5DAEF22-DB1C-170F-F4C8-BCC109C3D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Dato che tutti i </a:t>
            </a:r>
            <a:r>
              <a:rPr lang="it-IT" dirty="0" err="1"/>
              <a:t>layer</a:t>
            </a:r>
            <a:r>
              <a:rPr lang="it-IT" dirty="0"/>
              <a:t> di un'immagine sono rigorosamente di sola lettura, sorge un quesito fondamentale: come fa un'applicazione attiva dentro un container a scrivere file di log, salvare immagini o modificare file di configurazione a </a:t>
            </a:r>
            <a:r>
              <a:rPr lang="it-IT" dirty="0" err="1"/>
              <a:t>runtime</a:t>
            </a:r>
            <a:r>
              <a:rPr lang="it-IT" dirty="0"/>
              <a:t>? </a:t>
            </a:r>
          </a:p>
          <a:p>
            <a:r>
              <a:rPr lang="it-IT" dirty="0"/>
              <a:t>La risposta risiede nel </a:t>
            </a:r>
            <a:r>
              <a:rPr lang="it-IT" b="1" dirty="0" err="1">
                <a:solidFill>
                  <a:srgbClr val="171FE2"/>
                </a:solidFill>
              </a:rPr>
              <a:t>Writable</a:t>
            </a:r>
            <a:r>
              <a:rPr lang="it-IT" b="1" dirty="0">
                <a:solidFill>
                  <a:srgbClr val="171FE2"/>
                </a:solidFill>
              </a:rPr>
              <a:t> Layer </a:t>
            </a:r>
            <a:r>
              <a:rPr lang="it-IT" dirty="0"/>
              <a:t>(chiamato anche Container Layer). Nel momento esatto in cui eseguiamo il comando </a:t>
            </a:r>
            <a:r>
              <a:rPr lang="it-IT" dirty="0" err="1"/>
              <a:t>docker</a:t>
            </a:r>
            <a:r>
              <a:rPr lang="it-IT" dirty="0"/>
              <a:t> </a:t>
            </a:r>
            <a:r>
              <a:rPr lang="it-IT" dirty="0" err="1"/>
              <a:t>run</a:t>
            </a:r>
            <a:r>
              <a:rPr lang="it-IT" dirty="0"/>
              <a:t>, il </a:t>
            </a:r>
            <a:r>
              <a:rPr lang="it-IT" dirty="0" err="1"/>
              <a:t>Daemon</a:t>
            </a:r>
            <a:r>
              <a:rPr lang="it-IT" dirty="0"/>
              <a:t> prende la pila dei </a:t>
            </a:r>
            <a:r>
              <a:rPr lang="it-IT" dirty="0" err="1"/>
              <a:t>layer</a:t>
            </a:r>
            <a:r>
              <a:rPr lang="it-IT" dirty="0"/>
              <a:t> immutabili dell'immagine e </a:t>
            </a:r>
            <a:r>
              <a:rPr lang="it-IT" dirty="0">
                <a:solidFill>
                  <a:srgbClr val="171FE2"/>
                </a:solidFill>
              </a:rPr>
              <a:t>vi posiziona sopra un ultimo strato aggiuntivo</a:t>
            </a:r>
            <a:r>
              <a:rPr lang="it-IT" dirty="0"/>
              <a:t>, sottilissimo e modificabile in lettura e scrittura. Qualsiasi operazione di scrittura compiuta dall'applicazione verrà intercettata da Docker e registrata esclusivamente all'interno di questo strato temporaneo, lasciando i </a:t>
            </a:r>
            <a:r>
              <a:rPr lang="it-IT" dirty="0" err="1"/>
              <a:t>layer</a:t>
            </a:r>
            <a:r>
              <a:rPr lang="it-IT" dirty="0"/>
              <a:t> sottostanti dell'immagine puliti e intatti.</a:t>
            </a:r>
          </a:p>
          <a:p>
            <a:r>
              <a:rPr lang="it-IT" dirty="0"/>
              <a:t>Se Docker cerca un file nel filesystem, parte dal </a:t>
            </a:r>
            <a:r>
              <a:rPr lang="it-IT" dirty="0" err="1"/>
              <a:t>layer</a:t>
            </a:r>
            <a:r>
              <a:rPr lang="it-IT" dirty="0"/>
              <a:t> scrivibile e scende verso quelli sottostanti fino a trovarlo.</a:t>
            </a:r>
          </a:p>
          <a:p>
            <a:r>
              <a:rPr lang="it-IT" dirty="0"/>
              <a:t>Se Docker vuole modificare un file nel filesystem, lo copia nel </a:t>
            </a:r>
            <a:r>
              <a:rPr lang="it-IT" dirty="0" err="1"/>
              <a:t>layer</a:t>
            </a:r>
            <a:r>
              <a:rPr lang="it-IT" dirty="0"/>
              <a:t> scrivibile; a questo punto farà una modifica nella copia. Questo meccanismo è chiamato </a:t>
            </a:r>
            <a:r>
              <a:rPr lang="it-IT" b="1" dirty="0"/>
              <a:t>Copy-on-Write (</a:t>
            </a:r>
            <a:r>
              <a:rPr lang="it-IT" b="1" dirty="0" err="1"/>
              <a:t>CoW</a:t>
            </a:r>
            <a:r>
              <a:rPr lang="it-IT" b="1" dirty="0"/>
              <a:t>)</a:t>
            </a:r>
            <a:r>
              <a:rPr lang="it-IT" dirty="0"/>
              <a:t>.</a:t>
            </a:r>
          </a:p>
          <a:p>
            <a:r>
              <a:rPr lang="it-IT" dirty="0">
                <a:solidFill>
                  <a:srgbClr val="171FE2"/>
                </a:solidFill>
              </a:rPr>
              <a:t>Se vengono avviati 5 container dalla stessa identica immagine, ognuno avrà il suo </a:t>
            </a:r>
            <a:r>
              <a:rPr lang="it-IT" dirty="0" err="1">
                <a:solidFill>
                  <a:srgbClr val="171FE2"/>
                </a:solidFill>
              </a:rPr>
              <a:t>Writable</a:t>
            </a:r>
            <a:r>
              <a:rPr lang="it-IT" dirty="0">
                <a:solidFill>
                  <a:srgbClr val="171FE2"/>
                </a:solidFill>
              </a:rPr>
              <a:t> Layer privato. Ognuno scriverà i propri dati senza che gli altri possano vedere o alterare tali modifiche.</a:t>
            </a:r>
          </a:p>
          <a:p>
            <a:endParaRPr lang="it-IT" dirty="0">
              <a:solidFill>
                <a:srgbClr val="171FE2"/>
              </a:solidFill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A0507F4-3A96-E817-B388-4E27A40B0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900630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04286-8A89-96B7-3EA1-329419C64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A1D391-FBE2-06F2-6D35-9C9FB6048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20: Il Layer Scrivibile del Container (</a:t>
            </a:r>
            <a:r>
              <a:rPr lang="it-IT" dirty="0" err="1"/>
              <a:t>Writable</a:t>
            </a:r>
            <a:r>
              <a:rPr lang="it-IT" dirty="0"/>
              <a:t> Layer)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9E2126F-1351-DC66-41ED-38EB0A6AA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Anche l'eliminazione non rimuove il file dal </a:t>
            </a:r>
            <a:r>
              <a:rPr lang="it-IT" dirty="0" err="1"/>
              <a:t>layer</a:t>
            </a:r>
            <a:r>
              <a:rPr lang="it-IT" dirty="0"/>
              <a:t> immutabile.</a:t>
            </a:r>
          </a:p>
          <a:p>
            <a:r>
              <a:rPr lang="it-IT" dirty="0"/>
              <a:t>Docker crea un </a:t>
            </a:r>
            <a:r>
              <a:rPr lang="it-IT" b="1" dirty="0" err="1"/>
              <a:t>whiteout</a:t>
            </a:r>
            <a:r>
              <a:rPr lang="it-IT" b="1" dirty="0"/>
              <a:t> file</a:t>
            </a:r>
            <a:r>
              <a:rPr lang="it-IT" dirty="0"/>
              <a:t> nel </a:t>
            </a:r>
            <a:r>
              <a:rPr lang="it-IT" dirty="0" err="1"/>
              <a:t>layer</a:t>
            </a:r>
            <a:r>
              <a:rPr lang="it-IT" dirty="0"/>
              <a:t> scrivibile che indica: "questo file deve essere considerato eliminato". Il file continua a esistere nei </a:t>
            </a:r>
            <a:r>
              <a:rPr lang="it-IT" dirty="0" err="1"/>
              <a:t>layer</a:t>
            </a:r>
            <a:r>
              <a:rPr lang="it-IT" dirty="0"/>
              <a:t> dell'immagine, ma il container non lo vede più.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BD0E912-70EE-277B-6EF0-8E62BFE1E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20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BDF4E19-45A1-F068-32FD-0AC08D38B727}"/>
              </a:ext>
            </a:extLst>
          </p:cNvPr>
          <p:cNvSpPr txBox="1"/>
          <p:nvPr/>
        </p:nvSpPr>
        <p:spPr>
          <a:xfrm>
            <a:off x="561669" y="3575050"/>
            <a:ext cx="22733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Writable Layer     [RW]</a:t>
            </a:r>
          </a:p>
          <a:p>
            <a:r>
              <a:rPr lang="en-US" dirty="0"/>
              <a:t>-------------------------</a:t>
            </a:r>
          </a:p>
          <a:p>
            <a:r>
              <a:rPr lang="en-US" dirty="0"/>
              <a:t>Layer 3                  [RO]</a:t>
            </a:r>
          </a:p>
          <a:p>
            <a:r>
              <a:rPr lang="en-US" dirty="0"/>
              <a:t>Layer 2                  [RO]</a:t>
            </a:r>
          </a:p>
          <a:p>
            <a:r>
              <a:rPr lang="en-US" dirty="0"/>
              <a:t>Layer 1                  [RO]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37A436E-DE6F-4491-7FFB-F688A1592E43}"/>
              </a:ext>
            </a:extLst>
          </p:cNvPr>
          <p:cNvSpPr txBox="1"/>
          <p:nvPr/>
        </p:nvSpPr>
        <p:spPr>
          <a:xfrm>
            <a:off x="3070225" y="2984837"/>
            <a:ext cx="407035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echo</a:t>
            </a:r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 "nuovo valore" &gt; /app/config.txt</a:t>
            </a:r>
          </a:p>
          <a:p>
            <a:endParaRPr lang="it-IT" dirty="0"/>
          </a:p>
          <a:p>
            <a:r>
              <a:rPr lang="it-IT" dirty="0" err="1"/>
              <a:t>Writable</a:t>
            </a:r>
            <a:r>
              <a:rPr lang="it-IT" dirty="0"/>
              <a:t> Layer     [RW]</a:t>
            </a:r>
          </a:p>
          <a:p>
            <a:r>
              <a:rPr lang="it-IT" dirty="0"/>
              <a:t>  /app/config.txt  &lt;-- versione modificata</a:t>
            </a:r>
          </a:p>
          <a:p>
            <a:r>
              <a:rPr lang="it-IT" dirty="0"/>
              <a:t>-------------------------</a:t>
            </a:r>
          </a:p>
          <a:p>
            <a:r>
              <a:rPr lang="it-IT" dirty="0"/>
              <a:t>Layer 3                  [RO]</a:t>
            </a:r>
          </a:p>
          <a:p>
            <a:r>
              <a:rPr lang="it-IT" dirty="0"/>
              <a:t>  /app/config.txt  &lt;-- versione originale</a:t>
            </a:r>
          </a:p>
          <a:p>
            <a:r>
              <a:rPr lang="it-IT" dirty="0"/>
              <a:t>Layer 2                  [RO]</a:t>
            </a:r>
          </a:p>
          <a:p>
            <a:r>
              <a:rPr lang="it-IT" dirty="0"/>
              <a:t>Layer 1                  [RO]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AD58D10-BCCC-9787-438C-343FF48C7EF2}"/>
              </a:ext>
            </a:extLst>
          </p:cNvPr>
          <p:cNvSpPr txBox="1"/>
          <p:nvPr/>
        </p:nvSpPr>
        <p:spPr>
          <a:xfrm>
            <a:off x="7375831" y="2984837"/>
            <a:ext cx="407035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rm</a:t>
            </a:r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 /app/config.txt</a:t>
            </a:r>
          </a:p>
          <a:p>
            <a:endParaRPr lang="it-IT" dirty="0"/>
          </a:p>
          <a:p>
            <a:r>
              <a:rPr lang="it-IT" dirty="0" err="1"/>
              <a:t>Writable</a:t>
            </a:r>
            <a:r>
              <a:rPr lang="it-IT" dirty="0"/>
              <a:t> Layer     [RW]</a:t>
            </a:r>
          </a:p>
          <a:p>
            <a:r>
              <a:rPr lang="it-IT" dirty="0"/>
              <a:t>  /app/config.txt  &lt;-- il file viene nascosto</a:t>
            </a:r>
          </a:p>
          <a:p>
            <a:r>
              <a:rPr lang="it-IT" dirty="0"/>
              <a:t>-------------------------</a:t>
            </a:r>
          </a:p>
          <a:p>
            <a:r>
              <a:rPr lang="it-IT" dirty="0"/>
              <a:t>Layer 3                  [RO]</a:t>
            </a:r>
          </a:p>
          <a:p>
            <a:r>
              <a:rPr lang="it-IT" dirty="0"/>
              <a:t>  /app/config.txt  &lt;-- versione originale</a:t>
            </a:r>
          </a:p>
          <a:p>
            <a:r>
              <a:rPr lang="it-IT" dirty="0"/>
              <a:t>Layer 2                  [RO]</a:t>
            </a:r>
          </a:p>
          <a:p>
            <a:r>
              <a:rPr lang="it-IT" dirty="0"/>
              <a:t>Layer 1                  [RO]</a:t>
            </a:r>
          </a:p>
        </p:txBody>
      </p:sp>
    </p:spTree>
    <p:extLst>
      <p:ext uri="{BB962C8B-B14F-4D97-AF65-F5344CB8AC3E}">
        <p14:creationId xmlns:p14="http://schemas.microsoft.com/office/powerpoint/2010/main" val="1749583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401C9-DE9B-29F8-2207-CC6EA85EB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2FD445-BCA9-103E-83A2-B11D53699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21: Il Motore di Storage sotto il Cofano: Il Copy-on-Write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415ED6-F29C-8088-21C1-8DAA3F8BC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La magia della coesistenza tra </a:t>
            </a:r>
            <a:r>
              <a:rPr lang="it-IT" dirty="0" err="1"/>
              <a:t>layer</a:t>
            </a:r>
            <a:r>
              <a:rPr lang="it-IT" dirty="0"/>
              <a:t> immutabili e </a:t>
            </a:r>
            <a:r>
              <a:rPr lang="it-IT" dirty="0" err="1"/>
              <a:t>layer</a:t>
            </a:r>
            <a:r>
              <a:rPr lang="it-IT" dirty="0"/>
              <a:t> scrivibili è governata da una strategia di ottimizzazione delle prestazioni del filesystem chiamata Copy-on-Write (Copia al momento della scrittura, abbreviata in </a:t>
            </a:r>
            <a:r>
              <a:rPr lang="it-IT" dirty="0" err="1"/>
              <a:t>CoW</a:t>
            </a:r>
            <a:r>
              <a:rPr lang="it-IT" dirty="0"/>
              <a:t>) gestita da driver speciali come overlay2. </a:t>
            </a:r>
          </a:p>
          <a:p>
            <a:endParaRPr lang="it-IT" dirty="0"/>
          </a:p>
          <a:p>
            <a:r>
              <a:rPr lang="it-IT" dirty="0">
                <a:solidFill>
                  <a:srgbClr val="171FE2"/>
                </a:solidFill>
              </a:rPr>
              <a:t>Se un'applicazione dentro il container tenta di leggere un file presente nell'immagine, il driver lo legge direttamente dai </a:t>
            </a:r>
            <a:r>
              <a:rPr lang="it-IT" dirty="0" err="1">
                <a:solidFill>
                  <a:srgbClr val="171FE2"/>
                </a:solidFill>
              </a:rPr>
              <a:t>layer</a:t>
            </a:r>
            <a:r>
              <a:rPr lang="it-IT" dirty="0">
                <a:solidFill>
                  <a:srgbClr val="171FE2"/>
                </a:solidFill>
              </a:rPr>
              <a:t> di sola lettura sottostanti. </a:t>
            </a:r>
          </a:p>
          <a:p>
            <a:endParaRPr lang="it-IT" dirty="0">
              <a:solidFill>
                <a:srgbClr val="171FE2"/>
              </a:solidFill>
            </a:endParaRPr>
          </a:p>
          <a:p>
            <a:r>
              <a:rPr lang="it-IT" dirty="0"/>
              <a:t>Ma se l'applicazione tenta di modificare quel file, il meccanismo Copy-on-Write interviene istantaneamente: copia il file originale dai </a:t>
            </a:r>
            <a:r>
              <a:rPr lang="it-IT" dirty="0" err="1"/>
              <a:t>layer</a:t>
            </a:r>
            <a:r>
              <a:rPr lang="it-IT" dirty="0"/>
              <a:t> inferiori, lo trasporta in alto nel </a:t>
            </a:r>
            <a:r>
              <a:rPr lang="it-IT" dirty="0" err="1"/>
              <a:t>Writable</a:t>
            </a:r>
            <a:r>
              <a:rPr lang="it-IT" dirty="0"/>
              <a:t> Layer del container, e applica la modifica su questa copia. </a:t>
            </a:r>
          </a:p>
          <a:p>
            <a:endParaRPr lang="it-IT" dirty="0"/>
          </a:p>
          <a:p>
            <a:r>
              <a:rPr lang="it-IT" dirty="0"/>
              <a:t>Il file originale dentro l'immagine rimane inalterato, nascosto semplicemente dalla nuova versione sovrastante.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D113762-5162-8CCC-6735-0D2F61B68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25710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6B1B4-5853-6F51-257F-54F321BE9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EE1014-CDFC-9250-DC7E-BBED80DB2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22: </a:t>
            </a:r>
            <a:r>
              <a:rPr lang="it-IT" dirty="0" err="1"/>
              <a:t>Georreferenziazione</a:t>
            </a:r>
            <a:r>
              <a:rPr lang="it-IT" dirty="0"/>
              <a:t> dei Dati: Linux contro Windows/</a:t>
            </a:r>
            <a:r>
              <a:rPr lang="it-IT" dirty="0" err="1"/>
              <a:t>macOS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B9349B-9B30-9704-33A2-58CC1C32F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Su un sistema operativo Linux nativo, l'intera struttura di gestione (immagini, </a:t>
            </a:r>
            <a:r>
              <a:rPr lang="it-IT" dirty="0" err="1"/>
              <a:t>layer</a:t>
            </a:r>
            <a:r>
              <a:rPr lang="it-IT" dirty="0"/>
              <a:t> scompattati, container attivi e volumi) risiede nella cartella di sistema </a:t>
            </a:r>
            <a:r>
              <a:rPr lang="it-IT" b="1" dirty="0">
                <a:solidFill>
                  <a:srgbClr val="FF0000"/>
                </a:solidFill>
              </a:rPr>
              <a:t>/var/</a:t>
            </a:r>
            <a:r>
              <a:rPr lang="it-IT" b="1" dirty="0" err="1">
                <a:solidFill>
                  <a:srgbClr val="FF0000"/>
                </a:solidFill>
              </a:rPr>
              <a:t>lib</a:t>
            </a:r>
            <a:r>
              <a:rPr lang="it-IT" b="1" dirty="0">
                <a:solidFill>
                  <a:srgbClr val="FF0000"/>
                </a:solidFill>
              </a:rPr>
              <a:t>/</a:t>
            </a:r>
            <a:r>
              <a:rPr lang="it-IT" b="1" dirty="0" err="1">
                <a:solidFill>
                  <a:srgbClr val="FF0000"/>
                </a:solidFill>
              </a:rPr>
              <a:t>docker</a:t>
            </a:r>
            <a:r>
              <a:rPr lang="it-IT" b="1" dirty="0">
                <a:solidFill>
                  <a:srgbClr val="FF0000"/>
                </a:solidFill>
              </a:rPr>
              <a:t>/</a:t>
            </a:r>
            <a:r>
              <a:rPr lang="it-IT" dirty="0"/>
              <a:t>. </a:t>
            </a:r>
          </a:p>
          <a:p>
            <a:endParaRPr lang="it-IT" dirty="0"/>
          </a:p>
          <a:p>
            <a:r>
              <a:rPr lang="it-IT" b="1" dirty="0">
                <a:solidFill>
                  <a:srgbClr val="171FE2"/>
                </a:solidFill>
              </a:rPr>
              <a:t>Su sistemi operativi come Windows o </a:t>
            </a:r>
            <a:r>
              <a:rPr lang="it-IT" b="1" dirty="0" err="1">
                <a:solidFill>
                  <a:srgbClr val="171FE2"/>
                </a:solidFill>
              </a:rPr>
              <a:t>macOS</a:t>
            </a:r>
            <a:r>
              <a:rPr lang="it-IT" b="1" dirty="0">
                <a:solidFill>
                  <a:srgbClr val="171FE2"/>
                </a:solidFill>
              </a:rPr>
              <a:t>, la situazione cambia radicalmente </a:t>
            </a:r>
            <a:r>
              <a:rPr lang="it-IT" b="1" dirty="0" err="1">
                <a:solidFill>
                  <a:srgbClr val="171FE2"/>
                </a:solidFill>
              </a:rPr>
              <a:t>poichè</a:t>
            </a:r>
            <a:r>
              <a:rPr lang="it-IT" b="1" dirty="0">
                <a:solidFill>
                  <a:srgbClr val="171FE2"/>
                </a:solidFill>
              </a:rPr>
              <a:t> essi non possiedono un kernel Linux integrato. </a:t>
            </a:r>
          </a:p>
          <a:p>
            <a:endParaRPr lang="it-IT" dirty="0"/>
          </a:p>
          <a:p>
            <a:r>
              <a:rPr lang="it-IT" dirty="0"/>
              <a:t>Quando installiamo Docker Desktop su Windows, il sistema deve avviare una macchina virtuale Linux minimale in background, solitamente gestita tramite l'architettura WSL2 (Windows Subsystem for Linux) o l'</a:t>
            </a:r>
            <a:r>
              <a:rPr lang="it-IT" dirty="0" err="1"/>
              <a:t>Hyper</a:t>
            </a:r>
            <a:r>
              <a:rPr lang="it-IT" dirty="0"/>
              <a:t>-V. </a:t>
            </a:r>
          </a:p>
          <a:p>
            <a:r>
              <a:rPr lang="it-IT" dirty="0">
                <a:solidFill>
                  <a:srgbClr val="171FE2"/>
                </a:solidFill>
              </a:rPr>
              <a:t>Di conseguenza, tutti i nostri </a:t>
            </a:r>
            <a:r>
              <a:rPr lang="it-IT" dirty="0" err="1">
                <a:solidFill>
                  <a:srgbClr val="171FE2"/>
                </a:solidFill>
              </a:rPr>
              <a:t>layer</a:t>
            </a:r>
            <a:r>
              <a:rPr lang="it-IT" dirty="0">
                <a:solidFill>
                  <a:srgbClr val="171FE2"/>
                </a:solidFill>
              </a:rPr>
              <a:t> non si trovano sparsi nel filesystem di Windows, ma sono racchiusi all'interno di un unico grande file di hard disk virtuale con estensione </a:t>
            </a:r>
            <a:r>
              <a:rPr lang="it-IT" b="1" dirty="0">
                <a:solidFill>
                  <a:srgbClr val="171FE2"/>
                </a:solidFill>
              </a:rPr>
              <a:t>.</a:t>
            </a:r>
            <a:r>
              <a:rPr lang="it-IT" b="1" dirty="0" err="1">
                <a:solidFill>
                  <a:srgbClr val="FF0000"/>
                </a:solidFill>
              </a:rPr>
              <a:t>vhdx</a:t>
            </a:r>
            <a:r>
              <a:rPr lang="it-IT" b="1" dirty="0">
                <a:solidFill>
                  <a:srgbClr val="171FE2"/>
                </a:solidFill>
              </a:rPr>
              <a:t>.</a:t>
            </a:r>
          </a:p>
          <a:p>
            <a:r>
              <a:rPr lang="it-IT" dirty="0"/>
              <a:t>In Linux tutto è un file, anche le periferiche (L’hard disk virtuale in questo caso).</a:t>
            </a:r>
          </a:p>
          <a:p>
            <a:r>
              <a:rPr lang="it-IT" dirty="0"/>
              <a:t>I file dei container non sono quindi raggiungibili esplorando C:\Program Files. Tutto vive isolato dentro la partizione virtuale di WSL2.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F78BE6C-3621-AEE6-3B1E-6B4EA8B05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7358409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45A85-875F-9A0F-1370-CAF3D0D7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A465F2-F7D1-E757-D974-CB421B004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23: Il </a:t>
            </a:r>
            <a:r>
              <a:rPr lang="it-IT" dirty="0" err="1"/>
              <a:t>Versionamento</a:t>
            </a:r>
            <a:r>
              <a:rPr lang="it-IT" dirty="0"/>
              <a:t> delle Immagini tramite i Tag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E51E899-4FD9-E3D5-8DF5-0879BAA3E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Un'immagine Docker all'interno dello storage viene identificata formalmente attraverso una stringa univoca composta secondo la sintassi standard </a:t>
            </a:r>
            <a:r>
              <a:rPr lang="it-IT" b="1" dirty="0" err="1"/>
              <a:t>nome-immagine:tag</a:t>
            </a:r>
            <a:r>
              <a:rPr lang="it-IT" dirty="0"/>
              <a:t>. </a:t>
            </a:r>
          </a:p>
          <a:p>
            <a:r>
              <a:rPr lang="it-IT" dirty="0">
                <a:solidFill>
                  <a:srgbClr val="171FE2"/>
                </a:solidFill>
              </a:rPr>
              <a:t>Il tag rappresenta un'etichetta alfanumerica</a:t>
            </a:r>
            <a:r>
              <a:rPr lang="it-IT" dirty="0"/>
              <a:t>, un alias logico che punta a una specifica impronta digitale (l'</a:t>
            </a:r>
            <a:r>
              <a:rPr lang="it-IT" dirty="0" err="1"/>
              <a:t>hash</a:t>
            </a:r>
            <a:r>
              <a:rPr lang="it-IT" dirty="0"/>
              <a:t> SHA256) dell'immagine. </a:t>
            </a:r>
          </a:p>
          <a:p>
            <a:r>
              <a:rPr lang="it-IT" dirty="0"/>
              <a:t>I tag sono lo strumento fondamentale per gestire il ciclo di vita e il </a:t>
            </a:r>
            <a:r>
              <a:rPr lang="it-IT" dirty="0" err="1"/>
              <a:t>versionamento</a:t>
            </a:r>
            <a:r>
              <a:rPr lang="it-IT" dirty="0"/>
              <a:t> del software (es. postgres:15.4, postgres:16.1 o </a:t>
            </a:r>
            <a:r>
              <a:rPr lang="it-IT" dirty="0" err="1"/>
              <a:t>postgres:latest</a:t>
            </a:r>
            <a:r>
              <a:rPr lang="it-IT" dirty="0"/>
              <a:t>). </a:t>
            </a:r>
          </a:p>
          <a:p>
            <a:r>
              <a:rPr lang="it-IT" dirty="0"/>
              <a:t>L'assegnazione di un nuovo tag tramite il comando </a:t>
            </a:r>
            <a:r>
              <a:rPr lang="it-IT" b="1" dirty="0" err="1"/>
              <a:t>docker</a:t>
            </a:r>
            <a:r>
              <a:rPr lang="it-IT" b="1" dirty="0"/>
              <a:t> tag </a:t>
            </a:r>
            <a:r>
              <a:rPr lang="it-IT" dirty="0">
                <a:solidFill>
                  <a:srgbClr val="171FE2"/>
                </a:solidFill>
              </a:rPr>
              <a:t>non esegue alcuna copia fisica dei file sul disco e non crea una nuova immagine</a:t>
            </a:r>
            <a:r>
              <a:rPr lang="it-IT" dirty="0"/>
              <a:t>: si limita a generare un puntatore logico aggiuntivo che fa riferimento allo stesso identico set di </a:t>
            </a:r>
            <a:r>
              <a:rPr lang="it-IT" dirty="0" err="1"/>
              <a:t>layer</a:t>
            </a:r>
            <a:r>
              <a:rPr lang="it-IT" dirty="0"/>
              <a:t> preesistente.</a:t>
            </a:r>
          </a:p>
          <a:p>
            <a:r>
              <a:rPr lang="it-IT" dirty="0"/>
              <a:t>L'inganno del tag ":</a:t>
            </a:r>
            <a:r>
              <a:rPr lang="it-IT" dirty="0" err="1"/>
              <a:t>latest</a:t>
            </a:r>
            <a:r>
              <a:rPr lang="it-IT" dirty="0"/>
              <a:t>". Non significa magicamente "la versione più stabile", ma è semplicemente il nome di default applicato da Docker se l'utente si dimentica di specificare un tag.</a:t>
            </a:r>
          </a:p>
          <a:p>
            <a:r>
              <a:rPr lang="it-IT" dirty="0">
                <a:solidFill>
                  <a:srgbClr val="171FE2"/>
                </a:solidFill>
              </a:rPr>
              <a:t>Prima:</a:t>
            </a:r>
          </a:p>
          <a:p>
            <a:r>
              <a:rPr lang="it-IT" dirty="0"/>
              <a:t>myapp:1.0  --&gt; Image ID: sha256:abcd</a:t>
            </a:r>
          </a:p>
          <a:p>
            <a:r>
              <a:rPr lang="it-IT" dirty="0">
                <a:solidFill>
                  <a:srgbClr val="171FE2"/>
                </a:solidFill>
              </a:rPr>
              <a:t>Dopo:</a:t>
            </a:r>
          </a:p>
          <a:p>
            <a:r>
              <a:rPr lang="it-IT" dirty="0"/>
              <a:t>myapp:1.0   --&gt; Image ID: sha256:abcd</a:t>
            </a:r>
          </a:p>
          <a:p>
            <a:r>
              <a:rPr lang="it-IT" dirty="0" err="1"/>
              <a:t>myapp:latest</a:t>
            </a:r>
            <a:r>
              <a:rPr lang="it-IT" dirty="0"/>
              <a:t> --&gt; Image ID: sha256:abcd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694AE2E-7FDE-BB2A-7E6B-9E72D44F2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7941015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5624D-8E19-E855-89C7-4BF5EC7AA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AC64AA-3A28-9B14-24EC-51FE45007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24: La Direttiva FROM e la Genesi del Filesystem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134862D-804E-87FD-E8C8-4BFD507B5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Il </a:t>
            </a:r>
            <a:r>
              <a:rPr lang="it-IT" dirty="0" err="1"/>
              <a:t>Dockerfile</a:t>
            </a:r>
            <a:r>
              <a:rPr lang="it-IT" dirty="0"/>
              <a:t> è il documento di testo che </a:t>
            </a:r>
            <a:r>
              <a:rPr lang="it-IT" dirty="0">
                <a:solidFill>
                  <a:srgbClr val="171FE2"/>
                </a:solidFill>
              </a:rPr>
              <a:t>contiene le istruzioni sequenziali necessarie per automatizzare il build </a:t>
            </a:r>
            <a:r>
              <a:rPr lang="it-IT" dirty="0"/>
              <a:t>di un'immagine personalizzata. </a:t>
            </a:r>
          </a:p>
          <a:p>
            <a:endParaRPr lang="it-IT" dirty="0"/>
          </a:p>
          <a:p>
            <a:r>
              <a:rPr lang="it-IT" dirty="0"/>
              <a:t>La direttiva FROM costituisce la prima istruzione obbligatoria di ogni </a:t>
            </a:r>
            <a:r>
              <a:rPr lang="it-IT" dirty="0" err="1"/>
              <a:t>Dockerfile</a:t>
            </a:r>
            <a:r>
              <a:rPr lang="it-IT" dirty="0"/>
              <a:t> valido e definisce l'immagine di partenza (la Base Image) su cui l'intero castello di </a:t>
            </a:r>
            <a:r>
              <a:rPr lang="it-IT" dirty="0" err="1"/>
              <a:t>layer</a:t>
            </a:r>
            <a:r>
              <a:rPr lang="it-IT" dirty="0"/>
              <a:t> successivi verrà edificato. </a:t>
            </a:r>
          </a:p>
          <a:p>
            <a:endParaRPr lang="it-IT" dirty="0"/>
          </a:p>
          <a:p>
            <a:r>
              <a:rPr lang="it-IT" b="1" dirty="0">
                <a:solidFill>
                  <a:srgbClr val="171FE2"/>
                </a:solidFill>
              </a:rPr>
              <a:t>Senza la dichiarazione FROM, il motore di Docker si troverebbe nell'impossibilità di operare, poiché non saprebbe quale filesystem di base utilizzare come radice / del progetto. </a:t>
            </a:r>
          </a:p>
          <a:p>
            <a:endParaRPr lang="it-IT" dirty="0"/>
          </a:p>
          <a:p>
            <a:r>
              <a:rPr lang="it-IT" dirty="0"/>
              <a:t>L'immagine di base invocata da FROM fornisce l'ambiente minimo indispensabile: un sistema operativo base, le sue librerie fondamentali e, a seconda del tag scelto, l'ambiente </a:t>
            </a:r>
            <a:r>
              <a:rPr lang="it-IT" dirty="0" err="1"/>
              <a:t>runtime</a:t>
            </a:r>
            <a:r>
              <a:rPr lang="it-IT" dirty="0"/>
              <a:t> ottimizzato per il linguaggio di programmazione utilizzato.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74D55F0-A4A4-0B34-1B14-19E86177D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9386360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F21E1-21C1-A985-341C-BC9FBBC62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5F7FF2-94DC-37E8-C832-92DAD2E7E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25: Anatomia Analitica di un Tag di Produzione: Eclipse-</a:t>
            </a:r>
            <a:r>
              <a:rPr lang="it-IT" dirty="0" err="1"/>
              <a:t>Temurin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E63BC82-1785-2651-DC33-C57A49FF2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Analizziamo un'istruzione reale: FROM eclipse-temurin:17-jre-alpine. </a:t>
            </a:r>
          </a:p>
          <a:p>
            <a:r>
              <a:rPr lang="it-IT" dirty="0"/>
              <a:t>Questa riga non è una stringa casuale, ma una combinazione precisa: </a:t>
            </a:r>
          </a:p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/>
              <a:t>eclipse-temurin</a:t>
            </a:r>
            <a:r>
              <a:rPr lang="it-IT" dirty="0"/>
              <a:t> identifica il repository ufficiale dell'organizzazione Eclipse che distribuisce build </a:t>
            </a:r>
            <a:r>
              <a:rPr lang="it-IT" dirty="0" err="1"/>
              <a:t>OpenJDK</a:t>
            </a:r>
            <a:r>
              <a:rPr lang="it-IT" dirty="0"/>
              <a:t> stabili e certificate;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17</a:t>
            </a:r>
            <a:r>
              <a:rPr lang="it-IT" dirty="0"/>
              <a:t> specifica la versione Long </a:t>
            </a:r>
            <a:r>
              <a:rPr lang="it-IT" dirty="0" err="1"/>
              <a:t>Term</a:t>
            </a:r>
            <a:r>
              <a:rPr lang="it-IT" dirty="0"/>
              <a:t> Support (LTS) del linguaggio Java richiesta dall'applicazione;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/>
              <a:t>jre</a:t>
            </a:r>
            <a:r>
              <a:rPr lang="it-IT" dirty="0"/>
              <a:t> evidenzia che l'immagine include esclusivamente il Java Runtime Environment, ovvero i componenti minimi per eseguire un programma, omettendo i compilatori;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alpine</a:t>
            </a:r>
            <a:r>
              <a:rPr lang="it-IT" dirty="0"/>
              <a:t> indica che il sistema operativo di base è Alpine Linux, una </a:t>
            </a:r>
            <a:r>
              <a:rPr lang="it-IT" b="1" dirty="0">
                <a:solidFill>
                  <a:srgbClr val="171FE2"/>
                </a:solidFill>
              </a:rPr>
              <a:t>distribuzione ultrasicura e microscopica</a:t>
            </a:r>
            <a:r>
              <a:rPr lang="it-IT" dirty="0"/>
              <a:t> basata sulla libreria </a:t>
            </a:r>
            <a:r>
              <a:rPr lang="it-IT" dirty="0" err="1"/>
              <a:t>musl</a:t>
            </a:r>
            <a:r>
              <a:rPr lang="it-IT" dirty="0"/>
              <a:t> anziché sulla pesante </a:t>
            </a:r>
            <a:r>
              <a:rPr lang="it-IT" dirty="0" err="1"/>
              <a:t>glibc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dirty="0"/>
              <a:t>La combinazione di queste scelte produca un'immagine finale sicura e incredibilmente leggera rispetto alle distribuzioni standard </a:t>
            </a:r>
            <a:r>
              <a:rPr lang="it-IT" dirty="0" err="1"/>
              <a:t>Debian</a:t>
            </a:r>
            <a:r>
              <a:rPr lang="it-IT" dirty="0"/>
              <a:t> o Ubuntu.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0C20483-D81B-246D-A90B-079E4A410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4726719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9C1E6-F6AD-87F0-D555-676AB6168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FD7875-A342-A3E6-5379-46205E792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26: Anatomia Analitica di un Tag di Produzione: Eclipse-</a:t>
            </a:r>
            <a:r>
              <a:rPr lang="it-IT" dirty="0" err="1"/>
              <a:t>Temurin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44487C1-10C5-5B31-E3EF-0DA254F81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Un errore comune commesso dai team di sviluppo junior consiste nell'utilizzare indiscriminatamente immagini basate su JDK (Java Development Kit) all'interno dei </a:t>
            </a:r>
            <a:r>
              <a:rPr lang="it-IT" dirty="0" err="1"/>
              <a:t>Dockerfile</a:t>
            </a:r>
            <a:r>
              <a:rPr lang="it-IT" dirty="0"/>
              <a:t> di produzione. </a:t>
            </a:r>
          </a:p>
          <a:p>
            <a:endParaRPr lang="it-IT" dirty="0"/>
          </a:p>
          <a:p>
            <a:r>
              <a:rPr lang="it-IT" dirty="0"/>
              <a:t>Il JDK include l'intera suite di strumenti necessari alla scrittura del codice, </a:t>
            </a:r>
            <a:r>
              <a:rPr lang="it-IT" dirty="0">
                <a:solidFill>
                  <a:srgbClr val="171FE2"/>
                </a:solidFill>
              </a:rPr>
              <a:t>inclusi il compilatore </a:t>
            </a:r>
            <a:r>
              <a:rPr lang="it-IT" dirty="0" err="1">
                <a:solidFill>
                  <a:srgbClr val="171FE2"/>
                </a:solidFill>
              </a:rPr>
              <a:t>javac</a:t>
            </a:r>
            <a:r>
              <a:rPr lang="it-IT" dirty="0">
                <a:solidFill>
                  <a:srgbClr val="171FE2"/>
                </a:solidFill>
              </a:rPr>
              <a:t>, il debugger e i tool di profilazione hardware, portando il peso dell'immagine base oltre i 400MB</a:t>
            </a:r>
            <a:r>
              <a:rPr lang="it-IT" dirty="0"/>
              <a:t>. </a:t>
            </a:r>
          </a:p>
          <a:p>
            <a:endParaRPr lang="it-IT" dirty="0"/>
          </a:p>
          <a:p>
            <a:r>
              <a:rPr lang="it-IT" dirty="0"/>
              <a:t>Al contrario, l'immagine JRE contiene unicamente la Virtual Machine (java) e le </a:t>
            </a:r>
            <a:r>
              <a:rPr lang="it-IT" dirty="0">
                <a:solidFill>
                  <a:srgbClr val="171FE2"/>
                </a:solidFill>
              </a:rPr>
              <a:t>librerie necessarie all'esecuzione di un file .</a:t>
            </a:r>
            <a:r>
              <a:rPr lang="it-IT" dirty="0" err="1">
                <a:solidFill>
                  <a:srgbClr val="171FE2"/>
                </a:solidFill>
              </a:rPr>
              <a:t>jar</a:t>
            </a:r>
            <a:r>
              <a:rPr lang="it-IT" dirty="0">
                <a:solidFill>
                  <a:srgbClr val="171FE2"/>
                </a:solidFill>
              </a:rPr>
              <a:t> già compilato</a:t>
            </a:r>
            <a:r>
              <a:rPr lang="it-IT" dirty="0"/>
              <a:t> </a:t>
            </a:r>
            <a:r>
              <a:rPr lang="it-IT" dirty="0">
                <a:solidFill>
                  <a:srgbClr val="171FE2"/>
                </a:solidFill>
              </a:rPr>
              <a:t>esternamente</a:t>
            </a:r>
            <a:r>
              <a:rPr lang="it-IT" dirty="0"/>
              <a:t>, riducendo il peso a un terzo. </a:t>
            </a:r>
          </a:p>
          <a:p>
            <a:endParaRPr lang="it-IT" dirty="0"/>
          </a:p>
          <a:p>
            <a:r>
              <a:rPr lang="it-IT" dirty="0"/>
              <a:t>In un </a:t>
            </a:r>
            <a:r>
              <a:rPr lang="it-IT" dirty="0" err="1"/>
              <a:t>Dockerfile</a:t>
            </a:r>
            <a:r>
              <a:rPr lang="it-IT" dirty="0"/>
              <a:t> lineare standard, se il codice viene compilato sul PC dello sviluppatore o sul server di CI/CD, l'immagine finale distribuita sui server deve tassativamente adottare un approccio basato su JRE.</a:t>
            </a:r>
          </a:p>
          <a:p>
            <a:r>
              <a:rPr lang="it-IT" dirty="0"/>
              <a:t>JDK serve per costruire e compilare; JRE serve per eseguire in produzione. </a:t>
            </a:r>
          </a:p>
          <a:p>
            <a:r>
              <a:rPr lang="it-IT" b="1" dirty="0">
                <a:solidFill>
                  <a:srgbClr val="171FE2"/>
                </a:solidFill>
              </a:rPr>
              <a:t>Portare strumenti di sviluppo in produzione è uno spreco di spazio e un rischio di sicurezza.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950014A-BB63-0A80-8832-52A88D180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8002956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975E3-6A3A-9850-0D35-59D80B5A9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3A0725-DD69-D6AD-E67D-0C42507B8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27: La Direttiva WORKDIR e la Stabilità dei Percorsi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3C3C79-2D31-AB4E-8087-96AB4F85B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La direttiva WORKDIR /app ha il compito di </a:t>
            </a:r>
            <a:r>
              <a:rPr lang="it-IT" dirty="0">
                <a:solidFill>
                  <a:srgbClr val="171FE2"/>
                </a:solidFill>
              </a:rPr>
              <a:t>impostare la directory di lavoro corrente all'interno del filesystem dell'immagine</a:t>
            </a:r>
            <a:r>
              <a:rPr lang="it-IT" dirty="0"/>
              <a:t> per tutte le istruzioni successive del </a:t>
            </a:r>
            <a:r>
              <a:rPr lang="it-IT" dirty="0" err="1"/>
              <a:t>Dockerfile</a:t>
            </a:r>
            <a:r>
              <a:rPr lang="it-IT" dirty="0"/>
              <a:t>, come COPY, RUN, CMD o ENTRYPOINT. </a:t>
            </a:r>
          </a:p>
          <a:p>
            <a:r>
              <a:rPr lang="it-IT" dirty="0"/>
              <a:t>Se la cartella specificata nel percorso assoluto non esiste, il Docker Daemon provvede a crearla automaticamente sul momento. </a:t>
            </a:r>
          </a:p>
          <a:p>
            <a:endParaRPr lang="it-IT" dirty="0"/>
          </a:p>
          <a:p>
            <a:r>
              <a:rPr lang="it-IT" b="1" dirty="0">
                <a:solidFill>
                  <a:srgbClr val="171FE2"/>
                </a:solidFill>
              </a:rPr>
              <a:t>È una gravissima imprecisione metodologica tentare di navigare nel filesystem inserendo istruzioni del tipo RUN </a:t>
            </a:r>
            <a:r>
              <a:rPr lang="it-IT" b="1" dirty="0" err="1">
                <a:solidFill>
                  <a:srgbClr val="171FE2"/>
                </a:solidFill>
              </a:rPr>
              <a:t>mkdir</a:t>
            </a:r>
            <a:r>
              <a:rPr lang="it-IT" b="1" dirty="0">
                <a:solidFill>
                  <a:srgbClr val="171FE2"/>
                </a:solidFill>
              </a:rPr>
              <a:t> /app &amp;&amp; cd /app. </a:t>
            </a:r>
          </a:p>
          <a:p>
            <a:r>
              <a:rPr lang="it-IT" dirty="0"/>
              <a:t>Ogni istruzione RUN viene eseguita in un nuovo container temporaneo costruito a partire dal </a:t>
            </a:r>
            <a:r>
              <a:rPr lang="it-IT" dirty="0" err="1"/>
              <a:t>layer</a:t>
            </a:r>
            <a:r>
              <a:rPr lang="it-IT" dirty="0"/>
              <a:t> precedente, </a:t>
            </a:r>
            <a:r>
              <a:rPr lang="it-IT" dirty="0" err="1">
                <a:solidFill>
                  <a:srgbClr val="171FE2"/>
                </a:solidFill>
              </a:rPr>
              <a:t>percui</a:t>
            </a:r>
            <a:r>
              <a:rPr lang="it-IT" dirty="0">
                <a:solidFill>
                  <a:srgbClr val="171FE2"/>
                </a:solidFill>
              </a:rPr>
              <a:t> l'effetto del comando cd andrebbe istantaneamente perduto nella riga successiva in quanto non stabilisce una modifica del filesystem</a:t>
            </a:r>
            <a:r>
              <a:rPr lang="it-IT" dirty="0"/>
              <a:t>. WORKDIR agisce invece come una configurazione di stato permanente e sicura.</a:t>
            </a:r>
          </a:p>
          <a:p>
            <a:r>
              <a:rPr lang="it-IT" dirty="0"/>
              <a:t>L'uso esplicito di WORKDIR garantisce che i file non vengano mai accidentalmente scritti nella cartella root (/) dell'immagine, mantenendo la struttura interna pulita e standardizzata.</a:t>
            </a:r>
            <a:endParaRPr lang="it-IT" dirty="0">
              <a:solidFill>
                <a:srgbClr val="171FE2"/>
              </a:solidFill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ABD940C-E16D-8932-8DD4-5E2A4E1AA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6999884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35B3A-47C5-D9D7-6C80-A9449BC09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3C7E86-CFC1-DDE5-3441-EF09894F6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28: La Direttiva COPY e la Gestione dei Contests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6C1F1B-63C2-A850-FB63-4F889C4D2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L'istruzione COPY target/*.</a:t>
            </a:r>
            <a:r>
              <a:rPr lang="it-IT" dirty="0" err="1"/>
              <a:t>jar</a:t>
            </a:r>
            <a:r>
              <a:rPr lang="it-IT" dirty="0"/>
              <a:t> app.jar assolve al compito fondamentale di </a:t>
            </a:r>
            <a:r>
              <a:rPr lang="it-IT" b="1" dirty="0">
                <a:solidFill>
                  <a:srgbClr val="171FE2"/>
                </a:solidFill>
              </a:rPr>
              <a:t>trasferire file o intere cartelle dal filesystem locale</a:t>
            </a:r>
            <a:r>
              <a:rPr lang="it-IT" dirty="0"/>
              <a:t> della macchina </a:t>
            </a:r>
            <a:r>
              <a:rPr lang="it-IT" dirty="0" err="1"/>
              <a:t>host</a:t>
            </a:r>
            <a:r>
              <a:rPr lang="it-IT" dirty="0"/>
              <a:t> (il computer di sviluppo o il server di automazione) </a:t>
            </a:r>
            <a:r>
              <a:rPr lang="it-IT" b="1" dirty="0">
                <a:solidFill>
                  <a:srgbClr val="171FE2"/>
                </a:solidFill>
              </a:rPr>
              <a:t>all'interno del filesystem virtuale dell'immagine Docker</a:t>
            </a:r>
            <a:r>
              <a:rPr lang="it-IT" dirty="0"/>
              <a:t> in fase di compilazione. </a:t>
            </a:r>
          </a:p>
          <a:p>
            <a:r>
              <a:rPr lang="it-IT" dirty="0"/>
              <a:t>Questa direttiva opera nel pieno rispetto delle coordinate stabilite in precedenza: </a:t>
            </a:r>
          </a:p>
          <a:p>
            <a:endParaRPr lang="it-IT" dirty="0"/>
          </a:p>
          <a:p>
            <a:r>
              <a:rPr lang="it-IT" dirty="0"/>
              <a:t>il </a:t>
            </a:r>
            <a:r>
              <a:rPr lang="it-IT" b="1" dirty="0"/>
              <a:t>primo argomento </a:t>
            </a:r>
            <a:r>
              <a:rPr lang="it-IT" dirty="0"/>
              <a:t>rappresenta il </a:t>
            </a:r>
            <a:r>
              <a:rPr lang="it-IT" dirty="0">
                <a:solidFill>
                  <a:srgbClr val="171FE2"/>
                </a:solidFill>
              </a:rPr>
              <a:t>percorso sorgente sul PC ospitante</a:t>
            </a:r>
            <a:r>
              <a:rPr lang="it-IT" dirty="0"/>
              <a:t>, il quale deve trovarsi tassativamente all'interno del cosiddetto Build </a:t>
            </a:r>
            <a:r>
              <a:rPr lang="it-IT" dirty="0" err="1"/>
              <a:t>Context</a:t>
            </a:r>
            <a:r>
              <a:rPr lang="it-IT" dirty="0"/>
              <a:t> (la cartella in cui è stato lanciato il comando di build); </a:t>
            </a:r>
          </a:p>
          <a:p>
            <a:endParaRPr lang="it-IT" dirty="0"/>
          </a:p>
          <a:p>
            <a:r>
              <a:rPr lang="it-IT" dirty="0"/>
              <a:t>il </a:t>
            </a:r>
            <a:r>
              <a:rPr lang="it-IT" b="1" dirty="0"/>
              <a:t>secondo argomento </a:t>
            </a:r>
            <a:r>
              <a:rPr lang="it-IT" dirty="0"/>
              <a:t>definisce il </a:t>
            </a:r>
            <a:r>
              <a:rPr lang="it-IT" dirty="0">
                <a:solidFill>
                  <a:srgbClr val="171FE2"/>
                </a:solidFill>
              </a:rPr>
              <a:t>percorso di destinazione interno</a:t>
            </a:r>
            <a:r>
              <a:rPr lang="it-IT" dirty="0"/>
              <a:t>. Se prima è stato dichiarato WORKDIR /app, il file descritto nell'esempio verrà memorizzato nel percorso assoluto /app/app.jar.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B233972-98FD-B653-CA38-0464E4ABB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37793579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6D163-5DA3-B99C-D89E-035CA4541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3A391-03F5-EE12-6E6D-AAFEEB6CD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29: La Direttiva CMD ed il Metadato di Avvio (</a:t>
            </a:r>
            <a:r>
              <a:rPr lang="it-IT" dirty="0" err="1"/>
              <a:t>Exec</a:t>
            </a:r>
            <a:r>
              <a:rPr lang="it-IT" dirty="0"/>
              <a:t> Form)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B19250-0845-8841-57A3-2D1123A14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La direttiva CMD ["java", "-</a:t>
            </a:r>
            <a:r>
              <a:rPr lang="it-IT" dirty="0" err="1"/>
              <a:t>jar</a:t>
            </a:r>
            <a:r>
              <a:rPr lang="it-IT" dirty="0"/>
              <a:t>", "app.jar"] definisce il comando predefinito che il container dovrà eseguire </a:t>
            </a:r>
            <a:r>
              <a:rPr lang="it-IT" dirty="0">
                <a:solidFill>
                  <a:srgbClr val="171FE2"/>
                </a:solidFill>
              </a:rPr>
              <a:t>nel momento esatto in cui verrà risvegliato </a:t>
            </a:r>
            <a:r>
              <a:rPr lang="it-IT" dirty="0"/>
              <a:t>tramite il comando </a:t>
            </a:r>
            <a:r>
              <a:rPr lang="it-IT" dirty="0" err="1"/>
              <a:t>docker</a:t>
            </a:r>
            <a:r>
              <a:rPr lang="it-IT" dirty="0"/>
              <a:t> </a:t>
            </a:r>
            <a:r>
              <a:rPr lang="it-IT" dirty="0" err="1"/>
              <a:t>run</a:t>
            </a:r>
            <a:r>
              <a:rPr lang="it-IT" dirty="0"/>
              <a:t>. </a:t>
            </a:r>
          </a:p>
          <a:p>
            <a:endParaRPr lang="it-IT" dirty="0"/>
          </a:p>
          <a:p>
            <a:r>
              <a:rPr lang="it-IT" dirty="0">
                <a:solidFill>
                  <a:srgbClr val="171FE2"/>
                </a:solidFill>
              </a:rPr>
              <a:t>Questa istruzione non effettua alcuna elaborazione attiva o computazione durante la fase di build dell'immagine. </a:t>
            </a:r>
          </a:p>
          <a:p>
            <a:endParaRPr lang="it-IT" dirty="0">
              <a:solidFill>
                <a:srgbClr val="171FE2"/>
              </a:solidFill>
            </a:endParaRPr>
          </a:p>
          <a:p>
            <a:r>
              <a:rPr lang="it-IT" dirty="0"/>
              <a:t>CMD si limita a scrivere un metadato di testo all'interno della configurazione dell'immagine. </a:t>
            </a:r>
          </a:p>
          <a:p>
            <a:r>
              <a:rPr lang="it-IT" dirty="0"/>
              <a:t>La sintassi consigliata è la cosiddetta </a:t>
            </a:r>
            <a:r>
              <a:rPr lang="it-IT" dirty="0" err="1"/>
              <a:t>Exec</a:t>
            </a:r>
            <a:r>
              <a:rPr lang="it-IT" dirty="0"/>
              <a:t> Form, strutturata come un array JSON di stringhe. </a:t>
            </a:r>
          </a:p>
          <a:p>
            <a:r>
              <a:rPr lang="it-IT" dirty="0">
                <a:solidFill>
                  <a:srgbClr val="171FE2"/>
                </a:solidFill>
              </a:rPr>
              <a:t>Questa notazione assicura che il processo applicativo venga lanciato direttamente sul kernel con il PID 1</a:t>
            </a:r>
            <a:r>
              <a:rPr lang="it-IT" dirty="0"/>
              <a:t>, permettendogli di intercettare correttamente i segnali di terminazione di sistema (come SIGTERM o SIGKILL) inviati da Docker durante le fasi di arresto.</a:t>
            </a:r>
          </a:p>
          <a:p>
            <a:r>
              <a:rPr lang="it-IT" dirty="0">
                <a:solidFill>
                  <a:srgbClr val="171FE2"/>
                </a:solidFill>
              </a:rPr>
              <a:t>Se si omette la sintassi ad array e si scrive "CMD java -</a:t>
            </a:r>
            <a:r>
              <a:rPr lang="it-IT" dirty="0" err="1">
                <a:solidFill>
                  <a:srgbClr val="171FE2"/>
                </a:solidFill>
              </a:rPr>
              <a:t>jar</a:t>
            </a:r>
            <a:r>
              <a:rPr lang="it-IT" dirty="0">
                <a:solidFill>
                  <a:srgbClr val="171FE2"/>
                </a:solidFill>
              </a:rPr>
              <a:t> app.jar" (Shell Form), Docker avvierà il programma come figlio di "/bin/sh -c", impedendo all'applicazione di ricevere i segnali di stop.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09EF69D-4FF1-E203-9CC4-FBE30D8BE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4826747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570EA-3FF5-1A77-4CA1-C8E578EB3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A20988-0250-EC7F-DC6E-CA64FEF7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30: Demolizione del Falso Mito del Comando EXPOSE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A61B2F9-51DA-554E-AC2D-3A9CA4217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Una delle incomprensioni più radicate nel mondo della formazione su Docker riguarda il ruolo dell'istruzione EXPOSE 8098. </a:t>
            </a:r>
          </a:p>
          <a:p>
            <a:endParaRPr lang="it-IT" dirty="0"/>
          </a:p>
          <a:p>
            <a:r>
              <a:rPr lang="it-IT" dirty="0"/>
              <a:t>L'istruzione EXPOSE è una direttiva di puro metadato con un valore esclusivamente documentale e informativo. </a:t>
            </a:r>
          </a:p>
          <a:p>
            <a:endParaRPr lang="it-IT" dirty="0"/>
          </a:p>
          <a:p>
            <a:r>
              <a:rPr lang="it-IT" dirty="0">
                <a:solidFill>
                  <a:srgbClr val="171FE2"/>
                </a:solidFill>
              </a:rPr>
              <a:t>Serve unicamente a comunicare ai sistemisti o agli utilizzatori dell'immagine quale porta interna l'applicazione intende utilizzare a </a:t>
            </a:r>
            <a:r>
              <a:rPr lang="it-IT" dirty="0" err="1">
                <a:solidFill>
                  <a:srgbClr val="171FE2"/>
                </a:solidFill>
              </a:rPr>
              <a:t>runtime</a:t>
            </a:r>
            <a:r>
              <a:rPr lang="it-IT" dirty="0">
                <a:solidFill>
                  <a:srgbClr val="171FE2"/>
                </a:solidFill>
              </a:rPr>
              <a:t> per ascoltare il traffico. </a:t>
            </a:r>
          </a:p>
          <a:p>
            <a:endParaRPr lang="it-IT" dirty="0">
              <a:solidFill>
                <a:srgbClr val="171FE2"/>
              </a:solidFill>
            </a:endParaRPr>
          </a:p>
          <a:p>
            <a:r>
              <a:rPr lang="it-IT" dirty="0"/>
              <a:t>Per abilitare la comunicazione reale con l'esterno, l'operatore dovrà tassativamente mappare esplicitamente le porte a </a:t>
            </a:r>
            <a:r>
              <a:rPr lang="it-IT" dirty="0" err="1"/>
              <a:t>runtime</a:t>
            </a:r>
            <a:r>
              <a:rPr lang="it-IT" dirty="0"/>
              <a:t> utilizzando il flag -p 8098:8098 nel comando </a:t>
            </a:r>
            <a:r>
              <a:rPr lang="it-IT" dirty="0" err="1"/>
              <a:t>run</a:t>
            </a:r>
            <a:r>
              <a:rPr lang="it-IT" dirty="0"/>
              <a:t>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CABA70A-0BB1-AF4F-B12B-77150660E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0144234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3E51D-92DB-2737-8A06-783A31F52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68ECC1-28D6-8419-4DF7-DD2DAC45D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31: La Linea di Demarcazione tra CMD e ENTRYPOINT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BF7C6A-B3EF-4264-FE6C-1886E86C0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Le direttive CMD e ENTRYPOINT cooperano alla definizione del comando di avvio del container, ma obbediscono a regole di flessibilità radicalmente opposte. </a:t>
            </a:r>
          </a:p>
          <a:p>
            <a:endParaRPr lang="it-IT" dirty="0"/>
          </a:p>
          <a:p>
            <a:r>
              <a:rPr lang="it-IT" dirty="0"/>
              <a:t>L'istruzione CMD descrive un comando o un set di argomenti predefiniti che l'utente può facilmente e totalmente sovrascrivere dal terminale in fase di esecuzione (es. digitando </a:t>
            </a:r>
            <a:r>
              <a:rPr lang="it-IT" dirty="0" err="1"/>
              <a:t>docker</a:t>
            </a:r>
            <a:r>
              <a:rPr lang="it-IT" dirty="0"/>
              <a:t> </a:t>
            </a:r>
            <a:r>
              <a:rPr lang="it-IT" dirty="0" err="1"/>
              <a:t>run</a:t>
            </a:r>
            <a:r>
              <a:rPr lang="it-IT" dirty="0"/>
              <a:t> mia-app bin/</a:t>
            </a:r>
            <a:r>
              <a:rPr lang="it-IT" dirty="0" err="1"/>
              <a:t>bash</a:t>
            </a:r>
            <a:r>
              <a:rPr lang="it-IT" dirty="0"/>
              <a:t>).</a:t>
            </a:r>
          </a:p>
          <a:p>
            <a:endParaRPr lang="it-IT" dirty="0"/>
          </a:p>
          <a:p>
            <a:r>
              <a:rPr lang="it-IT" dirty="0"/>
              <a:t>Al contrario, la direttiva ENTRYPOINT definisce il comando principale, immutabile e strutturale del container, trasformando il container stesso in un vero e proprio file eseguibile specializzato. </a:t>
            </a:r>
          </a:p>
          <a:p>
            <a:endParaRPr lang="it-IT" dirty="0"/>
          </a:p>
          <a:p>
            <a:r>
              <a:rPr lang="it-IT" dirty="0">
                <a:solidFill>
                  <a:srgbClr val="171FE2"/>
                </a:solidFill>
              </a:rPr>
              <a:t>Se un </a:t>
            </a:r>
            <a:r>
              <a:rPr lang="it-IT" dirty="0" err="1">
                <a:solidFill>
                  <a:srgbClr val="171FE2"/>
                </a:solidFill>
              </a:rPr>
              <a:t>Dockerfile</a:t>
            </a:r>
            <a:r>
              <a:rPr lang="it-IT" dirty="0">
                <a:solidFill>
                  <a:srgbClr val="171FE2"/>
                </a:solidFill>
              </a:rPr>
              <a:t> dichiara ENTRYPOINT ["</a:t>
            </a:r>
            <a:r>
              <a:rPr lang="it-IT" dirty="0" err="1">
                <a:solidFill>
                  <a:srgbClr val="171FE2"/>
                </a:solidFill>
              </a:rPr>
              <a:t>ping</a:t>
            </a:r>
            <a:r>
              <a:rPr lang="it-IT" dirty="0">
                <a:solidFill>
                  <a:srgbClr val="171FE2"/>
                </a:solidFill>
              </a:rPr>
              <a:t>"], qualsiasi argomento passato dall'utente in riga di comando a </a:t>
            </a:r>
            <a:r>
              <a:rPr lang="it-IT" dirty="0" err="1">
                <a:solidFill>
                  <a:srgbClr val="171FE2"/>
                </a:solidFill>
              </a:rPr>
              <a:t>runtime</a:t>
            </a:r>
            <a:r>
              <a:rPr lang="it-IT" dirty="0">
                <a:solidFill>
                  <a:srgbClr val="171FE2"/>
                </a:solidFill>
              </a:rPr>
              <a:t> (es. google.com) non sostituirà l'istruzione, ma verrà concatenato in coda ad essa.</a:t>
            </a:r>
          </a:p>
          <a:p>
            <a:endParaRPr lang="it-IT" dirty="0">
              <a:solidFill>
                <a:srgbClr val="171FE2"/>
              </a:solidFill>
            </a:endParaRPr>
          </a:p>
          <a:p>
            <a:r>
              <a:rPr lang="it-IT" dirty="0"/>
              <a:t>L'accoppiata vincente: usare ENTRYPOINT per definire l'eseguibile fisso (es. "java -</a:t>
            </a:r>
            <a:r>
              <a:rPr lang="it-IT" dirty="0" err="1"/>
              <a:t>jar</a:t>
            </a:r>
            <a:r>
              <a:rPr lang="it-IT" dirty="0"/>
              <a:t>") e CMD per fornire gli argomenti di default modificabili dall'utente.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47CAF06-3AB4-7C0A-E316-9F2ADF8F3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39833346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66CEC-174D-C563-8035-646DCA55B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70CFA6-38FF-9BA7-E87B-2D670C75C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32: Il Paradosso dell'Effimerità del Filesystem Nativo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2166D9-47D9-5472-8FDF-5E65F3AF7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Il ciclo di vita dei dati all'interno di un container è governato da una rigidità architetturale assoluta: il filesystem nativo del container è intrinsecamente effimero. </a:t>
            </a:r>
          </a:p>
          <a:p>
            <a:endParaRPr lang="it-IT" dirty="0"/>
          </a:p>
          <a:p>
            <a:r>
              <a:rPr lang="it-IT" dirty="0">
                <a:solidFill>
                  <a:srgbClr val="171FE2"/>
                </a:solidFill>
              </a:rPr>
              <a:t>Tutte le modifiche operative prodotte dall'applicazione in esecuzione </a:t>
            </a:r>
            <a:r>
              <a:rPr lang="it-IT" dirty="0"/>
              <a:t>(come il salvataggio di record in un database </a:t>
            </a:r>
            <a:r>
              <a:rPr lang="it-IT" dirty="0" err="1"/>
              <a:t>MariaDB</a:t>
            </a:r>
            <a:r>
              <a:rPr lang="it-IT" dirty="0"/>
              <a:t>, la scrittura di file di log o il caricamento di immagini del profilo da parte degli utenti) </a:t>
            </a:r>
            <a:r>
              <a:rPr lang="it-IT" dirty="0">
                <a:solidFill>
                  <a:srgbClr val="171FE2"/>
                </a:solidFill>
              </a:rPr>
              <a:t>vengono depositate esclusivamente all'interno del </a:t>
            </a:r>
            <a:r>
              <a:rPr lang="it-IT" dirty="0" err="1">
                <a:solidFill>
                  <a:srgbClr val="171FE2"/>
                </a:solidFill>
              </a:rPr>
              <a:t>Writable</a:t>
            </a:r>
            <a:r>
              <a:rPr lang="it-IT" dirty="0">
                <a:solidFill>
                  <a:srgbClr val="171FE2"/>
                </a:solidFill>
              </a:rPr>
              <a:t> Layer </a:t>
            </a:r>
            <a:r>
              <a:rPr lang="it-IT" dirty="0"/>
              <a:t>(il Container Layer). </a:t>
            </a:r>
          </a:p>
          <a:p>
            <a:endParaRPr lang="it-IT" dirty="0"/>
          </a:p>
          <a:p>
            <a:r>
              <a:rPr lang="it-IT" dirty="0"/>
              <a:t>Poiché questo strato scrivibile è legato al ciclo di vita del processo del container, nel momento esatto in cui il container viene spento e rimosso tramite il comando </a:t>
            </a:r>
            <a:r>
              <a:rPr lang="it-IT" dirty="0" err="1"/>
              <a:t>docker</a:t>
            </a:r>
            <a:r>
              <a:rPr lang="it-IT" dirty="0"/>
              <a:t> </a:t>
            </a:r>
            <a:r>
              <a:rPr lang="it-IT" dirty="0" err="1"/>
              <a:t>rm</a:t>
            </a:r>
            <a:r>
              <a:rPr lang="it-IT" dirty="0"/>
              <a:t>, il suo livello scrivibile viene distrutto dal Daemon, causando la perdita totale, definitiva e irrecuperabile di tutti i dati dinamici accumulati.</a:t>
            </a:r>
          </a:p>
          <a:p>
            <a:endParaRPr lang="it-IT" dirty="0"/>
          </a:p>
          <a:p>
            <a:r>
              <a:rPr lang="it-IT" b="1" dirty="0">
                <a:solidFill>
                  <a:srgbClr val="171FE2"/>
                </a:solidFill>
              </a:rPr>
              <a:t>I container sono progettati per essere entità volatili e intercambiabili (</a:t>
            </a:r>
            <a:r>
              <a:rPr lang="it-IT" b="1" dirty="0" err="1">
                <a:solidFill>
                  <a:srgbClr val="171FE2"/>
                </a:solidFill>
              </a:rPr>
              <a:t>stateless</a:t>
            </a:r>
            <a:r>
              <a:rPr lang="it-IT" b="1" dirty="0">
                <a:solidFill>
                  <a:srgbClr val="171FE2"/>
                </a:solidFill>
              </a:rPr>
              <a:t>)</a:t>
            </a:r>
            <a:r>
              <a:rPr lang="it-IT" dirty="0"/>
              <a:t>. Lo stato e i dati preziosi dell'azienda devono tassativamente risiedere altrove.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1AC7556-A0DD-0331-57B2-F7F23CA03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35248795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B1CC9-0805-B3A8-5858-17DFD826F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592691-1D66-A1AE-1B62-D01086333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33: L'Ingegneria dei Volumi Docker (Persistenza Dedicata)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24087D-D0FF-DC9E-FE33-6EE2BC369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Per risolvere il paradosso dell'effimerità dei dati senza compromettere l'isolamento dei processi, Docker introduce l'architettura dei Volumi. </a:t>
            </a:r>
          </a:p>
          <a:p>
            <a:r>
              <a:rPr lang="it-IT" b="1" dirty="0">
                <a:solidFill>
                  <a:srgbClr val="171FE2"/>
                </a:solidFill>
              </a:rPr>
              <a:t>Un volume è un'area di memorizzazione</a:t>
            </a:r>
            <a:r>
              <a:rPr lang="it-IT" dirty="0"/>
              <a:t>, una cartella fisica creata e gestita direttamente dal Docker </a:t>
            </a:r>
            <a:r>
              <a:rPr lang="it-IT" dirty="0" err="1"/>
              <a:t>Daemon</a:t>
            </a:r>
            <a:r>
              <a:rPr lang="it-IT" dirty="0"/>
              <a:t> sul disco rigido della macchina </a:t>
            </a:r>
            <a:r>
              <a:rPr lang="it-IT" dirty="0" err="1"/>
              <a:t>host</a:t>
            </a:r>
            <a:r>
              <a:rPr lang="it-IT" dirty="0"/>
              <a:t>, </a:t>
            </a:r>
            <a:r>
              <a:rPr lang="it-IT" dirty="0">
                <a:solidFill>
                  <a:srgbClr val="171FE2"/>
                </a:solidFill>
              </a:rPr>
              <a:t>posizionata al di fuori del filesystem isolato del container </a:t>
            </a:r>
            <a:r>
              <a:rPr lang="it-IT" dirty="0"/>
              <a:t>e del suo ciclo di vita. </a:t>
            </a:r>
          </a:p>
          <a:p>
            <a:r>
              <a:rPr lang="it-IT" dirty="0"/>
              <a:t>Attraverso il </a:t>
            </a:r>
            <a:r>
              <a:rPr lang="it-IT" b="1" dirty="0"/>
              <a:t>meccanismo del "montaggio" </a:t>
            </a:r>
            <a:r>
              <a:rPr lang="it-IT" dirty="0"/>
              <a:t>(</a:t>
            </a:r>
            <a:r>
              <a:rPr lang="it-IT" b="1" dirty="0" err="1"/>
              <a:t>mount</a:t>
            </a:r>
            <a:r>
              <a:rPr lang="it-IT" dirty="0"/>
              <a:t>), una cartella interna del container viene collegata in tempo reale a questo volume esterno. </a:t>
            </a:r>
          </a:p>
          <a:p>
            <a:r>
              <a:rPr lang="it-IT" dirty="0"/>
              <a:t>Qualsiasi operazione di scrittura compiuta dall'applicazione in quel percorso aggirerà il </a:t>
            </a:r>
            <a:r>
              <a:rPr lang="it-IT" dirty="0" err="1"/>
              <a:t>Writable</a:t>
            </a:r>
            <a:r>
              <a:rPr lang="it-IT" dirty="0"/>
              <a:t> Layer temporaneo, </a:t>
            </a:r>
            <a:r>
              <a:rPr lang="it-IT" dirty="0">
                <a:solidFill>
                  <a:srgbClr val="171FE2"/>
                </a:solidFill>
              </a:rPr>
              <a:t>venendo registrata direttamente sul disco </a:t>
            </a:r>
            <a:r>
              <a:rPr lang="it-IT" dirty="0" err="1">
                <a:solidFill>
                  <a:srgbClr val="171FE2"/>
                </a:solidFill>
              </a:rPr>
              <a:t>dell'host</a:t>
            </a:r>
            <a:r>
              <a:rPr lang="it-IT" dirty="0"/>
              <a:t>. </a:t>
            </a:r>
          </a:p>
          <a:p>
            <a:r>
              <a:rPr lang="it-IT" dirty="0"/>
              <a:t>Se il container muore o viene cancellato, il volume rimane intatto sul PC, pronto per essere agganciato a un nuovo container.</a:t>
            </a:r>
          </a:p>
          <a:p>
            <a:r>
              <a:rPr lang="it-IT" dirty="0"/>
              <a:t>Distruggo il container con </a:t>
            </a:r>
            <a:r>
              <a:rPr lang="it-IT" dirty="0" err="1"/>
              <a:t>MariaDB</a:t>
            </a:r>
            <a:r>
              <a:rPr lang="it-IT" dirty="0"/>
              <a:t> 10, creo un container con </a:t>
            </a:r>
            <a:r>
              <a:rPr lang="it-IT" dirty="0" err="1"/>
              <a:t>MariaDB</a:t>
            </a:r>
            <a:r>
              <a:rPr lang="it-IT" dirty="0"/>
              <a:t> 11, lo collego allo stesso volume precedente e ritrovo istantaneamente tutti i dati aggiornati.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2415125-0DA7-794B-C161-49EF3DB1A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32661983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9EA2A-A4D9-D5E9-29D9-C1418E896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4024D0-1BEE-C0EC-56F3-45DA9B8F7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34: La Distinzione Temporale e Funzionale: COPY contro VOLUMES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D65D3F4-2303-C24A-E926-266C74EE3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COPY </a:t>
            </a:r>
            <a:r>
              <a:rPr lang="it-IT" dirty="0"/>
              <a:t>è un'operazione statica che interviene esclusivamente a Build-time (fase di compilazione dell'immagine) e serve a prendere i file stabili dello sviluppatore (il codice binario </a:t>
            </a:r>
            <a:r>
              <a:rPr lang="it-IT" dirty="0" err="1"/>
              <a:t>compiled</a:t>
            </a:r>
            <a:r>
              <a:rPr lang="it-IT" dirty="0"/>
              <a:t>, le configurazioni di base) e a iniettarli per sempre nei </a:t>
            </a:r>
            <a:r>
              <a:rPr lang="it-IT" dirty="0" err="1"/>
              <a:t>layer</a:t>
            </a:r>
            <a:r>
              <a:rPr lang="it-IT" dirty="0"/>
              <a:t> immutabili dell'immagine; </a:t>
            </a:r>
          </a:p>
          <a:p>
            <a:endParaRPr lang="it-IT" dirty="0"/>
          </a:p>
          <a:p>
            <a:r>
              <a:rPr lang="it-IT" b="1" dirty="0"/>
              <a:t>VOLUMES</a:t>
            </a:r>
            <a:r>
              <a:rPr lang="it-IT" dirty="0"/>
              <a:t> è un'architettura dinamica che interviene esclusivamente a </a:t>
            </a:r>
            <a:r>
              <a:rPr lang="it-IT" dirty="0" err="1"/>
              <a:t>Run</a:t>
            </a:r>
            <a:r>
              <a:rPr lang="it-IT" dirty="0"/>
              <a:t>-time (fase di esecuzione del container) e serve a montare spazio di archiviazione modificabile per gestire i file dinamici che l'applicazione genererà o richiederà durante il suo funzionamento reale.</a:t>
            </a:r>
          </a:p>
          <a:p>
            <a:r>
              <a:rPr lang="it-IT" dirty="0">
                <a:solidFill>
                  <a:srgbClr val="171FE2"/>
                </a:solidFill>
              </a:rPr>
              <a:t>COPY serve per inserire l'applicazione dentro l'immagine; i Volumi servono per salvare i dati prodotti dall'applicazione fuori dal container</a:t>
            </a:r>
            <a:r>
              <a:rPr lang="it-IT" dirty="0"/>
              <a:t>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DE83556-38BB-71B7-0756-EC0A5CBF2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40534315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EB3EC-13B8-246C-C03B-8C974ED0B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344112-592B-C479-DE55-55692AB4F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35: L'Evoluzione del Motore di Build: </a:t>
            </a:r>
            <a:r>
              <a:rPr lang="it-IT" dirty="0" err="1"/>
              <a:t>BuildKit</a:t>
            </a:r>
            <a:r>
              <a:rPr lang="it-IT" dirty="0"/>
              <a:t> sotto il Cofano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37603D7-7B06-4341-D3D5-CD6216AD0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Nelle versioni moderne di Docker Engine, il processo di compilazione automatizzato è affidato a un sottosistema di ingegneria avanzato chiamato </a:t>
            </a:r>
            <a:r>
              <a:rPr lang="it-IT" b="1" dirty="0" err="1"/>
              <a:t>BuildKit</a:t>
            </a:r>
            <a:r>
              <a:rPr lang="it-IT" dirty="0"/>
              <a:t> (identificabile nei log del terminale dalla scritta iniziale [</a:t>
            </a:r>
            <a:r>
              <a:rPr lang="it-IT" dirty="0" err="1"/>
              <a:t>internal</a:t>
            </a:r>
            <a:r>
              <a:rPr lang="it-IT" dirty="0"/>
              <a:t>]). </a:t>
            </a:r>
          </a:p>
          <a:p>
            <a:r>
              <a:rPr lang="it-IT" dirty="0" err="1"/>
              <a:t>BuildKit</a:t>
            </a:r>
            <a:r>
              <a:rPr lang="it-IT" dirty="0"/>
              <a:t> introduce ottimizzazioni rivoluzionarie rispetto al passato. </a:t>
            </a:r>
          </a:p>
          <a:p>
            <a:r>
              <a:rPr lang="it-IT" dirty="0"/>
              <a:t>Nelle vecchie architetture di Docker, per ogni singola riga scritta nel </a:t>
            </a:r>
            <a:r>
              <a:rPr lang="it-IT" dirty="0" err="1"/>
              <a:t>Dockerfile</a:t>
            </a:r>
            <a:r>
              <a:rPr lang="it-IT" dirty="0"/>
              <a:t> veniva obbligatoriamente istanziato un intero container intermedio temporaneo, rallentando drasticamente i tempi. </a:t>
            </a:r>
          </a:p>
          <a:p>
            <a:r>
              <a:rPr lang="it-IT" dirty="0" err="1"/>
              <a:t>BuildKit</a:t>
            </a:r>
            <a:r>
              <a:rPr lang="it-IT" dirty="0"/>
              <a:t> opera una netta distinzione: per le istruzioni puramente immobili o strutturali (come WORKDIR o COPY), </a:t>
            </a:r>
            <a:r>
              <a:rPr lang="it-IT" dirty="0">
                <a:solidFill>
                  <a:srgbClr val="171FE2"/>
                </a:solidFill>
              </a:rPr>
              <a:t>modifica direttamente il filesystem dei </a:t>
            </a:r>
            <a:r>
              <a:rPr lang="it-IT" dirty="0" err="1">
                <a:solidFill>
                  <a:srgbClr val="171FE2"/>
                </a:solidFill>
              </a:rPr>
              <a:t>layer</a:t>
            </a:r>
            <a:r>
              <a:rPr lang="it-IT" dirty="0">
                <a:solidFill>
                  <a:srgbClr val="171FE2"/>
                </a:solidFill>
              </a:rPr>
              <a:t> "a freddo" tramite grafi aciclici diretti</a:t>
            </a:r>
            <a:r>
              <a:rPr lang="it-IT" dirty="0"/>
              <a:t>, invocando l'avvio di un container temporaneo vivo esclusivamente per le istruzioni attive di tipo RUN.</a:t>
            </a:r>
          </a:p>
          <a:p>
            <a:r>
              <a:rPr lang="it-IT" dirty="0" err="1">
                <a:solidFill>
                  <a:srgbClr val="171FE2"/>
                </a:solidFill>
              </a:rPr>
              <a:t>BuildKit</a:t>
            </a:r>
            <a:r>
              <a:rPr lang="it-IT" dirty="0">
                <a:solidFill>
                  <a:srgbClr val="171FE2"/>
                </a:solidFill>
              </a:rPr>
              <a:t> è intelligente: se una riga non esegue comandi operativi, non spreca risorse per avviare container intermedi.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25BDA29-40E4-57F6-FBE1-A68FB90C6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4417678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07F1D-73AA-D255-720F-66BD871A7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FD3770-24FE-B801-E735-BE66C07F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36: Il Meccanismo del Caching Sequenziale dei Layer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42415F-B5F1-4B9C-5C80-28CEB6FD6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Durante l'esecuzione del comando </a:t>
            </a:r>
            <a:r>
              <a:rPr lang="it-IT" dirty="0" err="1"/>
              <a:t>docker</a:t>
            </a:r>
            <a:r>
              <a:rPr lang="it-IT" dirty="0"/>
              <a:t> build, </a:t>
            </a:r>
            <a:r>
              <a:rPr lang="it-IT" dirty="0" err="1"/>
              <a:t>BuildKit</a:t>
            </a:r>
            <a:r>
              <a:rPr lang="it-IT" dirty="0"/>
              <a:t> analizza il </a:t>
            </a:r>
            <a:r>
              <a:rPr lang="it-IT" dirty="0" err="1"/>
              <a:t>Dockerfile</a:t>
            </a:r>
            <a:r>
              <a:rPr lang="it-IT" dirty="0"/>
              <a:t> riga per riga e calcola un'impronta digitale crittografica (un </a:t>
            </a:r>
            <a:r>
              <a:rPr lang="it-IT" dirty="0" err="1"/>
              <a:t>checksum</a:t>
            </a:r>
            <a:r>
              <a:rPr lang="it-IT" dirty="0"/>
              <a:t>) per ogni istruzione. </a:t>
            </a:r>
          </a:p>
          <a:p>
            <a:endParaRPr lang="it-IT" dirty="0"/>
          </a:p>
          <a:p>
            <a:r>
              <a:rPr lang="it-IT" dirty="0"/>
              <a:t>Prima di avviare l'elaborazione di un </a:t>
            </a:r>
            <a:r>
              <a:rPr lang="it-IT" dirty="0" err="1"/>
              <a:t>layer</a:t>
            </a:r>
            <a:r>
              <a:rPr lang="it-IT" dirty="0"/>
              <a:t>, il motore interroga lo storage locale per verificare se esista già uno strato identico generato in una compilazione precedente. </a:t>
            </a:r>
          </a:p>
          <a:p>
            <a:endParaRPr lang="it-IT" dirty="0"/>
          </a:p>
          <a:p>
            <a:r>
              <a:rPr lang="it-IT" dirty="0">
                <a:solidFill>
                  <a:srgbClr val="171FE2"/>
                </a:solidFill>
              </a:rPr>
              <a:t>Se l'istruzione è testualmente identica e (nel caso di COPY) i file sorgenti sul PC non hanno subito alcuna modifica nei loro byte, Docker salta completamente l'esecuzione del comando. </a:t>
            </a:r>
          </a:p>
          <a:p>
            <a:endParaRPr lang="it-IT" dirty="0"/>
          </a:p>
          <a:p>
            <a:r>
              <a:rPr lang="it-IT" b="1" dirty="0">
                <a:solidFill>
                  <a:srgbClr val="171FE2"/>
                </a:solidFill>
              </a:rPr>
              <a:t>Riutilizza istantaneamente il </a:t>
            </a:r>
            <a:r>
              <a:rPr lang="it-IT" b="1" dirty="0" err="1">
                <a:solidFill>
                  <a:srgbClr val="171FE2"/>
                </a:solidFill>
              </a:rPr>
              <a:t>layer</a:t>
            </a:r>
            <a:r>
              <a:rPr lang="it-IT" b="1" dirty="0">
                <a:solidFill>
                  <a:srgbClr val="171FE2"/>
                </a:solidFill>
              </a:rPr>
              <a:t> preesistente</a:t>
            </a:r>
            <a:r>
              <a:rPr lang="it-IT" dirty="0"/>
              <a:t>, stampando a schermo la dicitura CACHED. Questo riduce i tempi di build successivi da minuti a frazioni di secondo.</a:t>
            </a:r>
          </a:p>
          <a:p>
            <a:endParaRPr lang="it-IT" dirty="0"/>
          </a:p>
          <a:p>
            <a:r>
              <a:rPr lang="it-IT" dirty="0">
                <a:solidFill>
                  <a:srgbClr val="171FE2"/>
                </a:solidFill>
              </a:rPr>
              <a:t>Il log di un build ripetuto due volte senza modifiche al codice per evidenziare come tutti i passaggi riportino 0.0 secondi grazie alla cache.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0AA3786-295D-E7E9-6ECD-B2CA09047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8391968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ECDAC-9D01-D2BC-0975-A8F6E0FE1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6C7A70-E71D-18A0-EC81-0B732C64D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37: L'Impatto dell'Ordine delle Istruzioni sulla Cache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B3862B1-0850-B422-D45B-8FDEA03E6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Il meccanismo di caching di Docker obbedisce a una regola algoritmica ferrea: è di tipo lineare, sequenziale e a cascata. </a:t>
            </a:r>
          </a:p>
          <a:p>
            <a:r>
              <a:rPr lang="it-IT" dirty="0">
                <a:solidFill>
                  <a:srgbClr val="171FE2"/>
                </a:solidFill>
              </a:rPr>
              <a:t>Nel momento esatto in cui una singola istruzione del </a:t>
            </a:r>
            <a:r>
              <a:rPr lang="it-IT" dirty="0" err="1">
                <a:solidFill>
                  <a:srgbClr val="171FE2"/>
                </a:solidFill>
              </a:rPr>
              <a:t>Dockerfile</a:t>
            </a:r>
            <a:r>
              <a:rPr lang="it-IT" dirty="0">
                <a:solidFill>
                  <a:srgbClr val="171FE2"/>
                </a:solidFill>
              </a:rPr>
              <a:t> subisce una variazione (o perché cambia il testo del comando o perché viene modificato un file sorgente agganciato da una COPY), l'impronta digitale di quel </a:t>
            </a:r>
            <a:r>
              <a:rPr lang="it-IT" dirty="0" err="1">
                <a:solidFill>
                  <a:srgbClr val="171FE2"/>
                </a:solidFill>
              </a:rPr>
              <a:t>layer</a:t>
            </a:r>
            <a:r>
              <a:rPr lang="it-IT" dirty="0">
                <a:solidFill>
                  <a:srgbClr val="171FE2"/>
                </a:solidFill>
              </a:rPr>
              <a:t> viene invalidata. Di conseguenza, Docker cancella e invalida la cache per quel livello e per tutti i </a:t>
            </a:r>
            <a:r>
              <a:rPr lang="it-IT" dirty="0" err="1">
                <a:solidFill>
                  <a:srgbClr val="171FE2"/>
                </a:solidFill>
              </a:rPr>
              <a:t>layer</a:t>
            </a:r>
            <a:r>
              <a:rPr lang="it-IT" dirty="0">
                <a:solidFill>
                  <a:srgbClr val="171FE2"/>
                </a:solidFill>
              </a:rPr>
              <a:t> successivi del </a:t>
            </a:r>
            <a:r>
              <a:rPr lang="it-IT" dirty="0" err="1">
                <a:solidFill>
                  <a:srgbClr val="171FE2"/>
                </a:solidFill>
              </a:rPr>
              <a:t>Dockerfile</a:t>
            </a:r>
            <a:r>
              <a:rPr lang="it-IT" dirty="0">
                <a:solidFill>
                  <a:srgbClr val="171FE2"/>
                </a:solidFill>
              </a:rPr>
              <a:t>, costringendo il motore a rieseguire da zero tutti i comandi rimanenti. </a:t>
            </a:r>
          </a:p>
          <a:p>
            <a:r>
              <a:rPr lang="it-IT" dirty="0">
                <a:solidFill>
                  <a:srgbClr val="171FE2"/>
                </a:solidFill>
              </a:rPr>
              <a:t>Da ciò deriva la regola d'oro della scrittura dei </a:t>
            </a:r>
            <a:r>
              <a:rPr lang="it-IT" dirty="0" err="1">
                <a:solidFill>
                  <a:srgbClr val="171FE2"/>
                </a:solidFill>
              </a:rPr>
              <a:t>Dockerfile</a:t>
            </a:r>
            <a:r>
              <a:rPr lang="it-IT" dirty="0">
                <a:solidFill>
                  <a:srgbClr val="171FE2"/>
                </a:solidFill>
              </a:rPr>
              <a:t>: le istruzioni stabili che cambiano raramente (come l'installazione dei pacchetti) vanno posizionate in alto, mentre i file che variano costantemente (il codice sorgente) vanno scritti alla fine.</a:t>
            </a:r>
          </a:p>
          <a:p>
            <a:r>
              <a:rPr lang="it-IT" dirty="0"/>
              <a:t>Questo spiega perché nei progetti Node.js si fa prima "COPY </a:t>
            </a:r>
            <a:r>
              <a:rPr lang="it-IT" dirty="0" err="1"/>
              <a:t>package.json</a:t>
            </a:r>
            <a:r>
              <a:rPr lang="it-IT" dirty="0"/>
              <a:t> ." e "RUN </a:t>
            </a:r>
            <a:r>
              <a:rPr lang="it-IT" dirty="0" err="1"/>
              <a:t>npm</a:t>
            </a:r>
            <a:r>
              <a:rPr lang="it-IT" dirty="0"/>
              <a:t> </a:t>
            </a:r>
            <a:r>
              <a:rPr lang="it-IT" dirty="0" err="1"/>
              <a:t>install</a:t>
            </a:r>
            <a:r>
              <a:rPr lang="it-IT" dirty="0"/>
              <a:t>", e solo alla fine "COPY . .". Se cambia una riga di codice JS, non dobbiamo riscaricare i pacchetti da internet.</a:t>
            </a:r>
          </a:p>
          <a:p>
            <a:endParaRPr lang="it-IT" dirty="0">
              <a:solidFill>
                <a:srgbClr val="171FE2"/>
              </a:solidFill>
            </a:endParaRPr>
          </a:p>
          <a:p>
            <a:r>
              <a:rPr lang="it-IT" b="1" dirty="0">
                <a:solidFill>
                  <a:srgbClr val="171FE2"/>
                </a:solidFill>
              </a:rPr>
              <a:t>I </a:t>
            </a:r>
            <a:r>
              <a:rPr lang="it-IT" b="1" dirty="0" err="1">
                <a:solidFill>
                  <a:srgbClr val="171FE2"/>
                </a:solidFill>
              </a:rPr>
              <a:t>layer</a:t>
            </a:r>
            <a:r>
              <a:rPr lang="it-IT" b="1" dirty="0">
                <a:solidFill>
                  <a:srgbClr val="171FE2"/>
                </a:solidFill>
              </a:rPr>
              <a:t> Docker sono immutabili: quando cambia un'istruzione, il </a:t>
            </a:r>
            <a:r>
              <a:rPr lang="it-IT" b="1" dirty="0" err="1">
                <a:solidFill>
                  <a:srgbClr val="171FE2"/>
                </a:solidFill>
              </a:rPr>
              <a:t>layer</a:t>
            </a:r>
            <a:r>
              <a:rPr lang="it-IT" b="1" dirty="0">
                <a:solidFill>
                  <a:srgbClr val="171FE2"/>
                </a:solidFill>
              </a:rPr>
              <a:t> interessato non viene modificato ma invalidato e ricostruito, insieme a tutti i </a:t>
            </a:r>
            <a:r>
              <a:rPr lang="it-IT" b="1" dirty="0" err="1">
                <a:solidFill>
                  <a:srgbClr val="171FE2"/>
                </a:solidFill>
              </a:rPr>
              <a:t>layer</a:t>
            </a:r>
            <a:r>
              <a:rPr lang="it-IT" b="1" dirty="0">
                <a:solidFill>
                  <a:srgbClr val="171FE2"/>
                </a:solidFill>
              </a:rPr>
              <a:t> che dipendono da esso.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0D3B832-1FCA-45D0-A8D3-7A765549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1403109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663D6-3CDA-7DAC-7E5C-938CE19DD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5EDEFF-A55B-32D4-F8EE-38DB6A1D2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38: La Patologia delle Immagini "Gonfie" in Produzione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0158731-3589-55DD-7A67-5B3D8B5D0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Nel ciclo di vita dello sviluppo del software moderno, la fase di compilazione e </a:t>
            </a:r>
            <a:r>
              <a:rPr lang="it-IT" dirty="0" err="1"/>
              <a:t>pacchettizzazione</a:t>
            </a:r>
            <a:r>
              <a:rPr lang="it-IT" dirty="0"/>
              <a:t> richiede un arsenale di strumenti pesanti ed eterogenei. </a:t>
            </a:r>
          </a:p>
          <a:p>
            <a:r>
              <a:rPr lang="it-IT" dirty="0"/>
              <a:t>Per compilare un'applicazione Java Spring Boot abbiamo bisogno del JDK completo, del build tool Maven o </a:t>
            </a:r>
            <a:r>
              <a:rPr lang="it-IT" dirty="0" err="1"/>
              <a:t>Gradle</a:t>
            </a:r>
            <a:r>
              <a:rPr lang="it-IT" dirty="0"/>
              <a:t> e di centinaia di megabyte di dipendenze di compilazione. </a:t>
            </a:r>
          </a:p>
          <a:p>
            <a:r>
              <a:rPr lang="it-IT" dirty="0"/>
              <a:t>Per un'applicazione Node.js sono necessari i compilatori nativi C++, i pacchetti di sviluppo e i test runner come </a:t>
            </a:r>
            <a:r>
              <a:rPr lang="it-IT" dirty="0" err="1"/>
              <a:t>Jest</a:t>
            </a:r>
            <a:r>
              <a:rPr lang="it-IT" dirty="0"/>
              <a:t>. </a:t>
            </a:r>
          </a:p>
          <a:p>
            <a:r>
              <a:rPr lang="it-IT" dirty="0"/>
              <a:t>Se includiamo tutta questa catena di montaggio all'interno dell'immagine finale distribuita sui server di produzione, generiamo artefatti giganteschi (anche superiori agli 800MB). </a:t>
            </a:r>
          </a:p>
          <a:p>
            <a:r>
              <a:rPr lang="it-IT" dirty="0"/>
              <a:t>Questo rigonfiamento inutile rallenta il trasferimento dei dati in rete, satura i dischi dei server e aumenta drammaticamente la superficie di attacco esposta a potenziali hacker.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41FF852-0F1C-4D0D-2636-9642636C0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38007801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A18A8-3DFB-AF7C-A868-160B37A5E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FE7332-32E6-34DF-5349-014001B3C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39: La Soluzione Ingegneristica: Multi-stage Build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A74899E-FA23-2B62-C64E-595E6EFE1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La tecnica del Multi-stage Build (compilazione a stadi multipli) rappresenta la soluzione definitiva al problema delle immagini gonfie. </a:t>
            </a:r>
          </a:p>
          <a:p>
            <a:r>
              <a:rPr lang="it-IT" dirty="0"/>
              <a:t>Consente di dichiarare più direttive FROM distinte all'interno di un unico, singolo </a:t>
            </a:r>
            <a:r>
              <a:rPr lang="it-IT" dirty="0" err="1"/>
              <a:t>Dockerfile</a:t>
            </a:r>
            <a:r>
              <a:rPr lang="it-IT" dirty="0"/>
              <a:t>. </a:t>
            </a:r>
          </a:p>
          <a:p>
            <a:r>
              <a:rPr lang="it-IT" dirty="0"/>
              <a:t>Ogni istruzione FROM inaugura un nuovo stadio di build completamente indipendente, dotato di un proprio filesystem isolato e pulito. </a:t>
            </a:r>
          </a:p>
          <a:p>
            <a:r>
              <a:rPr lang="it-IT" dirty="0"/>
              <a:t>Questa architettura permette di suddividere il lavoro in compartimenti stagni: possiamo dedicare i primi stadi all'utilizzo di immagini pesanti dotate di tutti i compilatori per generare i file binari finiti (fase di build).</a:t>
            </a:r>
          </a:p>
          <a:p>
            <a:r>
              <a:rPr lang="it-IT" dirty="0"/>
              <a:t>Subito dopo, apriamo uno stage finale basato su un'immagine </a:t>
            </a:r>
            <a:r>
              <a:rPr lang="it-IT" dirty="0" err="1"/>
              <a:t>runtime</a:t>
            </a:r>
            <a:r>
              <a:rPr lang="it-IT" dirty="0"/>
              <a:t> minimale e ultraleggera (fase di esecuzione), importando esclusivamente il file compilato ed escludendo gli strumenti di sviluppo.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5C827E5-C31D-6633-0D8C-DFC6015A4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9699393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392FF-7C7C-E483-ACE4-74BC31797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1F0036-B749-9FDB-4142-E560AB07E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40: Cooperazione tra Stage e il Comando COPY --from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EF6ACDD-E9EB-E017-7114-07C896DA9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Il cuore operativo che permette il funzionamento del Multi-stage Build è la variante avanzata dell'istruzione di copia, configurata tramite il flag --from. </a:t>
            </a:r>
          </a:p>
          <a:p>
            <a:r>
              <a:rPr lang="it-IT" dirty="0"/>
              <a:t>Vediamo come si articola la cooperazione logica tra gli stadi: </a:t>
            </a:r>
          </a:p>
          <a:p>
            <a:r>
              <a:rPr lang="it-IT" dirty="0"/>
              <a:t>il primo stadio viene battezzato dallo sviluppatore tramite una sintassi di alias, ad esempio FROM maven:3.9-eclipse-temurin-17 </a:t>
            </a:r>
            <a:r>
              <a:rPr lang="it-IT" b="1" dirty="0"/>
              <a:t>AS builder</a:t>
            </a:r>
            <a:r>
              <a:rPr lang="it-IT" dirty="0"/>
              <a:t>. </a:t>
            </a:r>
          </a:p>
          <a:p>
            <a:r>
              <a:rPr lang="it-IT" dirty="0"/>
              <a:t>All'interno di questo ambiente protetto, viene lanciato il comando di compilazione che produce il file .</a:t>
            </a:r>
            <a:r>
              <a:rPr lang="it-IT" dirty="0" err="1"/>
              <a:t>jar</a:t>
            </a:r>
            <a:r>
              <a:rPr lang="it-IT" dirty="0"/>
              <a:t> finale. </a:t>
            </a:r>
          </a:p>
          <a:p>
            <a:r>
              <a:rPr lang="it-IT" dirty="0"/>
              <a:t>Lo stadio successivo si apre con la riga FROM eclipse-temurin:17-jre-alpine. </a:t>
            </a:r>
          </a:p>
          <a:p>
            <a:r>
              <a:rPr lang="it-IT" dirty="0"/>
              <a:t>Questo secondo ambiente riparte da zero, ignorando i </a:t>
            </a:r>
            <a:r>
              <a:rPr lang="it-IT" dirty="0" err="1"/>
              <a:t>layer</a:t>
            </a:r>
            <a:r>
              <a:rPr lang="it-IT" dirty="0"/>
              <a:t> precedenti. </a:t>
            </a:r>
          </a:p>
          <a:p>
            <a:r>
              <a:rPr lang="it-IT" dirty="0"/>
              <a:t>A questo punto, l'istruzione speciale COPY --from=builder /app/target/app.jar /app/app.jar permette di estrarre selettivamente solo il binario finito, lasciando cadere tutto il resto.</a:t>
            </a:r>
          </a:p>
          <a:p>
            <a:r>
              <a:rPr lang="it-IT" dirty="0"/>
              <a:t>I </a:t>
            </a:r>
            <a:r>
              <a:rPr lang="it-IT" dirty="0" err="1"/>
              <a:t>layer</a:t>
            </a:r>
            <a:r>
              <a:rPr lang="it-IT" dirty="0"/>
              <a:t> dello stage intermedio non spariscono dal PC del build server; </a:t>
            </a:r>
            <a:r>
              <a:rPr lang="it-IT" dirty="0">
                <a:solidFill>
                  <a:srgbClr val="171FE2"/>
                </a:solidFill>
              </a:rPr>
              <a:t>rimangono memorizzati come cache anonime per velocizzare i build futuri, ma non faranno parte dell'immagine distribuita</a:t>
            </a:r>
            <a:r>
              <a:rPr lang="it-IT" dirty="0"/>
              <a:t>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C5F5AB4-A64D-95D0-0B13-9578BA95F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3159587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C1BFE-F1BE-B07E-6FD3-72DE60971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2FD36-371C-DE24-B97F-5903124FA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41: Smantellamento dell'Errore dei Container Multipli a Runtime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8493178-E712-D49F-1817-1707929EC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Gli stadi intermedi identificati come "builder" sono entità puramente temporanee che esistono esclusivamente sul disco rigido durante la fase di esecuzione del comando </a:t>
            </a:r>
            <a:r>
              <a:rPr lang="it-IT" dirty="0" err="1"/>
              <a:t>docker</a:t>
            </a:r>
            <a:r>
              <a:rPr lang="it-IT" dirty="0"/>
              <a:t> build. </a:t>
            </a:r>
          </a:p>
          <a:p>
            <a:r>
              <a:rPr lang="it-IT" dirty="0"/>
              <a:t>Nel momento in cui il processo di build giunge al termine, l'unico oggetto reale che viene registrato nell'Engine e che verrà avviato a </a:t>
            </a:r>
            <a:r>
              <a:rPr lang="it-IT" dirty="0" err="1"/>
              <a:t>runtime</a:t>
            </a:r>
            <a:r>
              <a:rPr lang="it-IT" dirty="0"/>
              <a:t> è l'ultimo stadio dichiarato nel file.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FB3BD8B-006D-FECC-BCCD-F574B0633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9529884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7D00A-2220-EE11-65F7-1C0D56A5F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94E42B-AFDF-8472-FEAF-A6BBC72A5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42: Sintesi dei Benefici Aziendali del Multi-stage Build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3E85A56-1602-A20A-DC13-FB2AD5C37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Per concludere il percorso formativo, ricapitoliamo i vantaggi tangibili che l'adozione del Multi-stage Build apporta all'interno delle infrastrutture informatiche aziendali e delle pipeline di produzione: si ottiene un abbattimento radicale dello spazio (un applicativo Spring Boot o Node.js riduce il proprio peso complessivo sul disco da 800MB a circa 150MB); si massimizza la sicurezza informatica (</a:t>
            </a:r>
            <a:r>
              <a:rPr lang="it-IT" b="1" dirty="0" err="1"/>
              <a:t>Hardening</a:t>
            </a:r>
            <a:r>
              <a:rPr lang="it-IT" dirty="0"/>
              <a:t>) poiché, eliminando i compilatori dalle immagini finali, si impedisce a eventuali attaccanti di ricompilare codice malevolo a bordo; infine si ottengono </a:t>
            </a:r>
            <a:r>
              <a:rPr lang="it-IT" dirty="0" err="1"/>
              <a:t>deploy</a:t>
            </a:r>
            <a:r>
              <a:rPr lang="it-IT" dirty="0"/>
              <a:t> fulminei </a:t>
            </a:r>
            <a:r>
              <a:rPr lang="it-IT" dirty="0" err="1"/>
              <a:t>poichè</a:t>
            </a:r>
            <a:r>
              <a:rPr lang="it-IT" dirty="0"/>
              <a:t> immagini leggere si traducono in un trasferimento veloce dei file attraverso la rete cloud.</a:t>
            </a:r>
          </a:p>
          <a:p>
            <a:r>
              <a:rPr lang="it-IT" dirty="0"/>
              <a:t>Con il comando "</a:t>
            </a:r>
            <a:r>
              <a:rPr lang="it-IT" b="1" dirty="0" err="1"/>
              <a:t>docker</a:t>
            </a:r>
            <a:r>
              <a:rPr lang="it-IT" b="1" dirty="0"/>
              <a:t> images</a:t>
            </a:r>
            <a:r>
              <a:rPr lang="it-IT" dirty="0"/>
              <a:t>" possiamo verificare la differenza in peso </a:t>
            </a:r>
            <a:r>
              <a:rPr lang="it-IT"/>
              <a:t>tra un’immagine mono-stadio </a:t>
            </a:r>
            <a:r>
              <a:rPr lang="it-IT" dirty="0"/>
              <a:t>ed una multi-stadio a parità di immagine </a:t>
            </a:r>
            <a:r>
              <a:rPr lang="it-IT"/>
              <a:t>base.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E2E43C6-972E-ECB0-2272-2430A8E12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3118054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E02355-4941-9C10-CA1D-649F04DB5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pc="0" dirty="0">
                <a:latin typeface="Neue Haas Grotesk Text Pro" panose="020B0504020202020204" pitchFamily="34" charset="0"/>
              </a:rPr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3003246572"/>
      </p:ext>
    </p:extLst>
  </p:cSld>
  <p:clrMapOvr>
    <a:masterClrMapping/>
  </p:clrMapOvr>
</p:sld>
</file>

<file path=ppt/theme/theme1.xml><?xml version="1.0" encoding="utf-8"?>
<a:theme xmlns:a="http://schemas.openxmlformats.org/drawingml/2006/main" name="Intr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1b72fd8-e7d0-49ac-9795-d1b0bc6b7e1c" xsi:nil="true"/>
    <lcf76f155ced4ddcb4097134ff3c332f xmlns="8b3acf13-3a58-43b2-a29e-f23503de136d">
      <Terms xmlns="http://schemas.microsoft.com/office/infopath/2007/PartnerControls"/>
    </lcf76f155ced4ddcb4097134ff3c332f>
    <Argomento xmlns="8b3acf13-3a58-43b2-a29e-f23503de136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455C6CD0B9BF4DB2CA3009677D9668" ma:contentTypeVersion="17" ma:contentTypeDescription="Create a new document." ma:contentTypeScope="" ma:versionID="6361f2605a906a42d9630ca59d277a8b">
  <xsd:schema xmlns:xsd="http://www.w3.org/2001/XMLSchema" xmlns:xs="http://www.w3.org/2001/XMLSchema" xmlns:p="http://schemas.microsoft.com/office/2006/metadata/properties" xmlns:ns2="8b3acf13-3a58-43b2-a29e-f23503de136d" xmlns:ns3="21b72fd8-e7d0-49ac-9795-d1b0bc6b7e1c" targetNamespace="http://schemas.microsoft.com/office/2006/metadata/properties" ma:root="true" ma:fieldsID="ae4eb9e2c998b5efed80ec6126f835fa" ns2:_="" ns3:_="">
    <xsd:import namespace="8b3acf13-3a58-43b2-a29e-f23503de136d"/>
    <xsd:import namespace="21b72fd8-e7d0-49ac-9795-d1b0bc6b7e1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Argoment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3acf13-3a58-43b2-a29e-f23503de13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6f31c764-9f90-46cb-b927-e7c76de067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gomento" ma:index="24" nillable="true" ma:displayName="Argomento" ma:format="Dropdown" ma:internalName="Argomento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b72fd8-e7d0-49ac-9795-d1b0bc6b7e1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40603bf2-5c45-4900-ad6d-aa2e93470d68}" ma:internalName="TaxCatchAll" ma:showField="CatchAllData" ma:web="21b72fd8-e7d0-49ac-9795-d1b0bc6b7e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66878A-54ED-4867-B478-72A29DC19B89}">
  <ds:schemaRefs>
    <ds:schemaRef ds:uri="http://schemas.microsoft.com/office/2006/metadata/properties"/>
    <ds:schemaRef ds:uri="http://schemas.microsoft.com/office/infopath/2007/PartnerControls"/>
    <ds:schemaRef ds:uri="21b72fd8-e7d0-49ac-9795-d1b0bc6b7e1c"/>
    <ds:schemaRef ds:uri="8b3acf13-3a58-43b2-a29e-f23503de136d"/>
  </ds:schemaRefs>
</ds:datastoreItem>
</file>

<file path=customXml/itemProps2.xml><?xml version="1.0" encoding="utf-8"?>
<ds:datastoreItem xmlns:ds="http://schemas.openxmlformats.org/officeDocument/2006/customXml" ds:itemID="{70468F63-B318-4D5F-A1DF-86BE98AC22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b3acf13-3a58-43b2-a29e-f23503de136d"/>
    <ds:schemaRef ds:uri="21b72fd8-e7d0-49ac-9795-d1b0bc6b7e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7C65656-B2D8-4C19-A873-091B25A5212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1221</TotalTime>
  <Words>6719</Words>
  <Application>Microsoft Office PowerPoint</Application>
  <PresentationFormat>Widescreen</PresentationFormat>
  <Paragraphs>412</Paragraphs>
  <Slides>45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45</vt:i4>
      </vt:variant>
    </vt:vector>
  </HeadingPairs>
  <TitlesOfParts>
    <vt:vector size="51" baseType="lpstr">
      <vt:lpstr>Arial</vt:lpstr>
      <vt:lpstr>Calibri</vt:lpstr>
      <vt:lpstr>Consolas</vt:lpstr>
      <vt:lpstr>Neue Haas Grotesk Display Pro</vt:lpstr>
      <vt:lpstr>Neue Haas Grotesk Text Pro</vt:lpstr>
      <vt:lpstr>Intro</vt:lpstr>
      <vt:lpstr>Presentazione standard di PowerPoint</vt:lpstr>
      <vt:lpstr>Presentazione standard di PowerPoint</vt:lpstr>
      <vt:lpstr>Slide 1: Introduzione a Docker</vt:lpstr>
      <vt:lpstr>Slide 2: L'Architettura Client-Server</vt:lpstr>
      <vt:lpstr>Slide 3: La Docker CLI (Il Client)</vt:lpstr>
      <vt:lpstr>Slide 4: Il Docker Daemon (Il Motore Operativo dockerd)</vt:lpstr>
      <vt:lpstr>Slide 5: La Docker Engine API ed i Payload JSON</vt:lpstr>
      <vt:lpstr>Slide 6: Il Canale di Comunicazione Locale (Unix Socket)</vt:lpstr>
      <vt:lpstr>Slide 7: Anatomia Ingegneristica di un'Immagine Docker</vt:lpstr>
      <vt:lpstr>Slide 8: La Natura Dinamica del Container</vt:lpstr>
      <vt:lpstr>Slide 9: Il Parallelismo Espositivo con la Programmazione OOP</vt:lpstr>
      <vt:lpstr>Slide 10: Decomposizione Sequenziale di docker run</vt:lpstr>
      <vt:lpstr>Slide 11: Il Registro Centrale Cloud: Docker Hub</vt:lpstr>
      <vt:lpstr>Slide 12: Logica Strategica del Comando docker pull</vt:lpstr>
      <vt:lpstr>Slide 13: L'Ingegneria dell'Isolamento: I Namespaces del Kernel</vt:lpstr>
      <vt:lpstr>Slide 14: La Regolazione delle Risorse Fisiche: I Control Groups</vt:lpstr>
      <vt:lpstr>Slide 15: Analisi Comparativa Radicale: Docker contro le Macchine Virtuali</vt:lpstr>
      <vt:lpstr>Slide 16: Il Concetto di Filesystem Isolato in Docker</vt:lpstr>
      <vt:lpstr>Slide 17: La Struttura Incrementale a Layer (Pila di Delta)</vt:lpstr>
      <vt:lpstr>Slide 18: L'Immutabilità dei Layer e la Condivisione Globale</vt:lpstr>
      <vt:lpstr>Slide 19: Il Layer Scrivibile del Container (Writable Layer)</vt:lpstr>
      <vt:lpstr>Slide 20: Il Layer Scrivibile del Container (Writable Layer)</vt:lpstr>
      <vt:lpstr>Slide 21: Il Motore di Storage sotto il Cofano: Il Copy-on-Write</vt:lpstr>
      <vt:lpstr>Slide 22: Georreferenziazione dei Dati: Linux contro Windows/macOS</vt:lpstr>
      <vt:lpstr>Slide 23: Il Versionamento delle Immagini tramite i Tag</vt:lpstr>
      <vt:lpstr>Slide 24: La Direttiva FROM e la Genesi del Filesystem</vt:lpstr>
      <vt:lpstr>Slide 25: Anatomia Analitica di un Tag di Produzione: Eclipse-Temurin</vt:lpstr>
      <vt:lpstr>Slide 26: Anatomia Analitica di un Tag di Produzione: Eclipse-Temurin</vt:lpstr>
      <vt:lpstr>Slide 27: La Direttiva WORKDIR e la Stabilità dei Percorsi</vt:lpstr>
      <vt:lpstr>Slide 28: La Direttiva COPY e la Gestione dei Contests</vt:lpstr>
      <vt:lpstr>Slide 29: La Direttiva CMD ed il Metadato di Avvio (Exec Form)</vt:lpstr>
      <vt:lpstr>Slide 30: Demolizione del Falso Mito del Comando EXPOSE</vt:lpstr>
      <vt:lpstr>Slide 31: La Linea di Demarcazione tra CMD e ENTRYPOINT</vt:lpstr>
      <vt:lpstr>Slide 32: Il Paradosso dell'Effimerità del Filesystem Nativo</vt:lpstr>
      <vt:lpstr>Slide 33: L'Ingegneria dei Volumi Docker (Persistenza Dedicata)</vt:lpstr>
      <vt:lpstr>Slide 34: La Distinzione Temporale e Funzionale: COPY contro VOLUMES</vt:lpstr>
      <vt:lpstr>Slide 35: L'Evoluzione del Motore di Build: BuildKit sotto il Cofano</vt:lpstr>
      <vt:lpstr>Slide 36: Il Meccanismo del Caching Sequenziale dei Layer</vt:lpstr>
      <vt:lpstr>Slide 37: L'Impatto dell'Ordine delle Istruzioni sulla Cache</vt:lpstr>
      <vt:lpstr>Slide 38: La Patologia delle Immagini "Gonfie" in Produzione</vt:lpstr>
      <vt:lpstr>Slide 39: La Soluzione Ingegneristica: Multi-stage Build</vt:lpstr>
      <vt:lpstr>Slide 40: Cooperazione tra Stage e il Comando COPY --from</vt:lpstr>
      <vt:lpstr>Slide 41: Smantellamento dell'Errore dei Container Multipli a Runtime</vt:lpstr>
      <vt:lpstr>Slide 42: Sintesi dei Benefici Aziendali del Multi-stage Build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Davide Grillo</dc:creator>
  <cp:lastModifiedBy>Mirko Onorato</cp:lastModifiedBy>
  <cp:revision>215</cp:revision>
  <dcterms:created xsi:type="dcterms:W3CDTF">2023-09-21T07:59:23Z</dcterms:created>
  <dcterms:modified xsi:type="dcterms:W3CDTF">2026-06-15T16:03:24Z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0x010100D3455C6CD0B9BF4DB2CA3009677D9668</vt:lpwstr>
  </property>
</Properties>
</file>