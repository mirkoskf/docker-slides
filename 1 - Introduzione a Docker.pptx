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50"/>
  </p:notesMasterIdLst>
  <p:handoutMasterIdLst>
    <p:handoutMasterId r:id="rId51"/>
  </p:handoutMasterIdLst>
  <p:sldIdLst>
    <p:sldId id="262" r:id="rId5"/>
    <p:sldId id="259" r:id="rId6"/>
    <p:sldId id="258" r:id="rId7"/>
    <p:sldId id="263" r:id="rId8"/>
    <p:sldId id="264" r:id="rId9"/>
    <p:sldId id="265" r:id="rId10"/>
    <p:sldId id="267" r:id="rId11"/>
    <p:sldId id="266" r:id="rId12"/>
    <p:sldId id="269" r:id="rId13"/>
    <p:sldId id="270" r:id="rId14"/>
    <p:sldId id="271" r:id="rId15"/>
    <p:sldId id="272" r:id="rId16"/>
    <p:sldId id="273" r:id="rId17"/>
    <p:sldId id="274" r:id="rId18"/>
    <p:sldId id="275" r:id="rId19"/>
    <p:sldId id="276" r:id="rId20"/>
    <p:sldId id="277" r:id="rId21"/>
    <p:sldId id="278" r:id="rId22"/>
    <p:sldId id="279" r:id="rId23"/>
    <p:sldId id="281" r:id="rId24"/>
    <p:sldId id="280" r:id="rId25"/>
    <p:sldId id="282" r:id="rId26"/>
    <p:sldId id="283" r:id="rId27"/>
    <p:sldId id="284" r:id="rId28"/>
    <p:sldId id="286" r:id="rId29"/>
    <p:sldId id="287"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 id="302" r:id="rId45"/>
    <p:sldId id="303" r:id="rId46"/>
    <p:sldId id="304" r:id="rId47"/>
    <p:sldId id="305" r:id="rId48"/>
    <p:sldId id="261" r:id="rId49"/>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33" autoAdjust="0"/>
    <p:restoredTop sz="92907" autoAdjust="0"/>
  </p:normalViewPr>
  <p:slideViewPr>
    <p:cSldViewPr snapToGrid="0" showGuides="1">
      <p:cViewPr varScale="1">
        <p:scale>
          <a:sx n="151" d="100"/>
          <a:sy n="151" d="100"/>
        </p:scale>
        <p:origin x="192" y="15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07/06/2026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07/06/2026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jpg"/><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r:embed="rId4">
            <a:lum bright="100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6"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1: Architettura di Base e Componenti Core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Introduzione a Docker</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415438" y="1349192"/>
            <a:ext cx="9557362" cy="4803369"/>
          </a:xfrm>
        </p:spPr>
        <p:txBody>
          <a:bodyPr/>
          <a:lstStyle/>
          <a:p>
            <a:r>
              <a:rPr lang="it-IT" dirty="0"/>
              <a:t>Docker è una piattaforma software Open Source progettata per automatizzare la creazione, la distribuzione e l'esecuzione di applicazioni dentro ambienti isolati, leggeri e autosufficienti chiamati container. </a:t>
            </a:r>
          </a:p>
          <a:p>
            <a:r>
              <a:rPr lang="it-IT" dirty="0"/>
              <a:t>Tradizionalmente, il deployment soffriva della discrepanza tra gli ambienti di sviluppo e quelli di produzione (versioni di librerie differenti, patch del sistema operativo mancanti), generando il classico problema del "funziona solo sulla mia macchina". </a:t>
            </a:r>
          </a:p>
          <a:p>
            <a:r>
              <a:rPr lang="it-IT" dirty="0"/>
              <a:t>Docker risolve radicalmente questa frizione non virtualizzando l'hardware, ma isolando i processi a livello software. Quindi non emula l’hardware (come accade per le Virtual Machine), né include un sistema operativo completo.</a:t>
            </a:r>
          </a:p>
          <a:p>
            <a:r>
              <a:rPr lang="it-IT" dirty="0"/>
              <a:t>I container racchiudono l'applicazione e l'esatto ecosistema di dipendenze di cui ha bisogno per girare. Questo garantisce che il software si comporti in modo identico su qualsiasi macchina ospitante (Host), che si tratti del computer portatile di uno sviluppatore, di un server aziendale locale on-premise o di un'istanza cloud, azzerando i tempi di configurazione.</a:t>
            </a:r>
          </a:p>
          <a:p>
            <a:r>
              <a:rPr lang="it-IT" dirty="0"/>
              <a:t>Docker non è nato per sostituire la programmazione, ma per colmare il divario distruttivo tra il mondo dello sviluppo (Dev) e quello delle operazioni sistemistiche (Ops), inaugurando di fatto l'era della metodologia </a:t>
            </a:r>
            <a:r>
              <a:rPr lang="it-IT" dirty="0" err="1"/>
              <a:t>DevOps</a:t>
            </a:r>
            <a:r>
              <a:rPr lang="it-IT" dirty="0"/>
              <a:t>.</a:t>
            </a:r>
            <a:endParaRPr lang="it-IT" b="1" dirty="0">
              <a:solidFill>
                <a:srgbClr val="171FE2"/>
              </a:solidFill>
            </a:endParaRPr>
          </a:p>
        </p:txBody>
      </p:sp>
      <p:sp>
        <p:nvSpPr>
          <p:cNvPr id="12" name="Segnaposto numero diapositiva 11">
            <a:extLst>
              <a:ext uri="{FF2B5EF4-FFF2-40B4-BE49-F238E27FC236}">
                <a16:creationId xmlns:a16="http://schemas.microsoft.com/office/drawing/2014/main" id="{0A34DE43-08B1-290A-D6C2-1F28E294FB48}"/>
              </a:ext>
            </a:extLst>
          </p:cNvPr>
          <p:cNvSpPr>
            <a:spLocks noGrp="1"/>
          </p:cNvSpPr>
          <p:nvPr>
            <p:ph type="sldNum" sz="quarter" idx="12"/>
          </p:nvPr>
        </p:nvSpPr>
        <p:spPr/>
        <p:txBody>
          <a:bodyPr/>
          <a:lstStyle/>
          <a:p>
            <a:r>
              <a:rPr lang="it-IT" dirty="0"/>
              <a:t>1</a:t>
            </a: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6D859-FDB5-3FEB-4CE3-29CC39917B0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FAC1471-48FE-BBB1-0BD2-BEB468E19300}"/>
              </a:ext>
            </a:extLst>
          </p:cNvPr>
          <p:cNvSpPr>
            <a:spLocks noGrp="1"/>
          </p:cNvSpPr>
          <p:nvPr>
            <p:ph type="title"/>
          </p:nvPr>
        </p:nvSpPr>
        <p:spPr>
          <a:xfrm>
            <a:off x="838200" y="831206"/>
            <a:ext cx="10515600" cy="314198"/>
          </a:xfrm>
        </p:spPr>
        <p:txBody>
          <a:bodyPr/>
          <a:lstStyle/>
          <a:p>
            <a:r>
              <a:rPr lang="it-IT" dirty="0"/>
              <a:t>Slide 2: L'Architettura Client-Server</a:t>
            </a:r>
          </a:p>
        </p:txBody>
      </p:sp>
      <p:sp>
        <p:nvSpPr>
          <p:cNvPr id="3" name="Contenuto della lezione">
            <a:extLst>
              <a:ext uri="{FF2B5EF4-FFF2-40B4-BE49-F238E27FC236}">
                <a16:creationId xmlns:a16="http://schemas.microsoft.com/office/drawing/2014/main" id="{B3849074-7AE0-0DAE-939B-F662D761FF41}"/>
              </a:ext>
            </a:extLst>
          </p:cNvPr>
          <p:cNvSpPr>
            <a:spLocks noGrp="1"/>
          </p:cNvSpPr>
          <p:nvPr>
            <p:ph idx="1"/>
          </p:nvPr>
        </p:nvSpPr>
        <p:spPr>
          <a:xfrm>
            <a:off x="1415438" y="1349192"/>
            <a:ext cx="9557362" cy="4803369"/>
          </a:xfrm>
        </p:spPr>
        <p:txBody>
          <a:bodyPr/>
          <a:lstStyle/>
          <a:p>
            <a:r>
              <a:rPr lang="it-IT" dirty="0"/>
              <a:t>L'architettura interna di Docker non è un blocco monolitico, bensì un sistema distribuito e altamente disaccoppiato basato sul pattern Client-Server. </a:t>
            </a:r>
          </a:p>
          <a:p>
            <a:r>
              <a:rPr lang="it-IT" dirty="0"/>
              <a:t>Quando un utente interagisce con Docker digitando un comando nel terminale, non sta operando direttamente sui processi o sui file dei container. L'infrastruttura si articola su tre componenti fondamentali che cooperano a stadi: </a:t>
            </a:r>
          </a:p>
          <a:p>
            <a:pPr marL="342900" indent="-342900">
              <a:buFont typeface="+mj-lt"/>
              <a:buAutoNum type="arabicPeriod"/>
            </a:pPr>
            <a:r>
              <a:rPr lang="it-IT" dirty="0"/>
              <a:t>il Client (la </a:t>
            </a:r>
            <a:r>
              <a:rPr lang="it-IT" b="1" dirty="0"/>
              <a:t>Docker CLI</a:t>
            </a:r>
            <a:r>
              <a:rPr lang="it-IT" dirty="0"/>
              <a:t>), </a:t>
            </a:r>
          </a:p>
          <a:p>
            <a:pPr marL="342900" indent="-342900">
              <a:buFont typeface="+mj-lt"/>
              <a:buAutoNum type="arabicPeriod"/>
            </a:pPr>
            <a:r>
              <a:rPr lang="it-IT" dirty="0"/>
              <a:t>un canale di comunicazione intermedio basato su protocolli standard (la </a:t>
            </a:r>
            <a:r>
              <a:rPr lang="it-IT" b="1" dirty="0"/>
              <a:t>Docker Engine API</a:t>
            </a:r>
            <a:r>
              <a:rPr lang="it-IT" dirty="0"/>
              <a:t>), </a:t>
            </a:r>
          </a:p>
          <a:p>
            <a:pPr marL="342900" indent="-342900">
              <a:buFont typeface="+mj-lt"/>
              <a:buAutoNum type="arabicPeriod"/>
            </a:pPr>
            <a:r>
              <a:rPr lang="it-IT" dirty="0"/>
              <a:t>il Server di </a:t>
            </a:r>
            <a:r>
              <a:rPr lang="it-IT" dirty="0" err="1"/>
              <a:t>backend</a:t>
            </a:r>
            <a:r>
              <a:rPr lang="it-IT" dirty="0"/>
              <a:t> (il </a:t>
            </a:r>
            <a:r>
              <a:rPr lang="it-IT" b="1" dirty="0"/>
              <a:t>Docker </a:t>
            </a:r>
            <a:r>
              <a:rPr lang="it-IT" b="1" dirty="0" err="1"/>
              <a:t>Daemon</a:t>
            </a:r>
            <a:r>
              <a:rPr lang="it-IT" dirty="0"/>
              <a:t>, identificato dal processo di sistema </a:t>
            </a:r>
            <a:r>
              <a:rPr lang="it-IT" dirty="0" err="1"/>
              <a:t>dockerd</a:t>
            </a:r>
            <a:r>
              <a:rPr lang="it-IT" dirty="0"/>
              <a:t>).</a:t>
            </a:r>
          </a:p>
          <a:p>
            <a:r>
              <a:rPr lang="it-IT" dirty="0">
                <a:solidFill>
                  <a:srgbClr val="FFC000"/>
                </a:solidFill>
              </a:rPr>
              <a:t>Questo disaccoppiamento ingegneristico è talmente profondo che i tre componenti possono risiedere sulla stessa macchina locale o essere distribuiti su nodi di rete differenti: uno sviluppatore può usare la CLI dal proprio computer portatile per impartire comandi a un </a:t>
            </a:r>
            <a:r>
              <a:rPr lang="it-IT" dirty="0" err="1">
                <a:solidFill>
                  <a:srgbClr val="FFC000"/>
                </a:solidFill>
              </a:rPr>
              <a:t>Daemon</a:t>
            </a:r>
            <a:r>
              <a:rPr lang="it-IT" dirty="0">
                <a:solidFill>
                  <a:srgbClr val="FFC000"/>
                </a:solidFill>
              </a:rPr>
              <a:t> che gira su un server Linux dedicato in Cloud.</a:t>
            </a:r>
          </a:p>
        </p:txBody>
      </p:sp>
      <p:sp>
        <p:nvSpPr>
          <p:cNvPr id="12" name="Segnaposto numero diapositiva 11">
            <a:extLst>
              <a:ext uri="{FF2B5EF4-FFF2-40B4-BE49-F238E27FC236}">
                <a16:creationId xmlns:a16="http://schemas.microsoft.com/office/drawing/2014/main" id="{6AE6654C-B15D-F67B-C967-229A1519CB23}"/>
              </a:ext>
            </a:extLst>
          </p:cNvPr>
          <p:cNvSpPr>
            <a:spLocks noGrp="1"/>
          </p:cNvSpPr>
          <p:nvPr>
            <p:ph type="sldNum" sz="quarter" idx="12"/>
          </p:nvPr>
        </p:nvSpPr>
        <p:spPr/>
        <p:txBody>
          <a:bodyPr/>
          <a:lstStyle/>
          <a:p>
            <a:r>
              <a:rPr lang="it-IT" dirty="0"/>
              <a:t>2</a:t>
            </a:r>
          </a:p>
        </p:txBody>
      </p:sp>
    </p:spTree>
    <p:extLst>
      <p:ext uri="{BB962C8B-B14F-4D97-AF65-F5344CB8AC3E}">
        <p14:creationId xmlns:p14="http://schemas.microsoft.com/office/powerpoint/2010/main" val="3884366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3332C-0683-E54B-22E7-580A183D1C3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3DB6545-C3D6-F561-9946-F2A58AEAEA67}"/>
              </a:ext>
            </a:extLst>
          </p:cNvPr>
          <p:cNvSpPr>
            <a:spLocks noGrp="1"/>
          </p:cNvSpPr>
          <p:nvPr>
            <p:ph type="title"/>
          </p:nvPr>
        </p:nvSpPr>
        <p:spPr>
          <a:xfrm>
            <a:off x="838200" y="831206"/>
            <a:ext cx="10515600" cy="314198"/>
          </a:xfrm>
        </p:spPr>
        <p:txBody>
          <a:bodyPr/>
          <a:lstStyle/>
          <a:p>
            <a:r>
              <a:rPr lang="it-IT" dirty="0"/>
              <a:t>Slide 3: La Docker CLI (Il Client)</a:t>
            </a:r>
          </a:p>
        </p:txBody>
      </p:sp>
      <p:sp>
        <p:nvSpPr>
          <p:cNvPr id="3" name="Contenuto della lezione">
            <a:extLst>
              <a:ext uri="{FF2B5EF4-FFF2-40B4-BE49-F238E27FC236}">
                <a16:creationId xmlns:a16="http://schemas.microsoft.com/office/drawing/2014/main" id="{BEEF7014-ABDE-5FF3-B12B-2B7729C7C3B1}"/>
              </a:ext>
            </a:extLst>
          </p:cNvPr>
          <p:cNvSpPr>
            <a:spLocks noGrp="1"/>
          </p:cNvSpPr>
          <p:nvPr>
            <p:ph idx="1"/>
          </p:nvPr>
        </p:nvSpPr>
        <p:spPr>
          <a:xfrm>
            <a:off x="1415438" y="1349192"/>
            <a:ext cx="9557362" cy="4803369"/>
          </a:xfrm>
        </p:spPr>
        <p:txBody>
          <a:bodyPr/>
          <a:lstStyle/>
          <a:p>
            <a:r>
              <a:rPr lang="it-IT" dirty="0"/>
              <a:t>La Docker CLI (</a:t>
            </a:r>
            <a:r>
              <a:rPr lang="it-IT" dirty="0" err="1"/>
              <a:t>Command</a:t>
            </a:r>
            <a:r>
              <a:rPr lang="it-IT" dirty="0"/>
              <a:t> Line Interface) rappresenta l'interfaccia a riga di comando ufficiale con cui l'operatore umano o gli script di automazione comunicano le proprie intenzioni al sistema. </a:t>
            </a:r>
          </a:p>
          <a:p>
            <a:r>
              <a:rPr lang="it-IT" dirty="0"/>
              <a:t>Comandi come: </a:t>
            </a:r>
            <a:r>
              <a:rPr lang="it-IT" dirty="0" err="1"/>
              <a:t>docker</a:t>
            </a:r>
            <a:r>
              <a:rPr lang="it-IT" dirty="0"/>
              <a:t> </a:t>
            </a:r>
            <a:r>
              <a:rPr lang="it-IT" dirty="0" err="1"/>
              <a:t>run</a:t>
            </a:r>
            <a:r>
              <a:rPr lang="it-IT" dirty="0"/>
              <a:t>, </a:t>
            </a:r>
            <a:r>
              <a:rPr lang="it-IT" dirty="0" err="1"/>
              <a:t>docker</a:t>
            </a:r>
            <a:r>
              <a:rPr lang="it-IT" dirty="0"/>
              <a:t> </a:t>
            </a:r>
            <a:r>
              <a:rPr lang="it-IT" dirty="0" err="1"/>
              <a:t>ps</a:t>
            </a:r>
            <a:r>
              <a:rPr lang="it-IT" dirty="0"/>
              <a:t>, </a:t>
            </a:r>
            <a:r>
              <a:rPr lang="it-IT" dirty="0" err="1"/>
              <a:t>docker</a:t>
            </a:r>
            <a:r>
              <a:rPr lang="it-IT" dirty="0"/>
              <a:t> build o </a:t>
            </a:r>
            <a:r>
              <a:rPr lang="it-IT" dirty="0" err="1"/>
              <a:t>docker</a:t>
            </a:r>
            <a:r>
              <a:rPr lang="it-IT" dirty="0"/>
              <a:t> stop appartengono esclusivamente a questo strato dell'architettura. </a:t>
            </a:r>
          </a:p>
          <a:p>
            <a:r>
              <a:rPr lang="it-IT" dirty="0"/>
              <a:t>La CLI ha due compiti principali e strettamente circoscritti: </a:t>
            </a:r>
          </a:p>
          <a:p>
            <a:pPr marL="285750" indent="-285750">
              <a:buFont typeface="Arial" panose="020B0604020202020204" pitchFamily="34" charset="0"/>
              <a:buChar char="•"/>
            </a:pPr>
            <a:r>
              <a:rPr lang="it-IT" dirty="0"/>
              <a:t>la cattura dell'input dell'utente con la conseguente validazione sintattica locale del comando</a:t>
            </a:r>
          </a:p>
          <a:p>
            <a:pPr marL="285750" indent="-285750">
              <a:buFont typeface="Arial" panose="020B0604020202020204" pitchFamily="34" charset="0"/>
              <a:buChar char="•"/>
            </a:pPr>
            <a:r>
              <a:rPr lang="it-IT" dirty="0"/>
              <a:t>la traduzione di tale input in una richiesta HTTP strutturata secondo gli standard REST.</a:t>
            </a:r>
          </a:p>
          <a:p>
            <a:r>
              <a:rPr lang="it-IT" dirty="0"/>
              <a:t>La CLI non possiede alcuna intelligenza operativa per creare immagini o avviare processi. Se la CLI rileva un errore di battitura, blocca l'esecuzione immediatamente sul computer dell'utente, senza inviare alcuna richiesta al motore di </a:t>
            </a:r>
            <a:r>
              <a:rPr lang="it-IT" dirty="0" err="1"/>
              <a:t>backend</a:t>
            </a:r>
            <a:r>
              <a:rPr lang="it-IT" dirty="0"/>
              <a:t>.</a:t>
            </a:r>
          </a:p>
          <a:p>
            <a:r>
              <a:rPr lang="it-IT" dirty="0"/>
              <a:t>La CLI è un client "stupido" ma rigoroso: se scriviamo "</a:t>
            </a:r>
            <a:r>
              <a:rPr lang="it-IT" dirty="0" err="1"/>
              <a:t>docker</a:t>
            </a:r>
            <a:r>
              <a:rPr lang="it-IT" dirty="0"/>
              <a:t> </a:t>
            </a:r>
            <a:r>
              <a:rPr lang="it-IT" dirty="0" err="1"/>
              <a:t>runn</a:t>
            </a:r>
            <a:r>
              <a:rPr lang="it-IT" dirty="0"/>
              <a:t>", l'errore visualizzato è generato istantaneamente dalla CLI, senza che il motore Docker </a:t>
            </a:r>
            <a:r>
              <a:rPr lang="it-IT" dirty="0" err="1"/>
              <a:t>Daemon</a:t>
            </a:r>
            <a:r>
              <a:rPr lang="it-IT" dirty="0"/>
              <a:t> sia stato minimamente interpellato.</a:t>
            </a:r>
            <a:endParaRPr lang="it-IT" b="1" dirty="0">
              <a:solidFill>
                <a:srgbClr val="171FE2"/>
              </a:solidFill>
            </a:endParaRPr>
          </a:p>
        </p:txBody>
      </p:sp>
      <p:sp>
        <p:nvSpPr>
          <p:cNvPr id="12" name="Segnaposto numero diapositiva 11">
            <a:extLst>
              <a:ext uri="{FF2B5EF4-FFF2-40B4-BE49-F238E27FC236}">
                <a16:creationId xmlns:a16="http://schemas.microsoft.com/office/drawing/2014/main" id="{34E75093-0B8D-6AA8-72CD-D35A4BF7FD5F}"/>
              </a:ext>
            </a:extLst>
          </p:cNvPr>
          <p:cNvSpPr>
            <a:spLocks noGrp="1"/>
          </p:cNvSpPr>
          <p:nvPr>
            <p:ph type="sldNum" sz="quarter" idx="12"/>
          </p:nvPr>
        </p:nvSpPr>
        <p:spPr/>
        <p:txBody>
          <a:bodyPr/>
          <a:lstStyle/>
          <a:p>
            <a:r>
              <a:rPr lang="it-IT" dirty="0"/>
              <a:t>3</a:t>
            </a:r>
          </a:p>
        </p:txBody>
      </p:sp>
    </p:spTree>
    <p:extLst>
      <p:ext uri="{BB962C8B-B14F-4D97-AF65-F5344CB8AC3E}">
        <p14:creationId xmlns:p14="http://schemas.microsoft.com/office/powerpoint/2010/main" val="527689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4DD8A0-4B74-48A6-7E4F-BBD5F3136B9E}"/>
              </a:ext>
            </a:extLst>
          </p:cNvPr>
          <p:cNvSpPr>
            <a:spLocks noGrp="1"/>
          </p:cNvSpPr>
          <p:nvPr>
            <p:ph type="title"/>
          </p:nvPr>
        </p:nvSpPr>
        <p:spPr/>
        <p:txBody>
          <a:bodyPr/>
          <a:lstStyle/>
          <a:p>
            <a:r>
              <a:rPr lang="it-IT" dirty="0"/>
              <a:t>Slide 4: Il Docker </a:t>
            </a:r>
            <a:r>
              <a:rPr lang="it-IT" dirty="0" err="1"/>
              <a:t>Daemon</a:t>
            </a:r>
            <a:r>
              <a:rPr lang="it-IT" dirty="0"/>
              <a:t> (Il Motore Operativo </a:t>
            </a:r>
            <a:r>
              <a:rPr lang="it-IT" dirty="0" err="1"/>
              <a:t>dockerd</a:t>
            </a:r>
            <a:r>
              <a:rPr lang="it-IT" dirty="0"/>
              <a:t>)</a:t>
            </a:r>
          </a:p>
        </p:txBody>
      </p:sp>
      <p:sp>
        <p:nvSpPr>
          <p:cNvPr id="3" name="Segnaposto contenuto 2">
            <a:extLst>
              <a:ext uri="{FF2B5EF4-FFF2-40B4-BE49-F238E27FC236}">
                <a16:creationId xmlns:a16="http://schemas.microsoft.com/office/drawing/2014/main" id="{8F556AA0-60FA-1C24-A92F-CAADC6F580FD}"/>
              </a:ext>
            </a:extLst>
          </p:cNvPr>
          <p:cNvSpPr>
            <a:spLocks noGrp="1"/>
          </p:cNvSpPr>
          <p:nvPr>
            <p:ph idx="1"/>
          </p:nvPr>
        </p:nvSpPr>
        <p:spPr/>
        <p:txBody>
          <a:bodyPr/>
          <a:lstStyle/>
          <a:p>
            <a:r>
              <a:rPr lang="it-IT" dirty="0"/>
              <a:t>Il Docker </a:t>
            </a:r>
            <a:r>
              <a:rPr lang="it-IT" dirty="0" err="1"/>
              <a:t>Daemon</a:t>
            </a:r>
            <a:r>
              <a:rPr lang="it-IT" dirty="0"/>
              <a:t>, il cui nome di processo è </a:t>
            </a:r>
            <a:r>
              <a:rPr lang="it-IT" dirty="0" err="1"/>
              <a:t>dockerd</a:t>
            </a:r>
            <a:r>
              <a:rPr lang="it-IT" dirty="0"/>
              <a:t>, costituisce il cuore pulsante, permanente e intelligente di tutto l'ecosistema Docker Engine. </a:t>
            </a:r>
          </a:p>
          <a:p>
            <a:r>
              <a:rPr lang="it-IT" dirty="0"/>
              <a:t>Gira costantemente in background come servizio del sistema operativo ospitante e rimane in ascolto permanente delle richieste HTTP provenienti dalla CLI o da altri client autorizzati. </a:t>
            </a:r>
          </a:p>
          <a:p>
            <a:r>
              <a:rPr lang="it-IT" dirty="0"/>
              <a:t>Il </a:t>
            </a:r>
            <a:r>
              <a:rPr lang="it-IT" dirty="0" err="1"/>
              <a:t>Daemon</a:t>
            </a:r>
            <a:r>
              <a:rPr lang="it-IT" dirty="0"/>
              <a:t> è l'unico componente che possiede i privilegi e la logica per effettuare operazioni reali sul sistema: </a:t>
            </a:r>
          </a:p>
          <a:p>
            <a:pPr marL="285750" indent="-285750">
              <a:buFont typeface="Arial" panose="020B0604020202020204" pitchFamily="34" charset="0"/>
              <a:buChar char="•"/>
            </a:pPr>
            <a:r>
              <a:rPr lang="it-IT" dirty="0"/>
              <a:t>si occupa di scaricare e catalogare le immagini dal cloud (Docker HUB);</a:t>
            </a:r>
          </a:p>
          <a:p>
            <a:pPr marL="285750" indent="-285750">
              <a:buFont typeface="Arial" panose="020B0604020202020204" pitchFamily="34" charset="0"/>
              <a:buChar char="•"/>
            </a:pPr>
            <a:r>
              <a:rPr lang="it-IT" dirty="0"/>
              <a:t>allocare e partizionare lo spazio su disco per i dati (Docker storage);</a:t>
            </a:r>
          </a:p>
          <a:p>
            <a:pPr marL="285750" indent="-285750">
              <a:buFont typeface="Arial" panose="020B0604020202020204" pitchFamily="34" charset="0"/>
              <a:buChar char="•"/>
            </a:pPr>
            <a:r>
              <a:rPr lang="it-IT" dirty="0"/>
              <a:t>configurare i bridge di rete virtuali per consentire la comunicazione tra i container;</a:t>
            </a:r>
          </a:p>
          <a:p>
            <a:pPr marL="285750" indent="-285750">
              <a:buFont typeface="Arial" panose="020B0604020202020204" pitchFamily="34" charset="0"/>
              <a:buChar char="•"/>
            </a:pPr>
            <a:r>
              <a:rPr lang="it-IT" dirty="0"/>
              <a:t>invocare le chiamate di basso livello al kernel Linux per far nascere, monitorare o distruggere fisicamente i container.</a:t>
            </a:r>
          </a:p>
        </p:txBody>
      </p:sp>
      <p:sp>
        <p:nvSpPr>
          <p:cNvPr id="4" name="Segnaposto numero diapositiva 3">
            <a:extLst>
              <a:ext uri="{FF2B5EF4-FFF2-40B4-BE49-F238E27FC236}">
                <a16:creationId xmlns:a16="http://schemas.microsoft.com/office/drawing/2014/main" id="{CB32344C-CE30-9739-9EED-036D1496425F}"/>
              </a:ext>
            </a:extLst>
          </p:cNvPr>
          <p:cNvSpPr>
            <a:spLocks noGrp="1"/>
          </p:cNvSpPr>
          <p:nvPr>
            <p:ph type="sldNum" sz="quarter" idx="12"/>
          </p:nvPr>
        </p:nvSpPr>
        <p:spPr/>
        <p:txBody>
          <a:bodyPr/>
          <a:lstStyle/>
          <a:p>
            <a:r>
              <a:rPr lang="it-IT" dirty="0"/>
              <a:t>4</a:t>
            </a:r>
          </a:p>
        </p:txBody>
      </p:sp>
    </p:spTree>
    <p:extLst>
      <p:ext uri="{BB962C8B-B14F-4D97-AF65-F5344CB8AC3E}">
        <p14:creationId xmlns:p14="http://schemas.microsoft.com/office/powerpoint/2010/main" val="21657136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C7A46-F264-42D7-A2A5-445A7F9F5A6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F840226-07C6-6102-6B77-07FB6C230788}"/>
              </a:ext>
            </a:extLst>
          </p:cNvPr>
          <p:cNvSpPr>
            <a:spLocks noGrp="1"/>
          </p:cNvSpPr>
          <p:nvPr>
            <p:ph type="title"/>
          </p:nvPr>
        </p:nvSpPr>
        <p:spPr/>
        <p:txBody>
          <a:bodyPr/>
          <a:lstStyle/>
          <a:p>
            <a:r>
              <a:rPr lang="it-IT" dirty="0"/>
              <a:t>Slide 5: La Docker Engine API ed i Payload JSON</a:t>
            </a:r>
          </a:p>
        </p:txBody>
      </p:sp>
      <p:sp>
        <p:nvSpPr>
          <p:cNvPr id="3" name="Segnaposto contenuto 2">
            <a:extLst>
              <a:ext uri="{FF2B5EF4-FFF2-40B4-BE49-F238E27FC236}">
                <a16:creationId xmlns:a16="http://schemas.microsoft.com/office/drawing/2014/main" id="{EE99B57E-BD8D-1B00-1AAD-7C596735F343}"/>
              </a:ext>
            </a:extLst>
          </p:cNvPr>
          <p:cNvSpPr>
            <a:spLocks noGrp="1"/>
          </p:cNvSpPr>
          <p:nvPr>
            <p:ph idx="1"/>
          </p:nvPr>
        </p:nvSpPr>
        <p:spPr/>
        <p:txBody>
          <a:bodyPr/>
          <a:lstStyle/>
          <a:p>
            <a:r>
              <a:rPr lang="it-IT" dirty="0"/>
              <a:t>Le comunicazioni tra la CLI e il </a:t>
            </a:r>
            <a:r>
              <a:rPr lang="it-IT" dirty="0" err="1"/>
              <a:t>Daemon</a:t>
            </a:r>
            <a:r>
              <a:rPr lang="it-IT" dirty="0"/>
              <a:t> sfruttano la Docker Engine API, un'interfaccia di programmazione guidata dalle specifiche HTTP e conforme all'architettura REST (</a:t>
            </a:r>
            <a:r>
              <a:rPr lang="it-IT" dirty="0" err="1"/>
              <a:t>Representational</a:t>
            </a:r>
            <a:r>
              <a:rPr lang="it-IT" dirty="0"/>
              <a:t> State Transfer).</a:t>
            </a:r>
          </a:p>
          <a:p>
            <a:r>
              <a:rPr lang="it-IT" dirty="0"/>
              <a:t>Quando un utente digita sul terminale il comando di ispezione </a:t>
            </a:r>
            <a:r>
              <a:rPr lang="it-IT" dirty="0" err="1"/>
              <a:t>docker</a:t>
            </a:r>
            <a:r>
              <a:rPr lang="it-IT" dirty="0"/>
              <a:t> </a:t>
            </a:r>
            <a:r>
              <a:rPr lang="it-IT" dirty="0" err="1"/>
              <a:t>ps</a:t>
            </a:r>
            <a:r>
              <a:rPr lang="it-IT" dirty="0"/>
              <a:t>, la CLI intercetta il comando e genera silenziosamente una richiesta di rete di tipo GET indirizzata all'endpoint: /containers/</a:t>
            </a:r>
            <a:r>
              <a:rPr lang="it-IT" dirty="0" err="1"/>
              <a:t>json</a:t>
            </a:r>
            <a:r>
              <a:rPr lang="it-IT" dirty="0"/>
              <a:t>. </a:t>
            </a:r>
          </a:p>
          <a:p>
            <a:r>
              <a:rPr lang="it-IT" dirty="0"/>
              <a:t>Il </a:t>
            </a:r>
            <a:r>
              <a:rPr lang="it-IT" dirty="0" err="1"/>
              <a:t>Daemon</a:t>
            </a:r>
            <a:r>
              <a:rPr lang="it-IT" dirty="0"/>
              <a:t> intercetta la richiesta HTTP, interroga la propria memoria interna sullo stato dei processi attivi, e confeziona una risposta contenente un payload in formato JSON strutturato. Questo file JSON viene rispedito alla CLI, la quale ha il solo compito di fare il </a:t>
            </a:r>
            <a:r>
              <a:rPr lang="it-IT" dirty="0" err="1"/>
              <a:t>parsing</a:t>
            </a:r>
            <a:r>
              <a:rPr lang="it-IT" dirty="0"/>
              <a:t> dei dati e formattarli in una tabella leggibile per l'occhio umano.</a:t>
            </a:r>
          </a:p>
        </p:txBody>
      </p:sp>
      <p:sp>
        <p:nvSpPr>
          <p:cNvPr id="4" name="Segnaposto numero diapositiva 3">
            <a:extLst>
              <a:ext uri="{FF2B5EF4-FFF2-40B4-BE49-F238E27FC236}">
                <a16:creationId xmlns:a16="http://schemas.microsoft.com/office/drawing/2014/main" id="{470B41A5-75D8-B9B5-91E6-F08BDD372B3E}"/>
              </a:ext>
            </a:extLst>
          </p:cNvPr>
          <p:cNvSpPr>
            <a:spLocks noGrp="1"/>
          </p:cNvSpPr>
          <p:nvPr>
            <p:ph type="sldNum" sz="quarter" idx="12"/>
          </p:nvPr>
        </p:nvSpPr>
        <p:spPr/>
        <p:txBody>
          <a:bodyPr/>
          <a:lstStyle/>
          <a:p>
            <a:r>
              <a:rPr lang="it-IT" dirty="0"/>
              <a:t>5</a:t>
            </a:r>
          </a:p>
        </p:txBody>
      </p:sp>
    </p:spTree>
    <p:extLst>
      <p:ext uri="{BB962C8B-B14F-4D97-AF65-F5344CB8AC3E}">
        <p14:creationId xmlns:p14="http://schemas.microsoft.com/office/powerpoint/2010/main" val="1524993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49B0A7-7BBA-AB18-A5C2-6D557F0F6D82}"/>
              </a:ext>
            </a:extLst>
          </p:cNvPr>
          <p:cNvSpPr>
            <a:spLocks noGrp="1"/>
          </p:cNvSpPr>
          <p:nvPr>
            <p:ph type="title"/>
          </p:nvPr>
        </p:nvSpPr>
        <p:spPr/>
        <p:txBody>
          <a:bodyPr/>
          <a:lstStyle/>
          <a:p>
            <a:r>
              <a:rPr lang="it-IT" dirty="0"/>
              <a:t>Slide 6: Il Canale di Comunicazione Locale (Unix </a:t>
            </a:r>
            <a:r>
              <a:rPr lang="it-IT" dirty="0" err="1"/>
              <a:t>Socket</a:t>
            </a:r>
            <a:r>
              <a:rPr lang="it-IT" dirty="0"/>
              <a:t>)</a:t>
            </a:r>
          </a:p>
        </p:txBody>
      </p:sp>
      <p:sp>
        <p:nvSpPr>
          <p:cNvPr id="3" name="Segnaposto contenuto 2">
            <a:extLst>
              <a:ext uri="{FF2B5EF4-FFF2-40B4-BE49-F238E27FC236}">
                <a16:creationId xmlns:a16="http://schemas.microsoft.com/office/drawing/2014/main" id="{193F2D4D-DD99-7749-AE46-0DF325B51B8A}"/>
              </a:ext>
            </a:extLst>
          </p:cNvPr>
          <p:cNvSpPr>
            <a:spLocks noGrp="1"/>
          </p:cNvSpPr>
          <p:nvPr>
            <p:ph idx="1"/>
          </p:nvPr>
        </p:nvSpPr>
        <p:spPr/>
        <p:txBody>
          <a:bodyPr/>
          <a:lstStyle/>
          <a:p>
            <a:r>
              <a:rPr lang="it-IT" dirty="0"/>
              <a:t>Nello scenario standard in cui la Docker CLI e il Docker </a:t>
            </a:r>
            <a:r>
              <a:rPr lang="it-IT" dirty="0" err="1"/>
              <a:t>Daemon</a:t>
            </a:r>
            <a:r>
              <a:rPr lang="it-IT" dirty="0"/>
              <a:t> risiedono sulla stessa identica macchina fisica o virtuale Linux, la comunicazione HTTP non attraversa la scheda di rete fisica, ma sfrutta un canale di trasporto interno ultra-veloce chiamato Unix Domain </a:t>
            </a:r>
            <a:r>
              <a:rPr lang="it-IT" dirty="0" err="1"/>
              <a:t>Socket</a:t>
            </a:r>
            <a:r>
              <a:rPr lang="it-IT" dirty="0"/>
              <a:t>. </a:t>
            </a:r>
          </a:p>
          <a:p>
            <a:r>
              <a:rPr lang="it-IT" dirty="0"/>
              <a:t>Questo </a:t>
            </a:r>
            <a:r>
              <a:rPr lang="it-IT" dirty="0" err="1"/>
              <a:t>socket</a:t>
            </a:r>
            <a:r>
              <a:rPr lang="it-IT" dirty="0"/>
              <a:t> è rappresentato nel filesystem di Linux come un file speciale situato nel percorso /var/</a:t>
            </a:r>
            <a:r>
              <a:rPr lang="it-IT" dirty="0" err="1"/>
              <a:t>run</a:t>
            </a:r>
            <a:r>
              <a:rPr lang="it-IT" dirty="0"/>
              <a:t>/</a:t>
            </a:r>
            <a:r>
              <a:rPr lang="it-IT" dirty="0" err="1"/>
              <a:t>docker.sock</a:t>
            </a:r>
            <a:r>
              <a:rPr lang="it-IT" dirty="0"/>
              <a:t>. </a:t>
            </a:r>
          </a:p>
          <a:p>
            <a:r>
              <a:rPr lang="it-IT" dirty="0"/>
              <a:t>Le chiamate HTTP REST </a:t>
            </a:r>
            <a:r>
              <a:rPr lang="it-IT" dirty="0">
                <a:solidFill>
                  <a:srgbClr val="171FE2"/>
                </a:solidFill>
              </a:rPr>
              <a:t>viaggiano attraverso questo file di comunicazione locale</a:t>
            </a:r>
            <a:r>
              <a:rPr lang="it-IT" dirty="0"/>
              <a:t>, aggirando completamente lo </a:t>
            </a:r>
            <a:r>
              <a:rPr lang="it-IT" dirty="0" err="1"/>
              <a:t>stack</a:t>
            </a:r>
            <a:r>
              <a:rPr lang="it-IT" dirty="0"/>
              <a:t> di rete TCP/IP, il che azzera la latenza e garantisce prestazioni elevatissime.</a:t>
            </a:r>
          </a:p>
          <a:p>
            <a:r>
              <a:rPr lang="it-IT" dirty="0"/>
              <a:t>L'accesso a questo file è protetto da permessi di sicurezza stringenti: solo l'utente root o gli utenti esplicitamente inseriti nel gruppo di sistema chiamato </a:t>
            </a:r>
            <a:r>
              <a:rPr lang="it-IT" dirty="0" err="1"/>
              <a:t>docker</a:t>
            </a:r>
            <a:r>
              <a:rPr lang="it-IT" dirty="0"/>
              <a:t> hanno il diritto di scrivere in questo </a:t>
            </a:r>
            <a:r>
              <a:rPr lang="it-IT" dirty="0" err="1"/>
              <a:t>socket</a:t>
            </a:r>
            <a:r>
              <a:rPr lang="it-IT" dirty="0"/>
              <a:t> per impartire ordini al </a:t>
            </a:r>
            <a:r>
              <a:rPr lang="it-IT" dirty="0" err="1"/>
              <a:t>Daemon</a:t>
            </a:r>
            <a:r>
              <a:rPr lang="it-IT" dirty="0"/>
              <a:t>.</a:t>
            </a:r>
          </a:p>
        </p:txBody>
      </p:sp>
      <p:sp>
        <p:nvSpPr>
          <p:cNvPr id="4" name="Segnaposto numero diapositiva 3">
            <a:extLst>
              <a:ext uri="{FF2B5EF4-FFF2-40B4-BE49-F238E27FC236}">
                <a16:creationId xmlns:a16="http://schemas.microsoft.com/office/drawing/2014/main" id="{E44DCFD6-99A7-EF1E-AFD0-6F1B5A33146E}"/>
              </a:ext>
            </a:extLst>
          </p:cNvPr>
          <p:cNvSpPr>
            <a:spLocks noGrp="1"/>
          </p:cNvSpPr>
          <p:nvPr>
            <p:ph type="sldNum" sz="quarter" idx="12"/>
          </p:nvPr>
        </p:nvSpPr>
        <p:spPr/>
        <p:txBody>
          <a:bodyPr/>
          <a:lstStyle/>
          <a:p>
            <a:r>
              <a:rPr lang="it-IT" dirty="0"/>
              <a:t>6</a:t>
            </a:r>
          </a:p>
        </p:txBody>
      </p:sp>
    </p:spTree>
    <p:extLst>
      <p:ext uri="{BB962C8B-B14F-4D97-AF65-F5344CB8AC3E}">
        <p14:creationId xmlns:p14="http://schemas.microsoft.com/office/powerpoint/2010/main" val="3903208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2203D-2EDF-DFAA-556E-A8C41057C78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089315A-0544-DED8-0910-064844209914}"/>
              </a:ext>
            </a:extLst>
          </p:cNvPr>
          <p:cNvSpPr>
            <a:spLocks noGrp="1"/>
          </p:cNvSpPr>
          <p:nvPr>
            <p:ph type="title"/>
          </p:nvPr>
        </p:nvSpPr>
        <p:spPr/>
        <p:txBody>
          <a:bodyPr/>
          <a:lstStyle/>
          <a:p>
            <a:r>
              <a:rPr lang="it-IT" dirty="0"/>
              <a:t>Slide 7: Anatomia Ingegneristica di un'Immagine Docker</a:t>
            </a:r>
          </a:p>
        </p:txBody>
      </p:sp>
      <p:sp>
        <p:nvSpPr>
          <p:cNvPr id="3" name="Segnaposto contenuto 2">
            <a:extLst>
              <a:ext uri="{FF2B5EF4-FFF2-40B4-BE49-F238E27FC236}">
                <a16:creationId xmlns:a16="http://schemas.microsoft.com/office/drawing/2014/main" id="{ED033FC8-9B98-6A90-D4CB-CDB8AC1E5461}"/>
              </a:ext>
            </a:extLst>
          </p:cNvPr>
          <p:cNvSpPr>
            <a:spLocks noGrp="1"/>
          </p:cNvSpPr>
          <p:nvPr>
            <p:ph idx="1"/>
          </p:nvPr>
        </p:nvSpPr>
        <p:spPr/>
        <p:txBody>
          <a:bodyPr/>
          <a:lstStyle/>
          <a:p>
            <a:r>
              <a:rPr lang="it-IT" dirty="0"/>
              <a:t>Un'immagine Docker è un file archivio statico, protetto da scrittura in modo definitivo (Read-</a:t>
            </a:r>
            <a:r>
              <a:rPr lang="it-IT" dirty="0" err="1"/>
              <a:t>Only</a:t>
            </a:r>
            <a:r>
              <a:rPr lang="it-IT" dirty="0"/>
              <a:t>) e totalmente immutabile, che funge da pacchetto di distribuzione per il software. </a:t>
            </a:r>
          </a:p>
          <a:p>
            <a:r>
              <a:rPr lang="it-IT" dirty="0"/>
              <a:t>Al suo interno non vi è alcuna esecuzione attiva. </a:t>
            </a:r>
          </a:p>
          <a:p>
            <a:r>
              <a:rPr lang="it-IT" dirty="0"/>
              <a:t>Un'immagine racchiude una porzione di filesystem minimale derivata da: </a:t>
            </a:r>
          </a:p>
          <a:p>
            <a:pPr marL="285750" indent="-285750">
              <a:buFont typeface="Arial" panose="020B0604020202020204" pitchFamily="34" charset="0"/>
              <a:buChar char="•"/>
            </a:pPr>
            <a:r>
              <a:rPr lang="it-IT" dirty="0"/>
              <a:t>una distribuzione Linux leggera (es. Alpine);</a:t>
            </a:r>
          </a:p>
          <a:p>
            <a:pPr marL="285750" indent="-285750">
              <a:buFont typeface="Arial" panose="020B0604020202020204" pitchFamily="34" charset="0"/>
              <a:buChar char="•"/>
            </a:pPr>
            <a:r>
              <a:rPr lang="it-IT" dirty="0"/>
              <a:t>le librerie di sistema necessarie;</a:t>
            </a:r>
          </a:p>
          <a:p>
            <a:pPr marL="285750" indent="-285750">
              <a:buFont typeface="Arial" panose="020B0604020202020204" pitchFamily="34" charset="0"/>
              <a:buChar char="•"/>
            </a:pPr>
            <a:r>
              <a:rPr lang="it-IT" dirty="0"/>
              <a:t>i </a:t>
            </a:r>
            <a:r>
              <a:rPr lang="it-IT" dirty="0" err="1"/>
              <a:t>runtime</a:t>
            </a:r>
            <a:r>
              <a:rPr lang="it-IT" dirty="0"/>
              <a:t> applicativi (come Node.js, l'ambiente di esecuzione JRE di Java, o l'interprete Python); </a:t>
            </a:r>
          </a:p>
          <a:p>
            <a:pPr marL="285750" indent="-285750">
              <a:buFont typeface="Arial" panose="020B0604020202020204" pitchFamily="34" charset="0"/>
              <a:buChar char="•"/>
            </a:pPr>
            <a:r>
              <a:rPr lang="it-IT" dirty="0"/>
              <a:t>le configurazioni di rete di default;</a:t>
            </a:r>
          </a:p>
          <a:p>
            <a:pPr marL="285750" indent="-285750">
              <a:buFont typeface="Arial" panose="020B0604020202020204" pitchFamily="34" charset="0"/>
              <a:buChar char="•"/>
            </a:pPr>
            <a:r>
              <a:rPr lang="it-IT" dirty="0"/>
              <a:t>le variabili d'ambiente preimpostate;</a:t>
            </a:r>
          </a:p>
          <a:p>
            <a:pPr marL="285750" indent="-285750">
              <a:buFont typeface="Arial" panose="020B0604020202020204" pitchFamily="34" charset="0"/>
              <a:buChar char="•"/>
            </a:pPr>
            <a:r>
              <a:rPr lang="it-IT" dirty="0"/>
              <a:t>il codice sorgente o binario dell'applicazione stessa. </a:t>
            </a:r>
          </a:p>
          <a:p>
            <a:r>
              <a:rPr lang="it-IT" dirty="0"/>
              <a:t>Le immagini sono progettate per essere </a:t>
            </a:r>
            <a:r>
              <a:rPr lang="it-IT" dirty="0" err="1"/>
              <a:t>autocontenute</a:t>
            </a:r>
            <a:r>
              <a:rPr lang="it-IT" dirty="0"/>
              <a:t> e rigide: una volta che un'immagine è stata creata (fase di build), il suo contenuto interno non può più essere alterato. </a:t>
            </a:r>
          </a:p>
          <a:p>
            <a:r>
              <a:rPr lang="it-IT" dirty="0"/>
              <a:t>Per applicare una modifica al codice, è necessario generare una nuova versione dell'immagine.</a:t>
            </a:r>
          </a:p>
          <a:p>
            <a:r>
              <a:rPr lang="it-IT" dirty="0"/>
              <a:t>Un'immagine è come un file ISO di un sistema operativo o l'eseguibile stampato su un CD-ROM: è un modello fisso che garantisce che il punto di partenza sia sempre identico nel tempo.</a:t>
            </a:r>
          </a:p>
        </p:txBody>
      </p:sp>
      <p:sp>
        <p:nvSpPr>
          <p:cNvPr id="4" name="Segnaposto numero diapositiva 3">
            <a:extLst>
              <a:ext uri="{FF2B5EF4-FFF2-40B4-BE49-F238E27FC236}">
                <a16:creationId xmlns:a16="http://schemas.microsoft.com/office/drawing/2014/main" id="{9C637473-A7E4-E0F2-9867-EE8E0788681D}"/>
              </a:ext>
            </a:extLst>
          </p:cNvPr>
          <p:cNvSpPr>
            <a:spLocks noGrp="1"/>
          </p:cNvSpPr>
          <p:nvPr>
            <p:ph type="sldNum" sz="quarter" idx="12"/>
          </p:nvPr>
        </p:nvSpPr>
        <p:spPr/>
        <p:txBody>
          <a:bodyPr/>
          <a:lstStyle/>
          <a:p>
            <a:r>
              <a:rPr lang="it-IT" dirty="0"/>
              <a:t>7</a:t>
            </a:r>
          </a:p>
        </p:txBody>
      </p:sp>
    </p:spTree>
    <p:extLst>
      <p:ext uri="{BB962C8B-B14F-4D97-AF65-F5344CB8AC3E}">
        <p14:creationId xmlns:p14="http://schemas.microsoft.com/office/powerpoint/2010/main" val="2709263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83848-D041-63CD-BB94-96C58ADC3BB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B2BD6FB-405B-A8C6-C139-D43F5413A42D}"/>
              </a:ext>
            </a:extLst>
          </p:cNvPr>
          <p:cNvSpPr>
            <a:spLocks noGrp="1"/>
          </p:cNvSpPr>
          <p:nvPr>
            <p:ph type="title"/>
          </p:nvPr>
        </p:nvSpPr>
        <p:spPr/>
        <p:txBody>
          <a:bodyPr/>
          <a:lstStyle/>
          <a:p>
            <a:r>
              <a:rPr lang="it-IT" dirty="0"/>
              <a:t>Slide 8: La Natura Dinamica del Container</a:t>
            </a:r>
          </a:p>
        </p:txBody>
      </p:sp>
      <p:sp>
        <p:nvSpPr>
          <p:cNvPr id="3" name="Segnaposto contenuto 2">
            <a:extLst>
              <a:ext uri="{FF2B5EF4-FFF2-40B4-BE49-F238E27FC236}">
                <a16:creationId xmlns:a16="http://schemas.microsoft.com/office/drawing/2014/main" id="{87085D09-56C2-7983-5CDC-6347F726F071}"/>
              </a:ext>
            </a:extLst>
          </p:cNvPr>
          <p:cNvSpPr>
            <a:spLocks noGrp="1"/>
          </p:cNvSpPr>
          <p:nvPr>
            <p:ph idx="1"/>
          </p:nvPr>
        </p:nvSpPr>
        <p:spPr/>
        <p:txBody>
          <a:bodyPr/>
          <a:lstStyle/>
          <a:p>
            <a:r>
              <a:rPr lang="it-IT" dirty="0"/>
              <a:t>Se l'immagine rappresenta la componente statica e progettuale del sistema, il container costituisce la controparte dinamica, vivente e operativa. </a:t>
            </a:r>
          </a:p>
          <a:p>
            <a:r>
              <a:rPr lang="it-IT" dirty="0"/>
              <a:t>Un container è un'istanza isolata in esecuzione di una specifica immagine Docker. </a:t>
            </a:r>
          </a:p>
          <a:p>
            <a:r>
              <a:rPr lang="it-IT" dirty="0"/>
              <a:t>Riprendendo un'analogia classica, se l'immagine è il progetto architettonico disegnato su carta (</a:t>
            </a:r>
            <a:r>
              <a:rPr lang="it-IT" dirty="0" err="1"/>
              <a:t>blueprint</a:t>
            </a:r>
            <a:r>
              <a:rPr lang="it-IT" dirty="0"/>
              <a:t>), il container è l'edificio fisico reale costruito, cablato e abitato. </a:t>
            </a:r>
          </a:p>
          <a:p>
            <a:r>
              <a:rPr lang="it-IT" dirty="0"/>
              <a:t>Dal punto di vista del sistema operativo ospitante, il container non è una macchina virtuale pesante, ma un normale processo di sistema visibile nel Task Manager o tramite il comando top. </a:t>
            </a:r>
          </a:p>
          <a:p>
            <a:r>
              <a:rPr lang="it-IT" dirty="0"/>
              <a:t>La differenza fondamentale rispetto a un processo comune risiede nel fatto che il container viene forzatamente racchiuso dal kernel Linux in un perimetro invalicabile di isolamento software.</a:t>
            </a:r>
          </a:p>
        </p:txBody>
      </p:sp>
      <p:sp>
        <p:nvSpPr>
          <p:cNvPr id="4" name="Segnaposto numero diapositiva 3">
            <a:extLst>
              <a:ext uri="{FF2B5EF4-FFF2-40B4-BE49-F238E27FC236}">
                <a16:creationId xmlns:a16="http://schemas.microsoft.com/office/drawing/2014/main" id="{16B5F43D-2647-959C-9C26-6D4F82A12593}"/>
              </a:ext>
            </a:extLst>
          </p:cNvPr>
          <p:cNvSpPr>
            <a:spLocks noGrp="1"/>
          </p:cNvSpPr>
          <p:nvPr>
            <p:ph type="sldNum" sz="quarter" idx="12"/>
          </p:nvPr>
        </p:nvSpPr>
        <p:spPr/>
        <p:txBody>
          <a:bodyPr/>
          <a:lstStyle/>
          <a:p>
            <a:r>
              <a:rPr lang="it-IT" dirty="0"/>
              <a:t>8</a:t>
            </a:r>
          </a:p>
        </p:txBody>
      </p:sp>
    </p:spTree>
    <p:extLst>
      <p:ext uri="{BB962C8B-B14F-4D97-AF65-F5344CB8AC3E}">
        <p14:creationId xmlns:p14="http://schemas.microsoft.com/office/powerpoint/2010/main" val="10661556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95CF4-F901-F277-20C7-16CF12B0164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52AEA4A-DD81-8EBD-5668-9B92F36D25AB}"/>
              </a:ext>
            </a:extLst>
          </p:cNvPr>
          <p:cNvSpPr>
            <a:spLocks noGrp="1"/>
          </p:cNvSpPr>
          <p:nvPr>
            <p:ph type="title"/>
          </p:nvPr>
        </p:nvSpPr>
        <p:spPr/>
        <p:txBody>
          <a:bodyPr/>
          <a:lstStyle/>
          <a:p>
            <a:r>
              <a:rPr lang="it-IT" dirty="0"/>
              <a:t>Slide 9: Il Parallelismo Espositivo con la Programmazione OOP</a:t>
            </a:r>
          </a:p>
        </p:txBody>
      </p:sp>
      <p:sp>
        <p:nvSpPr>
          <p:cNvPr id="3" name="Segnaposto contenuto 2">
            <a:extLst>
              <a:ext uri="{FF2B5EF4-FFF2-40B4-BE49-F238E27FC236}">
                <a16:creationId xmlns:a16="http://schemas.microsoft.com/office/drawing/2014/main" id="{B94BD526-6AE9-CAF0-0790-42EB89964B71}"/>
              </a:ext>
            </a:extLst>
          </p:cNvPr>
          <p:cNvSpPr>
            <a:spLocks noGrp="1"/>
          </p:cNvSpPr>
          <p:nvPr>
            <p:ph idx="1"/>
          </p:nvPr>
        </p:nvSpPr>
        <p:spPr/>
        <p:txBody>
          <a:bodyPr/>
          <a:lstStyle/>
          <a:p>
            <a:r>
              <a:rPr lang="it-IT" dirty="0"/>
              <a:t>L'immagine Docker si comporta esattamente come una Classe (es. la classe Car in Java): definisce le proprietà, i metodi, le variabili e la struttura logica, ma non occupa spazio nella memoria RAM dinamica. </a:t>
            </a:r>
          </a:p>
          <a:p>
            <a:r>
              <a:rPr lang="it-IT" dirty="0"/>
              <a:t>Il container corrisponde all'Oggetto istanziato concretamente (es. </a:t>
            </a:r>
            <a:r>
              <a:rPr lang="it-IT" dirty="0" err="1"/>
              <a:t>myCar</a:t>
            </a:r>
            <a:r>
              <a:rPr lang="it-IT" dirty="0"/>
              <a:t> = new Car()). </a:t>
            </a:r>
          </a:p>
          <a:p>
            <a:r>
              <a:rPr lang="it-IT" dirty="0"/>
              <a:t>Utilizzando il comando di avvio </a:t>
            </a:r>
            <a:r>
              <a:rPr lang="it-IT" b="1" dirty="0" err="1"/>
              <a:t>docker</a:t>
            </a:r>
            <a:r>
              <a:rPr lang="it-IT" b="1" dirty="0"/>
              <a:t> </a:t>
            </a:r>
            <a:r>
              <a:rPr lang="it-IT" b="1" dirty="0" err="1"/>
              <a:t>run</a:t>
            </a:r>
            <a:r>
              <a:rPr lang="it-IT" dirty="0"/>
              <a:t>, il motore (Docker </a:t>
            </a:r>
            <a:r>
              <a:rPr lang="it-IT" dirty="0" err="1"/>
              <a:t>Daemon</a:t>
            </a:r>
            <a:r>
              <a:rPr lang="it-IT" dirty="0"/>
              <a:t>) alloca le </a:t>
            </a:r>
            <a:r>
              <a:rPr lang="it-IT" dirty="0">
                <a:solidFill>
                  <a:srgbClr val="171FE2"/>
                </a:solidFill>
              </a:rPr>
              <a:t>risorse in memoria </a:t>
            </a:r>
            <a:r>
              <a:rPr lang="it-IT" dirty="0"/>
              <a:t>(Docker storage) e genera un oggetto </a:t>
            </a:r>
            <a:r>
              <a:rPr lang="it-IT" dirty="0" err="1"/>
              <a:t>runtime</a:t>
            </a:r>
            <a:r>
              <a:rPr lang="it-IT" dirty="0"/>
              <a:t> indipendente. </a:t>
            </a:r>
          </a:p>
          <a:p>
            <a:r>
              <a:rPr lang="it-IT" dirty="0"/>
              <a:t>Esattamente come da una singola classe si possono istanziare migliaia di oggetti separati, da una singola immagine Docker si possono lanciare contemporaneamente decine di container autonomi.</a:t>
            </a:r>
          </a:p>
        </p:txBody>
      </p:sp>
      <p:sp>
        <p:nvSpPr>
          <p:cNvPr id="4" name="Segnaposto numero diapositiva 3">
            <a:extLst>
              <a:ext uri="{FF2B5EF4-FFF2-40B4-BE49-F238E27FC236}">
                <a16:creationId xmlns:a16="http://schemas.microsoft.com/office/drawing/2014/main" id="{25EB2548-E506-78C8-85BD-9AAE74816C27}"/>
              </a:ext>
            </a:extLst>
          </p:cNvPr>
          <p:cNvSpPr>
            <a:spLocks noGrp="1"/>
          </p:cNvSpPr>
          <p:nvPr>
            <p:ph type="sldNum" sz="quarter" idx="12"/>
          </p:nvPr>
        </p:nvSpPr>
        <p:spPr/>
        <p:txBody>
          <a:bodyPr/>
          <a:lstStyle/>
          <a:p>
            <a:r>
              <a:rPr lang="it-IT" dirty="0"/>
              <a:t>9</a:t>
            </a:r>
          </a:p>
        </p:txBody>
      </p:sp>
    </p:spTree>
    <p:extLst>
      <p:ext uri="{BB962C8B-B14F-4D97-AF65-F5344CB8AC3E}">
        <p14:creationId xmlns:p14="http://schemas.microsoft.com/office/powerpoint/2010/main" val="498539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67E6-059C-08E9-5E15-FBF6BBEAA8A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4E73C40-B057-CA45-5446-D47C56331B4C}"/>
              </a:ext>
            </a:extLst>
          </p:cNvPr>
          <p:cNvSpPr>
            <a:spLocks noGrp="1"/>
          </p:cNvSpPr>
          <p:nvPr>
            <p:ph type="title"/>
          </p:nvPr>
        </p:nvSpPr>
        <p:spPr/>
        <p:txBody>
          <a:bodyPr/>
          <a:lstStyle/>
          <a:p>
            <a:r>
              <a:rPr lang="it-IT" dirty="0"/>
              <a:t>Slide 10: Decomposizione Sequenziale di </a:t>
            </a:r>
            <a:r>
              <a:rPr lang="it-IT" dirty="0" err="1"/>
              <a:t>docker</a:t>
            </a:r>
            <a:r>
              <a:rPr lang="it-IT" dirty="0"/>
              <a:t> </a:t>
            </a:r>
            <a:r>
              <a:rPr lang="it-IT" dirty="0" err="1"/>
              <a:t>run</a:t>
            </a:r>
            <a:endParaRPr lang="it-IT" dirty="0"/>
          </a:p>
        </p:txBody>
      </p:sp>
      <p:sp>
        <p:nvSpPr>
          <p:cNvPr id="3" name="Segnaposto contenuto 2">
            <a:extLst>
              <a:ext uri="{FF2B5EF4-FFF2-40B4-BE49-F238E27FC236}">
                <a16:creationId xmlns:a16="http://schemas.microsoft.com/office/drawing/2014/main" id="{5A66A20F-EEA5-FFEC-D151-F68C6CB4320C}"/>
              </a:ext>
            </a:extLst>
          </p:cNvPr>
          <p:cNvSpPr>
            <a:spLocks noGrp="1"/>
          </p:cNvSpPr>
          <p:nvPr>
            <p:ph idx="1"/>
          </p:nvPr>
        </p:nvSpPr>
        <p:spPr/>
        <p:txBody>
          <a:bodyPr/>
          <a:lstStyle/>
          <a:p>
            <a:r>
              <a:rPr lang="it-IT" dirty="0"/>
              <a:t>Il comando </a:t>
            </a:r>
            <a:r>
              <a:rPr lang="it-IT" b="1" dirty="0" err="1">
                <a:latin typeface="Consolas" panose="020B0609020204030204" pitchFamily="49" charset="0"/>
              </a:rPr>
              <a:t>docker</a:t>
            </a:r>
            <a:r>
              <a:rPr lang="it-IT" b="1" dirty="0">
                <a:latin typeface="Consolas" panose="020B0609020204030204" pitchFamily="49" charset="0"/>
              </a:rPr>
              <a:t> </a:t>
            </a:r>
            <a:r>
              <a:rPr lang="it-IT" b="1" dirty="0" err="1">
                <a:latin typeface="Consolas" panose="020B0609020204030204" pitchFamily="49" charset="0"/>
              </a:rPr>
              <a:t>run</a:t>
            </a:r>
            <a:r>
              <a:rPr lang="it-IT" b="1" dirty="0">
                <a:latin typeface="Consolas" panose="020B0609020204030204" pitchFamily="49" charset="0"/>
              </a:rPr>
              <a:t> </a:t>
            </a:r>
            <a:r>
              <a:rPr lang="it-IT" b="1" dirty="0" err="1">
                <a:latin typeface="Consolas" panose="020B0609020204030204" pitchFamily="49" charset="0"/>
              </a:rPr>
              <a:t>nginx</a:t>
            </a:r>
            <a:r>
              <a:rPr lang="it-IT" b="1" dirty="0">
                <a:latin typeface="Consolas" panose="020B0609020204030204" pitchFamily="49" charset="0"/>
              </a:rPr>
              <a:t> </a:t>
            </a:r>
            <a:r>
              <a:rPr lang="it-IT" dirty="0"/>
              <a:t>è il comando più utilizzato in Docker, ma sotto la sua apparenza semplice nasconde un flusso di lavoro sequenziale che unisce tre comandi atomici distinti. </a:t>
            </a:r>
          </a:p>
          <a:p>
            <a:r>
              <a:rPr lang="it-IT" dirty="0"/>
              <a:t>Quando lo digitiamo, il </a:t>
            </a:r>
            <a:r>
              <a:rPr lang="it-IT" dirty="0" err="1"/>
              <a:t>Daemon</a:t>
            </a:r>
            <a:r>
              <a:rPr lang="it-IT" dirty="0"/>
              <a:t> esegue la seguente sequenza: </a:t>
            </a:r>
          </a:p>
          <a:p>
            <a:r>
              <a:rPr lang="it-IT" dirty="0"/>
              <a:t>per prima cosa interroga i cataloghi dello storage locale per verificare se l'immagine richiesta sia presente; se l'immagine non c'è, invoca internamente un comando di </a:t>
            </a:r>
            <a:r>
              <a:rPr lang="it-IT" dirty="0" err="1"/>
              <a:t>docker</a:t>
            </a:r>
            <a:r>
              <a:rPr lang="it-IT" dirty="0"/>
              <a:t> pull per scaricarla dal cloud (Docker HUB).</a:t>
            </a:r>
          </a:p>
          <a:p>
            <a:r>
              <a:rPr lang="it-IT" dirty="0"/>
              <a:t>Successivamente, esegue un </a:t>
            </a:r>
            <a:r>
              <a:rPr lang="it-IT" dirty="0" err="1"/>
              <a:t>docker</a:t>
            </a:r>
            <a:r>
              <a:rPr lang="it-IT" dirty="0"/>
              <a:t> create: alloca lo spazio su disco, imposta le configurazioni e prepara il perimetro isolato, generando un container in stato "</a:t>
            </a:r>
            <a:r>
              <a:rPr lang="it-IT" dirty="0" err="1"/>
              <a:t>Created</a:t>
            </a:r>
            <a:r>
              <a:rPr lang="it-IT" dirty="0"/>
              <a:t>" (spento). </a:t>
            </a:r>
          </a:p>
          <a:p>
            <a:r>
              <a:rPr lang="it-IT" dirty="0"/>
              <a:t>Infine, invoca un </a:t>
            </a:r>
            <a:r>
              <a:rPr lang="it-IT" dirty="0" err="1"/>
              <a:t>docker</a:t>
            </a:r>
            <a:r>
              <a:rPr lang="it-IT" dirty="0"/>
              <a:t> start, il quale accende i motori del container, aggancia i canali di input/output e avvia il processo principale configurato nel metadato dell'immagine.</a:t>
            </a:r>
          </a:p>
          <a:p>
            <a:r>
              <a:rPr lang="it-IT" dirty="0"/>
              <a:t>"</a:t>
            </a:r>
            <a:r>
              <a:rPr lang="it-IT" dirty="0" err="1"/>
              <a:t>docker</a:t>
            </a:r>
            <a:r>
              <a:rPr lang="it-IT" dirty="0"/>
              <a:t> </a:t>
            </a:r>
            <a:r>
              <a:rPr lang="it-IT" dirty="0" err="1"/>
              <a:t>run</a:t>
            </a:r>
            <a:r>
              <a:rPr lang="it-IT" dirty="0"/>
              <a:t>" è un comando "macro". Conoscere la triade (Pull -&gt; Create -&gt; Start) è fondamentale per capire lo stato dei container e diagnosticare i problemi quando un container fallisce l'avvio.</a:t>
            </a:r>
          </a:p>
        </p:txBody>
      </p:sp>
      <p:sp>
        <p:nvSpPr>
          <p:cNvPr id="4" name="Segnaposto numero diapositiva 3">
            <a:extLst>
              <a:ext uri="{FF2B5EF4-FFF2-40B4-BE49-F238E27FC236}">
                <a16:creationId xmlns:a16="http://schemas.microsoft.com/office/drawing/2014/main" id="{50798F79-1E72-1381-A562-773D6CCC86BA}"/>
              </a:ext>
            </a:extLst>
          </p:cNvPr>
          <p:cNvSpPr>
            <a:spLocks noGrp="1"/>
          </p:cNvSpPr>
          <p:nvPr>
            <p:ph type="sldNum" sz="quarter" idx="12"/>
          </p:nvPr>
        </p:nvSpPr>
        <p:spPr/>
        <p:txBody>
          <a:bodyPr/>
          <a:lstStyle/>
          <a:p>
            <a:r>
              <a:rPr lang="it-IT" dirty="0"/>
              <a:t>10</a:t>
            </a:r>
          </a:p>
        </p:txBody>
      </p:sp>
    </p:spTree>
    <p:extLst>
      <p:ext uri="{BB962C8B-B14F-4D97-AF65-F5344CB8AC3E}">
        <p14:creationId xmlns:p14="http://schemas.microsoft.com/office/powerpoint/2010/main" val="654461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6806D-A5C3-756C-8239-E7EA22368FB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22C1D42-0F47-5BD6-65E1-519E171849A1}"/>
              </a:ext>
            </a:extLst>
          </p:cNvPr>
          <p:cNvSpPr>
            <a:spLocks noGrp="1"/>
          </p:cNvSpPr>
          <p:nvPr>
            <p:ph type="title"/>
          </p:nvPr>
        </p:nvSpPr>
        <p:spPr/>
        <p:txBody>
          <a:bodyPr/>
          <a:lstStyle/>
          <a:p>
            <a:r>
              <a:rPr lang="it-IT" dirty="0"/>
              <a:t>Slide 11: Il Registro Centrale Cloud: Docker Hub</a:t>
            </a:r>
          </a:p>
        </p:txBody>
      </p:sp>
      <p:sp>
        <p:nvSpPr>
          <p:cNvPr id="3" name="Segnaposto contenuto 2">
            <a:extLst>
              <a:ext uri="{FF2B5EF4-FFF2-40B4-BE49-F238E27FC236}">
                <a16:creationId xmlns:a16="http://schemas.microsoft.com/office/drawing/2014/main" id="{A18A2519-8705-7BAE-1E9B-A8080388B8F6}"/>
              </a:ext>
            </a:extLst>
          </p:cNvPr>
          <p:cNvSpPr>
            <a:spLocks noGrp="1"/>
          </p:cNvSpPr>
          <p:nvPr>
            <p:ph idx="1"/>
          </p:nvPr>
        </p:nvSpPr>
        <p:spPr/>
        <p:txBody>
          <a:bodyPr/>
          <a:lstStyle/>
          <a:p>
            <a:r>
              <a:rPr lang="it-IT" dirty="0"/>
              <a:t>I container non potrebbero essere distribuiti globalmente senza un'infrastruttura di catalogazione dei file.</a:t>
            </a:r>
          </a:p>
          <a:p>
            <a:r>
              <a:rPr lang="it-IT" dirty="0"/>
              <a:t>Questo ruolo è ricoperto da Docker Hub, il registro pubblico, ufficiale e centralizzato basato sul Cloud in cui vengono memorizzate, indicizzate e distribuite le immagini dei container. </a:t>
            </a:r>
          </a:p>
          <a:p>
            <a:r>
              <a:rPr lang="it-IT" dirty="0"/>
              <a:t>Docker Hub funziona in modo analogo a GitHub per i depositi di codice o a Google Play Store per le applicazioni mobile. </a:t>
            </a:r>
          </a:p>
          <a:p>
            <a:r>
              <a:rPr lang="it-IT" dirty="0"/>
              <a:t>Contiene decine di migliaia di immagini pronte all'uso, suddivise tra immagini ufficiali (curate direttamente dai team di sviluppo di tecnologie leader come Oracle per Java, l'organizzazione Apache, o il team di Microsoft per SQL Server) e immagini create dalla community. </a:t>
            </a:r>
          </a:p>
          <a:p>
            <a:r>
              <a:rPr lang="it-IT" dirty="0">
                <a:solidFill>
                  <a:srgbClr val="171FE2"/>
                </a:solidFill>
              </a:rPr>
              <a:t>Quando il Docker </a:t>
            </a:r>
            <a:r>
              <a:rPr lang="it-IT" dirty="0" err="1">
                <a:solidFill>
                  <a:srgbClr val="171FE2"/>
                </a:solidFill>
              </a:rPr>
              <a:t>Daemon</a:t>
            </a:r>
            <a:r>
              <a:rPr lang="it-IT" dirty="0">
                <a:solidFill>
                  <a:srgbClr val="171FE2"/>
                </a:solidFill>
              </a:rPr>
              <a:t> locale necessita di un'immagine non presente sul PC, si rivolge di default a questo immenso archivio web.</a:t>
            </a:r>
          </a:p>
        </p:txBody>
      </p:sp>
      <p:sp>
        <p:nvSpPr>
          <p:cNvPr id="4" name="Segnaposto numero diapositiva 3">
            <a:extLst>
              <a:ext uri="{FF2B5EF4-FFF2-40B4-BE49-F238E27FC236}">
                <a16:creationId xmlns:a16="http://schemas.microsoft.com/office/drawing/2014/main" id="{BD3EA8DF-2E56-BC02-42F5-4BEAE524253B}"/>
              </a:ext>
            </a:extLst>
          </p:cNvPr>
          <p:cNvSpPr>
            <a:spLocks noGrp="1"/>
          </p:cNvSpPr>
          <p:nvPr>
            <p:ph type="sldNum" sz="quarter" idx="12"/>
          </p:nvPr>
        </p:nvSpPr>
        <p:spPr/>
        <p:txBody>
          <a:bodyPr/>
          <a:lstStyle/>
          <a:p>
            <a:r>
              <a:rPr lang="it-IT" dirty="0"/>
              <a:t>11</a:t>
            </a:r>
          </a:p>
        </p:txBody>
      </p:sp>
    </p:spTree>
    <p:extLst>
      <p:ext uri="{BB962C8B-B14F-4D97-AF65-F5344CB8AC3E}">
        <p14:creationId xmlns:p14="http://schemas.microsoft.com/office/powerpoint/2010/main" val="10548887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ED731-98E1-C2FB-1CB0-E5600E25DED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C18E07E-447F-AE88-4AE5-09E5757DD8AD}"/>
              </a:ext>
            </a:extLst>
          </p:cNvPr>
          <p:cNvSpPr>
            <a:spLocks noGrp="1"/>
          </p:cNvSpPr>
          <p:nvPr>
            <p:ph type="title"/>
          </p:nvPr>
        </p:nvSpPr>
        <p:spPr/>
        <p:txBody>
          <a:bodyPr/>
          <a:lstStyle/>
          <a:p>
            <a:r>
              <a:rPr lang="it-IT" dirty="0"/>
              <a:t>Slide 12: Logica Strategica del Comando </a:t>
            </a:r>
            <a:r>
              <a:rPr lang="it-IT" dirty="0" err="1"/>
              <a:t>docker</a:t>
            </a:r>
            <a:r>
              <a:rPr lang="it-IT" dirty="0"/>
              <a:t> pull</a:t>
            </a:r>
          </a:p>
        </p:txBody>
      </p:sp>
      <p:sp>
        <p:nvSpPr>
          <p:cNvPr id="3" name="Segnaposto contenuto 2">
            <a:extLst>
              <a:ext uri="{FF2B5EF4-FFF2-40B4-BE49-F238E27FC236}">
                <a16:creationId xmlns:a16="http://schemas.microsoft.com/office/drawing/2014/main" id="{000BB042-4D9A-0D98-AB91-2FE557AFA515}"/>
              </a:ext>
            </a:extLst>
          </p:cNvPr>
          <p:cNvSpPr>
            <a:spLocks noGrp="1"/>
          </p:cNvSpPr>
          <p:nvPr>
            <p:ph idx="1"/>
          </p:nvPr>
        </p:nvSpPr>
        <p:spPr/>
        <p:txBody>
          <a:bodyPr/>
          <a:lstStyle/>
          <a:p>
            <a:r>
              <a:rPr lang="it-IT" dirty="0"/>
              <a:t>Sebbene il comando </a:t>
            </a:r>
            <a:r>
              <a:rPr lang="it-IT" dirty="0" err="1"/>
              <a:t>docker</a:t>
            </a:r>
            <a:r>
              <a:rPr lang="it-IT" dirty="0"/>
              <a:t> </a:t>
            </a:r>
            <a:r>
              <a:rPr lang="it-IT" dirty="0" err="1"/>
              <a:t>run</a:t>
            </a:r>
            <a:r>
              <a:rPr lang="it-IT" dirty="0"/>
              <a:t> sia in grado di scaricare autonomamente le immagini mancanti da Docker Hub, l'utilizzo esplicito e preventivo del comando </a:t>
            </a:r>
            <a:r>
              <a:rPr lang="it-IT" b="1" dirty="0" err="1">
                <a:latin typeface="Consolas" panose="020B0609020204030204" pitchFamily="49" charset="0"/>
              </a:rPr>
              <a:t>docker</a:t>
            </a:r>
            <a:r>
              <a:rPr lang="it-IT" b="1" dirty="0">
                <a:latin typeface="Consolas" panose="020B0609020204030204" pitchFamily="49" charset="0"/>
              </a:rPr>
              <a:t> pull </a:t>
            </a:r>
            <a:r>
              <a:rPr lang="it-IT" b="1" dirty="0" err="1">
                <a:latin typeface="Consolas" panose="020B0609020204030204" pitchFamily="49" charset="0"/>
              </a:rPr>
              <a:t>nome_immagine</a:t>
            </a:r>
            <a:r>
              <a:rPr lang="it-IT" b="1" dirty="0">
                <a:latin typeface="Consolas" panose="020B0609020204030204" pitchFamily="49" charset="0"/>
              </a:rPr>
              <a:t> </a:t>
            </a:r>
            <a:r>
              <a:rPr lang="it-IT" dirty="0"/>
              <a:t>costituisce una best practice fondamentale negli scenari sistemistici professionali. </a:t>
            </a:r>
          </a:p>
          <a:p>
            <a:r>
              <a:rPr lang="it-IT" dirty="0"/>
              <a:t>Il comando pull ha il compito esclusivo di contattare il registro remoto (Docker HUB), verificare la disponibilità dell'immagine e scaricarla nello storage locale </a:t>
            </a:r>
            <a:r>
              <a:rPr lang="it-IT" dirty="0" err="1"/>
              <a:t>dell'host</a:t>
            </a:r>
            <a:r>
              <a:rPr lang="it-IT" dirty="0"/>
              <a:t>, senza avviarla in memoria. </a:t>
            </a:r>
          </a:p>
          <a:p>
            <a:r>
              <a:rPr lang="it-IT" dirty="0"/>
              <a:t>Questa operazione si rivela strategica in tre contesti: </a:t>
            </a:r>
          </a:p>
          <a:p>
            <a:pPr marL="285750" indent="-285750">
              <a:buFont typeface="Arial" panose="020B0604020202020204" pitchFamily="34" charset="0"/>
              <a:buChar char="•"/>
            </a:pPr>
            <a:r>
              <a:rPr lang="it-IT" dirty="0"/>
              <a:t>durante le finestre di manutenzione notturna dei server (per scaricare i file pesanti in anticipo);</a:t>
            </a:r>
          </a:p>
          <a:p>
            <a:pPr marL="285750" indent="-285750">
              <a:buFont typeface="Arial" panose="020B0604020202020204" pitchFamily="34" charset="0"/>
              <a:buChar char="•"/>
            </a:pPr>
            <a:r>
              <a:rPr lang="it-IT" dirty="0"/>
              <a:t>per aggiornare un'immagine locale all'ultima versione stabile pubblicata nel cloud (sostituendo la versione vecchia con la nuova); </a:t>
            </a:r>
          </a:p>
          <a:p>
            <a:pPr marL="285750" indent="-285750">
              <a:buFont typeface="Arial" panose="020B0604020202020204" pitchFamily="34" charset="0"/>
              <a:buChar char="•"/>
            </a:pPr>
            <a:r>
              <a:rPr lang="it-IT" dirty="0"/>
              <a:t>all'interno delle pipeline di </a:t>
            </a:r>
            <a:r>
              <a:rPr lang="it-IT" dirty="0" err="1"/>
              <a:t>Continuous</a:t>
            </a:r>
            <a:r>
              <a:rPr lang="it-IT" dirty="0"/>
              <a:t> Integration (CI/CD) per testare la disponibilità dei pacchetti.</a:t>
            </a:r>
          </a:p>
          <a:p>
            <a:r>
              <a:rPr lang="it-IT" dirty="0"/>
              <a:t>Il pull esplicito evita ritardi a </a:t>
            </a:r>
            <a:r>
              <a:rPr lang="it-IT" dirty="0" err="1"/>
              <a:t>runtime</a:t>
            </a:r>
            <a:r>
              <a:rPr lang="it-IT" dirty="0"/>
              <a:t>. </a:t>
            </a:r>
            <a:r>
              <a:rPr lang="it-IT" dirty="0">
                <a:solidFill>
                  <a:srgbClr val="171FE2"/>
                </a:solidFill>
              </a:rPr>
              <a:t>Se un'immagine pesa 1GB, fare "</a:t>
            </a:r>
            <a:r>
              <a:rPr lang="it-IT" dirty="0" err="1">
                <a:solidFill>
                  <a:srgbClr val="171FE2"/>
                </a:solidFill>
              </a:rPr>
              <a:t>docker</a:t>
            </a:r>
            <a:r>
              <a:rPr lang="it-IT" dirty="0">
                <a:solidFill>
                  <a:srgbClr val="171FE2"/>
                </a:solidFill>
              </a:rPr>
              <a:t> </a:t>
            </a:r>
            <a:r>
              <a:rPr lang="it-IT" dirty="0" err="1">
                <a:solidFill>
                  <a:srgbClr val="171FE2"/>
                </a:solidFill>
              </a:rPr>
              <a:t>run</a:t>
            </a:r>
            <a:r>
              <a:rPr lang="it-IT" dirty="0">
                <a:solidFill>
                  <a:srgbClr val="171FE2"/>
                </a:solidFill>
              </a:rPr>
              <a:t>" in produzione senza aver fatto prima il "pull" esporrebbe il servizio a minuti di inattività forzata a causa del download.</a:t>
            </a:r>
          </a:p>
        </p:txBody>
      </p:sp>
      <p:sp>
        <p:nvSpPr>
          <p:cNvPr id="4" name="Segnaposto numero diapositiva 3">
            <a:extLst>
              <a:ext uri="{FF2B5EF4-FFF2-40B4-BE49-F238E27FC236}">
                <a16:creationId xmlns:a16="http://schemas.microsoft.com/office/drawing/2014/main" id="{CD74839B-4AA9-E13A-A0B1-4196EE166E0B}"/>
              </a:ext>
            </a:extLst>
          </p:cNvPr>
          <p:cNvSpPr>
            <a:spLocks noGrp="1"/>
          </p:cNvSpPr>
          <p:nvPr>
            <p:ph type="sldNum" sz="quarter" idx="12"/>
          </p:nvPr>
        </p:nvSpPr>
        <p:spPr/>
        <p:txBody>
          <a:bodyPr/>
          <a:lstStyle/>
          <a:p>
            <a:r>
              <a:rPr lang="it-IT" dirty="0"/>
              <a:t>12</a:t>
            </a:r>
          </a:p>
        </p:txBody>
      </p:sp>
    </p:spTree>
    <p:extLst>
      <p:ext uri="{BB962C8B-B14F-4D97-AF65-F5344CB8AC3E}">
        <p14:creationId xmlns:p14="http://schemas.microsoft.com/office/powerpoint/2010/main" val="8942135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DED-DF52-F901-1428-AB4D4E0374B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64482B-54E6-BAFA-24ED-5A1C464A698F}"/>
              </a:ext>
            </a:extLst>
          </p:cNvPr>
          <p:cNvSpPr>
            <a:spLocks noGrp="1"/>
          </p:cNvSpPr>
          <p:nvPr>
            <p:ph type="title"/>
          </p:nvPr>
        </p:nvSpPr>
        <p:spPr/>
        <p:txBody>
          <a:bodyPr/>
          <a:lstStyle/>
          <a:p>
            <a:r>
              <a:rPr lang="it-IT" dirty="0"/>
              <a:t>Slide 13: L'Ingegneria dell'Isolamento: I </a:t>
            </a:r>
            <a:r>
              <a:rPr lang="it-IT" dirty="0" err="1"/>
              <a:t>Namespaces</a:t>
            </a:r>
            <a:r>
              <a:rPr lang="it-IT" dirty="0"/>
              <a:t> del Kernel</a:t>
            </a:r>
          </a:p>
        </p:txBody>
      </p:sp>
      <p:sp>
        <p:nvSpPr>
          <p:cNvPr id="3" name="Segnaposto contenuto 2">
            <a:extLst>
              <a:ext uri="{FF2B5EF4-FFF2-40B4-BE49-F238E27FC236}">
                <a16:creationId xmlns:a16="http://schemas.microsoft.com/office/drawing/2014/main" id="{4112C736-85FE-2812-EF00-A863092571D2}"/>
              </a:ext>
            </a:extLst>
          </p:cNvPr>
          <p:cNvSpPr>
            <a:spLocks noGrp="1"/>
          </p:cNvSpPr>
          <p:nvPr>
            <p:ph idx="1"/>
          </p:nvPr>
        </p:nvSpPr>
        <p:spPr/>
        <p:txBody>
          <a:bodyPr/>
          <a:lstStyle/>
          <a:p>
            <a:r>
              <a:rPr lang="it-IT" dirty="0"/>
              <a:t>L'inganno visivo di Docker, che fa apparire un container come se fosse una macchina virtuale indipendente, è reso possibile da una funzionalità nativa del kernel Linux introdotta a partire dai primi anni 2000: i </a:t>
            </a:r>
            <a:r>
              <a:rPr lang="it-IT" dirty="0" err="1"/>
              <a:t>Namespaces</a:t>
            </a:r>
            <a:r>
              <a:rPr lang="it-IT" dirty="0"/>
              <a:t>. </a:t>
            </a:r>
          </a:p>
          <a:p>
            <a:r>
              <a:rPr lang="it-IT" dirty="0"/>
              <a:t>Un </a:t>
            </a:r>
            <a:r>
              <a:rPr lang="it-IT" dirty="0" err="1">
                <a:solidFill>
                  <a:srgbClr val="171FE2"/>
                </a:solidFill>
              </a:rPr>
              <a:t>Namespace</a:t>
            </a:r>
            <a:r>
              <a:rPr lang="it-IT" dirty="0"/>
              <a:t> agisce come una barriera di visibilità logica a livello di kernel. </a:t>
            </a:r>
          </a:p>
          <a:p>
            <a:r>
              <a:rPr lang="it-IT" dirty="0"/>
              <a:t>Quando Docker avvia un container, gli assegna un set di </a:t>
            </a:r>
            <a:r>
              <a:rPr lang="it-IT" dirty="0" err="1"/>
              <a:t>Namespaces</a:t>
            </a:r>
            <a:r>
              <a:rPr lang="it-IT" dirty="0"/>
              <a:t> dedicati:</a:t>
            </a:r>
          </a:p>
          <a:p>
            <a:pPr marL="342900" indent="-342900">
              <a:buFont typeface="+mj-lt"/>
              <a:buAutoNum type="arabicPeriod"/>
            </a:pPr>
            <a:r>
              <a:rPr lang="it-IT" dirty="0"/>
              <a:t>Il </a:t>
            </a:r>
            <a:r>
              <a:rPr lang="it-IT" b="1" dirty="0"/>
              <a:t>PID </a:t>
            </a:r>
            <a:r>
              <a:rPr lang="it-IT" b="1" dirty="0" err="1"/>
              <a:t>Namespace</a:t>
            </a:r>
            <a:r>
              <a:rPr lang="it-IT" b="1" dirty="0"/>
              <a:t> </a:t>
            </a:r>
            <a:r>
              <a:rPr lang="it-IT" dirty="0">
                <a:solidFill>
                  <a:srgbClr val="171FE2"/>
                </a:solidFill>
              </a:rPr>
              <a:t>isola l'albero dei processi</a:t>
            </a:r>
            <a:r>
              <a:rPr lang="it-IT" dirty="0"/>
              <a:t>: il programma dentro il container vede se stesso come l'ID di processo 1 (il sovrano del sistema), ignaro dei processi </a:t>
            </a:r>
            <a:r>
              <a:rPr lang="it-IT" dirty="0" err="1"/>
              <a:t>dell'host</a:t>
            </a:r>
            <a:r>
              <a:rPr lang="it-IT" dirty="0"/>
              <a:t>. </a:t>
            </a:r>
          </a:p>
          <a:p>
            <a:pPr marL="342900" indent="-342900">
              <a:buFont typeface="+mj-lt"/>
              <a:buAutoNum type="arabicPeriod"/>
            </a:pPr>
            <a:r>
              <a:rPr lang="it-IT" dirty="0"/>
              <a:t>Il </a:t>
            </a:r>
            <a:r>
              <a:rPr lang="it-IT" b="1" dirty="0"/>
              <a:t>NET </a:t>
            </a:r>
            <a:r>
              <a:rPr lang="it-IT" b="1" dirty="0" err="1"/>
              <a:t>Namespace</a:t>
            </a:r>
            <a:r>
              <a:rPr lang="it-IT" b="1" dirty="0"/>
              <a:t> </a:t>
            </a:r>
            <a:r>
              <a:rPr lang="it-IT" dirty="0"/>
              <a:t>fornisce al container interfacce di rete, tabelle di </a:t>
            </a:r>
            <a:r>
              <a:rPr lang="it-IT" dirty="0" err="1"/>
              <a:t>routing</a:t>
            </a:r>
            <a:r>
              <a:rPr lang="it-IT" dirty="0"/>
              <a:t> e porte IP private e indipendenti. </a:t>
            </a:r>
          </a:p>
          <a:p>
            <a:pPr marL="342900" indent="-342900">
              <a:buFont typeface="+mj-lt"/>
              <a:buAutoNum type="arabicPeriod"/>
            </a:pPr>
            <a:r>
              <a:rPr lang="it-IT" dirty="0"/>
              <a:t>Il </a:t>
            </a:r>
            <a:r>
              <a:rPr lang="it-IT" b="1" dirty="0"/>
              <a:t>MNT </a:t>
            </a:r>
            <a:r>
              <a:rPr lang="it-IT" b="1" dirty="0" err="1"/>
              <a:t>Namespace</a:t>
            </a:r>
            <a:r>
              <a:rPr lang="it-IT" b="1" dirty="0"/>
              <a:t> </a:t>
            </a:r>
            <a:r>
              <a:rPr lang="it-IT" dirty="0"/>
              <a:t>isola i punti di montaggio del disco, impedendo al container di scorgere i file al di fuori della propria cartella radice virtuale.</a:t>
            </a:r>
          </a:p>
          <a:p>
            <a:r>
              <a:rPr lang="it-IT" dirty="0"/>
              <a:t>I </a:t>
            </a:r>
            <a:r>
              <a:rPr lang="it-IT" dirty="0" err="1"/>
              <a:t>Namespaces</a:t>
            </a:r>
            <a:r>
              <a:rPr lang="it-IT" dirty="0"/>
              <a:t> rispondono alla domanda di sicurezza: "Quali risorse del sistema ho il diritto di vedere?". Essi creano l'illusione ottica di un sistema operativo dedicato.</a:t>
            </a:r>
            <a:endParaRPr lang="it-IT" dirty="0">
              <a:solidFill>
                <a:srgbClr val="171FE2"/>
              </a:solidFill>
            </a:endParaRPr>
          </a:p>
        </p:txBody>
      </p:sp>
      <p:sp>
        <p:nvSpPr>
          <p:cNvPr id="4" name="Segnaposto numero diapositiva 3">
            <a:extLst>
              <a:ext uri="{FF2B5EF4-FFF2-40B4-BE49-F238E27FC236}">
                <a16:creationId xmlns:a16="http://schemas.microsoft.com/office/drawing/2014/main" id="{27D0056F-7173-BD00-8134-79C760298510}"/>
              </a:ext>
            </a:extLst>
          </p:cNvPr>
          <p:cNvSpPr>
            <a:spLocks noGrp="1"/>
          </p:cNvSpPr>
          <p:nvPr>
            <p:ph type="sldNum" sz="quarter" idx="12"/>
          </p:nvPr>
        </p:nvSpPr>
        <p:spPr/>
        <p:txBody>
          <a:bodyPr/>
          <a:lstStyle/>
          <a:p>
            <a:r>
              <a:rPr lang="it-IT" dirty="0"/>
              <a:t>13</a:t>
            </a:r>
          </a:p>
        </p:txBody>
      </p:sp>
    </p:spTree>
    <p:extLst>
      <p:ext uri="{BB962C8B-B14F-4D97-AF65-F5344CB8AC3E}">
        <p14:creationId xmlns:p14="http://schemas.microsoft.com/office/powerpoint/2010/main" val="3227930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185A6-6019-4041-4FBA-64B00E1F38D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DE9258F-F031-9BD9-3DC0-8BEE39AB9DFE}"/>
              </a:ext>
            </a:extLst>
          </p:cNvPr>
          <p:cNvSpPr>
            <a:spLocks noGrp="1"/>
          </p:cNvSpPr>
          <p:nvPr>
            <p:ph type="title"/>
          </p:nvPr>
        </p:nvSpPr>
        <p:spPr/>
        <p:txBody>
          <a:bodyPr/>
          <a:lstStyle/>
          <a:p>
            <a:r>
              <a:rPr lang="it-IT" dirty="0"/>
              <a:t>Slide 14: La Regolazione delle Risorse Fisiche: I Control Groups</a:t>
            </a:r>
          </a:p>
        </p:txBody>
      </p:sp>
      <p:sp>
        <p:nvSpPr>
          <p:cNvPr id="3" name="Segnaposto contenuto 2">
            <a:extLst>
              <a:ext uri="{FF2B5EF4-FFF2-40B4-BE49-F238E27FC236}">
                <a16:creationId xmlns:a16="http://schemas.microsoft.com/office/drawing/2014/main" id="{5C923ACB-D7AE-3F38-F3C1-1EA3FACD745E}"/>
              </a:ext>
            </a:extLst>
          </p:cNvPr>
          <p:cNvSpPr>
            <a:spLocks noGrp="1"/>
          </p:cNvSpPr>
          <p:nvPr>
            <p:ph idx="1"/>
          </p:nvPr>
        </p:nvSpPr>
        <p:spPr/>
        <p:txBody>
          <a:bodyPr/>
          <a:lstStyle/>
          <a:p>
            <a:r>
              <a:rPr lang="it-IT" dirty="0"/>
              <a:t>Se i </a:t>
            </a:r>
            <a:r>
              <a:rPr lang="it-IT" dirty="0" err="1"/>
              <a:t>Namespaces</a:t>
            </a:r>
            <a:r>
              <a:rPr lang="it-IT" dirty="0"/>
              <a:t> garantiscono che un container non possa vedere o interferire con i dati altrui, essi non offrono alcuna protezione contro l'esaurimento delle risorse fisiche dell'hardware (CPU, RAM, disco). </a:t>
            </a:r>
          </a:p>
          <a:p>
            <a:r>
              <a:rPr lang="it-IT" dirty="0"/>
              <a:t>Un container difettoso o sotto attacco potrebbe avviare cicli infiniti, saturando il processore </a:t>
            </a:r>
            <a:r>
              <a:rPr lang="it-IT" dirty="0" err="1"/>
              <a:t>dell'host</a:t>
            </a:r>
            <a:r>
              <a:rPr lang="it-IT" dirty="0"/>
              <a:t> e mandando in crash l'intero server. </a:t>
            </a:r>
          </a:p>
          <a:p>
            <a:r>
              <a:rPr lang="it-IT" dirty="0"/>
              <a:t>Per prevenire questo scenario catastrofico, Docker implementa una seconda tecnologia nativa del kernel Linux denominata </a:t>
            </a:r>
            <a:r>
              <a:rPr lang="it-IT" b="1" dirty="0"/>
              <a:t>Control Groups </a:t>
            </a:r>
            <a:r>
              <a:rPr lang="it-IT" dirty="0"/>
              <a:t>(abbreviata in </a:t>
            </a:r>
            <a:r>
              <a:rPr lang="it-IT" dirty="0" err="1"/>
              <a:t>cgroups</a:t>
            </a:r>
            <a:r>
              <a:rPr lang="it-IT" dirty="0"/>
              <a:t>). </a:t>
            </a:r>
          </a:p>
          <a:p>
            <a:r>
              <a:rPr lang="it-IT" dirty="0"/>
              <a:t>I </a:t>
            </a:r>
            <a:r>
              <a:rPr lang="it-IT" dirty="0" err="1"/>
              <a:t>cgroups</a:t>
            </a:r>
            <a:r>
              <a:rPr lang="it-IT" dirty="0"/>
              <a:t> agiscono come una vera e propria dogana hardware. Permettono al Docker </a:t>
            </a:r>
            <a:r>
              <a:rPr lang="it-IT" dirty="0" err="1"/>
              <a:t>Daemon</a:t>
            </a:r>
            <a:r>
              <a:rPr lang="it-IT" dirty="0"/>
              <a:t> di stabilire barriere fisiche invalicabili per ogni singolo container. </a:t>
            </a:r>
          </a:p>
          <a:p>
            <a:r>
              <a:rPr lang="it-IT" dirty="0"/>
              <a:t>È possibile decretare, ad esempio, che </a:t>
            </a:r>
            <a:r>
              <a:rPr lang="it-IT" dirty="0">
                <a:solidFill>
                  <a:srgbClr val="171FE2"/>
                </a:solidFill>
              </a:rPr>
              <a:t>un container non possa mai consumare più di 512MB di RAM e il 20% della potenza di calcolo di un singolo core della CPU</a:t>
            </a:r>
            <a:r>
              <a:rPr lang="it-IT" dirty="0"/>
              <a:t>.</a:t>
            </a:r>
          </a:p>
          <a:p>
            <a:r>
              <a:rPr lang="it-IT" dirty="0"/>
              <a:t>I </a:t>
            </a:r>
            <a:r>
              <a:rPr lang="it-IT" dirty="0" err="1"/>
              <a:t>cgroups</a:t>
            </a:r>
            <a:r>
              <a:rPr lang="it-IT" dirty="0"/>
              <a:t> rispondono alla domanda: "Quante risorse fisiche dell'hardware ho il diritto di consumare?". </a:t>
            </a:r>
            <a:endParaRPr lang="it-IT" dirty="0">
              <a:solidFill>
                <a:srgbClr val="171FE2"/>
              </a:solidFill>
            </a:endParaRPr>
          </a:p>
        </p:txBody>
      </p:sp>
      <p:sp>
        <p:nvSpPr>
          <p:cNvPr id="4" name="Segnaposto numero diapositiva 3">
            <a:extLst>
              <a:ext uri="{FF2B5EF4-FFF2-40B4-BE49-F238E27FC236}">
                <a16:creationId xmlns:a16="http://schemas.microsoft.com/office/drawing/2014/main" id="{99E7C11F-5945-3AF2-634A-ADBEC00C8DE3}"/>
              </a:ext>
            </a:extLst>
          </p:cNvPr>
          <p:cNvSpPr>
            <a:spLocks noGrp="1"/>
          </p:cNvSpPr>
          <p:nvPr>
            <p:ph type="sldNum" sz="quarter" idx="12"/>
          </p:nvPr>
        </p:nvSpPr>
        <p:spPr/>
        <p:txBody>
          <a:bodyPr/>
          <a:lstStyle/>
          <a:p>
            <a:r>
              <a:rPr lang="it-IT" dirty="0"/>
              <a:t>14</a:t>
            </a:r>
          </a:p>
        </p:txBody>
      </p:sp>
    </p:spTree>
    <p:extLst>
      <p:ext uri="{BB962C8B-B14F-4D97-AF65-F5344CB8AC3E}">
        <p14:creationId xmlns:p14="http://schemas.microsoft.com/office/powerpoint/2010/main" val="1964433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4CE5B-9A02-AD49-0F40-27D64B987DA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686FADF-5229-CBA0-4AD7-ED2D4B73038C}"/>
              </a:ext>
            </a:extLst>
          </p:cNvPr>
          <p:cNvSpPr>
            <a:spLocks noGrp="1"/>
          </p:cNvSpPr>
          <p:nvPr>
            <p:ph type="title"/>
          </p:nvPr>
        </p:nvSpPr>
        <p:spPr/>
        <p:txBody>
          <a:bodyPr/>
          <a:lstStyle/>
          <a:p>
            <a:r>
              <a:rPr lang="it-IT" dirty="0"/>
              <a:t>Slide 15: Analisi Comparativa Radicale: Docker contro le Macchine Virtuali</a:t>
            </a:r>
          </a:p>
        </p:txBody>
      </p:sp>
      <p:sp>
        <p:nvSpPr>
          <p:cNvPr id="3" name="Segnaposto contenuto 2">
            <a:extLst>
              <a:ext uri="{FF2B5EF4-FFF2-40B4-BE49-F238E27FC236}">
                <a16:creationId xmlns:a16="http://schemas.microsoft.com/office/drawing/2014/main" id="{E25171F8-FBDD-1946-79AC-44771FBE8D3A}"/>
              </a:ext>
            </a:extLst>
          </p:cNvPr>
          <p:cNvSpPr>
            <a:spLocks noGrp="1"/>
          </p:cNvSpPr>
          <p:nvPr>
            <p:ph idx="1"/>
          </p:nvPr>
        </p:nvSpPr>
        <p:spPr/>
        <p:txBody>
          <a:bodyPr/>
          <a:lstStyle/>
          <a:p>
            <a:r>
              <a:rPr lang="it-IT" dirty="0"/>
              <a:t>Uno degli errori concettuali più gravi consiste nel definire Docker come "una macchina virtuale leggera".</a:t>
            </a:r>
          </a:p>
          <a:p>
            <a:r>
              <a:rPr lang="it-IT" dirty="0"/>
              <a:t>L'architettura di una Macchina Virtuale (VM) poggia su uno strato software pesante chiamato </a:t>
            </a:r>
            <a:r>
              <a:rPr lang="it-IT" dirty="0" err="1"/>
              <a:t>Hypervisor</a:t>
            </a:r>
            <a:r>
              <a:rPr lang="it-IT" dirty="0"/>
              <a:t> (come VMware </a:t>
            </a:r>
            <a:r>
              <a:rPr lang="it-IT" dirty="0" err="1"/>
              <a:t>ESXi</a:t>
            </a:r>
            <a:r>
              <a:rPr lang="it-IT" dirty="0"/>
              <a:t> o </a:t>
            </a:r>
            <a:r>
              <a:rPr lang="it-IT" dirty="0" err="1"/>
              <a:t>VirtualBox</a:t>
            </a:r>
            <a:r>
              <a:rPr lang="it-IT" dirty="0"/>
              <a:t>), il quale ha il compito di virtualizzare l'hardware fisico. </a:t>
            </a:r>
          </a:p>
          <a:p>
            <a:r>
              <a:rPr lang="it-IT" dirty="0"/>
              <a:t>Sopra l'hardware finto, ogni VM deve installare un Sistema Operativo Ospite (Guest OS) completo di kernel, driver e utility di sistema, occupando immediatamente gigabyte di spazio su disco e centinaia di megabyte di RAM statica solo per rimanere accesa. </a:t>
            </a:r>
          </a:p>
          <a:p>
            <a:r>
              <a:rPr lang="it-IT" dirty="0"/>
              <a:t>Docker elimina radicalmente l'</a:t>
            </a:r>
            <a:r>
              <a:rPr lang="it-IT" dirty="0" err="1"/>
              <a:t>Hypervisor</a:t>
            </a:r>
            <a:r>
              <a:rPr lang="it-IT" dirty="0"/>
              <a:t> e il Guest OS. </a:t>
            </a:r>
          </a:p>
          <a:p>
            <a:r>
              <a:rPr lang="it-IT" dirty="0"/>
              <a:t>Tutti i container condividono lo stesso kernel della macchina </a:t>
            </a:r>
            <a:r>
              <a:rPr lang="it-IT" dirty="0" err="1"/>
              <a:t>host</a:t>
            </a:r>
            <a:r>
              <a:rPr lang="it-IT" dirty="0"/>
              <a:t>. I processi girano nativamente </a:t>
            </a:r>
            <a:r>
              <a:rPr lang="it-IT" dirty="0" err="1"/>
              <a:t>sull'host</a:t>
            </a:r>
            <a:r>
              <a:rPr lang="it-IT" dirty="0"/>
              <a:t>, azzerando i consumi inutili di RAM e CPU.</a:t>
            </a:r>
          </a:p>
          <a:p>
            <a:r>
              <a:rPr lang="it-IT" dirty="0"/>
              <a:t>Docker elimina l'intera scatola del "Guest OS", che è il vero parassita di risorse computazionali nelle infrastrutture VM tradizionali.</a:t>
            </a:r>
            <a:endParaRPr lang="it-IT" dirty="0">
              <a:solidFill>
                <a:srgbClr val="171FE2"/>
              </a:solidFill>
            </a:endParaRPr>
          </a:p>
        </p:txBody>
      </p:sp>
      <p:sp>
        <p:nvSpPr>
          <p:cNvPr id="4" name="Segnaposto numero diapositiva 3">
            <a:extLst>
              <a:ext uri="{FF2B5EF4-FFF2-40B4-BE49-F238E27FC236}">
                <a16:creationId xmlns:a16="http://schemas.microsoft.com/office/drawing/2014/main" id="{47697A51-CE6C-0C5F-5627-46A87483375C}"/>
              </a:ext>
            </a:extLst>
          </p:cNvPr>
          <p:cNvSpPr>
            <a:spLocks noGrp="1"/>
          </p:cNvSpPr>
          <p:nvPr>
            <p:ph type="sldNum" sz="quarter" idx="12"/>
          </p:nvPr>
        </p:nvSpPr>
        <p:spPr/>
        <p:txBody>
          <a:bodyPr/>
          <a:lstStyle/>
          <a:p>
            <a:r>
              <a:rPr lang="it-IT" dirty="0"/>
              <a:t>15</a:t>
            </a:r>
          </a:p>
        </p:txBody>
      </p:sp>
    </p:spTree>
    <p:extLst>
      <p:ext uri="{BB962C8B-B14F-4D97-AF65-F5344CB8AC3E}">
        <p14:creationId xmlns:p14="http://schemas.microsoft.com/office/powerpoint/2010/main" val="1493168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C324A-E284-B9A9-91D1-1C47159284F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EAC564-BC86-D0EC-3357-0F68D73DA317}"/>
              </a:ext>
            </a:extLst>
          </p:cNvPr>
          <p:cNvSpPr>
            <a:spLocks noGrp="1"/>
          </p:cNvSpPr>
          <p:nvPr>
            <p:ph type="title"/>
          </p:nvPr>
        </p:nvSpPr>
        <p:spPr/>
        <p:txBody>
          <a:bodyPr/>
          <a:lstStyle/>
          <a:p>
            <a:r>
              <a:rPr lang="it-IT" dirty="0"/>
              <a:t>Slide 16: Il Concetto di Filesystem Isolato in Docker</a:t>
            </a:r>
          </a:p>
        </p:txBody>
      </p:sp>
      <p:sp>
        <p:nvSpPr>
          <p:cNvPr id="3" name="Segnaposto contenuto 2">
            <a:extLst>
              <a:ext uri="{FF2B5EF4-FFF2-40B4-BE49-F238E27FC236}">
                <a16:creationId xmlns:a16="http://schemas.microsoft.com/office/drawing/2014/main" id="{373311E7-D181-847D-AB92-5D60678CC685}"/>
              </a:ext>
            </a:extLst>
          </p:cNvPr>
          <p:cNvSpPr>
            <a:spLocks noGrp="1"/>
          </p:cNvSpPr>
          <p:nvPr>
            <p:ph idx="1"/>
          </p:nvPr>
        </p:nvSpPr>
        <p:spPr/>
        <p:txBody>
          <a:bodyPr/>
          <a:lstStyle/>
          <a:p>
            <a:r>
              <a:rPr lang="it-IT" dirty="0"/>
              <a:t>Per poter comprendere la struttura interna di un'immagine Docker, occorre prima isolare il concetto di filesystem. </a:t>
            </a:r>
          </a:p>
          <a:p>
            <a:r>
              <a:rPr lang="it-IT" dirty="0"/>
              <a:t>Nel contesto della containerizzazione, il filesystem rappresenta la struttura gerarchica ad albero organizzata in cartelle e file (la classica radice Linux / corredata dalle sue sottocartelle standard come /</a:t>
            </a:r>
            <a:r>
              <a:rPr lang="it-IT" dirty="0" err="1"/>
              <a:t>usr</a:t>
            </a:r>
            <a:r>
              <a:rPr lang="it-IT" dirty="0"/>
              <a:t>, /var, /</a:t>
            </a:r>
            <a:r>
              <a:rPr lang="it-IT" dirty="0" err="1"/>
              <a:t>etc</a:t>
            </a:r>
            <a:r>
              <a:rPr lang="it-IT" dirty="0"/>
              <a:t>, /app) che l'applicazione sperimenta come proprio hard disk privato. </a:t>
            </a:r>
          </a:p>
          <a:p>
            <a:r>
              <a:rPr lang="it-IT" dirty="0"/>
              <a:t>Ogni immagine Docker racchiude al suo interno un filesystem nativo preconfezionato. </a:t>
            </a:r>
          </a:p>
          <a:p>
            <a:r>
              <a:rPr lang="it-IT" dirty="0"/>
              <a:t>Quando il Docker </a:t>
            </a:r>
            <a:r>
              <a:rPr lang="it-IT" dirty="0" err="1"/>
              <a:t>Daemon</a:t>
            </a:r>
            <a:r>
              <a:rPr lang="it-IT" dirty="0"/>
              <a:t> avvia il processo interno del container, gli impone questo filesystem isolato come unica realtà visibile. </a:t>
            </a:r>
          </a:p>
          <a:p>
            <a:r>
              <a:rPr lang="it-IT" dirty="0"/>
              <a:t>Il programma del container leggerà e scriverà file convinto di trovarsi su un computer dedicato, rimanendo strutturalmente impossibilitato ad accedere o corrompere i file sensibili del sistema operativo ospitante.</a:t>
            </a:r>
          </a:p>
        </p:txBody>
      </p:sp>
      <p:sp>
        <p:nvSpPr>
          <p:cNvPr id="4" name="Segnaposto numero diapositiva 3">
            <a:extLst>
              <a:ext uri="{FF2B5EF4-FFF2-40B4-BE49-F238E27FC236}">
                <a16:creationId xmlns:a16="http://schemas.microsoft.com/office/drawing/2014/main" id="{7E25819C-D163-2461-57FE-C57F72E1F0DC}"/>
              </a:ext>
            </a:extLst>
          </p:cNvPr>
          <p:cNvSpPr>
            <a:spLocks noGrp="1"/>
          </p:cNvSpPr>
          <p:nvPr>
            <p:ph type="sldNum" sz="quarter" idx="12"/>
          </p:nvPr>
        </p:nvSpPr>
        <p:spPr/>
        <p:txBody>
          <a:bodyPr/>
          <a:lstStyle/>
          <a:p>
            <a:r>
              <a:rPr lang="it-IT" dirty="0"/>
              <a:t>16</a:t>
            </a:r>
          </a:p>
        </p:txBody>
      </p:sp>
    </p:spTree>
    <p:extLst>
      <p:ext uri="{BB962C8B-B14F-4D97-AF65-F5344CB8AC3E}">
        <p14:creationId xmlns:p14="http://schemas.microsoft.com/office/powerpoint/2010/main" val="397574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82F35-6786-B2D0-2B25-91A66E6E83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8172C81-59FB-8E7B-68EC-EFFF1C0C799A}"/>
              </a:ext>
            </a:extLst>
          </p:cNvPr>
          <p:cNvSpPr>
            <a:spLocks noGrp="1"/>
          </p:cNvSpPr>
          <p:nvPr>
            <p:ph type="title"/>
          </p:nvPr>
        </p:nvSpPr>
        <p:spPr/>
        <p:txBody>
          <a:bodyPr/>
          <a:lstStyle/>
          <a:p>
            <a:r>
              <a:rPr lang="it-IT" dirty="0"/>
              <a:t>Slide 17: La Struttura Incrementale a Layer (Pila di Delta)</a:t>
            </a:r>
          </a:p>
        </p:txBody>
      </p:sp>
      <p:sp>
        <p:nvSpPr>
          <p:cNvPr id="3" name="Segnaposto contenuto 2">
            <a:extLst>
              <a:ext uri="{FF2B5EF4-FFF2-40B4-BE49-F238E27FC236}">
                <a16:creationId xmlns:a16="http://schemas.microsoft.com/office/drawing/2014/main" id="{E58ED2F3-4A30-F048-6FC1-C0CC1230ABDB}"/>
              </a:ext>
            </a:extLst>
          </p:cNvPr>
          <p:cNvSpPr>
            <a:spLocks noGrp="1"/>
          </p:cNvSpPr>
          <p:nvPr>
            <p:ph idx="1"/>
          </p:nvPr>
        </p:nvSpPr>
        <p:spPr/>
        <p:txBody>
          <a:bodyPr/>
          <a:lstStyle/>
          <a:p>
            <a:r>
              <a:rPr lang="it-IT" dirty="0"/>
              <a:t>La caratteristica più innovativa delle immagini Docker risiede nel fatto che esse non sono file monolitici o immagini specchio giganti (come i file .ISO o .IMG). </a:t>
            </a:r>
          </a:p>
          <a:p>
            <a:r>
              <a:rPr lang="it-IT" dirty="0"/>
              <a:t>Un'immagine Docker è strutturata come una pila di strati sovrapposti chiamati </a:t>
            </a:r>
            <a:r>
              <a:rPr lang="it-IT" dirty="0" err="1"/>
              <a:t>layer</a:t>
            </a:r>
            <a:r>
              <a:rPr lang="it-IT" dirty="0"/>
              <a:t>. </a:t>
            </a:r>
          </a:p>
          <a:p>
            <a:r>
              <a:rPr lang="it-IT" dirty="0"/>
              <a:t>Ogni </a:t>
            </a:r>
            <a:r>
              <a:rPr lang="it-IT" dirty="0" err="1"/>
              <a:t>layer</a:t>
            </a:r>
            <a:r>
              <a:rPr lang="it-IT" dirty="0"/>
              <a:t> rappresenta una singola modifica incrementale (un delta di file) applicata al filesystem, </a:t>
            </a:r>
            <a:r>
              <a:rPr lang="it-IT" dirty="0">
                <a:solidFill>
                  <a:srgbClr val="171FE2"/>
                </a:solidFill>
              </a:rPr>
              <a:t>rispetto allo stato dello strato immediatamente inferiore</a:t>
            </a:r>
            <a:r>
              <a:rPr lang="it-IT" dirty="0"/>
              <a:t>. </a:t>
            </a:r>
          </a:p>
          <a:p>
            <a:r>
              <a:rPr lang="it-IT" dirty="0"/>
              <a:t>Quando scriviamo un </a:t>
            </a:r>
            <a:r>
              <a:rPr lang="it-IT" dirty="0" err="1"/>
              <a:t>Dockerfile</a:t>
            </a:r>
            <a:r>
              <a:rPr lang="it-IT" dirty="0"/>
              <a:t>, ogni singola istruzione che modifica fisicamente i file (ad esempio l'aggiunta di un pacchetto con RUN </a:t>
            </a:r>
            <a:r>
              <a:rPr lang="it-IT" dirty="0" err="1"/>
              <a:t>apt</a:t>
            </a:r>
            <a:r>
              <a:rPr lang="it-IT" dirty="0"/>
              <a:t> </a:t>
            </a:r>
            <a:r>
              <a:rPr lang="it-IT" dirty="0" err="1"/>
              <a:t>install</a:t>
            </a:r>
            <a:r>
              <a:rPr lang="it-IT" dirty="0"/>
              <a:t>, o la copia del codice sorgente con COPY) genera un nuovo </a:t>
            </a:r>
            <a:r>
              <a:rPr lang="it-IT" dirty="0" err="1"/>
              <a:t>layer</a:t>
            </a:r>
            <a:r>
              <a:rPr lang="it-IT" dirty="0"/>
              <a:t> indipendente sul disco rigido (Docker storage). </a:t>
            </a:r>
          </a:p>
          <a:p>
            <a:r>
              <a:rPr lang="it-IT" dirty="0"/>
              <a:t>L'immagine finale non è altro che un indice logico, una ricetta ordinata che dice a Docker quali </a:t>
            </a:r>
            <a:r>
              <a:rPr lang="it-IT" dirty="0" err="1"/>
              <a:t>layer</a:t>
            </a:r>
            <a:r>
              <a:rPr lang="it-IT" dirty="0"/>
              <a:t> sovrapporre per ricostruire il filesystem definitivo.</a:t>
            </a:r>
          </a:p>
          <a:p>
            <a:r>
              <a:rPr lang="it-IT" dirty="0"/>
              <a:t>L’immagine è una pila ordinata di </a:t>
            </a:r>
            <a:r>
              <a:rPr lang="it-IT" dirty="0" err="1"/>
              <a:t>layers</a:t>
            </a:r>
            <a:r>
              <a:rPr lang="it-IT" dirty="0"/>
              <a:t>. L’ultimo </a:t>
            </a:r>
            <a:r>
              <a:rPr lang="it-IT" dirty="0" err="1"/>
              <a:t>layer</a:t>
            </a:r>
            <a:r>
              <a:rPr lang="it-IT" dirty="0"/>
              <a:t> aggiunto ci posiziona in testa.</a:t>
            </a:r>
          </a:p>
        </p:txBody>
      </p:sp>
      <p:sp>
        <p:nvSpPr>
          <p:cNvPr id="4" name="Segnaposto numero diapositiva 3">
            <a:extLst>
              <a:ext uri="{FF2B5EF4-FFF2-40B4-BE49-F238E27FC236}">
                <a16:creationId xmlns:a16="http://schemas.microsoft.com/office/drawing/2014/main" id="{6E19871C-8F1D-BD58-B450-F58323DCFFFF}"/>
              </a:ext>
            </a:extLst>
          </p:cNvPr>
          <p:cNvSpPr>
            <a:spLocks noGrp="1"/>
          </p:cNvSpPr>
          <p:nvPr>
            <p:ph type="sldNum" sz="quarter" idx="12"/>
          </p:nvPr>
        </p:nvSpPr>
        <p:spPr/>
        <p:txBody>
          <a:bodyPr/>
          <a:lstStyle/>
          <a:p>
            <a:r>
              <a:rPr lang="it-IT" dirty="0"/>
              <a:t>17</a:t>
            </a:r>
          </a:p>
        </p:txBody>
      </p:sp>
    </p:spTree>
    <p:extLst>
      <p:ext uri="{BB962C8B-B14F-4D97-AF65-F5344CB8AC3E}">
        <p14:creationId xmlns:p14="http://schemas.microsoft.com/office/powerpoint/2010/main" val="28152009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FEF3A-8F68-B871-D29F-31506E19E3B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9FD6D2-37D0-9F1C-8F34-9AFF78CF074D}"/>
              </a:ext>
            </a:extLst>
          </p:cNvPr>
          <p:cNvSpPr>
            <a:spLocks noGrp="1"/>
          </p:cNvSpPr>
          <p:nvPr>
            <p:ph type="title"/>
          </p:nvPr>
        </p:nvSpPr>
        <p:spPr/>
        <p:txBody>
          <a:bodyPr/>
          <a:lstStyle/>
          <a:p>
            <a:r>
              <a:rPr lang="it-IT" dirty="0"/>
              <a:t>Slide 18: L'Immutabilità dei Layer e la Condivisione Globale</a:t>
            </a:r>
          </a:p>
        </p:txBody>
      </p:sp>
      <p:sp>
        <p:nvSpPr>
          <p:cNvPr id="3" name="Segnaposto contenuto 2">
            <a:extLst>
              <a:ext uri="{FF2B5EF4-FFF2-40B4-BE49-F238E27FC236}">
                <a16:creationId xmlns:a16="http://schemas.microsoft.com/office/drawing/2014/main" id="{969622B9-960C-5A1D-0431-E904293EB076}"/>
              </a:ext>
            </a:extLst>
          </p:cNvPr>
          <p:cNvSpPr>
            <a:spLocks noGrp="1"/>
          </p:cNvSpPr>
          <p:nvPr>
            <p:ph idx="1"/>
          </p:nvPr>
        </p:nvSpPr>
        <p:spPr/>
        <p:txBody>
          <a:bodyPr/>
          <a:lstStyle/>
          <a:p>
            <a:r>
              <a:rPr lang="it-IT" dirty="0"/>
              <a:t>Tutti i </a:t>
            </a:r>
            <a:r>
              <a:rPr lang="it-IT" dirty="0" err="1"/>
              <a:t>layer</a:t>
            </a:r>
            <a:r>
              <a:rPr lang="it-IT" dirty="0"/>
              <a:t> che compongono un'immagine Docker, una volta generati durante la fase di compilazione (build), vengono permanentemente sigillati e contrassegnati come Read-</a:t>
            </a:r>
            <a:r>
              <a:rPr lang="it-IT" dirty="0" err="1"/>
              <a:t>Only</a:t>
            </a:r>
            <a:r>
              <a:rPr lang="it-IT" dirty="0"/>
              <a:t> (sola lettura). </a:t>
            </a:r>
          </a:p>
          <a:p>
            <a:r>
              <a:rPr lang="it-IT" dirty="0"/>
              <a:t>Nessun processo può alterare il contenuto di un </a:t>
            </a:r>
            <a:r>
              <a:rPr lang="it-IT" dirty="0" err="1"/>
              <a:t>layer</a:t>
            </a:r>
            <a:r>
              <a:rPr lang="it-IT" dirty="0"/>
              <a:t> esistente. Questa immutabilità strutturale sblocca un vantaggio ingegneristico straordinario: la condivisione globale dei </a:t>
            </a:r>
            <a:r>
              <a:rPr lang="it-IT" dirty="0" err="1"/>
              <a:t>layer</a:t>
            </a:r>
            <a:r>
              <a:rPr lang="it-IT" dirty="0"/>
              <a:t> sul disco della macchina </a:t>
            </a:r>
            <a:r>
              <a:rPr lang="it-IT" dirty="0" err="1"/>
              <a:t>host</a:t>
            </a:r>
            <a:r>
              <a:rPr lang="it-IT" dirty="0"/>
              <a:t>.</a:t>
            </a:r>
          </a:p>
          <a:p>
            <a:r>
              <a:rPr lang="it-IT" dirty="0"/>
              <a:t>Se i </a:t>
            </a:r>
            <a:r>
              <a:rPr lang="it-IT" dirty="0" err="1"/>
              <a:t>layer</a:t>
            </a:r>
            <a:r>
              <a:rPr lang="it-IT" dirty="0"/>
              <a:t> risultano immutabili, possono essere usati da tutte le immagini.</a:t>
            </a:r>
          </a:p>
          <a:p>
            <a:r>
              <a:rPr lang="it-IT" dirty="0"/>
              <a:t>Se sulla stessa macchina sviluppiamo o eseguiamo cinque applicazioni diverse (ad esempio cinque microservizi Spring Boot differenti) che poggiano tutti sulla stessa identica immagine di base Ubuntu:24.04, </a:t>
            </a:r>
            <a:r>
              <a:rPr lang="it-IT" dirty="0">
                <a:solidFill>
                  <a:srgbClr val="171FE2"/>
                </a:solidFill>
              </a:rPr>
              <a:t>il Docker </a:t>
            </a:r>
            <a:r>
              <a:rPr lang="it-IT" dirty="0" err="1">
                <a:solidFill>
                  <a:srgbClr val="171FE2"/>
                </a:solidFill>
              </a:rPr>
              <a:t>Daemon</a:t>
            </a:r>
            <a:r>
              <a:rPr lang="it-IT" dirty="0">
                <a:solidFill>
                  <a:srgbClr val="171FE2"/>
                </a:solidFill>
              </a:rPr>
              <a:t> memorizzerà i </a:t>
            </a:r>
            <a:r>
              <a:rPr lang="it-IT" dirty="0" err="1">
                <a:solidFill>
                  <a:srgbClr val="171FE2"/>
                </a:solidFill>
              </a:rPr>
              <a:t>layer</a:t>
            </a:r>
            <a:r>
              <a:rPr lang="it-IT" dirty="0">
                <a:solidFill>
                  <a:srgbClr val="171FE2"/>
                </a:solidFill>
              </a:rPr>
              <a:t> della base Ubuntu una sola volta sull'hard disk</a:t>
            </a:r>
            <a:r>
              <a:rPr lang="it-IT" dirty="0"/>
              <a:t>. </a:t>
            </a:r>
          </a:p>
          <a:p>
            <a:r>
              <a:rPr lang="it-IT" dirty="0"/>
              <a:t>Le immagini applicative si limiteranno a puntare a quel blocco comune condivisibile, ottimizzando lo storage.</a:t>
            </a:r>
          </a:p>
          <a:p>
            <a:r>
              <a:rPr lang="it-IT" dirty="0"/>
              <a:t>Un’immagine è una referenza che usa i </a:t>
            </a:r>
            <a:r>
              <a:rPr lang="it-IT" dirty="0" err="1"/>
              <a:t>layer</a:t>
            </a:r>
            <a:r>
              <a:rPr lang="it-IT" dirty="0"/>
              <a:t> con un ordine preciso.</a:t>
            </a:r>
          </a:p>
          <a:p>
            <a:r>
              <a:rPr lang="it-IT" dirty="0">
                <a:solidFill>
                  <a:srgbClr val="171FE2"/>
                </a:solidFill>
              </a:rPr>
              <a:t>10 VM Ubuntu consumerebbero 10 volte lo spazio del sistema operativo. Con Docker, lo spazio consumato per la base è fisso a 1.</a:t>
            </a:r>
          </a:p>
        </p:txBody>
      </p:sp>
      <p:sp>
        <p:nvSpPr>
          <p:cNvPr id="4" name="Segnaposto numero diapositiva 3">
            <a:extLst>
              <a:ext uri="{FF2B5EF4-FFF2-40B4-BE49-F238E27FC236}">
                <a16:creationId xmlns:a16="http://schemas.microsoft.com/office/drawing/2014/main" id="{D0ADB05E-6FDD-ADA3-6CC0-021BCE8D5263}"/>
              </a:ext>
            </a:extLst>
          </p:cNvPr>
          <p:cNvSpPr>
            <a:spLocks noGrp="1"/>
          </p:cNvSpPr>
          <p:nvPr>
            <p:ph type="sldNum" sz="quarter" idx="12"/>
          </p:nvPr>
        </p:nvSpPr>
        <p:spPr/>
        <p:txBody>
          <a:bodyPr/>
          <a:lstStyle/>
          <a:p>
            <a:r>
              <a:rPr lang="it-IT" dirty="0"/>
              <a:t>18</a:t>
            </a:r>
          </a:p>
        </p:txBody>
      </p:sp>
    </p:spTree>
    <p:extLst>
      <p:ext uri="{BB962C8B-B14F-4D97-AF65-F5344CB8AC3E}">
        <p14:creationId xmlns:p14="http://schemas.microsoft.com/office/powerpoint/2010/main" val="2676022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2098-09D1-A383-D95E-9636DB39F4C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7CACAE-0208-418D-3C3C-769BCC7853B6}"/>
              </a:ext>
            </a:extLst>
          </p:cNvPr>
          <p:cNvSpPr>
            <a:spLocks noGrp="1"/>
          </p:cNvSpPr>
          <p:nvPr>
            <p:ph type="title"/>
          </p:nvPr>
        </p:nvSpPr>
        <p:spPr/>
        <p:txBody>
          <a:bodyPr/>
          <a:lstStyle/>
          <a:p>
            <a:r>
              <a:rPr lang="it-IT" dirty="0"/>
              <a:t>Slide 19: Il Layer Scrivibile del Container (</a:t>
            </a:r>
            <a:r>
              <a:rPr lang="it-IT" dirty="0" err="1"/>
              <a:t>Writable</a:t>
            </a:r>
            <a:r>
              <a:rPr lang="it-IT" dirty="0"/>
              <a:t> Layer)</a:t>
            </a:r>
          </a:p>
        </p:txBody>
      </p:sp>
      <p:sp>
        <p:nvSpPr>
          <p:cNvPr id="3" name="Segnaposto contenuto 2">
            <a:extLst>
              <a:ext uri="{FF2B5EF4-FFF2-40B4-BE49-F238E27FC236}">
                <a16:creationId xmlns:a16="http://schemas.microsoft.com/office/drawing/2014/main" id="{55DAEF22-DB1C-170F-F4C8-BCC109C3DA79}"/>
              </a:ext>
            </a:extLst>
          </p:cNvPr>
          <p:cNvSpPr>
            <a:spLocks noGrp="1"/>
          </p:cNvSpPr>
          <p:nvPr>
            <p:ph idx="1"/>
          </p:nvPr>
        </p:nvSpPr>
        <p:spPr/>
        <p:txBody>
          <a:bodyPr/>
          <a:lstStyle/>
          <a:p>
            <a:r>
              <a:rPr lang="it-IT" dirty="0"/>
              <a:t>Dato che tutti i </a:t>
            </a:r>
            <a:r>
              <a:rPr lang="it-IT" dirty="0" err="1"/>
              <a:t>layer</a:t>
            </a:r>
            <a:r>
              <a:rPr lang="it-IT" dirty="0"/>
              <a:t> di un'immagine sono rigorosamente di sola lettura, sorge un quesito fondamentale: come fa un'applicazione attiva dentro un container a scrivere file di log, salvare immagini o modificare file di configurazione a </a:t>
            </a:r>
            <a:r>
              <a:rPr lang="it-IT" dirty="0" err="1"/>
              <a:t>runtime</a:t>
            </a:r>
            <a:r>
              <a:rPr lang="it-IT" dirty="0"/>
              <a:t>? </a:t>
            </a:r>
          </a:p>
          <a:p>
            <a:r>
              <a:rPr lang="it-IT" dirty="0"/>
              <a:t>La risposta risiede nel </a:t>
            </a:r>
            <a:r>
              <a:rPr lang="it-IT" dirty="0" err="1"/>
              <a:t>Writable</a:t>
            </a:r>
            <a:r>
              <a:rPr lang="it-IT" dirty="0"/>
              <a:t> Layer (chiamato anche Container Layer). Nel momento esatto in cui eseguiamo il comando </a:t>
            </a:r>
            <a:r>
              <a:rPr lang="it-IT" dirty="0" err="1"/>
              <a:t>docker</a:t>
            </a:r>
            <a:r>
              <a:rPr lang="it-IT" dirty="0"/>
              <a:t> </a:t>
            </a:r>
            <a:r>
              <a:rPr lang="it-IT" dirty="0" err="1"/>
              <a:t>run</a:t>
            </a:r>
            <a:r>
              <a:rPr lang="it-IT" dirty="0"/>
              <a:t>, il </a:t>
            </a:r>
            <a:r>
              <a:rPr lang="it-IT" dirty="0" err="1"/>
              <a:t>Daemon</a:t>
            </a:r>
            <a:r>
              <a:rPr lang="it-IT" dirty="0"/>
              <a:t> prende la pila dei </a:t>
            </a:r>
            <a:r>
              <a:rPr lang="it-IT" dirty="0" err="1"/>
              <a:t>layer</a:t>
            </a:r>
            <a:r>
              <a:rPr lang="it-IT" dirty="0"/>
              <a:t> immutabili dell'immagine e </a:t>
            </a:r>
            <a:r>
              <a:rPr lang="it-IT" dirty="0">
                <a:solidFill>
                  <a:srgbClr val="171FE2"/>
                </a:solidFill>
              </a:rPr>
              <a:t>vi posiziona sopra un ultimo strato aggiuntivo</a:t>
            </a:r>
            <a:r>
              <a:rPr lang="it-IT" dirty="0"/>
              <a:t>, sottilissimo e modificabile in lettura e scrittura. Qualsiasi operazione di scrittura compiuta dall'applicazione verrà intercettata da Docker e registrata esclusivamente all'interno di questo strato temporaneo, lasciando i </a:t>
            </a:r>
            <a:r>
              <a:rPr lang="it-IT" dirty="0" err="1"/>
              <a:t>layer</a:t>
            </a:r>
            <a:r>
              <a:rPr lang="it-IT" dirty="0"/>
              <a:t> sottostanti dell'immagine puliti e intatti.</a:t>
            </a:r>
          </a:p>
          <a:p>
            <a:r>
              <a:rPr lang="it-IT" dirty="0"/>
              <a:t>Se Docker cerca un file nel filesystem, parte dal </a:t>
            </a:r>
            <a:r>
              <a:rPr lang="it-IT" dirty="0" err="1"/>
              <a:t>layer</a:t>
            </a:r>
            <a:r>
              <a:rPr lang="it-IT" dirty="0"/>
              <a:t> scrivibile e scende verso quelli sottostanti fino a trovarlo.</a:t>
            </a:r>
          </a:p>
          <a:p>
            <a:r>
              <a:rPr lang="it-IT" dirty="0"/>
              <a:t>Se Docker vuole modificare un file nel filesystem, lo copia nel </a:t>
            </a:r>
            <a:r>
              <a:rPr lang="it-IT" dirty="0" err="1"/>
              <a:t>layer</a:t>
            </a:r>
            <a:r>
              <a:rPr lang="it-IT" dirty="0"/>
              <a:t> scrivibile; a questo punto farà una modifica nella copia. Questo meccanismo è chiamato </a:t>
            </a:r>
            <a:r>
              <a:rPr lang="it-IT" b="1" dirty="0"/>
              <a:t>Copy-on-Write (</a:t>
            </a:r>
            <a:r>
              <a:rPr lang="it-IT" b="1" dirty="0" err="1"/>
              <a:t>CoW</a:t>
            </a:r>
            <a:r>
              <a:rPr lang="it-IT" b="1" dirty="0"/>
              <a:t>)</a:t>
            </a:r>
            <a:r>
              <a:rPr lang="it-IT" dirty="0"/>
              <a:t>.</a:t>
            </a:r>
          </a:p>
          <a:p>
            <a:r>
              <a:rPr lang="it-IT" dirty="0">
                <a:solidFill>
                  <a:srgbClr val="171FE2"/>
                </a:solidFill>
              </a:rPr>
              <a:t>Se vengono avviati 5 container dalla stessa identica immagine, ognuno avrà il suo </a:t>
            </a:r>
            <a:r>
              <a:rPr lang="it-IT" dirty="0" err="1">
                <a:solidFill>
                  <a:srgbClr val="171FE2"/>
                </a:solidFill>
              </a:rPr>
              <a:t>Writable</a:t>
            </a:r>
            <a:r>
              <a:rPr lang="it-IT" dirty="0">
                <a:solidFill>
                  <a:srgbClr val="171FE2"/>
                </a:solidFill>
              </a:rPr>
              <a:t> Layer privato. Ognuno scriverà i propri dati senza che gli altri possano vedere o alterare tali modifiche.</a:t>
            </a:r>
          </a:p>
          <a:p>
            <a:endParaRPr lang="it-IT" dirty="0">
              <a:solidFill>
                <a:srgbClr val="171FE2"/>
              </a:solidFill>
            </a:endParaRPr>
          </a:p>
        </p:txBody>
      </p:sp>
      <p:sp>
        <p:nvSpPr>
          <p:cNvPr id="4" name="Segnaposto numero diapositiva 3">
            <a:extLst>
              <a:ext uri="{FF2B5EF4-FFF2-40B4-BE49-F238E27FC236}">
                <a16:creationId xmlns:a16="http://schemas.microsoft.com/office/drawing/2014/main" id="{4A0507F4-3A96-E817-B388-4E27A40B0DC0}"/>
              </a:ext>
            </a:extLst>
          </p:cNvPr>
          <p:cNvSpPr>
            <a:spLocks noGrp="1"/>
          </p:cNvSpPr>
          <p:nvPr>
            <p:ph type="sldNum" sz="quarter" idx="12"/>
          </p:nvPr>
        </p:nvSpPr>
        <p:spPr/>
        <p:txBody>
          <a:bodyPr/>
          <a:lstStyle/>
          <a:p>
            <a:r>
              <a:rPr lang="it-IT" dirty="0"/>
              <a:t>19</a:t>
            </a:r>
          </a:p>
        </p:txBody>
      </p:sp>
    </p:spTree>
    <p:extLst>
      <p:ext uri="{BB962C8B-B14F-4D97-AF65-F5344CB8AC3E}">
        <p14:creationId xmlns:p14="http://schemas.microsoft.com/office/powerpoint/2010/main" val="29006306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04286-8A89-96B7-3EA1-329419C648B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EA1D391-FBE2-06F2-6D35-9C9FB60480B4}"/>
              </a:ext>
            </a:extLst>
          </p:cNvPr>
          <p:cNvSpPr>
            <a:spLocks noGrp="1"/>
          </p:cNvSpPr>
          <p:nvPr>
            <p:ph type="title"/>
          </p:nvPr>
        </p:nvSpPr>
        <p:spPr/>
        <p:txBody>
          <a:bodyPr/>
          <a:lstStyle/>
          <a:p>
            <a:r>
              <a:rPr lang="it-IT" dirty="0"/>
              <a:t>Slide 20: Il Layer Scrivibile del Container (</a:t>
            </a:r>
            <a:r>
              <a:rPr lang="it-IT" dirty="0" err="1"/>
              <a:t>Writable</a:t>
            </a:r>
            <a:r>
              <a:rPr lang="it-IT" dirty="0"/>
              <a:t> Layer)</a:t>
            </a:r>
          </a:p>
        </p:txBody>
      </p:sp>
      <p:sp>
        <p:nvSpPr>
          <p:cNvPr id="3" name="Segnaposto contenuto 2">
            <a:extLst>
              <a:ext uri="{FF2B5EF4-FFF2-40B4-BE49-F238E27FC236}">
                <a16:creationId xmlns:a16="http://schemas.microsoft.com/office/drawing/2014/main" id="{49E2126F-1351-DC66-41ED-38EB0A6AA003}"/>
              </a:ext>
            </a:extLst>
          </p:cNvPr>
          <p:cNvSpPr>
            <a:spLocks noGrp="1"/>
          </p:cNvSpPr>
          <p:nvPr>
            <p:ph idx="1"/>
          </p:nvPr>
        </p:nvSpPr>
        <p:spPr/>
        <p:txBody>
          <a:bodyPr/>
          <a:lstStyle/>
          <a:p>
            <a:r>
              <a:rPr lang="it-IT" dirty="0"/>
              <a:t>Anche l'eliminazione non rimuove il file dal </a:t>
            </a:r>
            <a:r>
              <a:rPr lang="it-IT" dirty="0" err="1"/>
              <a:t>layer</a:t>
            </a:r>
            <a:r>
              <a:rPr lang="it-IT" dirty="0"/>
              <a:t> immutabile.</a:t>
            </a:r>
          </a:p>
          <a:p>
            <a:r>
              <a:rPr lang="it-IT" dirty="0"/>
              <a:t>Docker crea un </a:t>
            </a:r>
            <a:r>
              <a:rPr lang="it-IT" b="1" dirty="0" err="1"/>
              <a:t>whiteout</a:t>
            </a:r>
            <a:r>
              <a:rPr lang="it-IT" b="1" dirty="0"/>
              <a:t> file</a:t>
            </a:r>
            <a:r>
              <a:rPr lang="it-IT" dirty="0"/>
              <a:t> nel </a:t>
            </a:r>
            <a:r>
              <a:rPr lang="it-IT" dirty="0" err="1"/>
              <a:t>layer</a:t>
            </a:r>
            <a:r>
              <a:rPr lang="it-IT" dirty="0"/>
              <a:t> scrivibile che </a:t>
            </a:r>
            <a:r>
              <a:rPr lang="it-IT" dirty="0" err="1"/>
              <a:t>indica:"questo</a:t>
            </a:r>
            <a:r>
              <a:rPr lang="it-IT" dirty="0"/>
              <a:t> file deve essere considerato </a:t>
            </a:r>
            <a:r>
              <a:rPr lang="it-IT" dirty="0" err="1"/>
              <a:t>eliminato"Il</a:t>
            </a:r>
            <a:r>
              <a:rPr lang="it-IT" dirty="0"/>
              <a:t> file continua a esistere nei </a:t>
            </a:r>
            <a:r>
              <a:rPr lang="it-IT" dirty="0" err="1"/>
              <a:t>layer</a:t>
            </a:r>
            <a:r>
              <a:rPr lang="it-IT" dirty="0"/>
              <a:t> dell'immagine, ma il container non lo vede più.</a:t>
            </a:r>
          </a:p>
        </p:txBody>
      </p:sp>
      <p:sp>
        <p:nvSpPr>
          <p:cNvPr id="4" name="Segnaposto numero diapositiva 3">
            <a:extLst>
              <a:ext uri="{FF2B5EF4-FFF2-40B4-BE49-F238E27FC236}">
                <a16:creationId xmlns:a16="http://schemas.microsoft.com/office/drawing/2014/main" id="{6BD0E912-70EE-277B-6EF0-8E62BFE1EF2C}"/>
              </a:ext>
            </a:extLst>
          </p:cNvPr>
          <p:cNvSpPr>
            <a:spLocks noGrp="1"/>
          </p:cNvSpPr>
          <p:nvPr>
            <p:ph type="sldNum" sz="quarter" idx="12"/>
          </p:nvPr>
        </p:nvSpPr>
        <p:spPr/>
        <p:txBody>
          <a:bodyPr/>
          <a:lstStyle/>
          <a:p>
            <a:r>
              <a:rPr lang="it-IT" dirty="0"/>
              <a:t>20</a:t>
            </a:r>
          </a:p>
        </p:txBody>
      </p:sp>
      <p:sp>
        <p:nvSpPr>
          <p:cNvPr id="5" name="CasellaDiTesto 4">
            <a:extLst>
              <a:ext uri="{FF2B5EF4-FFF2-40B4-BE49-F238E27FC236}">
                <a16:creationId xmlns:a16="http://schemas.microsoft.com/office/drawing/2014/main" id="{2BDF4E19-45A1-F068-32FD-0AC08D38B727}"/>
              </a:ext>
            </a:extLst>
          </p:cNvPr>
          <p:cNvSpPr txBox="1"/>
          <p:nvPr/>
        </p:nvSpPr>
        <p:spPr>
          <a:xfrm>
            <a:off x="561669" y="3575050"/>
            <a:ext cx="2273300" cy="1477328"/>
          </a:xfrm>
          <a:prstGeom prst="rect">
            <a:avLst/>
          </a:prstGeom>
          <a:noFill/>
        </p:spPr>
        <p:txBody>
          <a:bodyPr wrap="square" rtlCol="0">
            <a:spAutoFit/>
          </a:bodyPr>
          <a:lstStyle/>
          <a:p>
            <a:r>
              <a:rPr lang="en-US" dirty="0"/>
              <a:t>Writable Layer     [RW]</a:t>
            </a:r>
          </a:p>
          <a:p>
            <a:r>
              <a:rPr lang="en-US" dirty="0"/>
              <a:t>-------------------------</a:t>
            </a:r>
          </a:p>
          <a:p>
            <a:r>
              <a:rPr lang="en-US" dirty="0"/>
              <a:t>Layer 3                  [RO]</a:t>
            </a:r>
          </a:p>
          <a:p>
            <a:r>
              <a:rPr lang="en-US" dirty="0"/>
              <a:t>Layer 2                  [RO]</a:t>
            </a:r>
          </a:p>
          <a:p>
            <a:r>
              <a:rPr lang="en-US" dirty="0"/>
              <a:t>Layer 1                  [RO]</a:t>
            </a:r>
            <a:endParaRPr lang="it-IT" dirty="0"/>
          </a:p>
        </p:txBody>
      </p:sp>
      <p:sp>
        <p:nvSpPr>
          <p:cNvPr id="7" name="CasellaDiTesto 6">
            <a:extLst>
              <a:ext uri="{FF2B5EF4-FFF2-40B4-BE49-F238E27FC236}">
                <a16:creationId xmlns:a16="http://schemas.microsoft.com/office/drawing/2014/main" id="{437A436E-DE6F-4491-7FFB-F688A1592E43}"/>
              </a:ext>
            </a:extLst>
          </p:cNvPr>
          <p:cNvSpPr txBox="1"/>
          <p:nvPr/>
        </p:nvSpPr>
        <p:spPr>
          <a:xfrm>
            <a:off x="3070225" y="2984837"/>
            <a:ext cx="4070350" cy="2523768"/>
          </a:xfrm>
          <a:prstGeom prst="rect">
            <a:avLst/>
          </a:prstGeom>
          <a:noFill/>
        </p:spPr>
        <p:txBody>
          <a:bodyPr wrap="square">
            <a:spAutoFit/>
          </a:bodyPr>
          <a:lstStyle/>
          <a:p>
            <a:r>
              <a:rPr lang="it-IT" sz="1400" dirty="0" err="1">
                <a:solidFill>
                  <a:srgbClr val="171FE2"/>
                </a:solidFill>
                <a:latin typeface="Consolas" panose="020B0609020204030204" pitchFamily="49" charset="0"/>
              </a:rPr>
              <a:t>echo</a:t>
            </a:r>
            <a:r>
              <a:rPr lang="it-IT" sz="1400" dirty="0">
                <a:solidFill>
                  <a:srgbClr val="171FE2"/>
                </a:solidFill>
                <a:latin typeface="Consolas" panose="020B0609020204030204" pitchFamily="49" charset="0"/>
              </a:rPr>
              <a:t> "nuovo valore" &gt; /app/config.txt</a:t>
            </a:r>
          </a:p>
          <a:p>
            <a:endParaRPr lang="it-IT" dirty="0"/>
          </a:p>
          <a:p>
            <a:r>
              <a:rPr lang="it-IT" dirty="0" err="1"/>
              <a:t>Writable</a:t>
            </a:r>
            <a:r>
              <a:rPr lang="it-IT" dirty="0"/>
              <a:t> Layer     [RW]</a:t>
            </a:r>
          </a:p>
          <a:p>
            <a:r>
              <a:rPr lang="it-IT" dirty="0"/>
              <a:t>  /app/config.txt  &lt;-- versione modificata</a:t>
            </a:r>
          </a:p>
          <a:p>
            <a:r>
              <a:rPr lang="it-IT" dirty="0"/>
              <a:t>-------------------------</a:t>
            </a:r>
          </a:p>
          <a:p>
            <a:r>
              <a:rPr lang="it-IT" dirty="0"/>
              <a:t>Layer 3                  [RO]</a:t>
            </a:r>
          </a:p>
          <a:p>
            <a:r>
              <a:rPr lang="it-IT" dirty="0"/>
              <a:t>  /app/config.txt  &lt;-- versione originale</a:t>
            </a:r>
          </a:p>
          <a:p>
            <a:r>
              <a:rPr lang="it-IT" dirty="0"/>
              <a:t>Layer 2                  [RO]</a:t>
            </a:r>
          </a:p>
          <a:p>
            <a:r>
              <a:rPr lang="it-IT" dirty="0"/>
              <a:t>Layer 1                  [RO]</a:t>
            </a:r>
          </a:p>
        </p:txBody>
      </p:sp>
      <p:sp>
        <p:nvSpPr>
          <p:cNvPr id="8" name="CasellaDiTesto 7">
            <a:extLst>
              <a:ext uri="{FF2B5EF4-FFF2-40B4-BE49-F238E27FC236}">
                <a16:creationId xmlns:a16="http://schemas.microsoft.com/office/drawing/2014/main" id="{6AD58D10-BCCC-9787-438C-343FF48C7EF2}"/>
              </a:ext>
            </a:extLst>
          </p:cNvPr>
          <p:cNvSpPr txBox="1"/>
          <p:nvPr/>
        </p:nvSpPr>
        <p:spPr>
          <a:xfrm>
            <a:off x="7375831" y="2984837"/>
            <a:ext cx="4070350" cy="2523768"/>
          </a:xfrm>
          <a:prstGeom prst="rect">
            <a:avLst/>
          </a:prstGeom>
          <a:noFill/>
        </p:spPr>
        <p:txBody>
          <a:bodyPr wrap="square">
            <a:spAutoFit/>
          </a:bodyPr>
          <a:lstStyle/>
          <a:p>
            <a:r>
              <a:rPr lang="it-IT" sz="1400" dirty="0" err="1">
                <a:solidFill>
                  <a:srgbClr val="171FE2"/>
                </a:solidFill>
                <a:latin typeface="Consolas" panose="020B0609020204030204" pitchFamily="49" charset="0"/>
              </a:rPr>
              <a:t>rm</a:t>
            </a:r>
            <a:r>
              <a:rPr lang="it-IT" sz="1400" dirty="0">
                <a:solidFill>
                  <a:srgbClr val="171FE2"/>
                </a:solidFill>
                <a:latin typeface="Consolas" panose="020B0609020204030204" pitchFamily="49" charset="0"/>
              </a:rPr>
              <a:t> /app/config.txt</a:t>
            </a:r>
          </a:p>
          <a:p>
            <a:endParaRPr lang="it-IT" dirty="0"/>
          </a:p>
          <a:p>
            <a:r>
              <a:rPr lang="it-IT" dirty="0" err="1"/>
              <a:t>Writable</a:t>
            </a:r>
            <a:r>
              <a:rPr lang="it-IT" dirty="0"/>
              <a:t> Layer     [RW]</a:t>
            </a:r>
          </a:p>
          <a:p>
            <a:r>
              <a:rPr lang="it-IT" dirty="0"/>
              <a:t>  /app/config.txt  &lt;-- il file viene nascosto</a:t>
            </a:r>
          </a:p>
          <a:p>
            <a:r>
              <a:rPr lang="it-IT" dirty="0"/>
              <a:t>-------------------------</a:t>
            </a:r>
          </a:p>
          <a:p>
            <a:r>
              <a:rPr lang="it-IT" dirty="0"/>
              <a:t>Layer 3                  [RO]</a:t>
            </a:r>
          </a:p>
          <a:p>
            <a:r>
              <a:rPr lang="it-IT" dirty="0"/>
              <a:t>  /app/config.txt  &lt;-- versione originale</a:t>
            </a:r>
          </a:p>
          <a:p>
            <a:r>
              <a:rPr lang="it-IT" dirty="0"/>
              <a:t>Layer 2                  [RO]</a:t>
            </a:r>
          </a:p>
          <a:p>
            <a:r>
              <a:rPr lang="it-IT" dirty="0"/>
              <a:t>Layer 1                  [RO]</a:t>
            </a:r>
          </a:p>
        </p:txBody>
      </p:sp>
      <p:sp>
        <p:nvSpPr>
          <p:cNvPr id="11" name="CasellaDiTesto 10">
            <a:extLst>
              <a:ext uri="{FF2B5EF4-FFF2-40B4-BE49-F238E27FC236}">
                <a16:creationId xmlns:a16="http://schemas.microsoft.com/office/drawing/2014/main" id="{3DCCC3F0-AC49-4CEA-E6C7-E210F934ABC9}"/>
              </a:ext>
            </a:extLst>
          </p:cNvPr>
          <p:cNvSpPr txBox="1"/>
          <p:nvPr/>
        </p:nvSpPr>
        <p:spPr>
          <a:xfrm>
            <a:off x="3048000" y="3244334"/>
            <a:ext cx="6096000" cy="369332"/>
          </a:xfrm>
          <a:prstGeom prst="rect">
            <a:avLst/>
          </a:prstGeom>
          <a:noFill/>
        </p:spPr>
        <p:txBody>
          <a:bodyPr wrap="square">
            <a:spAutoFit/>
          </a:bodyPr>
          <a:lstStyle/>
          <a:p>
            <a:r>
              <a:rPr lang="it-IT" dirty="0" err="1"/>
              <a:t>rm</a:t>
            </a:r>
            <a:r>
              <a:rPr lang="it-IT" dirty="0"/>
              <a:t> /app/config.txt</a:t>
            </a:r>
          </a:p>
        </p:txBody>
      </p:sp>
    </p:spTree>
    <p:extLst>
      <p:ext uri="{BB962C8B-B14F-4D97-AF65-F5344CB8AC3E}">
        <p14:creationId xmlns:p14="http://schemas.microsoft.com/office/powerpoint/2010/main" val="17495836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401C9-DE9B-29F8-2207-CC6EA85EBCD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92FD445-BCA9-103E-83A2-B11D53699D25}"/>
              </a:ext>
            </a:extLst>
          </p:cNvPr>
          <p:cNvSpPr>
            <a:spLocks noGrp="1"/>
          </p:cNvSpPr>
          <p:nvPr>
            <p:ph type="title"/>
          </p:nvPr>
        </p:nvSpPr>
        <p:spPr/>
        <p:txBody>
          <a:bodyPr/>
          <a:lstStyle/>
          <a:p>
            <a:r>
              <a:rPr lang="it-IT" dirty="0"/>
              <a:t>Slide 21: Il Motore di Storage sotto il Cofano: Il Copy-on-Write</a:t>
            </a:r>
          </a:p>
        </p:txBody>
      </p:sp>
      <p:sp>
        <p:nvSpPr>
          <p:cNvPr id="3" name="Segnaposto contenuto 2">
            <a:extLst>
              <a:ext uri="{FF2B5EF4-FFF2-40B4-BE49-F238E27FC236}">
                <a16:creationId xmlns:a16="http://schemas.microsoft.com/office/drawing/2014/main" id="{44415ED6-F29C-8088-21C1-8DAA3F8BCC5E}"/>
              </a:ext>
            </a:extLst>
          </p:cNvPr>
          <p:cNvSpPr>
            <a:spLocks noGrp="1"/>
          </p:cNvSpPr>
          <p:nvPr>
            <p:ph idx="1"/>
          </p:nvPr>
        </p:nvSpPr>
        <p:spPr/>
        <p:txBody>
          <a:bodyPr/>
          <a:lstStyle/>
          <a:p>
            <a:r>
              <a:rPr lang="it-IT" dirty="0"/>
              <a:t>La magia della coesistenza tra </a:t>
            </a:r>
            <a:r>
              <a:rPr lang="it-IT" dirty="0" err="1"/>
              <a:t>layer</a:t>
            </a:r>
            <a:r>
              <a:rPr lang="it-IT" dirty="0"/>
              <a:t> immutabili e </a:t>
            </a:r>
            <a:r>
              <a:rPr lang="it-IT" dirty="0" err="1"/>
              <a:t>layer</a:t>
            </a:r>
            <a:r>
              <a:rPr lang="it-IT" dirty="0"/>
              <a:t> scrivibili è governata da una strategia di ottimizzazione delle prestazioni del filesystem chiamata Copy-on-Write (Copia al momento della scrittura, abbreviata in </a:t>
            </a:r>
            <a:r>
              <a:rPr lang="it-IT" dirty="0" err="1"/>
              <a:t>CoW</a:t>
            </a:r>
            <a:r>
              <a:rPr lang="it-IT" dirty="0"/>
              <a:t>) gestita da driver speciali come overlay2. </a:t>
            </a:r>
          </a:p>
          <a:p>
            <a:r>
              <a:rPr lang="it-IT" dirty="0"/>
              <a:t>Se un'applicazione dentro il container tenta di leggere un file presente nell'immagine, il driver lo legge direttamente dai </a:t>
            </a:r>
            <a:r>
              <a:rPr lang="it-IT" dirty="0" err="1"/>
              <a:t>layer</a:t>
            </a:r>
            <a:r>
              <a:rPr lang="it-IT" dirty="0"/>
              <a:t> di sola lettura sottostanti. Ma se l'applicazione tenta di modificare quel file, il meccanismo Copy-on-Write interviene istantaneamente: copia il file originale dai </a:t>
            </a:r>
            <a:r>
              <a:rPr lang="it-IT" dirty="0" err="1"/>
              <a:t>layer</a:t>
            </a:r>
            <a:r>
              <a:rPr lang="it-IT" dirty="0"/>
              <a:t> inferiori, lo trasporta in alto nel </a:t>
            </a:r>
            <a:r>
              <a:rPr lang="it-IT" dirty="0" err="1"/>
              <a:t>Writable</a:t>
            </a:r>
            <a:r>
              <a:rPr lang="it-IT" dirty="0"/>
              <a:t> Layer del container, e applica la modifica su questa copia. Il file originale dentro l'immagine rimane inalterato, nascosto semplicemente dalla nuova versione sovrastante.</a:t>
            </a:r>
          </a:p>
        </p:txBody>
      </p:sp>
      <p:sp>
        <p:nvSpPr>
          <p:cNvPr id="4" name="Segnaposto numero diapositiva 3">
            <a:extLst>
              <a:ext uri="{FF2B5EF4-FFF2-40B4-BE49-F238E27FC236}">
                <a16:creationId xmlns:a16="http://schemas.microsoft.com/office/drawing/2014/main" id="{DD113762-5162-8CCC-6735-0D2F61B68A49}"/>
              </a:ext>
            </a:extLst>
          </p:cNvPr>
          <p:cNvSpPr>
            <a:spLocks noGrp="1"/>
          </p:cNvSpPr>
          <p:nvPr>
            <p:ph type="sldNum" sz="quarter" idx="12"/>
          </p:nvPr>
        </p:nvSpPr>
        <p:spPr/>
        <p:txBody>
          <a:bodyPr/>
          <a:lstStyle/>
          <a:p>
            <a:r>
              <a:rPr lang="it-IT" dirty="0"/>
              <a:t>21</a:t>
            </a:r>
          </a:p>
        </p:txBody>
      </p:sp>
    </p:spTree>
    <p:extLst>
      <p:ext uri="{BB962C8B-B14F-4D97-AF65-F5344CB8AC3E}">
        <p14:creationId xmlns:p14="http://schemas.microsoft.com/office/powerpoint/2010/main" val="725710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6B1B4-5853-6F51-257F-54F321BE9AF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EE1014-CDFC-9250-DC7E-BBED80DB2BEB}"/>
              </a:ext>
            </a:extLst>
          </p:cNvPr>
          <p:cNvSpPr>
            <a:spLocks noGrp="1"/>
          </p:cNvSpPr>
          <p:nvPr>
            <p:ph type="title"/>
          </p:nvPr>
        </p:nvSpPr>
        <p:spPr/>
        <p:txBody>
          <a:bodyPr/>
          <a:lstStyle/>
          <a:p>
            <a:r>
              <a:rPr lang="it-IT" dirty="0"/>
              <a:t>Slide 22: </a:t>
            </a:r>
            <a:r>
              <a:rPr lang="it-IT" dirty="0" err="1"/>
              <a:t>Georreferenziazione</a:t>
            </a:r>
            <a:r>
              <a:rPr lang="it-IT" dirty="0"/>
              <a:t> dei Dati: Linux contro Windows/</a:t>
            </a:r>
            <a:r>
              <a:rPr lang="it-IT" dirty="0" err="1"/>
              <a:t>macOS</a:t>
            </a:r>
            <a:endParaRPr lang="it-IT" dirty="0"/>
          </a:p>
        </p:txBody>
      </p:sp>
      <p:sp>
        <p:nvSpPr>
          <p:cNvPr id="3" name="Segnaposto contenuto 2">
            <a:extLst>
              <a:ext uri="{FF2B5EF4-FFF2-40B4-BE49-F238E27FC236}">
                <a16:creationId xmlns:a16="http://schemas.microsoft.com/office/drawing/2014/main" id="{6CB9349B-9B30-9704-33A2-58CC1C32FA3C}"/>
              </a:ext>
            </a:extLst>
          </p:cNvPr>
          <p:cNvSpPr>
            <a:spLocks noGrp="1"/>
          </p:cNvSpPr>
          <p:nvPr>
            <p:ph idx="1"/>
          </p:nvPr>
        </p:nvSpPr>
        <p:spPr/>
        <p:txBody>
          <a:bodyPr/>
          <a:lstStyle/>
          <a:p>
            <a:r>
              <a:rPr lang="it-IT" dirty="0"/>
              <a:t>Su un sistema operativo Linux nativo, l'intera struttura di gestione (immagini, </a:t>
            </a:r>
            <a:r>
              <a:rPr lang="it-IT" dirty="0" err="1"/>
              <a:t>layer</a:t>
            </a:r>
            <a:r>
              <a:rPr lang="it-IT" dirty="0"/>
              <a:t> scompattati, container attivi e volumi) risiede nella cartella di sistema /var/</a:t>
            </a:r>
            <a:r>
              <a:rPr lang="it-IT" dirty="0" err="1"/>
              <a:t>lib</a:t>
            </a:r>
            <a:r>
              <a:rPr lang="it-IT" dirty="0"/>
              <a:t>/</a:t>
            </a:r>
            <a:r>
              <a:rPr lang="it-IT" dirty="0" err="1"/>
              <a:t>docker</a:t>
            </a:r>
            <a:r>
              <a:rPr lang="it-IT" dirty="0"/>
              <a:t>/. </a:t>
            </a:r>
          </a:p>
          <a:p>
            <a:r>
              <a:rPr lang="it-IT" dirty="0"/>
              <a:t>Su sistemi operativi come Windows o </a:t>
            </a:r>
            <a:r>
              <a:rPr lang="it-IT" dirty="0" err="1"/>
              <a:t>macOS</a:t>
            </a:r>
            <a:r>
              <a:rPr lang="it-IT" dirty="0"/>
              <a:t>, la situazione cambia radicalmente </a:t>
            </a:r>
            <a:r>
              <a:rPr lang="it-IT" dirty="0" err="1"/>
              <a:t>poichè</a:t>
            </a:r>
            <a:r>
              <a:rPr lang="it-IT" dirty="0"/>
              <a:t> essi non possiedono un kernel Linux integrato. </a:t>
            </a:r>
          </a:p>
          <a:p>
            <a:r>
              <a:rPr lang="it-IT" dirty="0"/>
              <a:t>Quando installiamo Docker Desktop su Windows, il sistema deve avviare una macchina virtuale Linux minimale in background, solitamente gestita tramite l'architettura WSL2 (Windows Subsystem for Linux) o l'</a:t>
            </a:r>
            <a:r>
              <a:rPr lang="it-IT" dirty="0" err="1"/>
              <a:t>Hyper</a:t>
            </a:r>
            <a:r>
              <a:rPr lang="it-IT" dirty="0"/>
              <a:t>-V. Di conseguenza, tutti i nostri </a:t>
            </a:r>
            <a:r>
              <a:rPr lang="it-IT" dirty="0" err="1"/>
              <a:t>layer</a:t>
            </a:r>
            <a:r>
              <a:rPr lang="it-IT" dirty="0"/>
              <a:t> non si trovano sparsi nel filesystem di Windows, ma sono racchiusi all'interno di un unico grande file di hard disk virtuale con estensione .</a:t>
            </a:r>
            <a:r>
              <a:rPr lang="it-IT" dirty="0" err="1"/>
              <a:t>vhdx</a:t>
            </a:r>
            <a:r>
              <a:rPr lang="it-IT" dirty="0"/>
              <a:t>.</a:t>
            </a:r>
          </a:p>
          <a:p>
            <a:r>
              <a:rPr lang="it-IT" dirty="0"/>
              <a:t>In Linux tutto è un file, anche le periferiche (L’hard disk virtuale in questo caso).</a:t>
            </a:r>
          </a:p>
          <a:p>
            <a:r>
              <a:rPr lang="it-IT" dirty="0"/>
              <a:t>I file dei container non sono quindi raggiungibili esplorando C:\Program Files. Tutto vive isolato dentro la partizione virtuale di WSL2.</a:t>
            </a:r>
          </a:p>
        </p:txBody>
      </p:sp>
      <p:sp>
        <p:nvSpPr>
          <p:cNvPr id="4" name="Segnaposto numero diapositiva 3">
            <a:extLst>
              <a:ext uri="{FF2B5EF4-FFF2-40B4-BE49-F238E27FC236}">
                <a16:creationId xmlns:a16="http://schemas.microsoft.com/office/drawing/2014/main" id="{3F78BE6C-3621-AEE6-3B1E-6B4EA8B0510A}"/>
              </a:ext>
            </a:extLst>
          </p:cNvPr>
          <p:cNvSpPr>
            <a:spLocks noGrp="1"/>
          </p:cNvSpPr>
          <p:nvPr>
            <p:ph type="sldNum" sz="quarter" idx="12"/>
          </p:nvPr>
        </p:nvSpPr>
        <p:spPr/>
        <p:txBody>
          <a:bodyPr/>
          <a:lstStyle/>
          <a:p>
            <a:r>
              <a:rPr lang="it-IT" dirty="0"/>
              <a:t>22</a:t>
            </a:r>
          </a:p>
        </p:txBody>
      </p:sp>
    </p:spTree>
    <p:extLst>
      <p:ext uri="{BB962C8B-B14F-4D97-AF65-F5344CB8AC3E}">
        <p14:creationId xmlns:p14="http://schemas.microsoft.com/office/powerpoint/2010/main" val="17358409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45A85-875F-9A0F-1370-CAF3D0D746F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0A465F2-F7D1-E757-D974-CB421B00486F}"/>
              </a:ext>
            </a:extLst>
          </p:cNvPr>
          <p:cNvSpPr>
            <a:spLocks noGrp="1"/>
          </p:cNvSpPr>
          <p:nvPr>
            <p:ph type="title"/>
          </p:nvPr>
        </p:nvSpPr>
        <p:spPr/>
        <p:txBody>
          <a:bodyPr/>
          <a:lstStyle/>
          <a:p>
            <a:r>
              <a:rPr lang="it-IT" dirty="0"/>
              <a:t>Slide 23: Il </a:t>
            </a:r>
            <a:r>
              <a:rPr lang="it-IT" dirty="0" err="1"/>
              <a:t>Versionamento</a:t>
            </a:r>
            <a:r>
              <a:rPr lang="it-IT" dirty="0"/>
              <a:t> delle Immagini tramite i Tag</a:t>
            </a:r>
          </a:p>
        </p:txBody>
      </p:sp>
      <p:sp>
        <p:nvSpPr>
          <p:cNvPr id="3" name="Segnaposto contenuto 2">
            <a:extLst>
              <a:ext uri="{FF2B5EF4-FFF2-40B4-BE49-F238E27FC236}">
                <a16:creationId xmlns:a16="http://schemas.microsoft.com/office/drawing/2014/main" id="{3E51E899-4FD9-E3D5-8DF5-0879BAA3EA32}"/>
              </a:ext>
            </a:extLst>
          </p:cNvPr>
          <p:cNvSpPr>
            <a:spLocks noGrp="1"/>
          </p:cNvSpPr>
          <p:nvPr>
            <p:ph idx="1"/>
          </p:nvPr>
        </p:nvSpPr>
        <p:spPr/>
        <p:txBody>
          <a:bodyPr/>
          <a:lstStyle/>
          <a:p>
            <a:r>
              <a:rPr lang="it-IT" dirty="0"/>
              <a:t>Un'immagine Docker all'interno dello storage viene identificata formalmente attraverso una stringa univoca composta secondo la sintassi standard </a:t>
            </a:r>
            <a:r>
              <a:rPr lang="it-IT" b="1" dirty="0" err="1"/>
              <a:t>nome-immagine:tag</a:t>
            </a:r>
            <a:r>
              <a:rPr lang="it-IT" dirty="0"/>
              <a:t>. </a:t>
            </a:r>
          </a:p>
          <a:p>
            <a:r>
              <a:rPr lang="it-IT" dirty="0"/>
              <a:t>Il tag rappresenta un'etichetta alfanumerica, un alias logico che punta a una specifica impronta digitale (l'</a:t>
            </a:r>
            <a:r>
              <a:rPr lang="it-IT" dirty="0" err="1"/>
              <a:t>hash</a:t>
            </a:r>
            <a:r>
              <a:rPr lang="it-IT" dirty="0"/>
              <a:t> SHA256) dell'immagine. </a:t>
            </a:r>
          </a:p>
          <a:p>
            <a:r>
              <a:rPr lang="it-IT" dirty="0"/>
              <a:t>I tag sono lo strumento fondamentale per gestire il ciclo di vita e il </a:t>
            </a:r>
            <a:r>
              <a:rPr lang="it-IT" dirty="0" err="1"/>
              <a:t>versionamento</a:t>
            </a:r>
            <a:r>
              <a:rPr lang="it-IT" dirty="0"/>
              <a:t> del software (es. postgres:15.4, postgres:16.1 o </a:t>
            </a:r>
            <a:r>
              <a:rPr lang="it-IT" dirty="0" err="1"/>
              <a:t>postgres:latest</a:t>
            </a:r>
            <a:r>
              <a:rPr lang="it-IT" dirty="0"/>
              <a:t>). </a:t>
            </a:r>
          </a:p>
          <a:p>
            <a:r>
              <a:rPr lang="it-IT" dirty="0"/>
              <a:t>L'assegnazione di un nuovo tag tramite il comando </a:t>
            </a:r>
            <a:r>
              <a:rPr lang="it-IT" b="1" dirty="0" err="1"/>
              <a:t>docker</a:t>
            </a:r>
            <a:r>
              <a:rPr lang="it-IT" b="1" dirty="0"/>
              <a:t> tag </a:t>
            </a:r>
            <a:r>
              <a:rPr lang="it-IT" dirty="0">
                <a:solidFill>
                  <a:srgbClr val="171FE2"/>
                </a:solidFill>
              </a:rPr>
              <a:t>non esegue alcuna copia fisica dei file sul disco e non crea una nuova immagine</a:t>
            </a:r>
            <a:r>
              <a:rPr lang="it-IT" dirty="0"/>
              <a:t>: si limita a generare un puntatore logico aggiuntivo che fa riferimento allo stesso identico set di </a:t>
            </a:r>
            <a:r>
              <a:rPr lang="it-IT" dirty="0" err="1"/>
              <a:t>layer</a:t>
            </a:r>
            <a:r>
              <a:rPr lang="it-IT" dirty="0"/>
              <a:t> preesistente.</a:t>
            </a:r>
          </a:p>
          <a:p>
            <a:r>
              <a:rPr lang="it-IT" dirty="0"/>
              <a:t>L'inganno del tag ":</a:t>
            </a:r>
            <a:r>
              <a:rPr lang="it-IT" dirty="0" err="1"/>
              <a:t>latest</a:t>
            </a:r>
            <a:r>
              <a:rPr lang="it-IT" dirty="0"/>
              <a:t>". Non significa magicamente "la versione più stabile", ma è semplicemente il nome di default applicato da Docker se l'utente si dimentica di specificare un tag.</a:t>
            </a:r>
          </a:p>
          <a:p>
            <a:r>
              <a:rPr lang="it-IT" dirty="0">
                <a:solidFill>
                  <a:srgbClr val="171FE2"/>
                </a:solidFill>
              </a:rPr>
              <a:t>Prima:</a:t>
            </a:r>
          </a:p>
          <a:p>
            <a:r>
              <a:rPr lang="it-IT" dirty="0"/>
              <a:t>myapp:1.0  --&gt; Image ID: sha256:abcd</a:t>
            </a:r>
          </a:p>
          <a:p>
            <a:r>
              <a:rPr lang="it-IT" dirty="0">
                <a:solidFill>
                  <a:srgbClr val="171FE2"/>
                </a:solidFill>
              </a:rPr>
              <a:t>Dopo:</a:t>
            </a:r>
          </a:p>
          <a:p>
            <a:r>
              <a:rPr lang="it-IT" dirty="0"/>
              <a:t>myapp:1.0   --&gt; Image ID: sha256:abcd</a:t>
            </a:r>
          </a:p>
          <a:p>
            <a:r>
              <a:rPr lang="it-IT" dirty="0" err="1"/>
              <a:t>myapp:latest</a:t>
            </a:r>
            <a:r>
              <a:rPr lang="it-IT" dirty="0"/>
              <a:t> --&gt; Image ID: sha256:abcd</a:t>
            </a:r>
          </a:p>
        </p:txBody>
      </p:sp>
      <p:sp>
        <p:nvSpPr>
          <p:cNvPr id="4" name="Segnaposto numero diapositiva 3">
            <a:extLst>
              <a:ext uri="{FF2B5EF4-FFF2-40B4-BE49-F238E27FC236}">
                <a16:creationId xmlns:a16="http://schemas.microsoft.com/office/drawing/2014/main" id="{8694AE2E-7FDE-BB2A-7E6B-9E72D44F2FFB}"/>
              </a:ext>
            </a:extLst>
          </p:cNvPr>
          <p:cNvSpPr>
            <a:spLocks noGrp="1"/>
          </p:cNvSpPr>
          <p:nvPr>
            <p:ph type="sldNum" sz="quarter" idx="12"/>
          </p:nvPr>
        </p:nvSpPr>
        <p:spPr/>
        <p:txBody>
          <a:bodyPr/>
          <a:lstStyle/>
          <a:p>
            <a:r>
              <a:rPr lang="it-IT" dirty="0"/>
              <a:t>23</a:t>
            </a:r>
          </a:p>
        </p:txBody>
      </p:sp>
    </p:spTree>
    <p:extLst>
      <p:ext uri="{BB962C8B-B14F-4D97-AF65-F5344CB8AC3E}">
        <p14:creationId xmlns:p14="http://schemas.microsoft.com/office/powerpoint/2010/main" val="1794101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5624D-8E19-E855-89C7-4BF5EC7AA18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CAC64AA-3A28-9B14-24EC-51FE45007E71}"/>
              </a:ext>
            </a:extLst>
          </p:cNvPr>
          <p:cNvSpPr>
            <a:spLocks noGrp="1"/>
          </p:cNvSpPr>
          <p:nvPr>
            <p:ph type="title"/>
          </p:nvPr>
        </p:nvSpPr>
        <p:spPr/>
        <p:txBody>
          <a:bodyPr/>
          <a:lstStyle/>
          <a:p>
            <a:r>
              <a:rPr lang="it-IT" dirty="0"/>
              <a:t>Slide 24: La Direttiva FROM e la Genesi del Filesystem</a:t>
            </a:r>
          </a:p>
        </p:txBody>
      </p:sp>
      <p:sp>
        <p:nvSpPr>
          <p:cNvPr id="3" name="Segnaposto contenuto 2">
            <a:extLst>
              <a:ext uri="{FF2B5EF4-FFF2-40B4-BE49-F238E27FC236}">
                <a16:creationId xmlns:a16="http://schemas.microsoft.com/office/drawing/2014/main" id="{6134862D-804E-87FD-E8C8-4BFD507B5C3D}"/>
              </a:ext>
            </a:extLst>
          </p:cNvPr>
          <p:cNvSpPr>
            <a:spLocks noGrp="1"/>
          </p:cNvSpPr>
          <p:nvPr>
            <p:ph idx="1"/>
          </p:nvPr>
        </p:nvSpPr>
        <p:spPr/>
        <p:txBody>
          <a:bodyPr/>
          <a:lstStyle/>
          <a:p>
            <a:r>
              <a:rPr lang="it-IT" dirty="0"/>
              <a:t>Il </a:t>
            </a:r>
            <a:r>
              <a:rPr lang="it-IT" dirty="0" err="1"/>
              <a:t>Dockerfile</a:t>
            </a:r>
            <a:r>
              <a:rPr lang="it-IT" dirty="0"/>
              <a:t> è il documento di testo che contiene le istruzioni sequenziali necessarie per automatizzare il build di un'immagine personalizzata. </a:t>
            </a:r>
          </a:p>
          <a:p>
            <a:r>
              <a:rPr lang="it-IT" dirty="0"/>
              <a:t>La direttiva FROM costituisce la prima istruzione obbligatoria di ogni </a:t>
            </a:r>
            <a:r>
              <a:rPr lang="it-IT" dirty="0" err="1"/>
              <a:t>Dockerfile</a:t>
            </a:r>
            <a:r>
              <a:rPr lang="it-IT" dirty="0"/>
              <a:t> valido e definisce l'immagine di partenza (la Base Image) su cui l'intero castello di </a:t>
            </a:r>
            <a:r>
              <a:rPr lang="it-IT" dirty="0" err="1"/>
              <a:t>layer</a:t>
            </a:r>
            <a:r>
              <a:rPr lang="it-IT" dirty="0"/>
              <a:t> successivi verrà edificato. </a:t>
            </a:r>
          </a:p>
          <a:p>
            <a:r>
              <a:rPr lang="it-IT" dirty="0"/>
              <a:t>Senza la dichiarazione FROM, il motore di Docker si troverebbe nell'impossibilità di operare, poiché non saprebbe quale filesystem di base utilizzare come radice / del progetto. </a:t>
            </a:r>
          </a:p>
          <a:p>
            <a:r>
              <a:rPr lang="it-IT" dirty="0"/>
              <a:t>L'immagine di base invocata da FROM fornisce l'ambiente minimo indispensabile: un sistema operativo base, le sue librerie fondamentali e, a seconda del tag scelto, l'ambiente </a:t>
            </a:r>
            <a:r>
              <a:rPr lang="it-IT" dirty="0" err="1"/>
              <a:t>runtime</a:t>
            </a:r>
            <a:r>
              <a:rPr lang="it-IT" dirty="0"/>
              <a:t> ottimizzato per il linguaggio di programmazione utilizzato.</a:t>
            </a:r>
          </a:p>
        </p:txBody>
      </p:sp>
      <p:sp>
        <p:nvSpPr>
          <p:cNvPr id="4" name="Segnaposto numero diapositiva 3">
            <a:extLst>
              <a:ext uri="{FF2B5EF4-FFF2-40B4-BE49-F238E27FC236}">
                <a16:creationId xmlns:a16="http://schemas.microsoft.com/office/drawing/2014/main" id="{F74D55F0-A4A4-0B34-1B14-19E86177D6D7}"/>
              </a:ext>
            </a:extLst>
          </p:cNvPr>
          <p:cNvSpPr>
            <a:spLocks noGrp="1"/>
          </p:cNvSpPr>
          <p:nvPr>
            <p:ph type="sldNum" sz="quarter" idx="12"/>
          </p:nvPr>
        </p:nvSpPr>
        <p:spPr/>
        <p:txBody>
          <a:bodyPr/>
          <a:lstStyle/>
          <a:p>
            <a:r>
              <a:rPr lang="it-IT" dirty="0"/>
              <a:t>24</a:t>
            </a:r>
          </a:p>
        </p:txBody>
      </p:sp>
    </p:spTree>
    <p:extLst>
      <p:ext uri="{BB962C8B-B14F-4D97-AF65-F5344CB8AC3E}">
        <p14:creationId xmlns:p14="http://schemas.microsoft.com/office/powerpoint/2010/main" val="938636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21E1-21C1-A985-341C-BC9FBBC6245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E5F7FF2-94DC-37E8-C832-92DAD2E7E113}"/>
              </a:ext>
            </a:extLst>
          </p:cNvPr>
          <p:cNvSpPr>
            <a:spLocks noGrp="1"/>
          </p:cNvSpPr>
          <p:nvPr>
            <p:ph type="title"/>
          </p:nvPr>
        </p:nvSpPr>
        <p:spPr/>
        <p:txBody>
          <a:bodyPr/>
          <a:lstStyle/>
          <a:p>
            <a:r>
              <a:rPr lang="it-IT" dirty="0"/>
              <a:t>Slide 25: Anatomia Analitica di un Tag di Produzione: Eclipse-</a:t>
            </a:r>
            <a:r>
              <a:rPr lang="it-IT" dirty="0" err="1"/>
              <a:t>Temurin</a:t>
            </a:r>
            <a:endParaRPr lang="it-IT" dirty="0"/>
          </a:p>
        </p:txBody>
      </p:sp>
      <p:sp>
        <p:nvSpPr>
          <p:cNvPr id="3" name="Segnaposto contenuto 2">
            <a:extLst>
              <a:ext uri="{FF2B5EF4-FFF2-40B4-BE49-F238E27FC236}">
                <a16:creationId xmlns:a16="http://schemas.microsoft.com/office/drawing/2014/main" id="{3E63BC82-1785-2651-DC33-C57A49FF2FEE}"/>
              </a:ext>
            </a:extLst>
          </p:cNvPr>
          <p:cNvSpPr>
            <a:spLocks noGrp="1"/>
          </p:cNvSpPr>
          <p:nvPr>
            <p:ph idx="1"/>
          </p:nvPr>
        </p:nvSpPr>
        <p:spPr/>
        <p:txBody>
          <a:bodyPr/>
          <a:lstStyle/>
          <a:p>
            <a:r>
              <a:rPr lang="it-IT" dirty="0"/>
              <a:t>Analizziamo un'istruzione reale: FROM eclipse-temurin:17-jre-alpine. </a:t>
            </a:r>
          </a:p>
          <a:p>
            <a:r>
              <a:rPr lang="it-IT" dirty="0"/>
              <a:t>Questa riga non è una stringa casuale, ma una combinazione precisa: </a:t>
            </a:r>
          </a:p>
          <a:p>
            <a:pPr marL="285750" indent="-285750">
              <a:buFont typeface="Arial" panose="020B0604020202020204" pitchFamily="34" charset="0"/>
              <a:buChar char="•"/>
            </a:pPr>
            <a:r>
              <a:rPr lang="it-IT" b="1" dirty="0" err="1"/>
              <a:t>eclipse-temurin</a:t>
            </a:r>
            <a:r>
              <a:rPr lang="it-IT" dirty="0"/>
              <a:t> identifica il repository ufficiale dell'organizzazione Eclipse che distribuisce build </a:t>
            </a:r>
            <a:r>
              <a:rPr lang="it-IT" dirty="0" err="1"/>
              <a:t>OpenJDK</a:t>
            </a:r>
            <a:r>
              <a:rPr lang="it-IT" dirty="0"/>
              <a:t> stabili e certificate; </a:t>
            </a:r>
          </a:p>
          <a:p>
            <a:pPr marL="285750" indent="-285750">
              <a:buFont typeface="Arial" panose="020B0604020202020204" pitchFamily="34" charset="0"/>
              <a:buChar char="•"/>
            </a:pPr>
            <a:r>
              <a:rPr lang="it-IT" b="1" dirty="0"/>
              <a:t>17</a:t>
            </a:r>
            <a:r>
              <a:rPr lang="it-IT" dirty="0"/>
              <a:t> specifica la versione Long </a:t>
            </a:r>
            <a:r>
              <a:rPr lang="it-IT" dirty="0" err="1"/>
              <a:t>Term</a:t>
            </a:r>
            <a:r>
              <a:rPr lang="it-IT" dirty="0"/>
              <a:t> Support (LTS) del linguaggio Java richiesta dall'applicazione; </a:t>
            </a:r>
          </a:p>
          <a:p>
            <a:pPr marL="285750" indent="-285750">
              <a:buFont typeface="Arial" panose="020B0604020202020204" pitchFamily="34" charset="0"/>
              <a:buChar char="•"/>
            </a:pPr>
            <a:r>
              <a:rPr lang="it-IT" b="1" dirty="0" err="1"/>
              <a:t>jre</a:t>
            </a:r>
            <a:r>
              <a:rPr lang="it-IT" dirty="0"/>
              <a:t> evidenzia che l'immagine include esclusivamente il Java Runtime Environment, ovvero i componenti minimi per eseguire un programma, omettendo i compilatori; </a:t>
            </a:r>
          </a:p>
          <a:p>
            <a:pPr marL="285750" indent="-285750">
              <a:buFont typeface="Arial" panose="020B0604020202020204" pitchFamily="34" charset="0"/>
              <a:buChar char="•"/>
            </a:pPr>
            <a:r>
              <a:rPr lang="it-IT" b="1" dirty="0"/>
              <a:t>alpine</a:t>
            </a:r>
            <a:r>
              <a:rPr lang="it-IT" dirty="0"/>
              <a:t> indica che il sistema operativo di base è Alpine Linux, una distribuzione ultrasicura e microscopica basata sulla libreria </a:t>
            </a:r>
            <a:r>
              <a:rPr lang="it-IT" dirty="0" err="1"/>
              <a:t>musl</a:t>
            </a:r>
            <a:r>
              <a:rPr lang="it-IT" dirty="0"/>
              <a:t> anziché sulla pesante </a:t>
            </a:r>
            <a:r>
              <a:rPr lang="it-IT" dirty="0" err="1"/>
              <a:t>glibc</a:t>
            </a:r>
            <a:r>
              <a:rPr lang="it-IT" dirty="0"/>
              <a:t>.</a:t>
            </a:r>
          </a:p>
          <a:p>
            <a:r>
              <a:rPr lang="it-IT" dirty="0"/>
              <a:t>La combinazione di queste scelte produca un'immagine finale sicura e incredibilmente leggera rispetto alle distribuzioni standard </a:t>
            </a:r>
            <a:r>
              <a:rPr lang="it-IT" dirty="0" err="1"/>
              <a:t>Debian</a:t>
            </a:r>
            <a:r>
              <a:rPr lang="it-IT" dirty="0"/>
              <a:t> o Ubuntu.</a:t>
            </a:r>
          </a:p>
        </p:txBody>
      </p:sp>
      <p:sp>
        <p:nvSpPr>
          <p:cNvPr id="4" name="Segnaposto numero diapositiva 3">
            <a:extLst>
              <a:ext uri="{FF2B5EF4-FFF2-40B4-BE49-F238E27FC236}">
                <a16:creationId xmlns:a16="http://schemas.microsoft.com/office/drawing/2014/main" id="{90C20483-D81B-246D-A90B-079E4A410A66}"/>
              </a:ext>
            </a:extLst>
          </p:cNvPr>
          <p:cNvSpPr>
            <a:spLocks noGrp="1"/>
          </p:cNvSpPr>
          <p:nvPr>
            <p:ph type="sldNum" sz="quarter" idx="12"/>
          </p:nvPr>
        </p:nvSpPr>
        <p:spPr/>
        <p:txBody>
          <a:bodyPr/>
          <a:lstStyle/>
          <a:p>
            <a:r>
              <a:rPr lang="it-IT" dirty="0"/>
              <a:t>25</a:t>
            </a:r>
          </a:p>
        </p:txBody>
      </p:sp>
    </p:spTree>
    <p:extLst>
      <p:ext uri="{BB962C8B-B14F-4D97-AF65-F5344CB8AC3E}">
        <p14:creationId xmlns:p14="http://schemas.microsoft.com/office/powerpoint/2010/main" val="3472671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9C1E6-F6AD-87F0-D555-676AB61685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3FD7875-A342-A3E6-5379-46205E792EED}"/>
              </a:ext>
            </a:extLst>
          </p:cNvPr>
          <p:cNvSpPr>
            <a:spLocks noGrp="1"/>
          </p:cNvSpPr>
          <p:nvPr>
            <p:ph type="title"/>
          </p:nvPr>
        </p:nvSpPr>
        <p:spPr/>
        <p:txBody>
          <a:bodyPr/>
          <a:lstStyle/>
          <a:p>
            <a:r>
              <a:rPr lang="it-IT" dirty="0"/>
              <a:t>Slide 26: Anatomia Analitica di un Tag di Produzione: Eclipse-</a:t>
            </a:r>
            <a:r>
              <a:rPr lang="it-IT" dirty="0" err="1"/>
              <a:t>Temurin</a:t>
            </a:r>
            <a:endParaRPr lang="it-IT" dirty="0"/>
          </a:p>
        </p:txBody>
      </p:sp>
      <p:sp>
        <p:nvSpPr>
          <p:cNvPr id="3" name="Segnaposto contenuto 2">
            <a:extLst>
              <a:ext uri="{FF2B5EF4-FFF2-40B4-BE49-F238E27FC236}">
                <a16:creationId xmlns:a16="http://schemas.microsoft.com/office/drawing/2014/main" id="{B44487C1-10C5-5B31-E3EF-0DA254F81E4E}"/>
              </a:ext>
            </a:extLst>
          </p:cNvPr>
          <p:cNvSpPr>
            <a:spLocks noGrp="1"/>
          </p:cNvSpPr>
          <p:nvPr>
            <p:ph idx="1"/>
          </p:nvPr>
        </p:nvSpPr>
        <p:spPr/>
        <p:txBody>
          <a:bodyPr/>
          <a:lstStyle/>
          <a:p>
            <a:r>
              <a:rPr lang="it-IT" dirty="0"/>
              <a:t>Un errore comune commesso dai team di sviluppo junior consiste nell'utilizzare indiscriminatamente immagini basate su JDK (Java Development Kit) all'interno dei </a:t>
            </a:r>
            <a:r>
              <a:rPr lang="it-IT" dirty="0" err="1"/>
              <a:t>Dockerfile</a:t>
            </a:r>
            <a:r>
              <a:rPr lang="it-IT" dirty="0"/>
              <a:t> di produzione. </a:t>
            </a:r>
          </a:p>
          <a:p>
            <a:r>
              <a:rPr lang="it-IT" dirty="0"/>
              <a:t>Il JDK include l'intera suite di strumenti necessari alla scrittura del codice, inclusi il compilatore </a:t>
            </a:r>
            <a:r>
              <a:rPr lang="it-IT" dirty="0" err="1"/>
              <a:t>javac</a:t>
            </a:r>
            <a:r>
              <a:rPr lang="it-IT" dirty="0"/>
              <a:t>, il debugger e i tool di profilazione hardware, portando il peso dell'immagine base oltre i 400MB. </a:t>
            </a:r>
          </a:p>
          <a:p>
            <a:r>
              <a:rPr lang="it-IT" dirty="0"/>
              <a:t>Al contrario, l'immagine JRE contiene unicamente la Virtual Machine (java) e le librerie necessarie all'esecuzione di un file .</a:t>
            </a:r>
            <a:r>
              <a:rPr lang="it-IT" dirty="0" err="1"/>
              <a:t>jar</a:t>
            </a:r>
            <a:r>
              <a:rPr lang="it-IT" dirty="0"/>
              <a:t> già compilato esternamente, riducendo il peso a un terzo. </a:t>
            </a:r>
          </a:p>
          <a:p>
            <a:r>
              <a:rPr lang="it-IT" dirty="0"/>
              <a:t>In un </a:t>
            </a:r>
            <a:r>
              <a:rPr lang="it-IT" dirty="0" err="1"/>
              <a:t>Dockerfile</a:t>
            </a:r>
            <a:r>
              <a:rPr lang="it-IT" dirty="0"/>
              <a:t> lineare standard, se il codice viene compilato sul PC dello sviluppatore o sul server di CI/CD, l'immagine finale distribuita sui server deve tassativamente adottare un approccio basato su JRE.</a:t>
            </a:r>
          </a:p>
          <a:p>
            <a:r>
              <a:rPr lang="it-IT" dirty="0"/>
              <a:t>JDK serve per costruire e compilare; JRE serve per eseguire in produzione. </a:t>
            </a:r>
          </a:p>
          <a:p>
            <a:r>
              <a:rPr lang="it-IT" dirty="0">
                <a:solidFill>
                  <a:srgbClr val="171FE2"/>
                </a:solidFill>
              </a:rPr>
              <a:t>Portare strumenti di sviluppo in produzione è uno spreco di spazio e un rischio di sicurezza.</a:t>
            </a:r>
          </a:p>
        </p:txBody>
      </p:sp>
      <p:sp>
        <p:nvSpPr>
          <p:cNvPr id="4" name="Segnaposto numero diapositiva 3">
            <a:extLst>
              <a:ext uri="{FF2B5EF4-FFF2-40B4-BE49-F238E27FC236}">
                <a16:creationId xmlns:a16="http://schemas.microsoft.com/office/drawing/2014/main" id="{8950014A-BB63-0A80-8832-52A88D180848}"/>
              </a:ext>
            </a:extLst>
          </p:cNvPr>
          <p:cNvSpPr>
            <a:spLocks noGrp="1"/>
          </p:cNvSpPr>
          <p:nvPr>
            <p:ph type="sldNum" sz="quarter" idx="12"/>
          </p:nvPr>
        </p:nvSpPr>
        <p:spPr/>
        <p:txBody>
          <a:bodyPr/>
          <a:lstStyle/>
          <a:p>
            <a:r>
              <a:rPr lang="it-IT" dirty="0"/>
              <a:t>26</a:t>
            </a:r>
          </a:p>
        </p:txBody>
      </p:sp>
    </p:spTree>
    <p:extLst>
      <p:ext uri="{BB962C8B-B14F-4D97-AF65-F5344CB8AC3E}">
        <p14:creationId xmlns:p14="http://schemas.microsoft.com/office/powerpoint/2010/main" val="8002956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975E3-6A3A-9850-0D35-59D80B5A9D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3A0725-DD69-D6AD-E67D-0C42507B8286}"/>
              </a:ext>
            </a:extLst>
          </p:cNvPr>
          <p:cNvSpPr>
            <a:spLocks noGrp="1"/>
          </p:cNvSpPr>
          <p:nvPr>
            <p:ph type="title"/>
          </p:nvPr>
        </p:nvSpPr>
        <p:spPr/>
        <p:txBody>
          <a:bodyPr/>
          <a:lstStyle/>
          <a:p>
            <a:r>
              <a:rPr lang="it-IT" dirty="0"/>
              <a:t>Slide 27: La Direttiva WORKDIR e la Stabilità dei Percorsi</a:t>
            </a:r>
          </a:p>
        </p:txBody>
      </p:sp>
      <p:sp>
        <p:nvSpPr>
          <p:cNvPr id="3" name="Segnaposto contenuto 2">
            <a:extLst>
              <a:ext uri="{FF2B5EF4-FFF2-40B4-BE49-F238E27FC236}">
                <a16:creationId xmlns:a16="http://schemas.microsoft.com/office/drawing/2014/main" id="{823C3C79-2D31-AB4E-8087-96AB4F85BF70}"/>
              </a:ext>
            </a:extLst>
          </p:cNvPr>
          <p:cNvSpPr>
            <a:spLocks noGrp="1"/>
          </p:cNvSpPr>
          <p:nvPr>
            <p:ph idx="1"/>
          </p:nvPr>
        </p:nvSpPr>
        <p:spPr/>
        <p:txBody>
          <a:bodyPr/>
          <a:lstStyle/>
          <a:p>
            <a:r>
              <a:rPr lang="it-IT" dirty="0"/>
              <a:t>La direttiva WORKDIR /app ha il compito di impostare la directory di lavoro corrente all'interno del filesystem dell'immagine per tutte le istruzioni successive del </a:t>
            </a:r>
            <a:r>
              <a:rPr lang="it-IT" dirty="0" err="1"/>
              <a:t>Dockerfile</a:t>
            </a:r>
            <a:r>
              <a:rPr lang="it-IT" dirty="0"/>
              <a:t>, come COPY, RUN, CMD o ENTRYPOINT. </a:t>
            </a:r>
          </a:p>
          <a:p>
            <a:r>
              <a:rPr lang="it-IT" dirty="0"/>
              <a:t>Se la cartella specificata nel percorso assoluto non esiste, il Docker </a:t>
            </a:r>
            <a:r>
              <a:rPr lang="it-IT" dirty="0" err="1"/>
              <a:t>Daemon</a:t>
            </a:r>
            <a:r>
              <a:rPr lang="it-IT" dirty="0"/>
              <a:t> provvede a crearla automaticamente sul momento. </a:t>
            </a:r>
          </a:p>
          <a:p>
            <a:r>
              <a:rPr lang="it-IT" dirty="0"/>
              <a:t>È una gravissima imprecisione metodologica tentare di navigare nel filesystem inserendo istruzioni del tipo RUN </a:t>
            </a:r>
            <a:r>
              <a:rPr lang="it-IT" dirty="0" err="1"/>
              <a:t>mkdir</a:t>
            </a:r>
            <a:r>
              <a:rPr lang="it-IT" dirty="0"/>
              <a:t> /app &amp;&amp; cd /app. </a:t>
            </a:r>
          </a:p>
          <a:p>
            <a:r>
              <a:rPr lang="it-IT" dirty="0"/>
              <a:t>Ogni istruzione RUN viene eseguita in un nuovo container temporaneo costruito a partire dal </a:t>
            </a:r>
            <a:r>
              <a:rPr lang="it-IT" dirty="0" err="1"/>
              <a:t>layer</a:t>
            </a:r>
            <a:r>
              <a:rPr lang="it-IT" dirty="0"/>
              <a:t> precedente, </a:t>
            </a:r>
            <a:r>
              <a:rPr lang="it-IT" dirty="0" err="1"/>
              <a:t>percui</a:t>
            </a:r>
            <a:r>
              <a:rPr lang="it-IT" dirty="0"/>
              <a:t> l'effetto del comando cd andrebbe istantaneamente perduto nella riga successiva. WORKDIR agisce invece come una configurazione di stato permanente e sicura.</a:t>
            </a:r>
          </a:p>
          <a:p>
            <a:r>
              <a:rPr lang="it-IT" dirty="0"/>
              <a:t>L'uso esplicito di WORKDIR garantisce che i file non vengano mai accidentalmente scritti nella cartella root (/) dell'immagine, mantenendo la struttura interna pulita e standardizzata.</a:t>
            </a:r>
            <a:endParaRPr lang="it-IT" dirty="0">
              <a:solidFill>
                <a:srgbClr val="171FE2"/>
              </a:solidFill>
            </a:endParaRPr>
          </a:p>
        </p:txBody>
      </p:sp>
      <p:sp>
        <p:nvSpPr>
          <p:cNvPr id="4" name="Segnaposto numero diapositiva 3">
            <a:extLst>
              <a:ext uri="{FF2B5EF4-FFF2-40B4-BE49-F238E27FC236}">
                <a16:creationId xmlns:a16="http://schemas.microsoft.com/office/drawing/2014/main" id="{BABD940C-E16D-8932-8DD4-5E2A4E1AA13C}"/>
              </a:ext>
            </a:extLst>
          </p:cNvPr>
          <p:cNvSpPr>
            <a:spLocks noGrp="1"/>
          </p:cNvSpPr>
          <p:nvPr>
            <p:ph type="sldNum" sz="quarter" idx="12"/>
          </p:nvPr>
        </p:nvSpPr>
        <p:spPr/>
        <p:txBody>
          <a:bodyPr/>
          <a:lstStyle/>
          <a:p>
            <a:r>
              <a:rPr lang="it-IT" dirty="0"/>
              <a:t>27</a:t>
            </a:r>
          </a:p>
        </p:txBody>
      </p:sp>
    </p:spTree>
    <p:extLst>
      <p:ext uri="{BB962C8B-B14F-4D97-AF65-F5344CB8AC3E}">
        <p14:creationId xmlns:p14="http://schemas.microsoft.com/office/powerpoint/2010/main" val="6999884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5B3A-47C5-D9D7-6C80-A9449BC092B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13C7E86-CFC1-DDE5-3441-EF09894F603D}"/>
              </a:ext>
            </a:extLst>
          </p:cNvPr>
          <p:cNvSpPr>
            <a:spLocks noGrp="1"/>
          </p:cNvSpPr>
          <p:nvPr>
            <p:ph type="title"/>
          </p:nvPr>
        </p:nvSpPr>
        <p:spPr/>
        <p:txBody>
          <a:bodyPr/>
          <a:lstStyle/>
          <a:p>
            <a:r>
              <a:rPr lang="it-IT" dirty="0"/>
              <a:t>Slide 28: La Direttiva COPY e la Gestione dei Contests</a:t>
            </a:r>
          </a:p>
        </p:txBody>
      </p:sp>
      <p:sp>
        <p:nvSpPr>
          <p:cNvPr id="3" name="Segnaposto contenuto 2">
            <a:extLst>
              <a:ext uri="{FF2B5EF4-FFF2-40B4-BE49-F238E27FC236}">
                <a16:creationId xmlns:a16="http://schemas.microsoft.com/office/drawing/2014/main" id="{CC6C1F1B-63C2-A850-FB63-4F889C4D2434}"/>
              </a:ext>
            </a:extLst>
          </p:cNvPr>
          <p:cNvSpPr>
            <a:spLocks noGrp="1"/>
          </p:cNvSpPr>
          <p:nvPr>
            <p:ph idx="1"/>
          </p:nvPr>
        </p:nvSpPr>
        <p:spPr/>
        <p:txBody>
          <a:bodyPr/>
          <a:lstStyle/>
          <a:p>
            <a:r>
              <a:rPr lang="it-IT" dirty="0"/>
              <a:t>L'istruzione COPY target/*.</a:t>
            </a:r>
            <a:r>
              <a:rPr lang="it-IT" dirty="0" err="1"/>
              <a:t>jar</a:t>
            </a:r>
            <a:r>
              <a:rPr lang="it-IT" dirty="0"/>
              <a:t> app.jar assolve al compito fondamentale di trasferire file o intere cartelle dal filesystem locale della macchina </a:t>
            </a:r>
            <a:r>
              <a:rPr lang="it-IT" dirty="0" err="1"/>
              <a:t>host</a:t>
            </a:r>
            <a:r>
              <a:rPr lang="it-IT" dirty="0"/>
              <a:t> (il computer di sviluppo o il server di automazione) all'interno del filesystem virtuale dell'immagine Docker in fase di compilazione. </a:t>
            </a:r>
          </a:p>
          <a:p>
            <a:r>
              <a:rPr lang="it-IT" dirty="0"/>
              <a:t>Questa direttiva opera nel pieno rispetto delle coordinate stabilite in precedenza: </a:t>
            </a:r>
          </a:p>
          <a:p>
            <a:r>
              <a:rPr lang="it-IT" dirty="0"/>
              <a:t>il </a:t>
            </a:r>
            <a:r>
              <a:rPr lang="it-IT" b="1" dirty="0"/>
              <a:t>primo argomento </a:t>
            </a:r>
            <a:r>
              <a:rPr lang="it-IT" dirty="0"/>
              <a:t>rappresenta il percorso sorgente sul PC ospitante, il quale deve trovarsi tassativamente all'interno del cosiddetto Build </a:t>
            </a:r>
            <a:r>
              <a:rPr lang="it-IT" dirty="0" err="1"/>
              <a:t>Context</a:t>
            </a:r>
            <a:r>
              <a:rPr lang="it-IT" dirty="0"/>
              <a:t> (la cartella in cui è stato lanciato il comando di build); </a:t>
            </a:r>
          </a:p>
          <a:p>
            <a:r>
              <a:rPr lang="it-IT" dirty="0"/>
              <a:t>il </a:t>
            </a:r>
            <a:r>
              <a:rPr lang="it-IT" b="1" dirty="0"/>
              <a:t>secondo argomento </a:t>
            </a:r>
            <a:r>
              <a:rPr lang="it-IT" dirty="0"/>
              <a:t>definisce il percorso di destinazione interno. Se prima è stato dichiarato WORKDIR /app, il file descritto nell'esempio verrà memorizzato nel percorso assoluto /app/app.jar.</a:t>
            </a:r>
          </a:p>
        </p:txBody>
      </p:sp>
      <p:sp>
        <p:nvSpPr>
          <p:cNvPr id="4" name="Segnaposto numero diapositiva 3">
            <a:extLst>
              <a:ext uri="{FF2B5EF4-FFF2-40B4-BE49-F238E27FC236}">
                <a16:creationId xmlns:a16="http://schemas.microsoft.com/office/drawing/2014/main" id="{EB233972-98FD-B653-CA38-0464E4ABB8AF}"/>
              </a:ext>
            </a:extLst>
          </p:cNvPr>
          <p:cNvSpPr>
            <a:spLocks noGrp="1"/>
          </p:cNvSpPr>
          <p:nvPr>
            <p:ph type="sldNum" sz="quarter" idx="12"/>
          </p:nvPr>
        </p:nvSpPr>
        <p:spPr/>
        <p:txBody>
          <a:bodyPr/>
          <a:lstStyle/>
          <a:p>
            <a:r>
              <a:rPr lang="it-IT" dirty="0"/>
              <a:t>28</a:t>
            </a:r>
          </a:p>
        </p:txBody>
      </p:sp>
    </p:spTree>
    <p:extLst>
      <p:ext uri="{BB962C8B-B14F-4D97-AF65-F5344CB8AC3E}">
        <p14:creationId xmlns:p14="http://schemas.microsoft.com/office/powerpoint/2010/main" val="37793579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6D163-5DA3-B99C-D89E-035CA4541EB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A83A391-03F5-EE12-6E6D-AAFEEB6CDA79}"/>
              </a:ext>
            </a:extLst>
          </p:cNvPr>
          <p:cNvSpPr>
            <a:spLocks noGrp="1"/>
          </p:cNvSpPr>
          <p:nvPr>
            <p:ph type="title"/>
          </p:nvPr>
        </p:nvSpPr>
        <p:spPr/>
        <p:txBody>
          <a:bodyPr/>
          <a:lstStyle/>
          <a:p>
            <a:r>
              <a:rPr lang="it-IT" dirty="0"/>
              <a:t>Slide 29: La Direttiva CMD ed il Metadato di Avvio (</a:t>
            </a:r>
            <a:r>
              <a:rPr lang="it-IT" dirty="0" err="1"/>
              <a:t>Exec</a:t>
            </a:r>
            <a:r>
              <a:rPr lang="it-IT" dirty="0"/>
              <a:t> Form)</a:t>
            </a:r>
          </a:p>
        </p:txBody>
      </p:sp>
      <p:sp>
        <p:nvSpPr>
          <p:cNvPr id="3" name="Segnaposto contenuto 2">
            <a:extLst>
              <a:ext uri="{FF2B5EF4-FFF2-40B4-BE49-F238E27FC236}">
                <a16:creationId xmlns:a16="http://schemas.microsoft.com/office/drawing/2014/main" id="{9DB19250-0845-8841-57A3-2D1123A14C12}"/>
              </a:ext>
            </a:extLst>
          </p:cNvPr>
          <p:cNvSpPr>
            <a:spLocks noGrp="1"/>
          </p:cNvSpPr>
          <p:nvPr>
            <p:ph idx="1"/>
          </p:nvPr>
        </p:nvSpPr>
        <p:spPr/>
        <p:txBody>
          <a:bodyPr/>
          <a:lstStyle/>
          <a:p>
            <a:r>
              <a:rPr lang="it-IT" dirty="0"/>
              <a:t>La direttiva CMD ["java", "-</a:t>
            </a:r>
            <a:r>
              <a:rPr lang="it-IT" dirty="0" err="1"/>
              <a:t>jar</a:t>
            </a:r>
            <a:r>
              <a:rPr lang="it-IT" dirty="0"/>
              <a:t>", "app.jar"] definisce il comando predefinito che il container dovrà eseguire nel momento esatto in cui verrà risvegliato tramite il comando </a:t>
            </a:r>
            <a:r>
              <a:rPr lang="it-IT" dirty="0" err="1"/>
              <a:t>docker</a:t>
            </a:r>
            <a:r>
              <a:rPr lang="it-IT" dirty="0"/>
              <a:t> </a:t>
            </a:r>
            <a:r>
              <a:rPr lang="it-IT" dirty="0" err="1"/>
              <a:t>run</a:t>
            </a:r>
            <a:r>
              <a:rPr lang="it-IT" dirty="0"/>
              <a:t>. </a:t>
            </a:r>
          </a:p>
          <a:p>
            <a:r>
              <a:rPr lang="it-IT" dirty="0"/>
              <a:t>Questa istruzione non effettua alcuna elaborazione attiva o computazione durante la fase di build dell'immagine. </a:t>
            </a:r>
          </a:p>
          <a:p>
            <a:r>
              <a:rPr lang="it-IT" dirty="0"/>
              <a:t>CMD si limita a scrivere un metadato di testo all'interno della configurazione dell'immagine. </a:t>
            </a:r>
          </a:p>
          <a:p>
            <a:r>
              <a:rPr lang="it-IT" dirty="0"/>
              <a:t>La sintassi consigliata è la cosiddetta </a:t>
            </a:r>
            <a:r>
              <a:rPr lang="it-IT" dirty="0" err="1"/>
              <a:t>Exec</a:t>
            </a:r>
            <a:r>
              <a:rPr lang="it-IT" dirty="0"/>
              <a:t> Form, strutturata come un array JSON di stringhe. </a:t>
            </a:r>
          </a:p>
          <a:p>
            <a:r>
              <a:rPr lang="it-IT" dirty="0"/>
              <a:t>Questa notazione assicura che il processo applicativo venga lanciato direttamente sul kernel con il PID 1, permettendogli di intercettare correttamente i segnali di terminazione di sistema (come SIGTERM o SIGKILL) inviati da Docker durante le fasi di arresto.</a:t>
            </a:r>
          </a:p>
          <a:p>
            <a:r>
              <a:rPr lang="it-IT" dirty="0">
                <a:solidFill>
                  <a:srgbClr val="171FE2"/>
                </a:solidFill>
              </a:rPr>
              <a:t>Se si omette la sintassi ad array e si scrive "CMD java -</a:t>
            </a:r>
            <a:r>
              <a:rPr lang="it-IT" dirty="0" err="1">
                <a:solidFill>
                  <a:srgbClr val="171FE2"/>
                </a:solidFill>
              </a:rPr>
              <a:t>jar</a:t>
            </a:r>
            <a:r>
              <a:rPr lang="it-IT" dirty="0">
                <a:solidFill>
                  <a:srgbClr val="171FE2"/>
                </a:solidFill>
              </a:rPr>
              <a:t> app.jar" (Shell Form), Docker avvierà il programma come figlio di "/bin/sh -c", impedendo all'applicazione di ricevere i segnali di stop.</a:t>
            </a:r>
          </a:p>
        </p:txBody>
      </p:sp>
      <p:sp>
        <p:nvSpPr>
          <p:cNvPr id="4" name="Segnaposto numero diapositiva 3">
            <a:extLst>
              <a:ext uri="{FF2B5EF4-FFF2-40B4-BE49-F238E27FC236}">
                <a16:creationId xmlns:a16="http://schemas.microsoft.com/office/drawing/2014/main" id="{B09EF69D-4FF1-E203-9CC4-FBE30D8BE5AC}"/>
              </a:ext>
            </a:extLst>
          </p:cNvPr>
          <p:cNvSpPr>
            <a:spLocks noGrp="1"/>
          </p:cNvSpPr>
          <p:nvPr>
            <p:ph type="sldNum" sz="quarter" idx="12"/>
          </p:nvPr>
        </p:nvSpPr>
        <p:spPr/>
        <p:txBody>
          <a:bodyPr/>
          <a:lstStyle/>
          <a:p>
            <a:r>
              <a:rPr lang="it-IT" dirty="0"/>
              <a:t>29</a:t>
            </a:r>
          </a:p>
        </p:txBody>
      </p:sp>
    </p:spTree>
    <p:extLst>
      <p:ext uri="{BB962C8B-B14F-4D97-AF65-F5344CB8AC3E}">
        <p14:creationId xmlns:p14="http://schemas.microsoft.com/office/powerpoint/2010/main" val="4826747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70EA-3FF5-1A77-4CA1-C8E578EB372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3A20988-0250-EC7F-DC6E-CA64FEF758E5}"/>
              </a:ext>
            </a:extLst>
          </p:cNvPr>
          <p:cNvSpPr>
            <a:spLocks noGrp="1"/>
          </p:cNvSpPr>
          <p:nvPr>
            <p:ph type="title"/>
          </p:nvPr>
        </p:nvSpPr>
        <p:spPr/>
        <p:txBody>
          <a:bodyPr/>
          <a:lstStyle/>
          <a:p>
            <a:r>
              <a:rPr lang="it-IT" dirty="0"/>
              <a:t>Slide 30: Demolizione del Falso Mito del Comando EXPOSE</a:t>
            </a:r>
          </a:p>
        </p:txBody>
      </p:sp>
      <p:sp>
        <p:nvSpPr>
          <p:cNvPr id="3" name="Segnaposto contenuto 2">
            <a:extLst>
              <a:ext uri="{FF2B5EF4-FFF2-40B4-BE49-F238E27FC236}">
                <a16:creationId xmlns:a16="http://schemas.microsoft.com/office/drawing/2014/main" id="{1A61B2F9-51DA-554E-AC2D-3A9CA4217539}"/>
              </a:ext>
            </a:extLst>
          </p:cNvPr>
          <p:cNvSpPr>
            <a:spLocks noGrp="1"/>
          </p:cNvSpPr>
          <p:nvPr>
            <p:ph idx="1"/>
          </p:nvPr>
        </p:nvSpPr>
        <p:spPr/>
        <p:txBody>
          <a:bodyPr/>
          <a:lstStyle/>
          <a:p>
            <a:r>
              <a:rPr lang="it-IT" dirty="0"/>
              <a:t>Una delle incomprensioni più radicate nel mondo della formazione su Docker riguarda il ruolo dell'istruzione EXPOSE 8098. </a:t>
            </a:r>
          </a:p>
          <a:p>
            <a:r>
              <a:rPr lang="it-IT" dirty="0"/>
              <a:t>L'istruzione EXPOSE è una direttiva di puro metadato con un valore esclusivamente documentale e informativo. </a:t>
            </a:r>
          </a:p>
          <a:p>
            <a:r>
              <a:rPr lang="it-IT" dirty="0"/>
              <a:t>Serve unicamente a comunicare ai sistemisti o agli utilizzatori dell'immagine quale porta interna l'applicazione intende utilizzare a </a:t>
            </a:r>
            <a:r>
              <a:rPr lang="it-IT" dirty="0" err="1"/>
              <a:t>runtime</a:t>
            </a:r>
            <a:r>
              <a:rPr lang="it-IT" dirty="0"/>
              <a:t> per ascoltare il traffico. </a:t>
            </a:r>
          </a:p>
          <a:p>
            <a:r>
              <a:rPr lang="it-IT" dirty="0"/>
              <a:t>Per abilitare la comunicazione reale con l'esterno, l'operatore dovrà tassativamente mappare esplicitamente le porte a </a:t>
            </a:r>
            <a:r>
              <a:rPr lang="it-IT" dirty="0" err="1"/>
              <a:t>runtime</a:t>
            </a:r>
            <a:r>
              <a:rPr lang="it-IT" dirty="0"/>
              <a:t> utilizzando il flag -p 8098:8098 nel comando </a:t>
            </a:r>
            <a:r>
              <a:rPr lang="it-IT" dirty="0" err="1"/>
              <a:t>run</a:t>
            </a:r>
            <a:r>
              <a:rPr lang="it-IT" dirty="0"/>
              <a:t>.</a:t>
            </a:r>
          </a:p>
          <a:p>
            <a:endParaRPr lang="it-IT" dirty="0"/>
          </a:p>
        </p:txBody>
      </p:sp>
      <p:sp>
        <p:nvSpPr>
          <p:cNvPr id="4" name="Segnaposto numero diapositiva 3">
            <a:extLst>
              <a:ext uri="{FF2B5EF4-FFF2-40B4-BE49-F238E27FC236}">
                <a16:creationId xmlns:a16="http://schemas.microsoft.com/office/drawing/2014/main" id="{DCABA70A-0BB1-AF4F-B12B-77150660EE13}"/>
              </a:ext>
            </a:extLst>
          </p:cNvPr>
          <p:cNvSpPr>
            <a:spLocks noGrp="1"/>
          </p:cNvSpPr>
          <p:nvPr>
            <p:ph type="sldNum" sz="quarter" idx="12"/>
          </p:nvPr>
        </p:nvSpPr>
        <p:spPr/>
        <p:txBody>
          <a:bodyPr/>
          <a:lstStyle/>
          <a:p>
            <a:r>
              <a:rPr lang="it-IT" dirty="0"/>
              <a:t>30</a:t>
            </a:r>
          </a:p>
        </p:txBody>
      </p:sp>
    </p:spTree>
    <p:extLst>
      <p:ext uri="{BB962C8B-B14F-4D97-AF65-F5344CB8AC3E}">
        <p14:creationId xmlns:p14="http://schemas.microsoft.com/office/powerpoint/2010/main" val="20144234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3E51D-92DB-2737-8A06-783A31F52C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768ECC1-28D6-8419-4DF7-DD2DAC45DF3E}"/>
              </a:ext>
            </a:extLst>
          </p:cNvPr>
          <p:cNvSpPr>
            <a:spLocks noGrp="1"/>
          </p:cNvSpPr>
          <p:nvPr>
            <p:ph type="title"/>
          </p:nvPr>
        </p:nvSpPr>
        <p:spPr/>
        <p:txBody>
          <a:bodyPr/>
          <a:lstStyle/>
          <a:p>
            <a:r>
              <a:rPr lang="it-IT" dirty="0"/>
              <a:t>Slide 31: La Linea di Demarcazione tra CMD e ENTRYPOINT</a:t>
            </a:r>
          </a:p>
        </p:txBody>
      </p:sp>
      <p:sp>
        <p:nvSpPr>
          <p:cNvPr id="3" name="Segnaposto contenuto 2">
            <a:extLst>
              <a:ext uri="{FF2B5EF4-FFF2-40B4-BE49-F238E27FC236}">
                <a16:creationId xmlns:a16="http://schemas.microsoft.com/office/drawing/2014/main" id="{A7BF7C6A-B3EF-4264-FE6C-1886E86C03E7}"/>
              </a:ext>
            </a:extLst>
          </p:cNvPr>
          <p:cNvSpPr>
            <a:spLocks noGrp="1"/>
          </p:cNvSpPr>
          <p:nvPr>
            <p:ph idx="1"/>
          </p:nvPr>
        </p:nvSpPr>
        <p:spPr/>
        <p:txBody>
          <a:bodyPr/>
          <a:lstStyle/>
          <a:p>
            <a:r>
              <a:rPr lang="it-IT" dirty="0"/>
              <a:t>Le direttive CMD e ENTRYPOINT cooperano alla definizione del comando di avvio del container, ma obbediscono a regole di flessibilità radicalmente opposte. </a:t>
            </a:r>
          </a:p>
          <a:p>
            <a:r>
              <a:rPr lang="it-IT" dirty="0"/>
              <a:t>L'istruzione CMD descrive un comando o un set di argomenti predefiniti che l'utente può facilmente e totalmente sovrascrivere dal terminale in fase di esecuzione (es. digitando </a:t>
            </a:r>
            <a:r>
              <a:rPr lang="it-IT" dirty="0" err="1"/>
              <a:t>docker</a:t>
            </a:r>
            <a:r>
              <a:rPr lang="it-IT" dirty="0"/>
              <a:t> </a:t>
            </a:r>
            <a:r>
              <a:rPr lang="it-IT" dirty="0" err="1"/>
              <a:t>run</a:t>
            </a:r>
            <a:r>
              <a:rPr lang="it-IT" dirty="0"/>
              <a:t> mia-app bin/</a:t>
            </a:r>
            <a:r>
              <a:rPr lang="it-IT" dirty="0" err="1"/>
              <a:t>bash</a:t>
            </a:r>
            <a:r>
              <a:rPr lang="it-IT" dirty="0"/>
              <a:t>).</a:t>
            </a:r>
          </a:p>
          <a:p>
            <a:r>
              <a:rPr lang="it-IT" dirty="0"/>
              <a:t>Al contrario, la direttiva ENTRYPOINT definisce il comando principale, immutabile e strutturale del container, trasformando il container stesso in un vero e proprio file eseguibile specializzato. </a:t>
            </a:r>
          </a:p>
          <a:p>
            <a:r>
              <a:rPr lang="it-IT" dirty="0">
                <a:solidFill>
                  <a:srgbClr val="171FE2"/>
                </a:solidFill>
              </a:rPr>
              <a:t>Se un </a:t>
            </a:r>
            <a:r>
              <a:rPr lang="it-IT" dirty="0" err="1">
                <a:solidFill>
                  <a:srgbClr val="171FE2"/>
                </a:solidFill>
              </a:rPr>
              <a:t>Dockerfile</a:t>
            </a:r>
            <a:r>
              <a:rPr lang="it-IT" dirty="0">
                <a:solidFill>
                  <a:srgbClr val="171FE2"/>
                </a:solidFill>
              </a:rPr>
              <a:t> dichiara ENTRYPOINT ["</a:t>
            </a:r>
            <a:r>
              <a:rPr lang="it-IT" dirty="0" err="1">
                <a:solidFill>
                  <a:srgbClr val="171FE2"/>
                </a:solidFill>
              </a:rPr>
              <a:t>ping</a:t>
            </a:r>
            <a:r>
              <a:rPr lang="it-IT" dirty="0">
                <a:solidFill>
                  <a:srgbClr val="171FE2"/>
                </a:solidFill>
              </a:rPr>
              <a:t>"], qualsiasi argomento passato dall'utente in riga di comando a </a:t>
            </a:r>
            <a:r>
              <a:rPr lang="it-IT" dirty="0" err="1">
                <a:solidFill>
                  <a:srgbClr val="171FE2"/>
                </a:solidFill>
              </a:rPr>
              <a:t>runtime</a:t>
            </a:r>
            <a:r>
              <a:rPr lang="it-IT" dirty="0">
                <a:solidFill>
                  <a:srgbClr val="171FE2"/>
                </a:solidFill>
              </a:rPr>
              <a:t> (es. google.com) non sostituirà l'istruzione, ma verrà concatenato in coda ad essa.</a:t>
            </a:r>
          </a:p>
          <a:p>
            <a:r>
              <a:rPr lang="it-IT" dirty="0"/>
              <a:t>L'accoppiata vincente: usare ENTRYPOINT per definire l'eseguibile fisso (es. "java -</a:t>
            </a:r>
            <a:r>
              <a:rPr lang="it-IT" dirty="0" err="1"/>
              <a:t>jar</a:t>
            </a:r>
            <a:r>
              <a:rPr lang="it-IT" dirty="0"/>
              <a:t>") e CMD per fornire gli argomenti di default modificabili dall'utente.</a:t>
            </a:r>
          </a:p>
        </p:txBody>
      </p:sp>
      <p:sp>
        <p:nvSpPr>
          <p:cNvPr id="4" name="Segnaposto numero diapositiva 3">
            <a:extLst>
              <a:ext uri="{FF2B5EF4-FFF2-40B4-BE49-F238E27FC236}">
                <a16:creationId xmlns:a16="http://schemas.microsoft.com/office/drawing/2014/main" id="{B47CAF06-3AB4-7C0A-E316-9F2ADF8F3E81}"/>
              </a:ext>
            </a:extLst>
          </p:cNvPr>
          <p:cNvSpPr>
            <a:spLocks noGrp="1"/>
          </p:cNvSpPr>
          <p:nvPr>
            <p:ph type="sldNum" sz="quarter" idx="12"/>
          </p:nvPr>
        </p:nvSpPr>
        <p:spPr/>
        <p:txBody>
          <a:bodyPr/>
          <a:lstStyle/>
          <a:p>
            <a:r>
              <a:rPr lang="it-IT" dirty="0"/>
              <a:t>31</a:t>
            </a:r>
          </a:p>
        </p:txBody>
      </p:sp>
    </p:spTree>
    <p:extLst>
      <p:ext uri="{BB962C8B-B14F-4D97-AF65-F5344CB8AC3E}">
        <p14:creationId xmlns:p14="http://schemas.microsoft.com/office/powerpoint/2010/main" val="39833346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66CEC-174D-C563-8035-646DCA55B79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570CFA6-38FF-9BA7-E87B-2D670C75C426}"/>
              </a:ext>
            </a:extLst>
          </p:cNvPr>
          <p:cNvSpPr>
            <a:spLocks noGrp="1"/>
          </p:cNvSpPr>
          <p:nvPr>
            <p:ph type="title"/>
          </p:nvPr>
        </p:nvSpPr>
        <p:spPr/>
        <p:txBody>
          <a:bodyPr/>
          <a:lstStyle/>
          <a:p>
            <a:r>
              <a:rPr lang="it-IT" dirty="0"/>
              <a:t>Slide 32: Il Paradosso dell'Effimerità del Filesystem Nativo</a:t>
            </a:r>
          </a:p>
        </p:txBody>
      </p:sp>
      <p:sp>
        <p:nvSpPr>
          <p:cNvPr id="3" name="Segnaposto contenuto 2">
            <a:extLst>
              <a:ext uri="{FF2B5EF4-FFF2-40B4-BE49-F238E27FC236}">
                <a16:creationId xmlns:a16="http://schemas.microsoft.com/office/drawing/2014/main" id="{832166D9-47D9-5472-8FDF-5E65F3AF7AB6}"/>
              </a:ext>
            </a:extLst>
          </p:cNvPr>
          <p:cNvSpPr>
            <a:spLocks noGrp="1"/>
          </p:cNvSpPr>
          <p:nvPr>
            <p:ph idx="1"/>
          </p:nvPr>
        </p:nvSpPr>
        <p:spPr/>
        <p:txBody>
          <a:bodyPr/>
          <a:lstStyle/>
          <a:p>
            <a:r>
              <a:rPr lang="it-IT" dirty="0"/>
              <a:t>Il ciclo di vita dei dati all'interno di un container è governato da una rigidità architetturale assoluta: il filesystem nativo del container è intrinsecamente effimero. </a:t>
            </a:r>
          </a:p>
          <a:p>
            <a:r>
              <a:rPr lang="it-IT" dirty="0"/>
              <a:t>Tutte le modifiche operative prodotte dall'applicazione in esecuzione (come il salvataggio di record in un database </a:t>
            </a:r>
            <a:r>
              <a:rPr lang="it-IT" dirty="0" err="1"/>
              <a:t>MariaDB</a:t>
            </a:r>
            <a:r>
              <a:rPr lang="it-IT" dirty="0"/>
              <a:t>, la scrittura di file di log o il caricamento di immagini del profilo da parte degli utenti) vengono depositate esclusivamente all'interno del </a:t>
            </a:r>
            <a:r>
              <a:rPr lang="it-IT" dirty="0" err="1"/>
              <a:t>Writable</a:t>
            </a:r>
            <a:r>
              <a:rPr lang="it-IT" dirty="0"/>
              <a:t> Layer (il Container Layer). </a:t>
            </a:r>
          </a:p>
          <a:p>
            <a:r>
              <a:rPr lang="it-IT" dirty="0"/>
              <a:t>Poiché questo strato scrivibile è legato al ciclo di vita del processo del container, nel momento esatto in cui il container viene spento e rimosso tramite il comando </a:t>
            </a:r>
            <a:r>
              <a:rPr lang="it-IT" dirty="0" err="1"/>
              <a:t>docker</a:t>
            </a:r>
            <a:r>
              <a:rPr lang="it-IT" dirty="0"/>
              <a:t> </a:t>
            </a:r>
            <a:r>
              <a:rPr lang="it-IT" dirty="0" err="1"/>
              <a:t>rm</a:t>
            </a:r>
            <a:r>
              <a:rPr lang="it-IT" dirty="0"/>
              <a:t>, il suo livello scrivibile viene distrutto dal </a:t>
            </a:r>
            <a:r>
              <a:rPr lang="it-IT" dirty="0" err="1"/>
              <a:t>Daemon</a:t>
            </a:r>
            <a:r>
              <a:rPr lang="it-IT" dirty="0"/>
              <a:t>, causando la perdita totale, definitiva e irrecuperabile di tutti i dati dinamici accumulati.</a:t>
            </a:r>
          </a:p>
          <a:p>
            <a:r>
              <a:rPr lang="it-IT" dirty="0"/>
              <a:t>I container sono progettati per essere entità volatili e intercambiabili (</a:t>
            </a:r>
            <a:r>
              <a:rPr lang="it-IT" dirty="0" err="1"/>
              <a:t>stateless</a:t>
            </a:r>
            <a:r>
              <a:rPr lang="it-IT" dirty="0"/>
              <a:t>). Lo stato e i dati preziosi dell'azienda devono tassativamente risiedere altrove.</a:t>
            </a:r>
          </a:p>
        </p:txBody>
      </p:sp>
      <p:sp>
        <p:nvSpPr>
          <p:cNvPr id="4" name="Segnaposto numero diapositiva 3">
            <a:extLst>
              <a:ext uri="{FF2B5EF4-FFF2-40B4-BE49-F238E27FC236}">
                <a16:creationId xmlns:a16="http://schemas.microsoft.com/office/drawing/2014/main" id="{C1AC7556-A0DD-0331-57B2-F7F23CA033CC}"/>
              </a:ext>
            </a:extLst>
          </p:cNvPr>
          <p:cNvSpPr>
            <a:spLocks noGrp="1"/>
          </p:cNvSpPr>
          <p:nvPr>
            <p:ph type="sldNum" sz="quarter" idx="12"/>
          </p:nvPr>
        </p:nvSpPr>
        <p:spPr/>
        <p:txBody>
          <a:bodyPr/>
          <a:lstStyle/>
          <a:p>
            <a:r>
              <a:rPr lang="it-IT" dirty="0"/>
              <a:t>32</a:t>
            </a:r>
          </a:p>
        </p:txBody>
      </p:sp>
    </p:spTree>
    <p:extLst>
      <p:ext uri="{BB962C8B-B14F-4D97-AF65-F5344CB8AC3E}">
        <p14:creationId xmlns:p14="http://schemas.microsoft.com/office/powerpoint/2010/main" val="35248795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B1CC9-0805-B3A8-5858-17DFD826FFC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D592691-1D66-A1AE-1B62-D01086333DA0}"/>
              </a:ext>
            </a:extLst>
          </p:cNvPr>
          <p:cNvSpPr>
            <a:spLocks noGrp="1"/>
          </p:cNvSpPr>
          <p:nvPr>
            <p:ph type="title"/>
          </p:nvPr>
        </p:nvSpPr>
        <p:spPr/>
        <p:txBody>
          <a:bodyPr/>
          <a:lstStyle/>
          <a:p>
            <a:r>
              <a:rPr lang="it-IT" dirty="0"/>
              <a:t>Slide 33: L'Ingegneria dei Volumi Docker (Persistenza Dedicata)</a:t>
            </a:r>
          </a:p>
        </p:txBody>
      </p:sp>
      <p:sp>
        <p:nvSpPr>
          <p:cNvPr id="3" name="Segnaposto contenuto 2">
            <a:extLst>
              <a:ext uri="{FF2B5EF4-FFF2-40B4-BE49-F238E27FC236}">
                <a16:creationId xmlns:a16="http://schemas.microsoft.com/office/drawing/2014/main" id="{8124087D-D0FF-DC9E-FE33-6EE2BC3698AE}"/>
              </a:ext>
            </a:extLst>
          </p:cNvPr>
          <p:cNvSpPr>
            <a:spLocks noGrp="1"/>
          </p:cNvSpPr>
          <p:nvPr>
            <p:ph idx="1"/>
          </p:nvPr>
        </p:nvSpPr>
        <p:spPr/>
        <p:txBody>
          <a:bodyPr/>
          <a:lstStyle/>
          <a:p>
            <a:r>
              <a:rPr lang="it-IT" dirty="0"/>
              <a:t>Per risolvere il paradosso dell'effimerità dei dati senza compromettere l'isolamento dei processi, Docker introduce l'architettura dei Volumi. </a:t>
            </a:r>
          </a:p>
          <a:p>
            <a:r>
              <a:rPr lang="it-IT" dirty="0"/>
              <a:t>Un volume è un'area di memorizzazione, una cartella fisica creata e gestita direttamente dal Docker </a:t>
            </a:r>
            <a:r>
              <a:rPr lang="it-IT" dirty="0" err="1"/>
              <a:t>Daemon</a:t>
            </a:r>
            <a:r>
              <a:rPr lang="it-IT" dirty="0"/>
              <a:t> sul disco rigido della macchina </a:t>
            </a:r>
            <a:r>
              <a:rPr lang="it-IT" dirty="0" err="1"/>
              <a:t>host</a:t>
            </a:r>
            <a:r>
              <a:rPr lang="it-IT" dirty="0"/>
              <a:t>, </a:t>
            </a:r>
            <a:r>
              <a:rPr lang="it-IT" dirty="0">
                <a:solidFill>
                  <a:srgbClr val="171FE2"/>
                </a:solidFill>
              </a:rPr>
              <a:t>posizionata al di fuori del filesystem isolato del container </a:t>
            </a:r>
            <a:r>
              <a:rPr lang="it-IT" dirty="0"/>
              <a:t>e del suo ciclo di vita. </a:t>
            </a:r>
          </a:p>
          <a:p>
            <a:r>
              <a:rPr lang="it-IT" dirty="0"/>
              <a:t>Attraverso il </a:t>
            </a:r>
            <a:r>
              <a:rPr lang="it-IT" b="1" dirty="0"/>
              <a:t>meccanismo del "montaggio" </a:t>
            </a:r>
            <a:r>
              <a:rPr lang="it-IT" dirty="0"/>
              <a:t>(</a:t>
            </a:r>
            <a:r>
              <a:rPr lang="it-IT" b="1" dirty="0" err="1"/>
              <a:t>mount</a:t>
            </a:r>
            <a:r>
              <a:rPr lang="it-IT" dirty="0"/>
              <a:t>), una cartella interna del container viene collegata in tempo reale a questo volume esterno. </a:t>
            </a:r>
          </a:p>
          <a:p>
            <a:r>
              <a:rPr lang="it-IT" dirty="0"/>
              <a:t>Qualsiasi operazione di scrittura compiuta dall'applicazione in quel percorso aggirerà il </a:t>
            </a:r>
            <a:r>
              <a:rPr lang="it-IT" dirty="0" err="1"/>
              <a:t>Writable</a:t>
            </a:r>
            <a:r>
              <a:rPr lang="it-IT" dirty="0"/>
              <a:t> Layer temporaneo, venendo registrata direttamente sul disco </a:t>
            </a:r>
            <a:r>
              <a:rPr lang="it-IT" dirty="0" err="1"/>
              <a:t>dell'host</a:t>
            </a:r>
            <a:r>
              <a:rPr lang="it-IT" dirty="0"/>
              <a:t>. </a:t>
            </a:r>
          </a:p>
          <a:p>
            <a:r>
              <a:rPr lang="it-IT" dirty="0"/>
              <a:t>Se il container muore o viene cancellato, il volume rimane intatto sul PC, pronto per essere agganciato a un nuovo container.</a:t>
            </a:r>
          </a:p>
          <a:p>
            <a:r>
              <a:rPr lang="it-IT" dirty="0"/>
              <a:t>Distruggo il container con </a:t>
            </a:r>
            <a:r>
              <a:rPr lang="it-IT" dirty="0" err="1"/>
              <a:t>MariaDB</a:t>
            </a:r>
            <a:r>
              <a:rPr lang="it-IT" dirty="0"/>
              <a:t> 10, creo un container con </a:t>
            </a:r>
            <a:r>
              <a:rPr lang="it-IT" dirty="0" err="1"/>
              <a:t>MariaDB</a:t>
            </a:r>
            <a:r>
              <a:rPr lang="it-IT" dirty="0"/>
              <a:t> 11, lo collego allo stesso volume precedente e ritrovo istantaneamente tutti i dati aggiornati.</a:t>
            </a:r>
          </a:p>
        </p:txBody>
      </p:sp>
      <p:sp>
        <p:nvSpPr>
          <p:cNvPr id="4" name="Segnaposto numero diapositiva 3">
            <a:extLst>
              <a:ext uri="{FF2B5EF4-FFF2-40B4-BE49-F238E27FC236}">
                <a16:creationId xmlns:a16="http://schemas.microsoft.com/office/drawing/2014/main" id="{F2415125-0DA7-794B-C161-49EF3DB1AFED}"/>
              </a:ext>
            </a:extLst>
          </p:cNvPr>
          <p:cNvSpPr>
            <a:spLocks noGrp="1"/>
          </p:cNvSpPr>
          <p:nvPr>
            <p:ph type="sldNum" sz="quarter" idx="12"/>
          </p:nvPr>
        </p:nvSpPr>
        <p:spPr/>
        <p:txBody>
          <a:bodyPr/>
          <a:lstStyle/>
          <a:p>
            <a:r>
              <a:rPr lang="it-IT" dirty="0"/>
              <a:t>33</a:t>
            </a:r>
          </a:p>
        </p:txBody>
      </p:sp>
    </p:spTree>
    <p:extLst>
      <p:ext uri="{BB962C8B-B14F-4D97-AF65-F5344CB8AC3E}">
        <p14:creationId xmlns:p14="http://schemas.microsoft.com/office/powerpoint/2010/main" val="32661983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EA2A-A4D9-D5E9-29D9-C1418E8964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B4024D0-1BEE-C0EC-56F3-45DA9B8F72BD}"/>
              </a:ext>
            </a:extLst>
          </p:cNvPr>
          <p:cNvSpPr>
            <a:spLocks noGrp="1"/>
          </p:cNvSpPr>
          <p:nvPr>
            <p:ph type="title"/>
          </p:nvPr>
        </p:nvSpPr>
        <p:spPr/>
        <p:txBody>
          <a:bodyPr/>
          <a:lstStyle/>
          <a:p>
            <a:r>
              <a:rPr lang="it-IT" dirty="0"/>
              <a:t>Slide 34: La Distinzione Temporale e Funzionale: COPY contro VOLUMES</a:t>
            </a:r>
          </a:p>
        </p:txBody>
      </p:sp>
      <p:sp>
        <p:nvSpPr>
          <p:cNvPr id="3" name="Segnaposto contenuto 2">
            <a:extLst>
              <a:ext uri="{FF2B5EF4-FFF2-40B4-BE49-F238E27FC236}">
                <a16:creationId xmlns:a16="http://schemas.microsoft.com/office/drawing/2014/main" id="{3D65D3F4-2303-C24A-E926-266C74EE3487}"/>
              </a:ext>
            </a:extLst>
          </p:cNvPr>
          <p:cNvSpPr>
            <a:spLocks noGrp="1"/>
          </p:cNvSpPr>
          <p:nvPr>
            <p:ph idx="1"/>
          </p:nvPr>
        </p:nvSpPr>
        <p:spPr/>
        <p:txBody>
          <a:bodyPr/>
          <a:lstStyle/>
          <a:p>
            <a:r>
              <a:rPr lang="it-IT" b="1" dirty="0"/>
              <a:t>COPY </a:t>
            </a:r>
            <a:r>
              <a:rPr lang="it-IT" dirty="0"/>
              <a:t>è un'operazione statica che interviene esclusivamente a Build-time (fase di compilazione dell'immagine) e serve a prendere i file stabili dello sviluppatore (il codice binario </a:t>
            </a:r>
            <a:r>
              <a:rPr lang="it-IT" dirty="0" err="1"/>
              <a:t>compiled</a:t>
            </a:r>
            <a:r>
              <a:rPr lang="it-IT" dirty="0"/>
              <a:t>, le configurazioni di base) e a iniettarli per sempre nei </a:t>
            </a:r>
            <a:r>
              <a:rPr lang="it-IT" dirty="0" err="1"/>
              <a:t>layer</a:t>
            </a:r>
            <a:r>
              <a:rPr lang="it-IT" dirty="0"/>
              <a:t> immutabili dell'immagine; </a:t>
            </a:r>
          </a:p>
          <a:p>
            <a:r>
              <a:rPr lang="it-IT" b="1" dirty="0"/>
              <a:t>VOLUMES</a:t>
            </a:r>
            <a:r>
              <a:rPr lang="it-IT" dirty="0"/>
              <a:t> è un'architettura dinamica che interviene esclusivamente a </a:t>
            </a:r>
            <a:r>
              <a:rPr lang="it-IT" dirty="0" err="1"/>
              <a:t>Run</a:t>
            </a:r>
            <a:r>
              <a:rPr lang="it-IT" dirty="0"/>
              <a:t>-time (fase di esecuzione del container) e serve a montare spazio di archiviazione modificabile per gestire i file dinamici che l'applicazione genererà o richiederà durante il suo funzionamento reale.</a:t>
            </a:r>
          </a:p>
          <a:p>
            <a:r>
              <a:rPr lang="it-IT" dirty="0">
                <a:solidFill>
                  <a:srgbClr val="171FE2"/>
                </a:solidFill>
              </a:rPr>
              <a:t>COPY serve per inserire l'applicazione dentro l'immagine; i Volumi servono per salvare i dati prodotti dall'applicazione fuori dal container</a:t>
            </a:r>
            <a:r>
              <a:rPr lang="it-IT" dirty="0"/>
              <a:t>.</a:t>
            </a:r>
          </a:p>
        </p:txBody>
      </p:sp>
      <p:sp>
        <p:nvSpPr>
          <p:cNvPr id="4" name="Segnaposto numero diapositiva 3">
            <a:extLst>
              <a:ext uri="{FF2B5EF4-FFF2-40B4-BE49-F238E27FC236}">
                <a16:creationId xmlns:a16="http://schemas.microsoft.com/office/drawing/2014/main" id="{ADE83556-38BB-71B7-0756-EC0A5CBF25E3}"/>
              </a:ext>
            </a:extLst>
          </p:cNvPr>
          <p:cNvSpPr>
            <a:spLocks noGrp="1"/>
          </p:cNvSpPr>
          <p:nvPr>
            <p:ph type="sldNum" sz="quarter" idx="12"/>
          </p:nvPr>
        </p:nvSpPr>
        <p:spPr/>
        <p:txBody>
          <a:bodyPr/>
          <a:lstStyle/>
          <a:p>
            <a:r>
              <a:rPr lang="it-IT" dirty="0"/>
              <a:t>34</a:t>
            </a:r>
          </a:p>
        </p:txBody>
      </p:sp>
    </p:spTree>
    <p:extLst>
      <p:ext uri="{BB962C8B-B14F-4D97-AF65-F5344CB8AC3E}">
        <p14:creationId xmlns:p14="http://schemas.microsoft.com/office/powerpoint/2010/main" val="40534315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EB3EC-13B8-246C-C03B-8C974ED0B9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F344112-592B-C479-DE55-55692AB4F7FE}"/>
              </a:ext>
            </a:extLst>
          </p:cNvPr>
          <p:cNvSpPr>
            <a:spLocks noGrp="1"/>
          </p:cNvSpPr>
          <p:nvPr>
            <p:ph type="title"/>
          </p:nvPr>
        </p:nvSpPr>
        <p:spPr/>
        <p:txBody>
          <a:bodyPr/>
          <a:lstStyle/>
          <a:p>
            <a:r>
              <a:rPr lang="it-IT" dirty="0"/>
              <a:t>Slide 35: L'Evoluzione del Motore di Build: </a:t>
            </a:r>
            <a:r>
              <a:rPr lang="it-IT" dirty="0" err="1"/>
              <a:t>BuildKit</a:t>
            </a:r>
            <a:r>
              <a:rPr lang="it-IT" dirty="0"/>
              <a:t> sotto il Cofano</a:t>
            </a:r>
          </a:p>
        </p:txBody>
      </p:sp>
      <p:sp>
        <p:nvSpPr>
          <p:cNvPr id="3" name="Segnaposto contenuto 2">
            <a:extLst>
              <a:ext uri="{FF2B5EF4-FFF2-40B4-BE49-F238E27FC236}">
                <a16:creationId xmlns:a16="http://schemas.microsoft.com/office/drawing/2014/main" id="{437603D7-7B06-4341-D3D5-CD6216AD052F}"/>
              </a:ext>
            </a:extLst>
          </p:cNvPr>
          <p:cNvSpPr>
            <a:spLocks noGrp="1"/>
          </p:cNvSpPr>
          <p:nvPr>
            <p:ph idx="1"/>
          </p:nvPr>
        </p:nvSpPr>
        <p:spPr/>
        <p:txBody>
          <a:bodyPr/>
          <a:lstStyle/>
          <a:p>
            <a:r>
              <a:rPr lang="it-IT" dirty="0"/>
              <a:t>Nelle versioni moderne di Docker Engine, il processo di compilazione automatizzato è affidato a un sottosistema di ingegneria avanzato chiamato </a:t>
            </a:r>
            <a:r>
              <a:rPr lang="it-IT" b="1" dirty="0" err="1"/>
              <a:t>BuildKit</a:t>
            </a:r>
            <a:r>
              <a:rPr lang="it-IT" dirty="0"/>
              <a:t> (identificabile nei log del terminale dalla scritta iniziale [</a:t>
            </a:r>
            <a:r>
              <a:rPr lang="it-IT" dirty="0" err="1"/>
              <a:t>internal</a:t>
            </a:r>
            <a:r>
              <a:rPr lang="it-IT" dirty="0"/>
              <a:t>]). </a:t>
            </a:r>
          </a:p>
          <a:p>
            <a:r>
              <a:rPr lang="it-IT" dirty="0" err="1"/>
              <a:t>BuildKit</a:t>
            </a:r>
            <a:r>
              <a:rPr lang="it-IT" dirty="0"/>
              <a:t> introduce ottimizzazioni rivoluzionarie rispetto al passato. </a:t>
            </a:r>
          </a:p>
          <a:p>
            <a:r>
              <a:rPr lang="it-IT" dirty="0"/>
              <a:t>Nelle vecchie architetture di Docker, per ogni singola riga scritta nel </a:t>
            </a:r>
            <a:r>
              <a:rPr lang="it-IT" dirty="0" err="1"/>
              <a:t>Dockerfile</a:t>
            </a:r>
            <a:r>
              <a:rPr lang="it-IT" dirty="0"/>
              <a:t> veniva obbligatoriamente istanziato un intero container intermedio temporaneo, rallentando drasticamente i tempi. </a:t>
            </a:r>
          </a:p>
          <a:p>
            <a:r>
              <a:rPr lang="it-IT" dirty="0" err="1"/>
              <a:t>BuildKit</a:t>
            </a:r>
            <a:r>
              <a:rPr lang="it-IT" dirty="0"/>
              <a:t> opera una netta distinzione: per le istruzioni puramente immobili o strutturali (come WORKDIR o COPY), </a:t>
            </a:r>
            <a:r>
              <a:rPr lang="it-IT" dirty="0">
                <a:solidFill>
                  <a:srgbClr val="171FE2"/>
                </a:solidFill>
              </a:rPr>
              <a:t>modifica direttamente il filesystem dei </a:t>
            </a:r>
            <a:r>
              <a:rPr lang="it-IT" dirty="0" err="1">
                <a:solidFill>
                  <a:srgbClr val="171FE2"/>
                </a:solidFill>
              </a:rPr>
              <a:t>layer</a:t>
            </a:r>
            <a:r>
              <a:rPr lang="it-IT" dirty="0">
                <a:solidFill>
                  <a:srgbClr val="171FE2"/>
                </a:solidFill>
              </a:rPr>
              <a:t> "a freddo" tramite grafi aciclici diretti</a:t>
            </a:r>
            <a:r>
              <a:rPr lang="it-IT" dirty="0"/>
              <a:t>, invocando l'avvio di un container temporaneo vivo esclusivamente per le istruzioni attive di tipo RUN.</a:t>
            </a:r>
          </a:p>
          <a:p>
            <a:r>
              <a:rPr lang="it-IT" dirty="0" err="1">
                <a:solidFill>
                  <a:srgbClr val="171FE2"/>
                </a:solidFill>
              </a:rPr>
              <a:t>BuildKit</a:t>
            </a:r>
            <a:r>
              <a:rPr lang="it-IT" dirty="0">
                <a:solidFill>
                  <a:srgbClr val="171FE2"/>
                </a:solidFill>
              </a:rPr>
              <a:t> è intelligente: se una riga non esegue comandi operativi, non spreca risorse per avviare container intermedi.</a:t>
            </a:r>
          </a:p>
        </p:txBody>
      </p:sp>
      <p:sp>
        <p:nvSpPr>
          <p:cNvPr id="4" name="Segnaposto numero diapositiva 3">
            <a:extLst>
              <a:ext uri="{FF2B5EF4-FFF2-40B4-BE49-F238E27FC236}">
                <a16:creationId xmlns:a16="http://schemas.microsoft.com/office/drawing/2014/main" id="{825BDA29-40E4-57F6-FBE1-A68FB90C6D45}"/>
              </a:ext>
            </a:extLst>
          </p:cNvPr>
          <p:cNvSpPr>
            <a:spLocks noGrp="1"/>
          </p:cNvSpPr>
          <p:nvPr>
            <p:ph type="sldNum" sz="quarter" idx="12"/>
          </p:nvPr>
        </p:nvSpPr>
        <p:spPr/>
        <p:txBody>
          <a:bodyPr/>
          <a:lstStyle/>
          <a:p>
            <a:r>
              <a:rPr lang="it-IT" dirty="0"/>
              <a:t>35</a:t>
            </a:r>
          </a:p>
        </p:txBody>
      </p:sp>
    </p:spTree>
    <p:extLst>
      <p:ext uri="{BB962C8B-B14F-4D97-AF65-F5344CB8AC3E}">
        <p14:creationId xmlns:p14="http://schemas.microsoft.com/office/powerpoint/2010/main" val="4417678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07F1D-73AA-D255-720F-66BD871A758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FFD3770-24FE-B801-E735-BE66C07F502B}"/>
              </a:ext>
            </a:extLst>
          </p:cNvPr>
          <p:cNvSpPr>
            <a:spLocks noGrp="1"/>
          </p:cNvSpPr>
          <p:nvPr>
            <p:ph type="title"/>
          </p:nvPr>
        </p:nvSpPr>
        <p:spPr/>
        <p:txBody>
          <a:bodyPr/>
          <a:lstStyle/>
          <a:p>
            <a:r>
              <a:rPr lang="it-IT" dirty="0"/>
              <a:t>Slide 36: Il Meccanismo del Caching Sequenziale dei Layer</a:t>
            </a:r>
          </a:p>
        </p:txBody>
      </p:sp>
      <p:sp>
        <p:nvSpPr>
          <p:cNvPr id="3" name="Segnaposto contenuto 2">
            <a:extLst>
              <a:ext uri="{FF2B5EF4-FFF2-40B4-BE49-F238E27FC236}">
                <a16:creationId xmlns:a16="http://schemas.microsoft.com/office/drawing/2014/main" id="{9D42415F-B5F1-4B9C-5C80-28CEB6FD638B}"/>
              </a:ext>
            </a:extLst>
          </p:cNvPr>
          <p:cNvSpPr>
            <a:spLocks noGrp="1"/>
          </p:cNvSpPr>
          <p:nvPr>
            <p:ph idx="1"/>
          </p:nvPr>
        </p:nvSpPr>
        <p:spPr/>
        <p:txBody>
          <a:bodyPr/>
          <a:lstStyle/>
          <a:p>
            <a:r>
              <a:rPr lang="it-IT" dirty="0"/>
              <a:t>Durante l'esecuzione del comando </a:t>
            </a:r>
            <a:r>
              <a:rPr lang="it-IT" dirty="0" err="1"/>
              <a:t>docker</a:t>
            </a:r>
            <a:r>
              <a:rPr lang="it-IT" dirty="0"/>
              <a:t> build, </a:t>
            </a:r>
            <a:r>
              <a:rPr lang="it-IT" dirty="0" err="1"/>
              <a:t>BuildKit</a:t>
            </a:r>
            <a:r>
              <a:rPr lang="it-IT" dirty="0"/>
              <a:t> analizza il </a:t>
            </a:r>
            <a:r>
              <a:rPr lang="it-IT" dirty="0" err="1"/>
              <a:t>Dockerfile</a:t>
            </a:r>
            <a:r>
              <a:rPr lang="it-IT" dirty="0"/>
              <a:t> riga per riga e calcola un'impronta digitale crittografica (un </a:t>
            </a:r>
            <a:r>
              <a:rPr lang="it-IT" dirty="0" err="1"/>
              <a:t>checksum</a:t>
            </a:r>
            <a:r>
              <a:rPr lang="it-IT" dirty="0"/>
              <a:t>) per ogni istruzione. </a:t>
            </a:r>
          </a:p>
          <a:p>
            <a:r>
              <a:rPr lang="it-IT" dirty="0"/>
              <a:t>Prima di avviare l'elaborazione di un </a:t>
            </a:r>
            <a:r>
              <a:rPr lang="it-IT" dirty="0" err="1"/>
              <a:t>layer</a:t>
            </a:r>
            <a:r>
              <a:rPr lang="it-IT" dirty="0"/>
              <a:t>, il motore interroga lo storage locale per verificare se esista già uno strato identico generato in una compilazione precedente. </a:t>
            </a:r>
          </a:p>
          <a:p>
            <a:r>
              <a:rPr lang="it-IT" dirty="0"/>
              <a:t>Se l'istruzione è testualmente identica e (nel caso di COPY) i file sorgenti sul PC non hanno subito alcuna modifica nei loro byte, Docker salta completamente l'esecuzione del comando. </a:t>
            </a:r>
          </a:p>
          <a:p>
            <a:r>
              <a:rPr lang="it-IT" dirty="0"/>
              <a:t>Riutilizza istantaneamente il </a:t>
            </a:r>
            <a:r>
              <a:rPr lang="it-IT" dirty="0" err="1"/>
              <a:t>layer</a:t>
            </a:r>
            <a:r>
              <a:rPr lang="it-IT" dirty="0"/>
              <a:t> preesistente, stampando a schermo la dicitura CACHED. Questo riduce i tempi di build successivi da minuti a frazioni di secondo.</a:t>
            </a:r>
          </a:p>
          <a:p>
            <a:r>
              <a:rPr lang="it-IT" dirty="0">
                <a:solidFill>
                  <a:srgbClr val="171FE2"/>
                </a:solidFill>
              </a:rPr>
              <a:t>Il log di un build ripetuto due volte senza modifiche al codice per evidenziare come tutti i passaggi riportino 0.0 secondi grazie alla cache.</a:t>
            </a:r>
          </a:p>
        </p:txBody>
      </p:sp>
      <p:sp>
        <p:nvSpPr>
          <p:cNvPr id="4" name="Segnaposto numero diapositiva 3">
            <a:extLst>
              <a:ext uri="{FF2B5EF4-FFF2-40B4-BE49-F238E27FC236}">
                <a16:creationId xmlns:a16="http://schemas.microsoft.com/office/drawing/2014/main" id="{10AA3786-295D-E7E9-6ECD-B2CA09047AC0}"/>
              </a:ext>
            </a:extLst>
          </p:cNvPr>
          <p:cNvSpPr>
            <a:spLocks noGrp="1"/>
          </p:cNvSpPr>
          <p:nvPr>
            <p:ph type="sldNum" sz="quarter" idx="12"/>
          </p:nvPr>
        </p:nvSpPr>
        <p:spPr/>
        <p:txBody>
          <a:bodyPr/>
          <a:lstStyle/>
          <a:p>
            <a:r>
              <a:rPr lang="it-IT" dirty="0"/>
              <a:t>36</a:t>
            </a:r>
          </a:p>
        </p:txBody>
      </p:sp>
    </p:spTree>
    <p:extLst>
      <p:ext uri="{BB962C8B-B14F-4D97-AF65-F5344CB8AC3E}">
        <p14:creationId xmlns:p14="http://schemas.microsoft.com/office/powerpoint/2010/main" val="28391968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ECDAC-9D01-D2BC-0975-A8F6E0FE1FF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D6C7A70-E71D-18A0-EC81-0B732C64D6A3}"/>
              </a:ext>
            </a:extLst>
          </p:cNvPr>
          <p:cNvSpPr>
            <a:spLocks noGrp="1"/>
          </p:cNvSpPr>
          <p:nvPr>
            <p:ph type="title"/>
          </p:nvPr>
        </p:nvSpPr>
        <p:spPr/>
        <p:txBody>
          <a:bodyPr/>
          <a:lstStyle/>
          <a:p>
            <a:r>
              <a:rPr lang="it-IT" dirty="0"/>
              <a:t>Slide 37: L'Impatto dell'Ordine delle Istruzioni sulla Cache</a:t>
            </a:r>
          </a:p>
        </p:txBody>
      </p:sp>
      <p:sp>
        <p:nvSpPr>
          <p:cNvPr id="3" name="Segnaposto contenuto 2">
            <a:extLst>
              <a:ext uri="{FF2B5EF4-FFF2-40B4-BE49-F238E27FC236}">
                <a16:creationId xmlns:a16="http://schemas.microsoft.com/office/drawing/2014/main" id="{0B3862B1-0850-B422-D45B-8FDEA03E66CE}"/>
              </a:ext>
            </a:extLst>
          </p:cNvPr>
          <p:cNvSpPr>
            <a:spLocks noGrp="1"/>
          </p:cNvSpPr>
          <p:nvPr>
            <p:ph idx="1"/>
          </p:nvPr>
        </p:nvSpPr>
        <p:spPr/>
        <p:txBody>
          <a:bodyPr/>
          <a:lstStyle/>
          <a:p>
            <a:r>
              <a:rPr lang="it-IT" dirty="0">
                <a:solidFill>
                  <a:srgbClr val="171FE2"/>
                </a:solidFill>
              </a:rPr>
              <a:t>Il meccanismo di caching di Docker obbedisce a una regola algoritmica ferrea: è di tipo lineare, sequenziale e a cascata. </a:t>
            </a:r>
          </a:p>
          <a:p>
            <a:r>
              <a:rPr lang="it-IT" dirty="0">
                <a:solidFill>
                  <a:srgbClr val="171FE2"/>
                </a:solidFill>
              </a:rPr>
              <a:t>Nel momento esatto in cui una singola istruzione del </a:t>
            </a:r>
            <a:r>
              <a:rPr lang="it-IT" dirty="0" err="1">
                <a:solidFill>
                  <a:srgbClr val="171FE2"/>
                </a:solidFill>
              </a:rPr>
              <a:t>Dockerfile</a:t>
            </a:r>
            <a:r>
              <a:rPr lang="it-IT" dirty="0">
                <a:solidFill>
                  <a:srgbClr val="171FE2"/>
                </a:solidFill>
              </a:rPr>
              <a:t> subisce una variazione (o perché cambia il testo del comando o perché viene modificato un file sorgente agganciato da una COPY), l'impronta digitale di quel </a:t>
            </a:r>
            <a:r>
              <a:rPr lang="it-IT" dirty="0" err="1">
                <a:solidFill>
                  <a:srgbClr val="171FE2"/>
                </a:solidFill>
              </a:rPr>
              <a:t>layer</a:t>
            </a:r>
            <a:r>
              <a:rPr lang="it-IT" dirty="0">
                <a:solidFill>
                  <a:srgbClr val="171FE2"/>
                </a:solidFill>
              </a:rPr>
              <a:t> viene invalidata. Di conseguenza, Docker cancella e invalida la cache per quel livello e per tutti i </a:t>
            </a:r>
            <a:r>
              <a:rPr lang="it-IT" dirty="0" err="1">
                <a:solidFill>
                  <a:srgbClr val="171FE2"/>
                </a:solidFill>
              </a:rPr>
              <a:t>layer</a:t>
            </a:r>
            <a:r>
              <a:rPr lang="it-IT" dirty="0">
                <a:solidFill>
                  <a:srgbClr val="171FE2"/>
                </a:solidFill>
              </a:rPr>
              <a:t> successivi del </a:t>
            </a:r>
            <a:r>
              <a:rPr lang="it-IT" dirty="0" err="1">
                <a:solidFill>
                  <a:srgbClr val="171FE2"/>
                </a:solidFill>
              </a:rPr>
              <a:t>Dockerfile</a:t>
            </a:r>
            <a:r>
              <a:rPr lang="it-IT" dirty="0">
                <a:solidFill>
                  <a:srgbClr val="171FE2"/>
                </a:solidFill>
              </a:rPr>
              <a:t>, costringendo il motore a rieseguire da zero tutti i comandi rimanenti. </a:t>
            </a:r>
          </a:p>
          <a:p>
            <a:r>
              <a:rPr lang="it-IT" dirty="0">
                <a:solidFill>
                  <a:srgbClr val="171FE2"/>
                </a:solidFill>
              </a:rPr>
              <a:t>Da ciò deriva la regola d'oro della scrittura dei </a:t>
            </a:r>
            <a:r>
              <a:rPr lang="it-IT" dirty="0" err="1">
                <a:solidFill>
                  <a:srgbClr val="171FE2"/>
                </a:solidFill>
              </a:rPr>
              <a:t>Dockerfile</a:t>
            </a:r>
            <a:r>
              <a:rPr lang="it-IT" dirty="0">
                <a:solidFill>
                  <a:srgbClr val="171FE2"/>
                </a:solidFill>
              </a:rPr>
              <a:t>: le istruzioni stabili che cambiano raramente (come l'installazione dei pacchetti) vanno posizionate in alto, mentre i file che variano costantemente (il codice sorgente) vanno scritti alla fine.</a:t>
            </a:r>
          </a:p>
          <a:p>
            <a:r>
              <a:rPr lang="it-IT" dirty="0"/>
              <a:t>Questo spiega perché nei progetti Node.js si fa prima "COPY </a:t>
            </a:r>
            <a:r>
              <a:rPr lang="it-IT" dirty="0" err="1"/>
              <a:t>package.json</a:t>
            </a:r>
            <a:r>
              <a:rPr lang="it-IT" dirty="0"/>
              <a:t> ." e "RUN </a:t>
            </a:r>
            <a:r>
              <a:rPr lang="it-IT" dirty="0" err="1"/>
              <a:t>npm</a:t>
            </a:r>
            <a:r>
              <a:rPr lang="it-IT" dirty="0"/>
              <a:t> </a:t>
            </a:r>
            <a:r>
              <a:rPr lang="it-IT" dirty="0" err="1"/>
              <a:t>install</a:t>
            </a:r>
            <a:r>
              <a:rPr lang="it-IT" dirty="0"/>
              <a:t>", e solo alla fine "COPY . .". Se cambia una riga di codice JS, non dobbiamo riscaricare i pacchetti da internet.</a:t>
            </a:r>
            <a:endParaRPr lang="it-IT" dirty="0">
              <a:solidFill>
                <a:srgbClr val="171FE2"/>
              </a:solidFill>
            </a:endParaRPr>
          </a:p>
        </p:txBody>
      </p:sp>
      <p:sp>
        <p:nvSpPr>
          <p:cNvPr id="4" name="Segnaposto numero diapositiva 3">
            <a:extLst>
              <a:ext uri="{FF2B5EF4-FFF2-40B4-BE49-F238E27FC236}">
                <a16:creationId xmlns:a16="http://schemas.microsoft.com/office/drawing/2014/main" id="{70D3B832-1FCA-45D0-A8D3-7A7655499409}"/>
              </a:ext>
            </a:extLst>
          </p:cNvPr>
          <p:cNvSpPr>
            <a:spLocks noGrp="1"/>
          </p:cNvSpPr>
          <p:nvPr>
            <p:ph type="sldNum" sz="quarter" idx="12"/>
          </p:nvPr>
        </p:nvSpPr>
        <p:spPr/>
        <p:txBody>
          <a:bodyPr/>
          <a:lstStyle/>
          <a:p>
            <a:r>
              <a:rPr lang="it-IT" dirty="0"/>
              <a:t>37</a:t>
            </a:r>
          </a:p>
        </p:txBody>
      </p:sp>
    </p:spTree>
    <p:extLst>
      <p:ext uri="{BB962C8B-B14F-4D97-AF65-F5344CB8AC3E}">
        <p14:creationId xmlns:p14="http://schemas.microsoft.com/office/powerpoint/2010/main" val="11403109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663D6-3CDA-7DAC-7E5C-938CE19DD0F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05EDEFF-A55B-32D4-F8EE-38DB6A1D269B}"/>
              </a:ext>
            </a:extLst>
          </p:cNvPr>
          <p:cNvSpPr>
            <a:spLocks noGrp="1"/>
          </p:cNvSpPr>
          <p:nvPr>
            <p:ph type="title"/>
          </p:nvPr>
        </p:nvSpPr>
        <p:spPr/>
        <p:txBody>
          <a:bodyPr/>
          <a:lstStyle/>
          <a:p>
            <a:r>
              <a:rPr lang="it-IT" dirty="0"/>
              <a:t>Slide 38: La Patologia delle Immagini "Gonfie" in Produzione</a:t>
            </a:r>
          </a:p>
        </p:txBody>
      </p:sp>
      <p:sp>
        <p:nvSpPr>
          <p:cNvPr id="3" name="Segnaposto contenuto 2">
            <a:extLst>
              <a:ext uri="{FF2B5EF4-FFF2-40B4-BE49-F238E27FC236}">
                <a16:creationId xmlns:a16="http://schemas.microsoft.com/office/drawing/2014/main" id="{F0158731-3589-55DD-7A67-5B3D8B5D0799}"/>
              </a:ext>
            </a:extLst>
          </p:cNvPr>
          <p:cNvSpPr>
            <a:spLocks noGrp="1"/>
          </p:cNvSpPr>
          <p:nvPr>
            <p:ph idx="1"/>
          </p:nvPr>
        </p:nvSpPr>
        <p:spPr/>
        <p:txBody>
          <a:bodyPr/>
          <a:lstStyle/>
          <a:p>
            <a:r>
              <a:rPr lang="it-IT" dirty="0"/>
              <a:t>Nel ciclo di vita dello sviluppo del software moderno, la fase di compilazione e </a:t>
            </a:r>
            <a:r>
              <a:rPr lang="it-IT" dirty="0" err="1"/>
              <a:t>pacchettizzazione</a:t>
            </a:r>
            <a:r>
              <a:rPr lang="it-IT" dirty="0"/>
              <a:t> richiede un arsenale di strumenti pesanti ed eterogenei. </a:t>
            </a:r>
          </a:p>
          <a:p>
            <a:r>
              <a:rPr lang="it-IT" dirty="0"/>
              <a:t>Per compilare un'applicazione Java Spring Boot abbiamo bisogno del JDK completo, del build tool Maven o </a:t>
            </a:r>
            <a:r>
              <a:rPr lang="it-IT" dirty="0" err="1"/>
              <a:t>Gradle</a:t>
            </a:r>
            <a:r>
              <a:rPr lang="it-IT" dirty="0"/>
              <a:t> e di centinaia di megabyte di dipendenze di compilazione. </a:t>
            </a:r>
          </a:p>
          <a:p>
            <a:r>
              <a:rPr lang="it-IT" dirty="0"/>
              <a:t>Per un'applicazione Node.js sono necessari i compilatori nativi C++, i pacchetti di sviluppo e i test runner come </a:t>
            </a:r>
            <a:r>
              <a:rPr lang="it-IT" dirty="0" err="1"/>
              <a:t>Jest</a:t>
            </a:r>
            <a:r>
              <a:rPr lang="it-IT" dirty="0"/>
              <a:t>. </a:t>
            </a:r>
          </a:p>
          <a:p>
            <a:r>
              <a:rPr lang="it-IT" dirty="0"/>
              <a:t>Se includiamo tutta questa catena di montaggio all'interno dell'immagine finale distribuita sui server di produzione, generiamo artefatti giganteschi (anche superiori agli 800MB). </a:t>
            </a:r>
          </a:p>
          <a:p>
            <a:r>
              <a:rPr lang="it-IT" dirty="0"/>
              <a:t>Questo rigonfiamento inutile rallenta il trasferimento dei dati in rete, satura i dischi dei server e aumenta drammaticamente la superficie di attacco esposta a potenziali hacker.</a:t>
            </a:r>
          </a:p>
        </p:txBody>
      </p:sp>
      <p:sp>
        <p:nvSpPr>
          <p:cNvPr id="4" name="Segnaposto numero diapositiva 3">
            <a:extLst>
              <a:ext uri="{FF2B5EF4-FFF2-40B4-BE49-F238E27FC236}">
                <a16:creationId xmlns:a16="http://schemas.microsoft.com/office/drawing/2014/main" id="{C41FF852-0F1C-4D0D-2636-9642636C0DAA}"/>
              </a:ext>
            </a:extLst>
          </p:cNvPr>
          <p:cNvSpPr>
            <a:spLocks noGrp="1"/>
          </p:cNvSpPr>
          <p:nvPr>
            <p:ph type="sldNum" sz="quarter" idx="12"/>
          </p:nvPr>
        </p:nvSpPr>
        <p:spPr/>
        <p:txBody>
          <a:bodyPr/>
          <a:lstStyle/>
          <a:p>
            <a:r>
              <a:rPr lang="it-IT" dirty="0"/>
              <a:t>38</a:t>
            </a:r>
          </a:p>
        </p:txBody>
      </p:sp>
    </p:spTree>
    <p:extLst>
      <p:ext uri="{BB962C8B-B14F-4D97-AF65-F5344CB8AC3E}">
        <p14:creationId xmlns:p14="http://schemas.microsoft.com/office/powerpoint/2010/main" val="38007801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A18A8-3DFB-AF7C-A868-160B37A5EE3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2FE7332-32E6-34DF-5349-014001B3C866}"/>
              </a:ext>
            </a:extLst>
          </p:cNvPr>
          <p:cNvSpPr>
            <a:spLocks noGrp="1"/>
          </p:cNvSpPr>
          <p:nvPr>
            <p:ph type="title"/>
          </p:nvPr>
        </p:nvSpPr>
        <p:spPr/>
        <p:txBody>
          <a:bodyPr/>
          <a:lstStyle/>
          <a:p>
            <a:r>
              <a:rPr lang="it-IT" dirty="0"/>
              <a:t>Slide 39: La Soluzione Ingegneristica: Multi-stage Build</a:t>
            </a:r>
          </a:p>
        </p:txBody>
      </p:sp>
      <p:sp>
        <p:nvSpPr>
          <p:cNvPr id="3" name="Segnaposto contenuto 2">
            <a:extLst>
              <a:ext uri="{FF2B5EF4-FFF2-40B4-BE49-F238E27FC236}">
                <a16:creationId xmlns:a16="http://schemas.microsoft.com/office/drawing/2014/main" id="{BA74899E-FA23-2B62-C64E-595E6EFE17FC}"/>
              </a:ext>
            </a:extLst>
          </p:cNvPr>
          <p:cNvSpPr>
            <a:spLocks noGrp="1"/>
          </p:cNvSpPr>
          <p:nvPr>
            <p:ph idx="1"/>
          </p:nvPr>
        </p:nvSpPr>
        <p:spPr/>
        <p:txBody>
          <a:bodyPr/>
          <a:lstStyle/>
          <a:p>
            <a:r>
              <a:rPr lang="it-IT" dirty="0"/>
              <a:t>La tecnica del Multi-stage Build (compilazione a stadi multipli) rappresenta la soluzione definitiva al problema delle immagini gonfie. </a:t>
            </a:r>
          </a:p>
          <a:p>
            <a:r>
              <a:rPr lang="it-IT" dirty="0"/>
              <a:t>Consente di dichiarare più direttive FROM distinte all'interno di un unico, singolo </a:t>
            </a:r>
            <a:r>
              <a:rPr lang="it-IT" dirty="0" err="1"/>
              <a:t>Dockerfile</a:t>
            </a:r>
            <a:r>
              <a:rPr lang="it-IT" dirty="0"/>
              <a:t>. </a:t>
            </a:r>
          </a:p>
          <a:p>
            <a:r>
              <a:rPr lang="it-IT" dirty="0"/>
              <a:t>Ogni istruzione FROM inaugura un nuovo stadio di build completamente indipendente, dotato di un proprio filesystem isolato e pulito. </a:t>
            </a:r>
          </a:p>
          <a:p>
            <a:r>
              <a:rPr lang="it-IT" dirty="0"/>
              <a:t>Questa architettura permette di suddividere il lavoro in compartimenti stagni: possiamo dedicare i primi stadi all'utilizzo di immagini pesanti dotate di tutti i compilatori per generare i file binari finiti (fase di build).</a:t>
            </a:r>
          </a:p>
          <a:p>
            <a:r>
              <a:rPr lang="it-IT" dirty="0"/>
              <a:t>Subito dopo, apriamo uno stage finale basato su un'immagine </a:t>
            </a:r>
            <a:r>
              <a:rPr lang="it-IT" dirty="0" err="1"/>
              <a:t>runtime</a:t>
            </a:r>
            <a:r>
              <a:rPr lang="it-IT" dirty="0"/>
              <a:t> minimale e ultraleggera (fase di esecuzione), importando esclusivamente il file compilato ed escludendo gli strumenti di sviluppo.</a:t>
            </a:r>
          </a:p>
        </p:txBody>
      </p:sp>
      <p:sp>
        <p:nvSpPr>
          <p:cNvPr id="4" name="Segnaposto numero diapositiva 3">
            <a:extLst>
              <a:ext uri="{FF2B5EF4-FFF2-40B4-BE49-F238E27FC236}">
                <a16:creationId xmlns:a16="http://schemas.microsoft.com/office/drawing/2014/main" id="{85C827E5-C31D-6633-0D8C-DFC6015A408C}"/>
              </a:ext>
            </a:extLst>
          </p:cNvPr>
          <p:cNvSpPr>
            <a:spLocks noGrp="1"/>
          </p:cNvSpPr>
          <p:nvPr>
            <p:ph type="sldNum" sz="quarter" idx="12"/>
          </p:nvPr>
        </p:nvSpPr>
        <p:spPr/>
        <p:txBody>
          <a:bodyPr/>
          <a:lstStyle/>
          <a:p>
            <a:r>
              <a:rPr lang="it-IT" dirty="0"/>
              <a:t>38</a:t>
            </a:r>
          </a:p>
        </p:txBody>
      </p:sp>
    </p:spTree>
    <p:extLst>
      <p:ext uri="{BB962C8B-B14F-4D97-AF65-F5344CB8AC3E}">
        <p14:creationId xmlns:p14="http://schemas.microsoft.com/office/powerpoint/2010/main" val="9699393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392FF-7C7C-E483-ACE4-74BC3179719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51F0036-B749-9FDB-4142-E560AB07EC73}"/>
              </a:ext>
            </a:extLst>
          </p:cNvPr>
          <p:cNvSpPr>
            <a:spLocks noGrp="1"/>
          </p:cNvSpPr>
          <p:nvPr>
            <p:ph type="title"/>
          </p:nvPr>
        </p:nvSpPr>
        <p:spPr/>
        <p:txBody>
          <a:bodyPr/>
          <a:lstStyle/>
          <a:p>
            <a:r>
              <a:rPr lang="it-IT" dirty="0"/>
              <a:t>Slide 40: Cooperazione tra Stage e il Comando COPY --from</a:t>
            </a:r>
          </a:p>
        </p:txBody>
      </p:sp>
      <p:sp>
        <p:nvSpPr>
          <p:cNvPr id="3" name="Segnaposto contenuto 2">
            <a:extLst>
              <a:ext uri="{FF2B5EF4-FFF2-40B4-BE49-F238E27FC236}">
                <a16:creationId xmlns:a16="http://schemas.microsoft.com/office/drawing/2014/main" id="{5EF6ACDD-E9EB-E017-7114-07C896DA9B86}"/>
              </a:ext>
            </a:extLst>
          </p:cNvPr>
          <p:cNvSpPr>
            <a:spLocks noGrp="1"/>
          </p:cNvSpPr>
          <p:nvPr>
            <p:ph idx="1"/>
          </p:nvPr>
        </p:nvSpPr>
        <p:spPr/>
        <p:txBody>
          <a:bodyPr/>
          <a:lstStyle/>
          <a:p>
            <a:r>
              <a:rPr lang="it-IT" dirty="0"/>
              <a:t>Il cuore operativo che permette il funzionamento del Multi-stage Build è la variante avanzata dell'istruzione di copia, configurata tramite il flag --from. </a:t>
            </a:r>
          </a:p>
          <a:p>
            <a:r>
              <a:rPr lang="it-IT" dirty="0"/>
              <a:t>Vediamo come si articola la cooperazione logica tra gli stadi: </a:t>
            </a:r>
          </a:p>
          <a:p>
            <a:r>
              <a:rPr lang="it-IT" dirty="0"/>
              <a:t>il primo stadio viene battezzato dallo sviluppatore tramite una sintassi di alias, ad esempio FROM maven:3.9-eclipse-temurin-17 </a:t>
            </a:r>
            <a:r>
              <a:rPr lang="it-IT" b="1" dirty="0"/>
              <a:t>AS builder</a:t>
            </a:r>
            <a:r>
              <a:rPr lang="it-IT" dirty="0"/>
              <a:t>. </a:t>
            </a:r>
          </a:p>
          <a:p>
            <a:r>
              <a:rPr lang="it-IT" dirty="0"/>
              <a:t>All'interno di questo ambiente protetto, viene lanciato il comando di compilazione che produce il file .</a:t>
            </a:r>
            <a:r>
              <a:rPr lang="it-IT" dirty="0" err="1"/>
              <a:t>jar</a:t>
            </a:r>
            <a:r>
              <a:rPr lang="it-IT" dirty="0"/>
              <a:t> finale. </a:t>
            </a:r>
          </a:p>
          <a:p>
            <a:r>
              <a:rPr lang="it-IT" dirty="0"/>
              <a:t>Lo stadio successivo si apre con la riga FROM eclipse-temurin:17-jre-alpine. </a:t>
            </a:r>
          </a:p>
          <a:p>
            <a:r>
              <a:rPr lang="it-IT" dirty="0"/>
              <a:t>Questo secondo ambiente riparte da zero, ignorando i </a:t>
            </a:r>
            <a:r>
              <a:rPr lang="it-IT" dirty="0" err="1"/>
              <a:t>layer</a:t>
            </a:r>
            <a:r>
              <a:rPr lang="it-IT" dirty="0"/>
              <a:t> precedenti. </a:t>
            </a:r>
          </a:p>
          <a:p>
            <a:r>
              <a:rPr lang="it-IT" dirty="0"/>
              <a:t>A questo punto, l'istruzione speciale COPY --from=builder /app/target/app.jar /app/app.jar permette di estrarre selettivamente solo il binario finito, lasciando cadere tutto il resto.</a:t>
            </a:r>
          </a:p>
          <a:p>
            <a:r>
              <a:rPr lang="it-IT" dirty="0"/>
              <a:t>I </a:t>
            </a:r>
            <a:r>
              <a:rPr lang="it-IT" dirty="0" err="1"/>
              <a:t>layer</a:t>
            </a:r>
            <a:r>
              <a:rPr lang="it-IT" dirty="0"/>
              <a:t> dello stage intermedio non spariscono dal PC del build server; </a:t>
            </a:r>
            <a:r>
              <a:rPr lang="it-IT" dirty="0">
                <a:solidFill>
                  <a:srgbClr val="171FE2"/>
                </a:solidFill>
              </a:rPr>
              <a:t>rimangono memorizzati come cache anonime per velocizzare i build futuri, ma non faranno parte dell'immagine distribuita</a:t>
            </a:r>
            <a:r>
              <a:rPr lang="it-IT" dirty="0"/>
              <a:t>.</a:t>
            </a:r>
          </a:p>
        </p:txBody>
      </p:sp>
      <p:sp>
        <p:nvSpPr>
          <p:cNvPr id="4" name="Segnaposto numero diapositiva 3">
            <a:extLst>
              <a:ext uri="{FF2B5EF4-FFF2-40B4-BE49-F238E27FC236}">
                <a16:creationId xmlns:a16="http://schemas.microsoft.com/office/drawing/2014/main" id="{5C5F5AB4-A64D-95D0-0B13-9578BA95F084}"/>
              </a:ext>
            </a:extLst>
          </p:cNvPr>
          <p:cNvSpPr>
            <a:spLocks noGrp="1"/>
          </p:cNvSpPr>
          <p:nvPr>
            <p:ph type="sldNum" sz="quarter" idx="12"/>
          </p:nvPr>
        </p:nvSpPr>
        <p:spPr/>
        <p:txBody>
          <a:bodyPr/>
          <a:lstStyle/>
          <a:p>
            <a:r>
              <a:rPr lang="it-IT" dirty="0"/>
              <a:t>40</a:t>
            </a:r>
          </a:p>
        </p:txBody>
      </p:sp>
    </p:spTree>
    <p:extLst>
      <p:ext uri="{BB962C8B-B14F-4D97-AF65-F5344CB8AC3E}">
        <p14:creationId xmlns:p14="http://schemas.microsoft.com/office/powerpoint/2010/main" val="13159587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C1BFE-F1BE-B07E-6FD3-72DE609715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032FD36-371C-DE24-B97F-5903124FAA0D}"/>
              </a:ext>
            </a:extLst>
          </p:cNvPr>
          <p:cNvSpPr>
            <a:spLocks noGrp="1"/>
          </p:cNvSpPr>
          <p:nvPr>
            <p:ph type="title"/>
          </p:nvPr>
        </p:nvSpPr>
        <p:spPr/>
        <p:txBody>
          <a:bodyPr/>
          <a:lstStyle/>
          <a:p>
            <a:r>
              <a:rPr lang="it-IT" dirty="0"/>
              <a:t>Slide 41: Smantellamento dell'Errore dei Container Multipli a Runtime</a:t>
            </a:r>
          </a:p>
        </p:txBody>
      </p:sp>
      <p:sp>
        <p:nvSpPr>
          <p:cNvPr id="3" name="Segnaposto contenuto 2">
            <a:extLst>
              <a:ext uri="{FF2B5EF4-FFF2-40B4-BE49-F238E27FC236}">
                <a16:creationId xmlns:a16="http://schemas.microsoft.com/office/drawing/2014/main" id="{98493178-E712-D49F-1817-1707929EC0A8}"/>
              </a:ext>
            </a:extLst>
          </p:cNvPr>
          <p:cNvSpPr>
            <a:spLocks noGrp="1"/>
          </p:cNvSpPr>
          <p:nvPr>
            <p:ph idx="1"/>
          </p:nvPr>
        </p:nvSpPr>
        <p:spPr/>
        <p:txBody>
          <a:bodyPr/>
          <a:lstStyle/>
          <a:p>
            <a:r>
              <a:rPr lang="it-IT" dirty="0"/>
              <a:t>Gli stadi intermedi identificati come "builder" sono entità puramente temporanee che esistono esclusivamente sul disco rigido durante la fase di esecuzione del comando </a:t>
            </a:r>
            <a:r>
              <a:rPr lang="it-IT" dirty="0" err="1"/>
              <a:t>docker</a:t>
            </a:r>
            <a:r>
              <a:rPr lang="it-IT" dirty="0"/>
              <a:t> build. </a:t>
            </a:r>
          </a:p>
          <a:p>
            <a:r>
              <a:rPr lang="it-IT" dirty="0"/>
              <a:t>Nel momento in cui il processo di build giunge al termine, l'unico oggetto reale che viene registrato nell'Engine e che verrà avviato a </a:t>
            </a:r>
            <a:r>
              <a:rPr lang="it-IT" dirty="0" err="1"/>
              <a:t>runtime</a:t>
            </a:r>
            <a:r>
              <a:rPr lang="it-IT" dirty="0"/>
              <a:t> è l'ultimo stadio dichiarato nel file.</a:t>
            </a:r>
          </a:p>
        </p:txBody>
      </p:sp>
      <p:sp>
        <p:nvSpPr>
          <p:cNvPr id="4" name="Segnaposto numero diapositiva 3">
            <a:extLst>
              <a:ext uri="{FF2B5EF4-FFF2-40B4-BE49-F238E27FC236}">
                <a16:creationId xmlns:a16="http://schemas.microsoft.com/office/drawing/2014/main" id="{BFB3BD8B-006D-FECC-BCCD-F574B0633419}"/>
              </a:ext>
            </a:extLst>
          </p:cNvPr>
          <p:cNvSpPr>
            <a:spLocks noGrp="1"/>
          </p:cNvSpPr>
          <p:nvPr>
            <p:ph type="sldNum" sz="quarter" idx="12"/>
          </p:nvPr>
        </p:nvSpPr>
        <p:spPr/>
        <p:txBody>
          <a:bodyPr/>
          <a:lstStyle/>
          <a:p>
            <a:r>
              <a:rPr lang="it-IT" dirty="0"/>
              <a:t>41</a:t>
            </a:r>
          </a:p>
        </p:txBody>
      </p:sp>
    </p:spTree>
    <p:extLst>
      <p:ext uri="{BB962C8B-B14F-4D97-AF65-F5344CB8AC3E}">
        <p14:creationId xmlns:p14="http://schemas.microsoft.com/office/powerpoint/2010/main" val="9529884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7D00A-2220-EE11-65F7-1C0D56A5F7E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F94E42B-AFDF-8472-FEAF-A6BBC72A5937}"/>
              </a:ext>
            </a:extLst>
          </p:cNvPr>
          <p:cNvSpPr>
            <a:spLocks noGrp="1"/>
          </p:cNvSpPr>
          <p:nvPr>
            <p:ph type="title"/>
          </p:nvPr>
        </p:nvSpPr>
        <p:spPr/>
        <p:txBody>
          <a:bodyPr/>
          <a:lstStyle/>
          <a:p>
            <a:r>
              <a:rPr lang="it-IT" dirty="0"/>
              <a:t>Slide 42: Sintesi dei Benefici Aziendali del Multi-stage Build</a:t>
            </a:r>
          </a:p>
        </p:txBody>
      </p:sp>
      <p:sp>
        <p:nvSpPr>
          <p:cNvPr id="3" name="Segnaposto contenuto 2">
            <a:extLst>
              <a:ext uri="{FF2B5EF4-FFF2-40B4-BE49-F238E27FC236}">
                <a16:creationId xmlns:a16="http://schemas.microsoft.com/office/drawing/2014/main" id="{D3E85A56-1602-A20A-DC13-FB2AD5C3762D}"/>
              </a:ext>
            </a:extLst>
          </p:cNvPr>
          <p:cNvSpPr>
            <a:spLocks noGrp="1"/>
          </p:cNvSpPr>
          <p:nvPr>
            <p:ph idx="1"/>
          </p:nvPr>
        </p:nvSpPr>
        <p:spPr/>
        <p:txBody>
          <a:bodyPr/>
          <a:lstStyle/>
          <a:p>
            <a:r>
              <a:rPr lang="it-IT" dirty="0"/>
              <a:t>Per concludere il percorso formativo, ricapitoliamo i vantaggi tangibili che l'adozione del Multi-stage Build apporta all'interno delle infrastrutture informatiche aziendali e delle pipeline di produzione: si ottiene un abbattimento radicale dello spazio (un applicativo Spring Boot o Node.js riduce il proprio peso complessivo sul disco da 800MB a circa 150MB); si massimizza la sicurezza informatica (</a:t>
            </a:r>
            <a:r>
              <a:rPr lang="it-IT" b="1" dirty="0" err="1"/>
              <a:t>Hardening</a:t>
            </a:r>
            <a:r>
              <a:rPr lang="it-IT" dirty="0"/>
              <a:t>) poiché, eliminando i compilatori dalle immagini finali, si impedisce a eventuali attaccanti di ricompilare codice malevolo a bordo; infine si ottengono </a:t>
            </a:r>
            <a:r>
              <a:rPr lang="it-IT" dirty="0" err="1"/>
              <a:t>deploy</a:t>
            </a:r>
            <a:r>
              <a:rPr lang="it-IT" dirty="0"/>
              <a:t> fulminei </a:t>
            </a:r>
            <a:r>
              <a:rPr lang="it-IT" dirty="0" err="1"/>
              <a:t>poichè</a:t>
            </a:r>
            <a:r>
              <a:rPr lang="it-IT" dirty="0"/>
              <a:t> immagini leggere si traducono in un trasferimento veloce dei file attraverso la rete cloud.</a:t>
            </a:r>
          </a:p>
          <a:p>
            <a:r>
              <a:rPr lang="it-IT" dirty="0"/>
              <a:t>Con il comando "</a:t>
            </a:r>
            <a:r>
              <a:rPr lang="it-IT" b="1" dirty="0" err="1"/>
              <a:t>docker</a:t>
            </a:r>
            <a:r>
              <a:rPr lang="it-IT" b="1" dirty="0"/>
              <a:t> images</a:t>
            </a:r>
            <a:r>
              <a:rPr lang="it-IT" dirty="0"/>
              <a:t>" possiamo verificare la differenza in peso </a:t>
            </a:r>
            <a:r>
              <a:rPr lang="it-IT"/>
              <a:t>tra un’immagine mono-stadio </a:t>
            </a:r>
            <a:r>
              <a:rPr lang="it-IT" dirty="0"/>
              <a:t>ed una multi-stadio a parità di immagine </a:t>
            </a:r>
            <a:r>
              <a:rPr lang="it-IT"/>
              <a:t>base.</a:t>
            </a:r>
            <a:endParaRPr lang="it-IT" dirty="0"/>
          </a:p>
        </p:txBody>
      </p:sp>
      <p:sp>
        <p:nvSpPr>
          <p:cNvPr id="4" name="Segnaposto numero diapositiva 3">
            <a:extLst>
              <a:ext uri="{FF2B5EF4-FFF2-40B4-BE49-F238E27FC236}">
                <a16:creationId xmlns:a16="http://schemas.microsoft.com/office/drawing/2014/main" id="{1E2E43C6-972E-ECB0-2272-2430A8E12C69}"/>
              </a:ext>
            </a:extLst>
          </p:cNvPr>
          <p:cNvSpPr>
            <a:spLocks noGrp="1"/>
          </p:cNvSpPr>
          <p:nvPr>
            <p:ph type="sldNum" sz="quarter" idx="12"/>
          </p:nvPr>
        </p:nvSpPr>
        <p:spPr/>
        <p:txBody>
          <a:bodyPr/>
          <a:lstStyle/>
          <a:p>
            <a:r>
              <a:rPr lang="it-IT" dirty="0"/>
              <a:t>42</a:t>
            </a:r>
          </a:p>
        </p:txBody>
      </p:sp>
    </p:spTree>
    <p:extLst>
      <p:ext uri="{BB962C8B-B14F-4D97-AF65-F5344CB8AC3E}">
        <p14:creationId xmlns:p14="http://schemas.microsoft.com/office/powerpoint/2010/main" val="13118054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customXml/itemProps2.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C65656-B2D8-4C19-A873-091B25A5212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737</TotalTime>
  <Words>6739</Words>
  <Application>Microsoft Office PowerPoint</Application>
  <PresentationFormat>Widescreen</PresentationFormat>
  <Paragraphs>334</Paragraphs>
  <Slides>45</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45</vt:i4>
      </vt:variant>
    </vt:vector>
  </HeadingPairs>
  <TitlesOfParts>
    <vt:vector size="51"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Introduzione a Docker</vt:lpstr>
      <vt:lpstr>Slide 2: L'Architettura Client-Server</vt:lpstr>
      <vt:lpstr>Slide 3: La Docker CLI (Il Client)</vt:lpstr>
      <vt:lpstr>Slide 4: Il Docker Daemon (Il Motore Operativo dockerd)</vt:lpstr>
      <vt:lpstr>Slide 5: La Docker Engine API ed i Payload JSON</vt:lpstr>
      <vt:lpstr>Slide 6: Il Canale di Comunicazione Locale (Unix Socket)</vt:lpstr>
      <vt:lpstr>Slide 7: Anatomia Ingegneristica di un'Immagine Docker</vt:lpstr>
      <vt:lpstr>Slide 8: La Natura Dinamica del Container</vt:lpstr>
      <vt:lpstr>Slide 9: Il Parallelismo Espositivo con la Programmazione OOP</vt:lpstr>
      <vt:lpstr>Slide 10: Decomposizione Sequenziale di docker run</vt:lpstr>
      <vt:lpstr>Slide 11: Il Registro Centrale Cloud: Docker Hub</vt:lpstr>
      <vt:lpstr>Slide 12: Logica Strategica del Comando docker pull</vt:lpstr>
      <vt:lpstr>Slide 13: L'Ingegneria dell'Isolamento: I Namespaces del Kernel</vt:lpstr>
      <vt:lpstr>Slide 14: La Regolazione delle Risorse Fisiche: I Control Groups</vt:lpstr>
      <vt:lpstr>Slide 15: Analisi Comparativa Radicale: Docker contro le Macchine Virtuali</vt:lpstr>
      <vt:lpstr>Slide 16: Il Concetto di Filesystem Isolato in Docker</vt:lpstr>
      <vt:lpstr>Slide 17: La Struttura Incrementale a Layer (Pila di Delta)</vt:lpstr>
      <vt:lpstr>Slide 18: L'Immutabilità dei Layer e la Condivisione Globale</vt:lpstr>
      <vt:lpstr>Slide 19: Il Layer Scrivibile del Container (Writable Layer)</vt:lpstr>
      <vt:lpstr>Slide 20: Il Layer Scrivibile del Container (Writable Layer)</vt:lpstr>
      <vt:lpstr>Slide 21: Il Motore di Storage sotto il Cofano: Il Copy-on-Write</vt:lpstr>
      <vt:lpstr>Slide 22: Georreferenziazione dei Dati: Linux contro Windows/macOS</vt:lpstr>
      <vt:lpstr>Slide 23: Il Versionamento delle Immagini tramite i Tag</vt:lpstr>
      <vt:lpstr>Slide 24: La Direttiva FROM e la Genesi del Filesystem</vt:lpstr>
      <vt:lpstr>Slide 25: Anatomia Analitica di un Tag di Produzione: Eclipse-Temurin</vt:lpstr>
      <vt:lpstr>Slide 26: Anatomia Analitica di un Tag di Produzione: Eclipse-Temurin</vt:lpstr>
      <vt:lpstr>Slide 27: La Direttiva WORKDIR e la Stabilità dei Percorsi</vt:lpstr>
      <vt:lpstr>Slide 28: La Direttiva COPY e la Gestione dei Contests</vt:lpstr>
      <vt:lpstr>Slide 29: La Direttiva CMD ed il Metadato di Avvio (Exec Form)</vt:lpstr>
      <vt:lpstr>Slide 30: Demolizione del Falso Mito del Comando EXPOSE</vt:lpstr>
      <vt:lpstr>Slide 31: La Linea di Demarcazione tra CMD e ENTRYPOINT</vt:lpstr>
      <vt:lpstr>Slide 32: Il Paradosso dell'Effimerità del Filesystem Nativo</vt:lpstr>
      <vt:lpstr>Slide 33: L'Ingegneria dei Volumi Docker (Persistenza Dedicata)</vt:lpstr>
      <vt:lpstr>Slide 34: La Distinzione Temporale e Funzionale: COPY contro VOLUMES</vt:lpstr>
      <vt:lpstr>Slide 35: L'Evoluzione del Motore di Build: BuildKit sotto il Cofano</vt:lpstr>
      <vt:lpstr>Slide 36: Il Meccanismo del Caching Sequenziale dei Layer</vt:lpstr>
      <vt:lpstr>Slide 37: L'Impatto dell'Ordine delle Istruzioni sulla Cache</vt:lpstr>
      <vt:lpstr>Slide 38: La Patologia delle Immagini "Gonfie" in Produzione</vt:lpstr>
      <vt:lpstr>Slide 39: La Soluzione Ingegneristica: Multi-stage Build</vt:lpstr>
      <vt:lpstr>Slide 40: Cooperazione tra Stage e il Comando COPY --from</vt:lpstr>
      <vt:lpstr>Slide 41: Smantellamento dell'Errore dei Container Multipli a Runtime</vt:lpstr>
      <vt:lpstr>Slide 42: Sintesi dei Benefici Aziendali del Multi-stage Build</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Ony</cp:lastModifiedBy>
  <cp:revision>117</cp:revision>
  <dcterms:created xsi:type="dcterms:W3CDTF">2023-09-21T07:59:23Z</dcterms:created>
  <dcterms:modified xsi:type="dcterms:W3CDTF">2026-06-07T23:53:39Z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