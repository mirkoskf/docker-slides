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46"/>
  </p:notesMasterIdLst>
  <p:handoutMasterIdLst>
    <p:handoutMasterId r:id="rId47"/>
  </p:handoutMasterIdLst>
  <p:sldIdLst>
    <p:sldId id="262" r:id="rId5"/>
    <p:sldId id="259" r:id="rId6"/>
    <p:sldId id="25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0" r:id="rId33"/>
    <p:sldId id="292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261" r:id="rId4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3" autoAdjust="0"/>
    <p:restoredTop sz="92907" autoAdjust="0"/>
  </p:normalViewPr>
  <p:slideViewPr>
    <p:cSldViewPr snapToGrid="0" showGuides="1">
      <p:cViewPr varScale="1">
        <p:scale>
          <a:sx n="151" d="100"/>
          <a:sy n="151" d="100"/>
        </p:scale>
        <p:origin x="192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6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aboratorio.local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laboratorio.local/.well-known/acme-challenge/abc123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aboratorio.local/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shop.skillfactory.it/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hop.skillfactory.it/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 dirty="0"/>
              <a:t>MODULO 1: Architettura di Base e Componenti Core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1: Obiettivo del Laboratorio ed Architettura Target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L'obiettivo è testare, interamente all'interno del proprio computer di sviluppo locale, un'infrastruttura di rete sicura e invertita (Reverse Proxy) basata sulla cooperazione di tre entità distinte orchestrate da Docker Compose. </a:t>
            </a:r>
          </a:p>
          <a:p>
            <a:r>
              <a:rPr lang="it-IT" dirty="0"/>
              <a:t>Nello specifico, configureremo:</a:t>
            </a:r>
          </a:p>
          <a:p>
            <a:r>
              <a:rPr lang="it-IT" dirty="0"/>
              <a:t>un container </a:t>
            </a:r>
            <a:r>
              <a:rPr lang="it-IT" dirty="0" err="1"/>
              <a:t>Nginx</a:t>
            </a:r>
            <a:r>
              <a:rPr lang="it-IT" dirty="0"/>
              <a:t> che fungerà da vigile unico del sistema, intercettando il traffico HTTPS sulla porta 443.</a:t>
            </a:r>
          </a:p>
          <a:p>
            <a:r>
              <a:rPr lang="it-IT" dirty="0"/>
              <a:t>Un container </a:t>
            </a:r>
            <a:r>
              <a:rPr lang="it-IT" dirty="0" err="1"/>
              <a:t>Certbot</a:t>
            </a:r>
            <a:r>
              <a:rPr lang="it-IT" dirty="0"/>
              <a:t> deputato a simulare il ciclo di rilascio e rinnovo automatico dei certificati crittografici SSL.</a:t>
            </a:r>
          </a:p>
          <a:p>
            <a:r>
              <a:rPr lang="it-IT" dirty="0"/>
              <a:t>Un'applicazione </a:t>
            </a:r>
            <a:r>
              <a:rPr lang="it-IT" dirty="0" err="1"/>
              <a:t>Backend</a:t>
            </a:r>
            <a:r>
              <a:rPr lang="it-IT" dirty="0"/>
              <a:t> finta (</a:t>
            </a:r>
            <a:r>
              <a:rPr lang="it-IT" dirty="0" err="1"/>
              <a:t>Mock</a:t>
            </a:r>
            <a:r>
              <a:rPr lang="it-IT" dirty="0"/>
              <a:t>) posizionata nella stessa rete bridge, che riceverà il traffico pulito da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  <a:p>
            <a:r>
              <a:rPr lang="it-IT" dirty="0"/>
              <a:t>Grazie a questo allestimento, simuleremo un vero ambiente Cloud di produzione a "Zero </a:t>
            </a:r>
            <a:r>
              <a:rPr lang="it-IT" dirty="0" err="1"/>
              <a:t>Downtime</a:t>
            </a:r>
            <a:r>
              <a:rPr lang="it-IT" dirty="0"/>
              <a:t>".</a:t>
            </a:r>
          </a:p>
          <a:p>
            <a:r>
              <a:rPr lang="it-IT" dirty="0"/>
              <a:t>Questo schema rappresenta lo standard industriale per la protezione dei microservizi. Nessuna applicazione aziendale viene mai esposta direttamente su Internet senza lo scudo di un Reverse Proxy.</a:t>
            </a:r>
            <a:endParaRPr lang="it-IT" b="1" dirty="0">
              <a:solidFill>
                <a:srgbClr val="171F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7DC6-1D3E-E452-E8AC-8FAE0DC7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6800EF37-9C13-9188-B454-ADC84DA9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2: Step 1 – Configurazione del DNS Locale (File </a:t>
            </a:r>
            <a:r>
              <a:rPr lang="it-IT" dirty="0" err="1"/>
              <a:t>hosts</a:t>
            </a:r>
            <a:r>
              <a:rPr lang="it-IT" dirty="0"/>
              <a:t>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2E35D580-3531-178A-20AD-C3193A57E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Prima di toccare il codice di Docker, dobbiamo fare in modo che il browser del nostro computer sappia dove indirizzare il traffico quando digiteremo un nome di dominio inventato. </a:t>
            </a:r>
          </a:p>
          <a:p>
            <a:r>
              <a:rPr lang="it-IT" dirty="0"/>
              <a:t>Dobbiamo mappare il dominio finto </a:t>
            </a:r>
            <a:r>
              <a:rPr lang="it-IT" dirty="0" err="1">
                <a:solidFill>
                  <a:srgbClr val="171FE2"/>
                </a:solidFill>
              </a:rPr>
              <a:t>laboratorio.local</a:t>
            </a:r>
            <a:r>
              <a:rPr lang="it-IT" dirty="0"/>
              <a:t> verso l'indirizzo di </a:t>
            </a:r>
            <a:r>
              <a:rPr lang="it-IT" dirty="0" err="1"/>
              <a:t>loopback</a:t>
            </a:r>
            <a:r>
              <a:rPr lang="it-IT" dirty="0"/>
              <a:t> del nostro PC (127.0.0.1).</a:t>
            </a:r>
          </a:p>
          <a:p>
            <a:r>
              <a:rPr lang="it-IT" b="1" dirty="0"/>
              <a:t>Su Windows: </a:t>
            </a:r>
          </a:p>
          <a:p>
            <a:r>
              <a:rPr lang="it-IT" dirty="0"/>
              <a:t>Aprire il blocco note come Amministratore e modificare il file 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C:\Windows\System32\drivers\etc\hosts</a:t>
            </a:r>
            <a:r>
              <a:rPr lang="it-IT" dirty="0"/>
              <a:t>.</a:t>
            </a:r>
          </a:p>
          <a:p>
            <a:r>
              <a:rPr lang="it-IT" b="1" dirty="0"/>
              <a:t>Su Linux / </a:t>
            </a:r>
            <a:r>
              <a:rPr lang="it-IT" b="1" dirty="0" err="1"/>
              <a:t>macOS</a:t>
            </a:r>
            <a:r>
              <a:rPr lang="it-IT" b="1" dirty="0"/>
              <a:t>: </a:t>
            </a:r>
          </a:p>
          <a:p>
            <a:r>
              <a:rPr lang="it-IT" dirty="0"/>
              <a:t>Aprire il terminale e digitare 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sudo nano 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hosts</a:t>
            </a:r>
            <a:r>
              <a:rPr lang="it-IT" dirty="0"/>
              <a:t>.</a:t>
            </a:r>
          </a:p>
          <a:p>
            <a:r>
              <a:rPr lang="it-IT" dirty="0"/>
              <a:t>Aggiungere in fondo al file la seguente riga esatta e salvare il documento:</a:t>
            </a:r>
          </a:p>
          <a:p>
            <a:r>
              <a:rPr lang="it-IT" b="1" dirty="0">
                <a:solidFill>
                  <a:srgbClr val="171FE2"/>
                </a:solidFill>
              </a:rPr>
              <a:t>127.0.0.1    </a:t>
            </a:r>
            <a:r>
              <a:rPr lang="it-IT" b="1" dirty="0" err="1">
                <a:solidFill>
                  <a:srgbClr val="171FE2"/>
                </a:solidFill>
              </a:rPr>
              <a:t>laboratorio.local</a:t>
            </a:r>
            <a:endParaRPr lang="it-IT" b="1" dirty="0">
              <a:solidFill>
                <a:srgbClr val="171FE2"/>
              </a:solidFill>
            </a:endParaRPr>
          </a:p>
          <a:p>
            <a:r>
              <a:rPr lang="it-IT" dirty="0"/>
              <a:t>Da questo momento, ogni richiesta verso </a:t>
            </a:r>
            <a:r>
              <a:rPr lang="it-IT" dirty="0" err="1"/>
              <a:t>laboratorio.local</a:t>
            </a:r>
            <a:r>
              <a:rPr lang="it-IT" dirty="0"/>
              <a:t> colpirà la nostra scheda di rete locale.</a:t>
            </a:r>
          </a:p>
        </p:txBody>
      </p:sp>
    </p:spTree>
    <p:extLst>
      <p:ext uri="{BB962C8B-B14F-4D97-AF65-F5344CB8AC3E}">
        <p14:creationId xmlns:p14="http://schemas.microsoft.com/office/powerpoint/2010/main" val="385636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8D52-1C6B-A032-9B9F-A2523488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E5FDA85B-9728-1CC9-6201-0DB7503A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3: Step 2 – Creazione dell'Albero delle Cartelle del Progetto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8EF9D81C-2703-1366-FDC3-19D9CB58D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fare in modo che i container condividano file e configurazioni senza generare caos sul disco fisso, </a:t>
            </a:r>
            <a:r>
              <a:rPr lang="it-IT" dirty="0">
                <a:solidFill>
                  <a:srgbClr val="171FE2"/>
                </a:solidFill>
              </a:rPr>
              <a:t>dobbiamo stabilire una gerarchia di directory rigorosa</a:t>
            </a:r>
            <a:r>
              <a:rPr lang="it-IT" dirty="0"/>
              <a:t>. </a:t>
            </a:r>
          </a:p>
          <a:p>
            <a:r>
              <a:rPr lang="it-IT" dirty="0"/>
              <a:t>Scegliere una posizione sul proprio computer (es. Desktop), creare una cartella principale chiamata progetto-proxy e, al suo interno, generare la seguente struttura di sottocartelle:</a:t>
            </a:r>
          </a:p>
          <a:p>
            <a:r>
              <a:rPr lang="it-IT" sz="1400" dirty="0"/>
              <a:t>progetto-proxy/</a:t>
            </a:r>
          </a:p>
          <a:p>
            <a:r>
              <a:rPr lang="it-IT" sz="1400" dirty="0"/>
              <a:t>├── </a:t>
            </a:r>
            <a:r>
              <a:rPr lang="it-IT" sz="1400" dirty="0" err="1"/>
              <a:t>docker-compose.yml</a:t>
            </a:r>
            <a:endParaRPr lang="it-IT" sz="1400" dirty="0"/>
          </a:p>
          <a:p>
            <a:r>
              <a:rPr lang="it-IT" sz="1400" dirty="0"/>
              <a:t>├── </a:t>
            </a:r>
            <a:r>
              <a:rPr lang="it-IT" sz="1400" dirty="0" err="1"/>
              <a:t>nginx</a:t>
            </a:r>
            <a:r>
              <a:rPr lang="it-IT" sz="1400" dirty="0"/>
              <a:t>/</a:t>
            </a:r>
          </a:p>
          <a:p>
            <a:r>
              <a:rPr lang="it-IT" sz="1400" dirty="0"/>
              <a:t>│   └── </a:t>
            </a:r>
            <a:r>
              <a:rPr lang="it-IT" sz="1400" dirty="0" err="1"/>
              <a:t>nginx.conf</a:t>
            </a:r>
            <a:endParaRPr lang="it-IT" sz="1400" dirty="0"/>
          </a:p>
          <a:p>
            <a:r>
              <a:rPr lang="it-IT" sz="1400" dirty="0"/>
              <a:t>└── </a:t>
            </a:r>
            <a:r>
              <a:rPr lang="it-IT" sz="1400" dirty="0" err="1"/>
              <a:t>certbot</a:t>
            </a:r>
            <a:r>
              <a:rPr lang="it-IT" sz="1400" dirty="0"/>
              <a:t>/</a:t>
            </a:r>
          </a:p>
          <a:p>
            <a:r>
              <a:rPr lang="it-IT" dirty="0">
                <a:solidFill>
                  <a:srgbClr val="171FE2"/>
                </a:solidFill>
              </a:rPr>
              <a:t>La cartella </a:t>
            </a:r>
            <a:r>
              <a:rPr lang="it-IT" dirty="0" err="1">
                <a:solidFill>
                  <a:srgbClr val="171FE2"/>
                </a:solidFill>
              </a:rPr>
              <a:t>nginx</a:t>
            </a:r>
            <a:r>
              <a:rPr lang="it-IT" dirty="0">
                <a:solidFill>
                  <a:srgbClr val="171FE2"/>
                </a:solidFill>
              </a:rPr>
              <a:t>/ ospiterà il file di configurazione del server web</a:t>
            </a:r>
            <a:r>
              <a:rPr lang="it-IT" dirty="0"/>
              <a:t>, mentre la cartella </a:t>
            </a:r>
            <a:r>
              <a:rPr lang="it-IT" dirty="0" err="1">
                <a:solidFill>
                  <a:srgbClr val="171FE2"/>
                </a:solidFill>
              </a:rPr>
              <a:t>certbot</a:t>
            </a:r>
            <a:r>
              <a:rPr lang="it-IT" dirty="0">
                <a:solidFill>
                  <a:srgbClr val="171FE2"/>
                </a:solidFill>
              </a:rPr>
              <a:t>/</a:t>
            </a:r>
            <a:r>
              <a:rPr lang="it-IT" dirty="0"/>
              <a:t> rimarrà inizialmente vuota e </a:t>
            </a:r>
            <a:r>
              <a:rPr lang="it-IT" dirty="0">
                <a:solidFill>
                  <a:srgbClr val="171FE2"/>
                </a:solidFill>
              </a:rPr>
              <a:t>verrà utilizzata </a:t>
            </a:r>
            <a:r>
              <a:rPr lang="it-IT" dirty="0"/>
              <a:t>da Docker come punto di ancoraggio </a:t>
            </a:r>
            <a:r>
              <a:rPr lang="it-IT" dirty="0">
                <a:solidFill>
                  <a:srgbClr val="171FE2"/>
                </a:solidFill>
              </a:rPr>
              <a:t>per depositare le chiavi crittografiche generatrici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804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4F24F-C418-C2DD-1058-76FAD54F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E3AF945A-E90E-6AC9-ACA2-938C6D25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4: Step 3 – Scrittura del File di Configurazione di </a:t>
            </a:r>
            <a:r>
              <a:rPr lang="it-IT" dirty="0" err="1"/>
              <a:t>Nginx</a:t>
            </a:r>
            <a:r>
              <a:rPr lang="it-IT" dirty="0"/>
              <a:t> (</a:t>
            </a:r>
            <a:r>
              <a:rPr lang="it-IT" dirty="0" err="1"/>
              <a:t>nginx.conf</a:t>
            </a:r>
            <a:r>
              <a:rPr lang="it-IT" dirty="0"/>
              <a:t>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B7B4C31-17B3-11C2-1D68-BE29C5A0D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3588362" cy="4803369"/>
          </a:xfrm>
        </p:spPr>
        <p:txBody>
          <a:bodyPr/>
          <a:lstStyle/>
          <a:p>
            <a:r>
              <a:rPr lang="it-IT" dirty="0"/>
              <a:t>Nella cartella </a:t>
            </a:r>
            <a:r>
              <a:rPr lang="it-IT" dirty="0" err="1"/>
              <a:t>nginx</a:t>
            </a:r>
            <a:r>
              <a:rPr lang="it-IT" dirty="0"/>
              <a:t>/ appena creata creiamo un file di testo denominato </a:t>
            </a:r>
            <a:r>
              <a:rPr lang="it-IT" dirty="0" err="1"/>
              <a:t>nginx.conf</a:t>
            </a:r>
            <a:r>
              <a:rPr lang="it-IT" dirty="0"/>
              <a:t>. </a:t>
            </a:r>
          </a:p>
          <a:p>
            <a:r>
              <a:rPr lang="it-IT" dirty="0"/>
              <a:t>Inserire al suo interno la configurazione per intercettare la sfida ACME di </a:t>
            </a:r>
            <a:r>
              <a:rPr lang="it-IT" dirty="0" err="1"/>
              <a:t>Certbot</a:t>
            </a:r>
            <a:r>
              <a:rPr lang="it-IT" dirty="0"/>
              <a:t> sulla porta 80:</a:t>
            </a:r>
          </a:p>
          <a:p>
            <a:r>
              <a:rPr lang="it-IT" dirty="0" err="1"/>
              <a:t>Nginx</a:t>
            </a:r>
            <a:r>
              <a:rPr lang="it-IT" dirty="0"/>
              <a:t> riserva la rotta /.</a:t>
            </a:r>
            <a:r>
              <a:rPr lang="it-IT" dirty="0" err="1"/>
              <a:t>well-known</a:t>
            </a:r>
            <a:r>
              <a:rPr lang="it-IT" dirty="0"/>
              <a:t>/acme-challenge/ esclusivamente alla lettura dei file temporanei che </a:t>
            </a:r>
            <a:r>
              <a:rPr lang="it-IT" dirty="0" err="1"/>
              <a:t>Certbot</a:t>
            </a:r>
            <a:r>
              <a:rPr lang="it-IT" dirty="0"/>
              <a:t> genererà durante la simulazione.</a:t>
            </a:r>
          </a:p>
          <a:p>
            <a:r>
              <a:rPr lang="it-IT" dirty="0"/>
              <a:t>Quando </a:t>
            </a:r>
            <a:r>
              <a:rPr lang="it-IT" dirty="0" err="1"/>
              <a:t>Certbot</a:t>
            </a:r>
            <a:r>
              <a:rPr lang="it-IT" dirty="0"/>
              <a:t> chiederà un certificato, il verificatore cercherà un file dentro quella cartella. </a:t>
            </a:r>
            <a:r>
              <a:rPr lang="it-IT" dirty="0" err="1"/>
              <a:t>Nginx</a:t>
            </a:r>
            <a:r>
              <a:rPr lang="it-IT" dirty="0"/>
              <a:t> si limiterà a leggere quel file e a rispondergli.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7EDAAE-CDC5-8A9B-C615-8345FD2102D6}"/>
              </a:ext>
            </a:extLst>
          </p:cNvPr>
          <p:cNvSpPr txBox="1"/>
          <p:nvPr/>
        </p:nvSpPr>
        <p:spPr>
          <a:xfrm>
            <a:off x="5616561" y="1224008"/>
            <a:ext cx="6042039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events {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worker_connections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1024; }</a:t>
            </a:r>
          </a:p>
          <a:p>
            <a:endParaRPr lang="en-US" sz="12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http {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server {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listen 80;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server_name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laboratorio.local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# Endpoint per la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sfida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ACME di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endParaRPr lang="en-US" sz="12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location /.well-known/acme-challenge/ {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    root /var/www/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2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#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Reindirizzamento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temporaneo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per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test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location / {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    return 200 'Nginx locale pronto per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ricevere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SSL!';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add_header</a:t>
            </a:r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Content-Type text/plain;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solidFill>
                  <a:srgbClr val="171FE2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600" dirty="0">
                <a:latin typeface="Neue Haas Grotesk Text Pro" panose="020B0504020202020204" pitchFamily="34" charset="0"/>
              </a:rPr>
              <a:t>Questa configurazione crea un piccolo server web locale che: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Neue Haas Grotesk Text Pro" panose="020B0504020202020204" pitchFamily="34" charset="0"/>
              </a:rPr>
              <a:t>ascolta sulla porta HTTP 80;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Neue Haas Grotesk Text Pro" panose="020B0504020202020204" pitchFamily="34" charset="0"/>
              </a:rPr>
              <a:t>risponde con un messaggio di test;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Neue Haas Grotesk Text Pro" panose="020B0504020202020204" pitchFamily="34" charset="0"/>
              </a:rPr>
              <a:t>permette a </a:t>
            </a:r>
            <a:r>
              <a:rPr lang="it-IT" sz="1600" dirty="0" err="1">
                <a:latin typeface="Neue Haas Grotesk Text Pro" panose="020B0504020202020204" pitchFamily="34" charset="0"/>
              </a:rPr>
              <a:t>Certbot</a:t>
            </a:r>
            <a:r>
              <a:rPr lang="it-IT" sz="1600" dirty="0">
                <a:latin typeface="Neue Haas Grotesk Text Pro" panose="020B0504020202020204" pitchFamily="34" charset="0"/>
              </a:rPr>
              <a:t> di verificare il dominio </a:t>
            </a:r>
          </a:p>
          <a:p>
            <a:r>
              <a:rPr lang="it-IT" sz="1600" dirty="0">
                <a:latin typeface="Neue Haas Grotesk Text Pro" panose="020B0504020202020204" pitchFamily="34" charset="0"/>
              </a:rPr>
              <a:t>     per ottenere un certificato SSL/HTTPS.</a:t>
            </a:r>
          </a:p>
          <a:p>
            <a:r>
              <a:rPr lang="it-IT" sz="1600" b="1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Provare </a:t>
            </a:r>
            <a:r>
              <a:rPr lang="it-IT" sz="1600" b="1" dirty="0" err="1">
                <a:solidFill>
                  <a:srgbClr val="171FE2"/>
                </a:solidFill>
                <a:latin typeface="Neue Haas Grotesk Text Pro" panose="020B0504020202020204" pitchFamily="34" charset="0"/>
              </a:rPr>
              <a:t>nell’url</a:t>
            </a:r>
            <a:r>
              <a:rPr lang="it-IT" sz="1600" b="1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 del browser: </a:t>
            </a:r>
            <a:r>
              <a:rPr lang="it-IT" sz="1600" b="1" dirty="0">
                <a:solidFill>
                  <a:srgbClr val="171FE2"/>
                </a:solidFill>
                <a:latin typeface="Neue Haas Grotesk Text Pro" panose="020B0504020202020204" pitchFamily="34" charset="0"/>
                <a:hlinkClick r:id="rId2"/>
              </a:rPr>
              <a:t>http://laboratorio.local</a:t>
            </a:r>
            <a:endParaRPr lang="it-IT" sz="1600" b="1" dirty="0">
              <a:solidFill>
                <a:srgbClr val="171FE2"/>
              </a:solidFill>
              <a:latin typeface="Neue Haas Grotesk Text Pro" panose="020B0504020202020204" pitchFamily="34" charset="0"/>
            </a:endParaRPr>
          </a:p>
          <a:p>
            <a:r>
              <a:rPr lang="it-IT" sz="1600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Leggeremo</a:t>
            </a:r>
            <a:r>
              <a:rPr lang="it-IT" sz="1600" b="1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: 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'Nginx locale pronto per 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ricevere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SSL!'</a:t>
            </a:r>
            <a:endParaRPr lang="it-IT" sz="1600" b="1" dirty="0">
              <a:solidFill>
                <a:srgbClr val="171FE2"/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44BAB793-2288-8F38-BFE8-2C87F4797716}"/>
              </a:ext>
            </a:extLst>
          </p:cNvPr>
          <p:cNvSpPr/>
          <p:nvPr/>
        </p:nvSpPr>
        <p:spPr>
          <a:xfrm>
            <a:off x="2571750" y="2907369"/>
            <a:ext cx="36835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88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4E97-72D1-BB83-AFE8-A491581F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F66D7DFA-7A6B-7081-84E2-FBF31C93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5: Step 3 – Scrittura del File di Configurazione di </a:t>
            </a:r>
            <a:r>
              <a:rPr lang="it-IT" dirty="0" err="1"/>
              <a:t>Nginx</a:t>
            </a:r>
            <a:r>
              <a:rPr lang="it-IT" dirty="0"/>
              <a:t> (</a:t>
            </a:r>
            <a:r>
              <a:rPr lang="it-IT" dirty="0" err="1"/>
              <a:t>nginx.conf</a:t>
            </a:r>
            <a:r>
              <a:rPr lang="it-IT" dirty="0"/>
              <a:t>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508C989-AB27-C5E2-B47D-5BCFA16F2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688" y="1349192"/>
            <a:ext cx="10967062" cy="4803369"/>
          </a:xfrm>
        </p:spPr>
        <p:txBody>
          <a:bodyPr/>
          <a:lstStyle/>
          <a:p>
            <a:r>
              <a:rPr lang="it-IT" sz="1400" dirty="0">
                <a:latin typeface="Consolas" panose="020B0609020204030204" pitchFamily="49" charset="0"/>
              </a:rPr>
              <a:t>events {</a:t>
            </a:r>
          </a:p>
          <a:p>
            <a:r>
              <a:rPr lang="it-IT" sz="1400" dirty="0">
                <a:latin typeface="Consolas" panose="020B0609020204030204" pitchFamily="49" charset="0"/>
              </a:rPr>
              <a:t>    </a:t>
            </a:r>
            <a:r>
              <a:rPr lang="it-IT" sz="1400" dirty="0" err="1">
                <a:latin typeface="Consolas" panose="020B0609020204030204" pitchFamily="49" charset="0"/>
              </a:rPr>
              <a:t>worker_connections</a:t>
            </a:r>
            <a:r>
              <a:rPr lang="it-IT" sz="1400" dirty="0">
                <a:latin typeface="Consolas" panose="020B0609020204030204" pitchFamily="49" charset="0"/>
              </a:rPr>
              <a:t> 1024;</a:t>
            </a:r>
          </a:p>
          <a:p>
            <a:r>
              <a:rPr lang="it-IT" sz="1400" dirty="0">
                <a:latin typeface="Consolas" panose="020B0609020204030204" pitchFamily="49" charset="0"/>
              </a:rPr>
              <a:t>}</a:t>
            </a:r>
          </a:p>
          <a:p>
            <a:r>
              <a:rPr lang="it-IT" sz="1600" dirty="0"/>
              <a:t>Qui </a:t>
            </a:r>
            <a:r>
              <a:rPr lang="it-IT" sz="1600" dirty="0" err="1"/>
              <a:t>Nginx</a:t>
            </a:r>
            <a:r>
              <a:rPr lang="it-IT" sz="1600" dirty="0"/>
              <a:t> definisce alcune impostazioni interne.</a:t>
            </a:r>
          </a:p>
          <a:p>
            <a:r>
              <a:rPr lang="it-IT" sz="1600" dirty="0"/>
              <a:t>Ogni processo di </a:t>
            </a:r>
            <a:r>
              <a:rPr lang="it-IT" sz="1600" dirty="0" err="1"/>
              <a:t>Nginx</a:t>
            </a:r>
            <a:r>
              <a:rPr lang="it-IT" sz="1600" dirty="0"/>
              <a:t> può gestire fino a 1024 connessioni contemporaneamente.</a:t>
            </a:r>
          </a:p>
          <a:p>
            <a:r>
              <a:rPr lang="it-IT" sz="1600" dirty="0"/>
              <a:t>Per un ambiente locale o di test è più che sufficiente.</a:t>
            </a:r>
          </a:p>
          <a:p>
            <a:endParaRPr lang="it-IT" dirty="0"/>
          </a:p>
          <a:p>
            <a:r>
              <a:rPr lang="en-US" sz="1400" dirty="0">
                <a:latin typeface="Consolas" panose="020B0609020204030204" pitchFamily="49" charset="0"/>
              </a:rPr>
              <a:t>location /.well-known/acme-challenge/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root /var/www/</a:t>
            </a:r>
            <a:r>
              <a:rPr lang="en-US" sz="1400" dirty="0" err="1">
                <a:latin typeface="Consolas" panose="020B0609020204030204" pitchFamily="49" charset="0"/>
              </a:rPr>
              <a:t>certbot</a:t>
            </a:r>
            <a:r>
              <a:rPr lang="en-US" sz="1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it-IT" sz="1600" dirty="0"/>
              <a:t>Cartella per </a:t>
            </a:r>
            <a:r>
              <a:rPr lang="it-IT" sz="1600" dirty="0" err="1"/>
              <a:t>Certbot</a:t>
            </a:r>
            <a:r>
              <a:rPr lang="it-IT" sz="1600" dirty="0"/>
              <a:t> (</a:t>
            </a:r>
            <a:r>
              <a:rPr lang="it-IT" sz="1600" dirty="0" err="1"/>
              <a:t>Let's</a:t>
            </a:r>
            <a:r>
              <a:rPr lang="it-IT" sz="1600" dirty="0"/>
              <a:t> </a:t>
            </a:r>
            <a:r>
              <a:rPr lang="it-IT" sz="1600" dirty="0" err="1"/>
              <a:t>Encrypt</a:t>
            </a:r>
            <a:r>
              <a:rPr lang="it-IT" sz="1600" dirty="0"/>
              <a:t>): questa parte serve per ottenere o rinnovare automaticamente un certificato SSL. Quando </a:t>
            </a:r>
            <a:r>
              <a:rPr lang="it-IT" sz="1600" dirty="0" err="1"/>
              <a:t>Certbot</a:t>
            </a:r>
            <a:r>
              <a:rPr lang="it-IT" sz="1600" dirty="0"/>
              <a:t> verifica che possiedi il dominio, prova ad aprire un URL come:</a:t>
            </a:r>
          </a:p>
          <a:p>
            <a:r>
              <a:rPr lang="it-IT" sz="1600" dirty="0">
                <a:solidFill>
                  <a:srgbClr val="171FE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http://laboratorio.local/.well-known/acme-challenge/abc123</a:t>
            </a:r>
            <a:endParaRPr lang="it-IT" sz="1600" dirty="0">
              <a:solidFill>
                <a:srgbClr val="171FE2"/>
              </a:solidFill>
            </a:endParaRPr>
          </a:p>
          <a:p>
            <a:r>
              <a:rPr lang="it-IT" sz="1600" dirty="0" err="1"/>
              <a:t>Nginx</a:t>
            </a:r>
            <a:r>
              <a:rPr lang="it-IT" sz="1600" dirty="0"/>
              <a:t> andrà a cercare quel file nella cartella: 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/var/www/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600" dirty="0"/>
              <a:t>Per esempio: </a:t>
            </a:r>
            <a:r>
              <a:rPr lang="it-IT" sz="1600" dirty="0">
                <a:solidFill>
                  <a:srgbClr val="171FE2"/>
                </a:solidFill>
              </a:rPr>
              <a:t>/var/www/</a:t>
            </a:r>
            <a:r>
              <a:rPr lang="it-IT" sz="1600" dirty="0" err="1">
                <a:solidFill>
                  <a:srgbClr val="171FE2"/>
                </a:solidFill>
              </a:rPr>
              <a:t>certbot</a:t>
            </a:r>
            <a:r>
              <a:rPr lang="it-IT" sz="1600" dirty="0">
                <a:solidFill>
                  <a:srgbClr val="171FE2"/>
                </a:solidFill>
              </a:rPr>
              <a:t>/.</a:t>
            </a:r>
            <a:r>
              <a:rPr lang="it-IT" sz="1600" dirty="0" err="1">
                <a:solidFill>
                  <a:srgbClr val="171FE2"/>
                </a:solidFill>
              </a:rPr>
              <a:t>well-known</a:t>
            </a:r>
            <a:r>
              <a:rPr lang="it-IT" sz="1600" dirty="0">
                <a:solidFill>
                  <a:srgbClr val="171FE2"/>
                </a:solidFill>
              </a:rPr>
              <a:t>/acme-challenge/abc123</a:t>
            </a:r>
          </a:p>
          <a:p>
            <a:r>
              <a:rPr lang="it-IT" sz="1600" dirty="0"/>
              <a:t>Se il file esiste, </a:t>
            </a:r>
            <a:r>
              <a:rPr lang="it-IT" sz="1600" dirty="0" err="1"/>
              <a:t>Certbot</a:t>
            </a:r>
            <a:r>
              <a:rPr lang="it-IT" sz="1600" dirty="0"/>
              <a:t> dimostra che controlli il dominio e può emettere il certificato.</a:t>
            </a:r>
          </a:p>
        </p:txBody>
      </p:sp>
    </p:spTree>
    <p:extLst>
      <p:ext uri="{BB962C8B-B14F-4D97-AF65-F5344CB8AC3E}">
        <p14:creationId xmlns:p14="http://schemas.microsoft.com/office/powerpoint/2010/main" val="144880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D5A6-5D2E-241F-0A9D-4343C055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46169F7D-8F86-2F9F-E4F1-3D06E60A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41" y="831206"/>
            <a:ext cx="10515600" cy="314198"/>
          </a:xfrm>
        </p:spPr>
        <p:txBody>
          <a:bodyPr/>
          <a:lstStyle/>
          <a:p>
            <a:r>
              <a:rPr lang="it-IT" dirty="0"/>
              <a:t>Slide 6: Step 4 – Stesura </a:t>
            </a:r>
            <a:br>
              <a:rPr lang="it-IT" dirty="0"/>
            </a:br>
            <a:r>
              <a:rPr lang="it-IT" dirty="0"/>
              <a:t>dell'Orchestratore </a:t>
            </a:r>
            <a:br>
              <a:rPr lang="it-IT" dirty="0"/>
            </a:br>
            <a:r>
              <a:rPr lang="it-IT" dirty="0" err="1"/>
              <a:t>docker-compose.yml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B71AEDD6-BC0F-8B58-063C-ED7FE27D6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41" y="1918106"/>
            <a:ext cx="2953362" cy="4803369"/>
          </a:xfrm>
        </p:spPr>
        <p:txBody>
          <a:bodyPr/>
          <a:lstStyle/>
          <a:p>
            <a:r>
              <a:rPr lang="it-IT" dirty="0"/>
              <a:t>Nella cartella radice progetto-proxy/, creare il file </a:t>
            </a:r>
            <a:r>
              <a:rPr lang="it-IT" dirty="0" err="1"/>
              <a:t>docker-compose.yml</a:t>
            </a:r>
            <a:r>
              <a:rPr lang="it-IT" dirty="0"/>
              <a:t> e inserire la dichiarazione dei servizi e dei volumi condivisi per connettere </a:t>
            </a:r>
            <a:r>
              <a:rPr lang="it-IT" dirty="0" err="1"/>
              <a:t>Nginx</a:t>
            </a:r>
            <a:r>
              <a:rPr lang="it-IT" dirty="0"/>
              <a:t> e </a:t>
            </a:r>
            <a:r>
              <a:rPr lang="it-IT" dirty="0" err="1"/>
              <a:t>Certbot</a:t>
            </a:r>
            <a:r>
              <a:rPr lang="it-IT" dirty="0"/>
              <a:t>:</a:t>
            </a:r>
          </a:p>
          <a:p>
            <a:r>
              <a:rPr lang="it-IT" dirty="0"/>
              <a:t>Per evitare:</a:t>
            </a:r>
          </a:p>
          <a:p>
            <a:r>
              <a:rPr lang="it-IT" dirty="0">
                <a:solidFill>
                  <a:srgbClr val="171FE2"/>
                </a:solidFill>
              </a:rPr>
              <a:t>config.yml.txt</a:t>
            </a:r>
          </a:p>
          <a:p>
            <a:r>
              <a:rPr lang="it-IT" dirty="0"/>
              <a:t>Apri Blocco Note → Vai su File → Salva con nome.</a:t>
            </a:r>
          </a:p>
          <a:p>
            <a:r>
              <a:rPr lang="it-IT" dirty="0"/>
              <a:t>Nel campo </a:t>
            </a:r>
            <a:r>
              <a:rPr lang="it-IT" b="1" dirty="0"/>
              <a:t>Nome file </a:t>
            </a:r>
            <a:r>
              <a:rPr lang="it-IT" dirty="0"/>
              <a:t>scrivi:"</a:t>
            </a:r>
            <a:r>
              <a:rPr lang="it-IT" dirty="0" err="1"/>
              <a:t>config.yml</a:t>
            </a:r>
            <a:r>
              <a:rPr lang="it-IT" dirty="0"/>
              <a:t>"(includendo le virgolette)</a:t>
            </a:r>
          </a:p>
          <a:p>
            <a:r>
              <a:rPr lang="it-IT" dirty="0"/>
              <a:t>In Salva come </a:t>
            </a:r>
            <a:r>
              <a:rPr lang="it-IT" dirty="0" err="1"/>
              <a:t>scegli:Tutti</a:t>
            </a:r>
            <a:r>
              <a:rPr lang="it-IT" dirty="0"/>
              <a:t> i file (*.*)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FD81B3E-54C5-C908-C56C-5233A8936F66}"/>
              </a:ext>
            </a:extLst>
          </p:cNvPr>
          <p:cNvSpPr txBox="1"/>
          <p:nvPr/>
        </p:nvSpPr>
        <p:spPr>
          <a:xfrm>
            <a:off x="4075867" y="363915"/>
            <a:ext cx="8116133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00" dirty="0" err="1"/>
              <a:t>version</a:t>
            </a:r>
            <a:r>
              <a:rPr lang="it-IT" sz="1300" dirty="0"/>
              <a:t>: '3.8'</a:t>
            </a:r>
          </a:p>
          <a:p>
            <a:endParaRPr lang="it-IT" sz="1300" dirty="0"/>
          </a:p>
          <a:p>
            <a:r>
              <a:rPr lang="it-IT" sz="1300" dirty="0"/>
              <a:t>services:</a:t>
            </a:r>
          </a:p>
          <a:p>
            <a:r>
              <a:rPr lang="it-IT" sz="1300" dirty="0"/>
              <a:t>  </a:t>
            </a:r>
            <a:r>
              <a:rPr lang="it-IT" sz="1300" dirty="0" err="1"/>
              <a:t>webserver-nginx</a:t>
            </a:r>
            <a:r>
              <a:rPr lang="it-IT" sz="1300" dirty="0"/>
              <a:t>:</a:t>
            </a:r>
          </a:p>
          <a:p>
            <a:r>
              <a:rPr lang="it-IT" sz="1300" dirty="0"/>
              <a:t>    image: </a:t>
            </a:r>
            <a:r>
              <a:rPr lang="it-IT" sz="1300" dirty="0" err="1"/>
              <a:t>nginx:alpine</a:t>
            </a:r>
            <a:endParaRPr lang="it-IT" sz="1300" dirty="0"/>
          </a:p>
          <a:p>
            <a:r>
              <a:rPr lang="it-IT" sz="1300" dirty="0"/>
              <a:t>    </a:t>
            </a:r>
            <a:r>
              <a:rPr lang="it-IT" sz="1300" dirty="0" err="1"/>
              <a:t>container_name</a:t>
            </a:r>
            <a:r>
              <a:rPr lang="it-IT" sz="1300" dirty="0"/>
              <a:t>: </a:t>
            </a:r>
            <a:r>
              <a:rPr lang="it-IT" sz="1300" dirty="0" err="1"/>
              <a:t>proxy_nginx</a:t>
            </a:r>
            <a:endParaRPr lang="it-IT" sz="1300" dirty="0"/>
          </a:p>
          <a:p>
            <a:r>
              <a:rPr lang="it-IT" sz="1300" dirty="0"/>
              <a:t>    ports:</a:t>
            </a:r>
          </a:p>
          <a:p>
            <a:r>
              <a:rPr lang="it-IT" sz="1300" dirty="0"/>
              <a:t>      - "80:80"</a:t>
            </a:r>
          </a:p>
          <a:p>
            <a:r>
              <a:rPr lang="it-IT" sz="1300" dirty="0"/>
              <a:t>      - "443:443"</a:t>
            </a:r>
          </a:p>
          <a:p>
            <a:r>
              <a:rPr lang="it-IT" sz="1300" dirty="0"/>
              <a:t>    </a:t>
            </a:r>
            <a:r>
              <a:rPr lang="it-IT" sz="1300" dirty="0" err="1"/>
              <a:t>volumes</a:t>
            </a:r>
            <a:r>
              <a:rPr lang="it-IT" sz="1300" dirty="0"/>
              <a:t>:</a:t>
            </a:r>
          </a:p>
          <a:p>
            <a:r>
              <a:rPr lang="it-IT" sz="1300" dirty="0"/>
              <a:t>      - ./</a:t>
            </a:r>
            <a:r>
              <a:rPr lang="it-IT" sz="1300" dirty="0" err="1"/>
              <a:t>nginx</a:t>
            </a:r>
            <a:r>
              <a:rPr lang="it-IT" sz="1300" dirty="0"/>
              <a:t>/</a:t>
            </a:r>
            <a:r>
              <a:rPr lang="it-IT" sz="1300" dirty="0" err="1"/>
              <a:t>nginx.conf</a:t>
            </a:r>
            <a:r>
              <a:rPr lang="it-IT" sz="1300" dirty="0"/>
              <a:t>:/</a:t>
            </a:r>
            <a:r>
              <a:rPr lang="it-IT" sz="1300" dirty="0" err="1"/>
              <a:t>etc</a:t>
            </a:r>
            <a:r>
              <a:rPr lang="it-IT" sz="1300" dirty="0"/>
              <a:t>/</a:t>
            </a:r>
            <a:r>
              <a:rPr lang="it-IT" sz="1300" dirty="0" err="1"/>
              <a:t>nginx</a:t>
            </a:r>
            <a:r>
              <a:rPr lang="it-IT" sz="1300" dirty="0"/>
              <a:t>/</a:t>
            </a:r>
            <a:r>
              <a:rPr lang="it-IT" sz="1300" dirty="0" err="1"/>
              <a:t>nginx.conf:ro</a:t>
            </a:r>
            <a:endParaRPr lang="it-IT" sz="1300" dirty="0"/>
          </a:p>
          <a:p>
            <a:r>
              <a:rPr lang="it-IT" sz="1300" dirty="0"/>
              <a:t>      - </a:t>
            </a:r>
            <a:r>
              <a:rPr lang="it-IT" sz="1300" dirty="0" err="1"/>
              <a:t>certbot_etc</a:t>
            </a:r>
            <a:r>
              <a:rPr lang="it-IT" sz="1300" dirty="0"/>
              <a:t>:/</a:t>
            </a:r>
            <a:r>
              <a:rPr lang="it-IT" sz="1300" dirty="0" err="1"/>
              <a:t>etc</a:t>
            </a:r>
            <a:r>
              <a:rPr lang="it-IT" sz="1300" dirty="0"/>
              <a:t>/</a:t>
            </a:r>
            <a:r>
              <a:rPr lang="it-IT" sz="1300" dirty="0" err="1"/>
              <a:t>letsencrypt</a:t>
            </a:r>
            <a:endParaRPr lang="it-IT" sz="1300" dirty="0"/>
          </a:p>
          <a:p>
            <a:r>
              <a:rPr lang="it-IT" sz="1300" dirty="0"/>
              <a:t>      - </a:t>
            </a:r>
            <a:r>
              <a:rPr lang="it-IT" sz="1300" dirty="0" err="1"/>
              <a:t>certbot_var</a:t>
            </a:r>
            <a:r>
              <a:rPr lang="it-IT" sz="1300" dirty="0"/>
              <a:t>:/var/www/</a:t>
            </a:r>
            <a:r>
              <a:rPr lang="it-IT" sz="1300" dirty="0" err="1"/>
              <a:t>certbot</a:t>
            </a:r>
            <a:endParaRPr lang="it-IT" sz="1300" dirty="0"/>
          </a:p>
          <a:p>
            <a:r>
              <a:rPr lang="it-IT" sz="1300" dirty="0"/>
              <a:t>    networks:</a:t>
            </a:r>
          </a:p>
          <a:p>
            <a:r>
              <a:rPr lang="it-IT" sz="1300" dirty="0"/>
              <a:t>      - </a:t>
            </a:r>
            <a:r>
              <a:rPr lang="it-IT" sz="1300" dirty="0" err="1"/>
              <a:t>rete_laboratorio</a:t>
            </a:r>
            <a:endParaRPr lang="it-IT" sz="1300" dirty="0"/>
          </a:p>
          <a:p>
            <a:endParaRPr lang="it-IT" sz="1300" dirty="0"/>
          </a:p>
          <a:p>
            <a:r>
              <a:rPr lang="it-IT" sz="1300" dirty="0"/>
              <a:t>  </a:t>
            </a:r>
            <a:r>
              <a:rPr lang="it-IT" sz="1300" dirty="0" err="1"/>
              <a:t>certbot</a:t>
            </a:r>
            <a:r>
              <a:rPr lang="it-IT" sz="1300" dirty="0"/>
              <a:t>-agent:</a:t>
            </a:r>
          </a:p>
          <a:p>
            <a:r>
              <a:rPr lang="it-IT" sz="1300" dirty="0"/>
              <a:t>    image: </a:t>
            </a:r>
            <a:r>
              <a:rPr lang="it-IT" sz="1300" dirty="0" err="1"/>
              <a:t>certbot</a:t>
            </a:r>
            <a:r>
              <a:rPr lang="it-IT" sz="1300" dirty="0"/>
              <a:t>/</a:t>
            </a:r>
            <a:r>
              <a:rPr lang="it-IT" sz="1300" dirty="0" err="1"/>
              <a:t>certbot</a:t>
            </a:r>
            <a:endParaRPr lang="it-IT" sz="1300" dirty="0"/>
          </a:p>
          <a:p>
            <a:r>
              <a:rPr lang="it-IT" sz="1300" dirty="0"/>
              <a:t>    </a:t>
            </a:r>
            <a:r>
              <a:rPr lang="it-IT" sz="1300" dirty="0" err="1"/>
              <a:t>container_name</a:t>
            </a:r>
            <a:r>
              <a:rPr lang="it-IT" sz="1300" dirty="0"/>
              <a:t>: </a:t>
            </a:r>
            <a:r>
              <a:rPr lang="it-IT" sz="1300" dirty="0" err="1"/>
              <a:t>agente_certbot</a:t>
            </a:r>
            <a:endParaRPr lang="it-IT" sz="1300" dirty="0"/>
          </a:p>
          <a:p>
            <a:r>
              <a:rPr lang="it-IT" sz="1300" dirty="0"/>
              <a:t>    </a:t>
            </a:r>
            <a:r>
              <a:rPr lang="it-IT" sz="1300" dirty="0" err="1"/>
              <a:t>volumes</a:t>
            </a:r>
            <a:r>
              <a:rPr lang="it-IT" sz="1300" dirty="0"/>
              <a:t>:</a:t>
            </a:r>
          </a:p>
          <a:p>
            <a:r>
              <a:rPr lang="it-IT" sz="1300" dirty="0"/>
              <a:t>      - </a:t>
            </a:r>
            <a:r>
              <a:rPr lang="it-IT" sz="1300" dirty="0" err="1"/>
              <a:t>certbot_etc</a:t>
            </a:r>
            <a:r>
              <a:rPr lang="it-IT" sz="1300" dirty="0"/>
              <a:t>:/</a:t>
            </a:r>
            <a:r>
              <a:rPr lang="it-IT" sz="1300" dirty="0" err="1"/>
              <a:t>etc</a:t>
            </a:r>
            <a:r>
              <a:rPr lang="it-IT" sz="1300" dirty="0"/>
              <a:t>/</a:t>
            </a:r>
            <a:r>
              <a:rPr lang="it-IT" sz="1300" dirty="0" err="1"/>
              <a:t>letsencrypt</a:t>
            </a:r>
            <a:endParaRPr lang="it-IT" sz="1300" dirty="0"/>
          </a:p>
          <a:p>
            <a:r>
              <a:rPr lang="it-IT" sz="1300" dirty="0"/>
              <a:t>      - </a:t>
            </a:r>
            <a:r>
              <a:rPr lang="it-IT" sz="1300" dirty="0" err="1"/>
              <a:t>certbot_var</a:t>
            </a:r>
            <a:r>
              <a:rPr lang="it-IT" sz="1300" dirty="0"/>
              <a:t>:/var/www/</a:t>
            </a:r>
            <a:r>
              <a:rPr lang="it-IT" sz="1300" dirty="0" err="1"/>
              <a:t>certbot</a:t>
            </a:r>
            <a:endParaRPr lang="it-IT" sz="1300" dirty="0"/>
          </a:p>
          <a:p>
            <a:r>
              <a:rPr lang="it-IT" sz="1300" dirty="0"/>
              <a:t>    networks:</a:t>
            </a:r>
          </a:p>
          <a:p>
            <a:r>
              <a:rPr lang="it-IT" sz="1300" dirty="0"/>
              <a:t>      - </a:t>
            </a:r>
            <a:r>
              <a:rPr lang="it-IT" sz="1300" dirty="0" err="1"/>
              <a:t>rete_laboratorio</a:t>
            </a:r>
            <a:endParaRPr lang="it-IT" sz="1300" dirty="0"/>
          </a:p>
          <a:p>
            <a:r>
              <a:rPr lang="it-IT" sz="1300" dirty="0"/>
              <a:t>    </a:t>
            </a:r>
            <a:r>
              <a:rPr lang="it-IT" sz="1300" dirty="0" err="1"/>
              <a:t>entrypoint</a:t>
            </a:r>
            <a:r>
              <a:rPr lang="it-IT" sz="1300" dirty="0"/>
              <a:t>: "/bin/sh -c 'trap exit TERM; </a:t>
            </a:r>
            <a:r>
              <a:rPr lang="it-IT" sz="1300" dirty="0" err="1"/>
              <a:t>while</a:t>
            </a:r>
            <a:r>
              <a:rPr lang="it-IT" sz="1300" dirty="0"/>
              <a:t> </a:t>
            </a:r>
            <a:r>
              <a:rPr lang="it-IT" sz="1300" dirty="0" err="1"/>
              <a:t>true</a:t>
            </a:r>
            <a:r>
              <a:rPr lang="it-IT" sz="1300" dirty="0"/>
              <a:t>; do </a:t>
            </a:r>
            <a:r>
              <a:rPr lang="it-IT" sz="1300" dirty="0" err="1"/>
              <a:t>echo</a:t>
            </a:r>
            <a:r>
              <a:rPr lang="it-IT" sz="1300" dirty="0"/>
              <a:t> \"Verifica certificati...\"; </a:t>
            </a:r>
            <a:r>
              <a:rPr lang="it-IT" sz="1300" dirty="0" err="1"/>
              <a:t>sleep</a:t>
            </a:r>
            <a:r>
              <a:rPr lang="it-IT" sz="1300" dirty="0"/>
              <a:t> 12h &amp; </a:t>
            </a:r>
            <a:r>
              <a:rPr lang="it-IT" sz="1300" dirty="0" err="1"/>
              <a:t>wait</a:t>
            </a:r>
            <a:r>
              <a:rPr lang="it-IT" sz="1300" dirty="0"/>
              <a:t> $${!}; </a:t>
            </a:r>
            <a:r>
              <a:rPr lang="it-IT" sz="1300" dirty="0" err="1"/>
              <a:t>done</a:t>
            </a:r>
            <a:r>
              <a:rPr lang="it-IT" sz="1300" dirty="0"/>
              <a:t>;'"</a:t>
            </a:r>
          </a:p>
          <a:p>
            <a:endParaRPr lang="it-IT" sz="1300" dirty="0"/>
          </a:p>
          <a:p>
            <a:r>
              <a:rPr lang="it-IT" sz="1300" dirty="0" err="1"/>
              <a:t>volumes</a:t>
            </a:r>
            <a:r>
              <a:rPr lang="it-IT" sz="1300" dirty="0"/>
              <a:t>:</a:t>
            </a:r>
          </a:p>
          <a:p>
            <a:r>
              <a:rPr lang="it-IT" sz="1300" dirty="0"/>
              <a:t>  </a:t>
            </a:r>
            <a:r>
              <a:rPr lang="it-IT" sz="1300" dirty="0" err="1"/>
              <a:t>certbot_etc</a:t>
            </a:r>
            <a:r>
              <a:rPr lang="it-IT" sz="1300" dirty="0"/>
              <a:t>:</a:t>
            </a:r>
          </a:p>
          <a:p>
            <a:r>
              <a:rPr lang="it-IT" sz="1300" dirty="0"/>
              <a:t>  </a:t>
            </a:r>
            <a:r>
              <a:rPr lang="it-IT" sz="1300" dirty="0" err="1"/>
              <a:t>certbot_var</a:t>
            </a:r>
            <a:r>
              <a:rPr lang="it-IT" sz="1300" dirty="0"/>
              <a:t>:</a:t>
            </a:r>
          </a:p>
          <a:p>
            <a:endParaRPr lang="it-IT" sz="1300" dirty="0"/>
          </a:p>
          <a:p>
            <a:r>
              <a:rPr lang="it-IT" sz="1300" dirty="0"/>
              <a:t>networks:</a:t>
            </a:r>
          </a:p>
          <a:p>
            <a:r>
              <a:rPr lang="it-IT" sz="1300" dirty="0"/>
              <a:t>  </a:t>
            </a:r>
            <a:r>
              <a:rPr lang="it-IT" sz="1300" dirty="0" err="1"/>
              <a:t>rete_laboratorio</a:t>
            </a:r>
            <a:r>
              <a:rPr lang="it-IT" sz="1300" dirty="0"/>
              <a:t>:</a:t>
            </a:r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A56C53B7-83EE-791A-9F27-47565F5A7A96}"/>
              </a:ext>
            </a:extLst>
          </p:cNvPr>
          <p:cNvSpPr/>
          <p:nvPr/>
        </p:nvSpPr>
        <p:spPr>
          <a:xfrm>
            <a:off x="2495018" y="3368641"/>
            <a:ext cx="164216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242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6049-46CD-8BDE-E0BB-75CE3D3F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7F21661E-19AE-8276-58CA-80DF0180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7: Step 5 – Il Primo Avvio dell'Infrastruttura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F8FF1B5E-6B03-E756-FF87-302293EAA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Aprire il terminale dei comandi, posizionarsi all'interno della directory principale progetto-proxy/ ed eseguire il comando di accensione dei motori in modalità di ascolto log:</a:t>
            </a:r>
          </a:p>
          <a:p>
            <a:r>
              <a:rPr lang="it-IT" b="1" dirty="0" err="1">
                <a:solidFill>
                  <a:srgbClr val="171FE2"/>
                </a:solidFill>
              </a:rPr>
              <a:t>docker</a:t>
            </a:r>
            <a:r>
              <a:rPr lang="it-IT" b="1" dirty="0">
                <a:solidFill>
                  <a:srgbClr val="171FE2"/>
                </a:solidFill>
              </a:rPr>
              <a:t> compose up</a:t>
            </a:r>
          </a:p>
          <a:p>
            <a:r>
              <a:rPr lang="it-IT" dirty="0"/>
              <a:t>Osservare attentamente l'output a schermo. </a:t>
            </a:r>
          </a:p>
          <a:p>
            <a:r>
              <a:rPr lang="it-IT" dirty="0"/>
              <a:t>Docker provvederà a scaricare le immagini stabili di </a:t>
            </a:r>
            <a:r>
              <a:rPr lang="it-IT" dirty="0" err="1"/>
              <a:t>Nginx</a:t>
            </a:r>
            <a:r>
              <a:rPr lang="it-IT" dirty="0"/>
              <a:t> e di </a:t>
            </a:r>
            <a:r>
              <a:rPr lang="it-IT" dirty="0" err="1"/>
              <a:t>Certbot</a:t>
            </a:r>
            <a:r>
              <a:rPr lang="it-IT" dirty="0"/>
              <a:t>, creerà la rete bridge isolata </a:t>
            </a:r>
            <a:r>
              <a:rPr lang="it-IT" dirty="0" err="1">
                <a:solidFill>
                  <a:srgbClr val="171FE2"/>
                </a:solidFill>
              </a:rPr>
              <a:t>rete_laboratorio</a:t>
            </a:r>
            <a:r>
              <a:rPr lang="it-IT" dirty="0"/>
              <a:t>, allocherà i volumi logici e accenderà i processi. </a:t>
            </a:r>
          </a:p>
          <a:p>
            <a:r>
              <a:rPr lang="it-IT" dirty="0"/>
              <a:t>Se tutto è stato digitato correttamente, vedremo </a:t>
            </a:r>
            <a:r>
              <a:rPr lang="it-IT" dirty="0" err="1"/>
              <a:t>Nginx</a:t>
            </a:r>
            <a:r>
              <a:rPr lang="it-IT" dirty="0"/>
              <a:t> rimanere in ascolto e </a:t>
            </a:r>
            <a:r>
              <a:rPr lang="it-IT" dirty="0" err="1"/>
              <a:t>Certbot</a:t>
            </a:r>
            <a:r>
              <a:rPr lang="it-IT" dirty="0"/>
              <a:t> stampare a schermo il messaggio ciclico "Verifica certificati..." ogni dodici ore, addormentandosi in background.</a:t>
            </a:r>
          </a:p>
          <a:p>
            <a:r>
              <a:rPr lang="it-IT" dirty="0"/>
              <a:t>Il terminale rimane bloccato a mostrare i log aggregati dei due container. </a:t>
            </a:r>
          </a:p>
          <a:p>
            <a:r>
              <a:rPr lang="it-IT" dirty="0"/>
              <a:t>Questo ci permette di verificare istantaneamente se </a:t>
            </a:r>
            <a:r>
              <a:rPr lang="it-IT" dirty="0" err="1"/>
              <a:t>Nginx</a:t>
            </a:r>
            <a:r>
              <a:rPr lang="it-IT" dirty="0"/>
              <a:t> va in crash a causa di errori di sintassi nel file .</a:t>
            </a:r>
            <a:r>
              <a:rPr lang="it-IT" dirty="0" err="1"/>
              <a:t>conf.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542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09E5-74CD-318A-D191-8460FF71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207081A-E9DB-49B5-52F9-54F09168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8: Step 6 – Generazione Simulata del Primo Certificato SSL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E3599982-BA2E-B9AA-5EDA-572B78A48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Poiché siamo in ambiente locale e non abbiamo un dominio web pubblico, useremo il container </a:t>
            </a:r>
            <a:r>
              <a:rPr lang="it-IT" dirty="0" err="1"/>
              <a:t>Certbot</a:t>
            </a:r>
            <a:r>
              <a:rPr lang="it-IT" dirty="0"/>
              <a:t> per generare un certificato di test autocertificato (o in modalità </a:t>
            </a:r>
            <a:r>
              <a:rPr lang="it-IT" dirty="0" err="1"/>
              <a:t>staging</a:t>
            </a:r>
            <a:r>
              <a:rPr lang="it-IT" dirty="0"/>
              <a:t>) che simuli perfettamente la struttura di </a:t>
            </a:r>
            <a:r>
              <a:rPr lang="it-IT" dirty="0" err="1"/>
              <a:t>Let's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. </a:t>
            </a:r>
          </a:p>
          <a:p>
            <a:r>
              <a:rPr lang="it-IT" dirty="0"/>
              <a:t>Aprire una nuova finestra del terminale e digitare il comando imperativo di forzatura:</a:t>
            </a:r>
          </a:p>
          <a:p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docker compose run --rm --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entrypoint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"/bin/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sh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" 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-agent -c "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mkdir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-p 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/live/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laboratorio.local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&amp;&amp; 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openssl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req -x509 -nodes -days 365 -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newkey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rsa:2048 -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keyout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/live/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laboratorio.local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privkey.pem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-out 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/live/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laboratorio.local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fullchain.pem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-subj '/CN=</a:t>
            </a:r>
            <a:r>
              <a:rPr lang="en-US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laboratorio.local</a:t>
            </a:r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'"</a:t>
            </a:r>
          </a:p>
          <a:p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it-IT" dirty="0"/>
              <a:t>Questo comando dice a </a:t>
            </a:r>
            <a:r>
              <a:rPr lang="it-IT" dirty="0" err="1"/>
              <a:t>Certbot</a:t>
            </a:r>
            <a:r>
              <a:rPr lang="it-IT" dirty="0"/>
              <a:t>: "Esegui una richiesta solo per il dominio </a:t>
            </a:r>
            <a:r>
              <a:rPr lang="it-IT" dirty="0" err="1"/>
              <a:t>laboratorio.local</a:t>
            </a:r>
            <a:r>
              <a:rPr lang="it-IT" dirty="0"/>
              <a:t>, scrivi la sfida nella cartella condivisa con </a:t>
            </a:r>
            <a:r>
              <a:rPr lang="it-IT" dirty="0" err="1"/>
              <a:t>Nginx</a:t>
            </a:r>
            <a:r>
              <a:rPr lang="it-IT" dirty="0"/>
              <a:t> ed elimina il container temporaneo al termine (--</a:t>
            </a:r>
            <a:r>
              <a:rPr lang="it-IT" dirty="0" err="1"/>
              <a:t>rm</a:t>
            </a:r>
            <a:r>
              <a:rPr lang="it-IT" dirty="0"/>
              <a:t>)". </a:t>
            </a:r>
          </a:p>
          <a:p>
            <a:r>
              <a:rPr lang="it-IT" dirty="0" err="1"/>
              <a:t>Certbot</a:t>
            </a:r>
            <a:r>
              <a:rPr lang="it-IT" dirty="0"/>
              <a:t> scriverà le chiavi crittografiche direttamente nel volume </a:t>
            </a:r>
            <a:r>
              <a:rPr lang="it-IT" dirty="0" err="1"/>
              <a:t>certbot_etc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4039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BC444-D40B-D213-EC98-35BDB2FEA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054CFBA-7FD5-2801-7622-3A4BD4AC9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5"/>
            <a:ext cx="10515600" cy="314198"/>
          </a:xfrm>
        </p:spPr>
        <p:txBody>
          <a:bodyPr/>
          <a:lstStyle/>
          <a:p>
            <a:r>
              <a:rPr lang="it-IT" dirty="0"/>
              <a:t>Slide 9: Step 7 – Configurazione del Canale Sicuro HTTPS su </a:t>
            </a:r>
            <a:r>
              <a:rPr lang="it-IT" dirty="0" err="1"/>
              <a:t>Nginx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233BF51-A229-B2E2-6D0B-A169AC09D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21" y="1343556"/>
            <a:ext cx="2394562" cy="4803369"/>
          </a:xfrm>
        </p:spPr>
        <p:txBody>
          <a:bodyPr/>
          <a:lstStyle/>
          <a:p>
            <a:r>
              <a:rPr lang="it-IT" dirty="0"/>
              <a:t>Ora che </a:t>
            </a:r>
            <a:r>
              <a:rPr lang="it-IT" dirty="0" err="1"/>
              <a:t>Certbot</a:t>
            </a:r>
            <a:r>
              <a:rPr lang="it-IT" dirty="0"/>
              <a:t> ha depositato i file dei certificati dentro il volume condiviso, dobbiamo aggiornare </a:t>
            </a:r>
            <a:r>
              <a:rPr lang="it-IT" dirty="0" err="1"/>
              <a:t>nginx</a:t>
            </a:r>
            <a:r>
              <a:rPr lang="it-IT" dirty="0"/>
              <a:t>/</a:t>
            </a:r>
            <a:r>
              <a:rPr lang="it-IT" dirty="0" err="1"/>
              <a:t>nginx.conf</a:t>
            </a:r>
            <a:r>
              <a:rPr lang="it-IT" dirty="0"/>
              <a:t> per dirgli di accendere la porta 443 e utilizzare quelle chiavi. </a:t>
            </a:r>
          </a:p>
          <a:p>
            <a:r>
              <a:rPr lang="it-IT" dirty="0"/>
              <a:t>Modificare il file </a:t>
            </a:r>
            <a:r>
              <a:rPr lang="it-IT" dirty="0" err="1"/>
              <a:t>nginx.conf</a:t>
            </a:r>
            <a:r>
              <a:rPr lang="it-IT" dirty="0"/>
              <a:t> come segue: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11CC945-49D9-6402-DBC6-DFD9EBE70554}"/>
              </a:ext>
            </a:extLst>
          </p:cNvPr>
          <p:cNvSpPr txBox="1"/>
          <p:nvPr/>
        </p:nvSpPr>
        <p:spPr>
          <a:xfrm>
            <a:off x="3329915" y="1353612"/>
            <a:ext cx="6220485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events { </a:t>
            </a:r>
            <a:r>
              <a:rPr lang="it-IT" sz="1400" dirty="0" err="1"/>
              <a:t>worker_connections</a:t>
            </a:r>
            <a:r>
              <a:rPr lang="it-IT" sz="1400" dirty="0"/>
              <a:t> 1024; }</a:t>
            </a:r>
          </a:p>
          <a:p>
            <a:endParaRPr lang="it-IT" sz="1400" dirty="0"/>
          </a:p>
          <a:p>
            <a:r>
              <a:rPr lang="it-IT" sz="1400" dirty="0"/>
              <a:t>http {</a:t>
            </a:r>
          </a:p>
          <a:p>
            <a:r>
              <a:rPr lang="it-IT" sz="1400" dirty="0"/>
              <a:t>    server {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listen</a:t>
            </a:r>
            <a:r>
              <a:rPr lang="it-IT" sz="1400" dirty="0"/>
              <a:t> 80;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server_name</a:t>
            </a:r>
            <a:r>
              <a:rPr lang="it-IT" sz="1400" dirty="0"/>
              <a:t> </a:t>
            </a:r>
            <a:r>
              <a:rPr lang="it-IT" sz="1400" dirty="0" err="1"/>
              <a:t>laboratorio.local</a:t>
            </a:r>
            <a:r>
              <a:rPr lang="it-IT" sz="1400" dirty="0"/>
              <a:t>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return</a:t>
            </a:r>
            <a:r>
              <a:rPr lang="it-IT" sz="1400" dirty="0"/>
              <a:t> 301 https://$</a:t>
            </a:r>
            <a:r>
              <a:rPr lang="it-IT" sz="1400" dirty="0" err="1"/>
              <a:t>host$request_uri</a:t>
            </a:r>
            <a:r>
              <a:rPr lang="it-IT" sz="1400" dirty="0"/>
              <a:t>; # Reindirizzamento automatico a HTTPS</a:t>
            </a:r>
          </a:p>
          <a:p>
            <a:r>
              <a:rPr lang="it-IT" sz="1400" dirty="0"/>
              <a:t>    }</a:t>
            </a:r>
          </a:p>
          <a:p>
            <a:endParaRPr lang="it-IT" sz="1400" dirty="0"/>
          </a:p>
          <a:p>
            <a:r>
              <a:rPr lang="it-IT" sz="1400" dirty="0"/>
              <a:t>    server {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listen</a:t>
            </a:r>
            <a:r>
              <a:rPr lang="it-IT" sz="1400" dirty="0"/>
              <a:t> 443 </a:t>
            </a:r>
            <a:r>
              <a:rPr lang="it-IT" sz="1400" dirty="0" err="1"/>
              <a:t>ssl</a:t>
            </a:r>
            <a:r>
              <a:rPr lang="it-IT" sz="1400" dirty="0"/>
              <a:t>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server_name</a:t>
            </a:r>
            <a:r>
              <a:rPr lang="it-IT" sz="1400" dirty="0"/>
              <a:t> </a:t>
            </a:r>
            <a:r>
              <a:rPr lang="it-IT" sz="1400" dirty="0" err="1"/>
              <a:t>laboratorio.local</a:t>
            </a:r>
            <a:r>
              <a:rPr lang="it-IT" sz="1400" dirty="0"/>
              <a:t>;</a:t>
            </a:r>
          </a:p>
          <a:p>
            <a:endParaRPr lang="it-IT" sz="1400" dirty="0"/>
          </a:p>
          <a:p>
            <a:r>
              <a:rPr lang="it-IT" sz="1400" dirty="0"/>
              <a:t>        # Percorsi interni al container dei certificati condivisi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ssl_certificate</a:t>
            </a:r>
            <a:r>
              <a:rPr lang="it-IT" sz="1400" dirty="0"/>
              <a:t> /</a:t>
            </a:r>
            <a:r>
              <a:rPr lang="it-IT" sz="1400" dirty="0" err="1"/>
              <a:t>etc</a:t>
            </a:r>
            <a:r>
              <a:rPr lang="it-IT" sz="1400" dirty="0"/>
              <a:t>/</a:t>
            </a:r>
            <a:r>
              <a:rPr lang="it-IT" sz="1400" dirty="0" err="1"/>
              <a:t>letsencrypt</a:t>
            </a:r>
            <a:r>
              <a:rPr lang="it-IT" sz="1400" dirty="0"/>
              <a:t>/live/</a:t>
            </a:r>
            <a:r>
              <a:rPr lang="it-IT" sz="1400" dirty="0" err="1"/>
              <a:t>laboratorio.local</a:t>
            </a:r>
            <a:r>
              <a:rPr lang="it-IT" sz="1400" dirty="0"/>
              <a:t>/</a:t>
            </a:r>
            <a:r>
              <a:rPr lang="it-IT" sz="1400" dirty="0" err="1"/>
              <a:t>fullchain.pem</a:t>
            </a:r>
            <a:r>
              <a:rPr lang="it-IT" sz="1400" dirty="0"/>
              <a:t>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ssl_certificate_key</a:t>
            </a:r>
            <a:r>
              <a:rPr lang="it-IT" sz="1400" dirty="0"/>
              <a:t> /</a:t>
            </a:r>
            <a:r>
              <a:rPr lang="it-IT" sz="1400" dirty="0" err="1"/>
              <a:t>etc</a:t>
            </a:r>
            <a:r>
              <a:rPr lang="it-IT" sz="1400" dirty="0"/>
              <a:t>/</a:t>
            </a:r>
            <a:r>
              <a:rPr lang="it-IT" sz="1400" dirty="0" err="1"/>
              <a:t>letsencrypt</a:t>
            </a:r>
            <a:r>
              <a:rPr lang="it-IT" sz="1400" dirty="0"/>
              <a:t>/live/</a:t>
            </a:r>
            <a:r>
              <a:rPr lang="it-IT" sz="1400" dirty="0" err="1"/>
              <a:t>laboratorio.local</a:t>
            </a:r>
            <a:r>
              <a:rPr lang="it-IT" sz="1400" dirty="0"/>
              <a:t>/</a:t>
            </a:r>
            <a:r>
              <a:rPr lang="it-IT" sz="1400" dirty="0" err="1"/>
              <a:t>privkey.pem</a:t>
            </a:r>
            <a:r>
              <a:rPr lang="it-IT" sz="1400" dirty="0"/>
              <a:t>;</a:t>
            </a:r>
          </a:p>
          <a:p>
            <a:endParaRPr lang="it-IT" sz="1400" dirty="0"/>
          </a:p>
          <a:p>
            <a:r>
              <a:rPr lang="it-IT" sz="1400" dirty="0"/>
              <a:t>        location / {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return</a:t>
            </a:r>
            <a:r>
              <a:rPr lang="it-IT" sz="1400" dirty="0"/>
              <a:t> 200 'Connessione Sicura SSL Funzionante in Locale!';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add_header</a:t>
            </a:r>
            <a:r>
              <a:rPr lang="it-IT" sz="1400" dirty="0"/>
              <a:t> Content-</a:t>
            </a:r>
            <a:r>
              <a:rPr lang="it-IT" sz="1400" dirty="0" err="1"/>
              <a:t>Type</a:t>
            </a:r>
            <a:r>
              <a:rPr lang="it-IT" sz="1400" dirty="0"/>
              <a:t> text/</a:t>
            </a:r>
            <a:r>
              <a:rPr lang="it-IT" sz="1400" dirty="0" err="1"/>
              <a:t>plain</a:t>
            </a:r>
            <a:r>
              <a:rPr lang="it-IT" sz="1400" dirty="0"/>
              <a:t>;</a:t>
            </a:r>
          </a:p>
          <a:p>
            <a:r>
              <a:rPr lang="it-IT" sz="1400" dirty="0"/>
              <a:t>        }</a:t>
            </a:r>
          </a:p>
          <a:p>
            <a:r>
              <a:rPr lang="it-IT" sz="1400" dirty="0"/>
              <a:t>    }</a:t>
            </a:r>
          </a:p>
          <a:p>
            <a:r>
              <a:rPr lang="it-IT" sz="1400" dirty="0"/>
              <a:t>}</a:t>
            </a: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CBD545C3-3D8C-D20D-B0E1-6A02D70A5E39}"/>
              </a:ext>
            </a:extLst>
          </p:cNvPr>
          <p:cNvSpPr/>
          <p:nvPr/>
        </p:nvSpPr>
        <p:spPr>
          <a:xfrm>
            <a:off x="1261324" y="4644991"/>
            <a:ext cx="223218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C3C2CA9-7792-7AC1-59BB-7838D1A63040}"/>
              </a:ext>
            </a:extLst>
          </p:cNvPr>
          <p:cNvSpPr txBox="1"/>
          <p:nvPr/>
        </p:nvSpPr>
        <p:spPr>
          <a:xfrm>
            <a:off x="9573871" y="1445156"/>
            <a:ext cx="222060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/>
              <a:t>Il blocco sulla porta 80 </a:t>
            </a:r>
          </a:p>
          <a:p>
            <a:r>
              <a:rPr lang="it-IT" sz="1600" dirty="0"/>
              <a:t>adesso esegue </a:t>
            </a:r>
          </a:p>
          <a:p>
            <a:r>
              <a:rPr lang="it-IT" sz="1600" dirty="0"/>
              <a:t>un </a:t>
            </a:r>
            <a:r>
              <a:rPr lang="it-IT" sz="1600" dirty="0" err="1"/>
              <a:t>redirect</a:t>
            </a:r>
            <a:r>
              <a:rPr lang="it-IT" sz="1600" dirty="0"/>
              <a:t> permanente </a:t>
            </a:r>
          </a:p>
          <a:p>
            <a:r>
              <a:rPr lang="it-IT" sz="1600" dirty="0"/>
              <a:t>(HTTP 301), </a:t>
            </a:r>
          </a:p>
          <a:p>
            <a:r>
              <a:rPr lang="it-IT" sz="1600" dirty="0"/>
              <a:t>costringendo chiunque </a:t>
            </a:r>
          </a:p>
          <a:p>
            <a:r>
              <a:rPr lang="it-IT" sz="1600" dirty="0"/>
              <a:t>a viaggiare cifrato. </a:t>
            </a:r>
          </a:p>
          <a:p>
            <a:endParaRPr lang="it-IT" sz="1600" dirty="0"/>
          </a:p>
          <a:p>
            <a:r>
              <a:rPr lang="it-IT" sz="1600" dirty="0"/>
              <a:t>I percorsi </a:t>
            </a:r>
            <a:r>
              <a:rPr lang="it-IT" sz="1600" dirty="0" err="1"/>
              <a:t>ssl_certificate</a:t>
            </a:r>
            <a:r>
              <a:rPr lang="it-IT" sz="1600" dirty="0"/>
              <a:t> </a:t>
            </a:r>
          </a:p>
          <a:p>
            <a:r>
              <a:rPr lang="it-IT" sz="1600" dirty="0"/>
              <a:t>puntano a cartelle </a:t>
            </a:r>
          </a:p>
          <a:p>
            <a:r>
              <a:rPr lang="it-IT" sz="1600" dirty="0"/>
              <a:t>interne a </a:t>
            </a:r>
            <a:r>
              <a:rPr lang="it-IT" sz="1600" dirty="0" err="1"/>
              <a:t>Nginx</a:t>
            </a:r>
            <a:r>
              <a:rPr lang="it-IT" sz="1600" dirty="0"/>
              <a:t> che </a:t>
            </a:r>
          </a:p>
          <a:p>
            <a:r>
              <a:rPr lang="it-IT" sz="1600" dirty="0"/>
              <a:t>corrispondono </a:t>
            </a:r>
          </a:p>
          <a:p>
            <a:r>
              <a:rPr lang="it-IT" sz="1600" dirty="0"/>
              <a:t>esattamente al volume </a:t>
            </a:r>
          </a:p>
          <a:p>
            <a:r>
              <a:rPr lang="it-IT" sz="1600" dirty="0"/>
              <a:t>in cui </a:t>
            </a:r>
            <a:r>
              <a:rPr lang="it-IT" sz="1600" dirty="0" err="1"/>
              <a:t>OpenSSL</a:t>
            </a:r>
            <a:r>
              <a:rPr lang="it-IT" sz="1600" dirty="0"/>
              <a:t> </a:t>
            </a:r>
          </a:p>
          <a:p>
            <a:r>
              <a:rPr lang="it-IT" sz="1600" dirty="0"/>
              <a:t>ha appena scritto i file.</a:t>
            </a:r>
          </a:p>
        </p:txBody>
      </p:sp>
    </p:spTree>
    <p:extLst>
      <p:ext uri="{BB962C8B-B14F-4D97-AF65-F5344CB8AC3E}">
        <p14:creationId xmlns:p14="http://schemas.microsoft.com/office/powerpoint/2010/main" val="443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6B93-789E-9AEA-418A-4677CE6A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8B80D9D-41EE-82F4-AD85-32F227098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10: Step 8 – Ricaricamento a Caldo (Hot </a:t>
            </a:r>
            <a:r>
              <a:rPr lang="it-IT" dirty="0" err="1"/>
              <a:t>Reload</a:t>
            </a:r>
            <a:r>
              <a:rPr lang="it-IT" dirty="0"/>
              <a:t>) della Configurazione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1ACFD253-AE95-79E8-23E4-1675CCEA1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fare in modo che </a:t>
            </a:r>
            <a:r>
              <a:rPr lang="it-IT" dirty="0" err="1"/>
              <a:t>Nginx</a:t>
            </a:r>
            <a:r>
              <a:rPr lang="it-IT" dirty="0"/>
              <a:t> digerisca le nuove regole e carichi in memoria i certificati crittografici appena creati, non dobbiamo riavviare o spegnere il container. </a:t>
            </a:r>
          </a:p>
          <a:p>
            <a:r>
              <a:rPr lang="it-IT" dirty="0"/>
              <a:t>Sfrutteremo la funzione sistemistica di </a:t>
            </a:r>
            <a:r>
              <a:rPr lang="it-IT" b="1" dirty="0"/>
              <a:t>Hot </a:t>
            </a:r>
            <a:r>
              <a:rPr lang="it-IT" b="1" dirty="0" err="1"/>
              <a:t>Reloading</a:t>
            </a:r>
            <a:r>
              <a:rPr lang="it-IT" dirty="0"/>
              <a:t>. </a:t>
            </a:r>
          </a:p>
          <a:p>
            <a:r>
              <a:rPr lang="it-IT" dirty="0"/>
              <a:t>Nel secondo terminale (quello in cui abbiamo appena generato le chiavi), digitare il comando:</a:t>
            </a:r>
          </a:p>
          <a:p>
            <a:r>
              <a:rPr lang="en-US" sz="1600" dirty="0">
                <a:solidFill>
                  <a:srgbClr val="171FE2"/>
                </a:solidFill>
                <a:latin typeface="Consolas" panose="020B0609020204030204" pitchFamily="49" charset="0"/>
              </a:rPr>
              <a:t>docker compose exec webserver-nginx nginx -s reload</a:t>
            </a:r>
          </a:p>
          <a:p>
            <a:r>
              <a:rPr lang="it-IT" dirty="0"/>
              <a:t>Nel primo terminale (quello rimasto aperto con i log aggregati), vedrete </a:t>
            </a:r>
            <a:r>
              <a:rPr lang="it-IT" dirty="0" err="1"/>
              <a:t>Nginx</a:t>
            </a:r>
            <a:r>
              <a:rPr lang="it-IT" dirty="0"/>
              <a:t> stampare una riga che conferma il ricaricamento dei worker </a:t>
            </a:r>
            <a:r>
              <a:rPr lang="it-IT" dirty="0" err="1"/>
              <a:t>process</a:t>
            </a:r>
            <a:r>
              <a:rPr lang="it-IT" dirty="0"/>
              <a:t> senza alcuna interruzione del servizio.</a:t>
            </a:r>
          </a:p>
          <a:p>
            <a:r>
              <a:rPr lang="it-IT" dirty="0"/>
              <a:t>Questo comando invia un segnale SIGHUP al processo principale di </a:t>
            </a:r>
            <a:r>
              <a:rPr lang="it-IT" dirty="0" err="1"/>
              <a:t>Nginx</a:t>
            </a:r>
            <a:r>
              <a:rPr lang="it-IT" dirty="0"/>
              <a:t>. </a:t>
            </a:r>
          </a:p>
          <a:p>
            <a:r>
              <a:rPr lang="it-IT" dirty="0"/>
              <a:t>I vecchi processi gestiscono le ultime connessioni pendenti e si spengono, mentre i nuovi processi si avviano con la nuova configurazione, garantendo un </a:t>
            </a:r>
            <a:r>
              <a:rPr lang="it-IT" dirty="0" err="1"/>
              <a:t>downtime</a:t>
            </a:r>
            <a:r>
              <a:rPr lang="it-IT" dirty="0"/>
              <a:t> pari a zero (ovvero, passiamo alla connessione sicura senza aver fermato l’applicazione).</a:t>
            </a:r>
          </a:p>
        </p:txBody>
      </p:sp>
    </p:spTree>
    <p:extLst>
      <p:ext uri="{BB962C8B-B14F-4D97-AF65-F5344CB8AC3E}">
        <p14:creationId xmlns:p14="http://schemas.microsoft.com/office/powerpoint/2010/main" val="256788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FD8C-B0F8-E450-1885-A4AF7F03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537B57F-2E65-7BAC-BB9F-B89D9773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11: Step 9 – La Prova del Nove nel Browser Web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4A4FC2B-2F28-E2F6-842D-AE493F3D8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L'infrastruttura è completamente allestita e configurata. </a:t>
            </a:r>
          </a:p>
          <a:p>
            <a:r>
              <a:rPr lang="it-IT" dirty="0"/>
              <a:t>Aprire un browser web sul proprio computer (Chrome, Edge o Firefox) e digitare accuratamente l'URL sicuro nella barra degli indirizzi:</a:t>
            </a:r>
          </a:p>
          <a:p>
            <a:r>
              <a:rPr lang="it-IT" dirty="0">
                <a:hlinkClick r:id="rId2"/>
              </a:rPr>
              <a:t>https://laboratorio.local</a:t>
            </a:r>
            <a:endParaRPr lang="it-IT" dirty="0"/>
          </a:p>
          <a:p>
            <a:r>
              <a:rPr lang="it-IT" dirty="0"/>
              <a:t>Poiché allo Step 6 abbiamo costretto il container </a:t>
            </a:r>
            <a:r>
              <a:rPr lang="it-IT" dirty="0" err="1"/>
              <a:t>Certbot</a:t>
            </a:r>
            <a:r>
              <a:rPr lang="it-IT" dirty="0"/>
              <a:t> a generare un certificato </a:t>
            </a:r>
            <a:r>
              <a:rPr lang="it-IT" dirty="0" err="1"/>
              <a:t>Autosottoscritto</a:t>
            </a:r>
            <a:r>
              <a:rPr lang="it-IT" dirty="0"/>
              <a:t> (Self-</a:t>
            </a:r>
            <a:r>
              <a:rPr lang="it-IT" dirty="0" err="1"/>
              <a:t>Signed</a:t>
            </a:r>
            <a:r>
              <a:rPr lang="it-IT" dirty="0"/>
              <a:t>) direttamente dentro il PC: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crittografia funziona al 100%: La connessione tra il browser e il container </a:t>
            </a:r>
            <a:r>
              <a:rPr lang="it-IT" dirty="0" err="1"/>
              <a:t>Nginx</a:t>
            </a:r>
            <a:r>
              <a:rPr lang="it-IT" dirty="0"/>
              <a:t> è cifrata. Nessuno può intercettare i dati.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171FE2"/>
                </a:solidFill>
              </a:rPr>
              <a:t>Manca la fiducia (Trust)</a:t>
            </a:r>
            <a:r>
              <a:rPr lang="it-IT" dirty="0"/>
              <a:t>: Il browser riporterà «non sicuro» in quanto non conosce l'ente che ha firmato questo certificato (avendolo </a:t>
            </a:r>
            <a:r>
              <a:rPr lang="it-IT"/>
              <a:t>creato noi localmente</a:t>
            </a:r>
            <a:r>
              <a:rPr lang="it-IT" dirty="0"/>
              <a:t>)!".</a:t>
            </a:r>
          </a:p>
        </p:txBody>
      </p:sp>
    </p:spTree>
    <p:extLst>
      <p:ext uri="{BB962C8B-B14F-4D97-AF65-F5344CB8AC3E}">
        <p14:creationId xmlns:p14="http://schemas.microsoft.com/office/powerpoint/2010/main" val="310898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BC76-5856-1584-7201-A6A1B2AF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A2E8A2A-BF8D-D3C2-FB33-C2058F7B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12: Officina di Rinforzo – Allestimento del Proxy per "shop.skillfactory.it" (Locale)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B82CD310-E6D5-06AC-056A-FDB8041CA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Configuriamo l'infrastruttura di rete sicura per il dominio finto di terzo livello shop.skillfactory.it interamente sul computer di sviluppo. </a:t>
            </a:r>
          </a:p>
          <a:p>
            <a:r>
              <a:rPr lang="it-IT" dirty="0"/>
              <a:t>Creare il perimetro di rete blindato per l'applicazione reale del negozio (</a:t>
            </a:r>
            <a:r>
              <a:rPr lang="it-IT" dirty="0" err="1"/>
              <a:t>Frontend</a:t>
            </a:r>
            <a:r>
              <a:rPr lang="it-IT" dirty="0"/>
              <a:t> React, Database </a:t>
            </a:r>
            <a:r>
              <a:rPr lang="it-IT" dirty="0" err="1"/>
              <a:t>MariaDB</a:t>
            </a:r>
            <a:r>
              <a:rPr lang="it-IT" dirty="0"/>
              <a:t> per la persistenza dei prodotti e </a:t>
            </a:r>
            <a:r>
              <a:rPr lang="it-IT" dirty="0" err="1"/>
              <a:t>phpMyAdmin</a:t>
            </a:r>
            <a:r>
              <a:rPr lang="it-IT" dirty="0"/>
              <a:t> per l'amministrazione visiva).</a:t>
            </a:r>
          </a:p>
        </p:txBody>
      </p:sp>
    </p:spTree>
    <p:extLst>
      <p:ext uri="{BB962C8B-B14F-4D97-AF65-F5344CB8AC3E}">
        <p14:creationId xmlns:p14="http://schemas.microsoft.com/office/powerpoint/2010/main" val="358467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F61B-B007-4115-8F0D-15C39DD0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200C2448-DC4E-591B-7149-4F2BB8B8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13: Step 1 – Configurazione del DNS Locale (File </a:t>
            </a:r>
            <a:r>
              <a:rPr lang="it-IT" dirty="0" err="1"/>
              <a:t>hosts</a:t>
            </a:r>
            <a:r>
              <a:rPr lang="it-IT" dirty="0"/>
              <a:t>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7784538-62C5-E54B-6F58-3A8E02C4E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Dobbiamo istruire il sistema operativo del nostro PC affinché intercetti le richieste dirette a shop.skillfactory.it e le ridiriga verso la nostra scheda di rete locale (127.0.0.1), impedendo al browser di cercarlo inutilmente su Internet.</a:t>
            </a:r>
          </a:p>
          <a:p>
            <a:r>
              <a:rPr lang="it-IT" b="1" dirty="0"/>
              <a:t>Su Windows:</a:t>
            </a:r>
            <a:r>
              <a:rPr lang="it-IT" dirty="0"/>
              <a:t> Aprire il Blocco Note come </a:t>
            </a:r>
            <a:r>
              <a:rPr lang="it-IT" b="1" dirty="0"/>
              <a:t>Amministratore</a:t>
            </a:r>
            <a:r>
              <a:rPr lang="it-IT" dirty="0"/>
              <a:t> e modificare il file C:\Windows\System32\drivers\etc\hosts.</a:t>
            </a:r>
          </a:p>
          <a:p>
            <a:r>
              <a:rPr lang="it-IT" b="1" dirty="0"/>
              <a:t>Su Linux / </a:t>
            </a:r>
            <a:r>
              <a:rPr lang="it-IT" b="1" dirty="0" err="1"/>
              <a:t>macOS</a:t>
            </a:r>
            <a:r>
              <a:rPr lang="it-IT" b="1" dirty="0"/>
              <a:t>:</a:t>
            </a:r>
            <a:r>
              <a:rPr lang="it-IT" dirty="0"/>
              <a:t> Aprire il terminale e digitare sudo nano /</a:t>
            </a:r>
            <a:r>
              <a:rPr lang="it-IT" dirty="0" err="1"/>
              <a:t>etc</a:t>
            </a:r>
            <a:r>
              <a:rPr lang="it-IT" dirty="0"/>
              <a:t>/</a:t>
            </a:r>
            <a:r>
              <a:rPr lang="it-IT" dirty="0" err="1"/>
              <a:t>hosts</a:t>
            </a:r>
            <a:r>
              <a:rPr lang="it-IT" dirty="0"/>
              <a:t>. Andare in fondo al file e aggiungere la riga esatta senza cancellare i test di ieri:</a:t>
            </a:r>
          </a:p>
          <a:p>
            <a:r>
              <a:rPr lang="it-IT" dirty="0"/>
              <a:t>127.0.0.1    shop.skillfactory.it</a:t>
            </a:r>
          </a:p>
          <a:p>
            <a:r>
              <a:rPr lang="it-IT" dirty="0"/>
              <a:t>Da questo momento il PC reindirizzerà il dominio sullo storage di </a:t>
            </a:r>
            <a:r>
              <a:rPr lang="it-IT" dirty="0" err="1"/>
              <a:t>loopback</a:t>
            </a:r>
            <a:r>
              <a:rPr lang="it-IT" dirty="0"/>
              <a:t> locale.</a:t>
            </a:r>
          </a:p>
          <a:p>
            <a:r>
              <a:rPr lang="it-IT" dirty="0">
                <a:solidFill>
                  <a:srgbClr val="171FE2"/>
                </a:solidFill>
              </a:rPr>
              <a:t>Il termine </a:t>
            </a:r>
            <a:r>
              <a:rPr lang="it-IT" dirty="0" err="1">
                <a:solidFill>
                  <a:srgbClr val="171FE2"/>
                </a:solidFill>
              </a:rPr>
              <a:t>loopback</a:t>
            </a:r>
            <a:r>
              <a:rPr lang="it-IT" dirty="0">
                <a:solidFill>
                  <a:srgbClr val="171FE2"/>
                </a:solidFill>
              </a:rPr>
              <a:t> deriva proprio dal fatto che i pacchetti di rete "ritornano indietro" (loop back) alla stessa macchina che li ha inviati.</a:t>
            </a:r>
          </a:p>
        </p:txBody>
      </p:sp>
    </p:spTree>
    <p:extLst>
      <p:ext uri="{BB962C8B-B14F-4D97-AF65-F5344CB8AC3E}">
        <p14:creationId xmlns:p14="http://schemas.microsoft.com/office/powerpoint/2010/main" val="412116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0342-FA23-9BBA-805B-6C4CFADC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AF9282B-616E-9506-D883-4C381B2E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14: Step 2 – Creazione dell'Albero delle Cartelle "progetto-shop"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E6B2680B-A36E-FFA4-9E49-6D0A33F9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Creiamo sul Desktop una cartella principale chiamata progetto-shop. Al suo interno, strutturare la gerarchia di directory come segue:</a:t>
            </a:r>
          </a:p>
          <a:p>
            <a:r>
              <a:rPr lang="it-IT" dirty="0">
                <a:solidFill>
                  <a:srgbClr val="0C0C0D"/>
                </a:solidFill>
              </a:rPr>
              <a:t>progetto-shop/</a:t>
            </a:r>
          </a:p>
          <a:p>
            <a:r>
              <a:rPr lang="it-IT" dirty="0">
                <a:solidFill>
                  <a:srgbClr val="0C0C0D"/>
                </a:solidFill>
              </a:rPr>
              <a:t>├── </a:t>
            </a:r>
            <a:r>
              <a:rPr lang="it-IT" dirty="0" err="1">
                <a:solidFill>
                  <a:srgbClr val="0C0C0D"/>
                </a:solidFill>
              </a:rPr>
              <a:t>docker-compose.yml</a:t>
            </a:r>
            <a:endParaRPr lang="it-IT" dirty="0">
              <a:solidFill>
                <a:srgbClr val="0C0C0D"/>
              </a:solidFill>
            </a:endParaRPr>
          </a:p>
          <a:p>
            <a:r>
              <a:rPr lang="it-IT" dirty="0">
                <a:solidFill>
                  <a:srgbClr val="0C0C0D"/>
                </a:solidFill>
              </a:rPr>
              <a:t>└── </a:t>
            </a:r>
            <a:r>
              <a:rPr lang="it-IT" dirty="0" err="1">
                <a:solidFill>
                  <a:srgbClr val="0C0C0D"/>
                </a:solidFill>
              </a:rPr>
              <a:t>nginx</a:t>
            </a:r>
            <a:r>
              <a:rPr lang="it-IT" dirty="0">
                <a:solidFill>
                  <a:srgbClr val="0C0C0D"/>
                </a:solidFill>
              </a:rPr>
              <a:t>/</a:t>
            </a:r>
          </a:p>
          <a:p>
            <a:r>
              <a:rPr lang="it-IT" dirty="0">
                <a:solidFill>
                  <a:srgbClr val="0C0C0D"/>
                </a:solidFill>
              </a:rPr>
              <a:t>    └── </a:t>
            </a:r>
            <a:r>
              <a:rPr lang="it-IT" dirty="0" err="1">
                <a:solidFill>
                  <a:srgbClr val="0C0C0D"/>
                </a:solidFill>
              </a:rPr>
              <a:t>nginx.conf</a:t>
            </a:r>
            <a:endParaRPr lang="it-IT" dirty="0">
              <a:solidFill>
                <a:srgbClr val="0C0C0D"/>
              </a:solidFill>
            </a:endParaRPr>
          </a:p>
          <a:p>
            <a:endParaRPr lang="it-IT" dirty="0">
              <a:solidFill>
                <a:srgbClr val="0C0C0D"/>
              </a:solidFill>
            </a:endParaRPr>
          </a:p>
          <a:p>
            <a:r>
              <a:rPr lang="it-IT" dirty="0"/>
              <a:t>Attenzione al file </a:t>
            </a:r>
            <a:r>
              <a:rPr lang="it-IT" dirty="0" err="1"/>
              <a:t>nginx.conf</a:t>
            </a:r>
            <a:r>
              <a:rPr lang="it-IT" dirty="0"/>
              <a:t>: non deve avere l’estensione .</a:t>
            </a:r>
            <a:r>
              <a:rPr lang="it-IT" dirty="0" err="1"/>
              <a:t>txt</a:t>
            </a:r>
            <a:r>
              <a:rPr lang="it-IT" dirty="0"/>
              <a:t>. </a:t>
            </a:r>
          </a:p>
          <a:p>
            <a:r>
              <a:rPr lang="it-IT" dirty="0"/>
              <a:t>Salvare il nome del file tra le virgolette.</a:t>
            </a:r>
          </a:p>
        </p:txBody>
      </p:sp>
    </p:spTree>
    <p:extLst>
      <p:ext uri="{BB962C8B-B14F-4D97-AF65-F5344CB8AC3E}">
        <p14:creationId xmlns:p14="http://schemas.microsoft.com/office/powerpoint/2010/main" val="990111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E1450-D644-ACA2-99DB-D179CDA5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3DF998CD-B6BD-55BF-756F-DA303BAAF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15: Step 3 – Scrittura del File Iniziale </a:t>
            </a:r>
            <a:r>
              <a:rPr lang="it-IT" dirty="0" err="1"/>
              <a:t>nginx.conf</a:t>
            </a:r>
            <a:r>
              <a:rPr lang="it-IT" dirty="0"/>
              <a:t> (Porta 80)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6D66D89-C70F-7880-F784-E5082FC23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2394872" cy="4803369"/>
          </a:xfrm>
        </p:spPr>
        <p:txBody>
          <a:bodyPr/>
          <a:lstStyle/>
          <a:p>
            <a:r>
              <a:rPr lang="it-IT" dirty="0"/>
              <a:t>Aprire il file </a:t>
            </a:r>
            <a:r>
              <a:rPr lang="it-IT" dirty="0" err="1"/>
              <a:t>nginx</a:t>
            </a:r>
            <a:r>
              <a:rPr lang="it-IT" dirty="0"/>
              <a:t>/</a:t>
            </a:r>
            <a:r>
              <a:rPr lang="it-IT" dirty="0" err="1"/>
              <a:t>nginx.conf</a:t>
            </a:r>
            <a:r>
              <a:rPr lang="it-IT" dirty="0"/>
              <a:t> appena creato sul PC e incollare la configurazione di base per la porta 80. Questo ci servirà come "test di comunicazione" per verificare che </a:t>
            </a:r>
            <a:r>
              <a:rPr lang="it-IT" dirty="0" err="1"/>
              <a:t>Nginx</a:t>
            </a:r>
            <a:r>
              <a:rPr lang="it-IT" dirty="0"/>
              <a:t> risponda correttamente sotto il nuovo </a:t>
            </a:r>
            <a:r>
              <a:rPr lang="it-IT" dirty="0" err="1"/>
              <a:t>hostname</a:t>
            </a:r>
            <a:r>
              <a:rPr lang="it-IT" dirty="0"/>
              <a:t> finto: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42E3739-438C-C868-AADE-C4A1BC7C4B4D}"/>
              </a:ext>
            </a:extLst>
          </p:cNvPr>
          <p:cNvSpPr txBox="1"/>
          <p:nvPr/>
        </p:nvSpPr>
        <p:spPr>
          <a:xfrm>
            <a:off x="4588165" y="1582340"/>
            <a:ext cx="676563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events { </a:t>
            </a:r>
            <a:r>
              <a:rPr lang="it-IT" dirty="0" err="1"/>
              <a:t>worker_connections</a:t>
            </a:r>
            <a:r>
              <a:rPr lang="it-IT" dirty="0"/>
              <a:t> 1024; }</a:t>
            </a:r>
          </a:p>
          <a:p>
            <a:endParaRPr lang="it-IT" dirty="0"/>
          </a:p>
          <a:p>
            <a:r>
              <a:rPr lang="it-IT" dirty="0"/>
              <a:t>http {</a:t>
            </a:r>
          </a:p>
          <a:p>
            <a:r>
              <a:rPr lang="it-IT" dirty="0"/>
              <a:t>    server {</a:t>
            </a:r>
          </a:p>
          <a:p>
            <a:r>
              <a:rPr lang="it-IT" dirty="0"/>
              <a:t>        </a:t>
            </a:r>
            <a:r>
              <a:rPr lang="it-IT" dirty="0" err="1"/>
              <a:t>listen</a:t>
            </a:r>
            <a:r>
              <a:rPr lang="it-IT" dirty="0"/>
              <a:t> 80;</a:t>
            </a:r>
          </a:p>
          <a:p>
            <a:r>
              <a:rPr lang="it-IT" dirty="0"/>
              <a:t>        </a:t>
            </a:r>
            <a:r>
              <a:rPr lang="it-IT" dirty="0" err="1"/>
              <a:t>server_name</a:t>
            </a:r>
            <a:r>
              <a:rPr lang="it-IT" dirty="0"/>
              <a:t> shop.skillfactory.it;</a:t>
            </a:r>
          </a:p>
          <a:p>
            <a:endParaRPr lang="it-IT" dirty="0"/>
          </a:p>
          <a:p>
            <a:r>
              <a:rPr lang="it-IT" dirty="0"/>
              <a:t>        location / {</a:t>
            </a:r>
          </a:p>
          <a:p>
            <a:r>
              <a:rPr lang="it-IT" dirty="0"/>
              <a:t>            </a:t>
            </a:r>
            <a:r>
              <a:rPr lang="it-IT" dirty="0" err="1"/>
              <a:t>return</a:t>
            </a:r>
            <a:r>
              <a:rPr lang="it-IT" dirty="0"/>
              <a:t> 200 'Infrastruttura locale per shop.skillfactory.it pronta!';</a:t>
            </a:r>
          </a:p>
          <a:p>
            <a:r>
              <a:rPr lang="it-IT" dirty="0"/>
              <a:t>            </a:t>
            </a:r>
            <a:r>
              <a:rPr lang="it-IT" dirty="0" err="1"/>
              <a:t>add_header</a:t>
            </a:r>
            <a:r>
              <a:rPr lang="it-IT" dirty="0"/>
              <a:t> Content-</a:t>
            </a:r>
            <a:r>
              <a:rPr lang="it-IT" dirty="0" err="1"/>
              <a:t>Type</a:t>
            </a:r>
            <a:r>
              <a:rPr lang="it-IT" dirty="0"/>
              <a:t> text/</a:t>
            </a:r>
            <a:r>
              <a:rPr lang="it-IT" dirty="0" err="1"/>
              <a:t>plain</a:t>
            </a:r>
            <a:r>
              <a:rPr lang="it-IT" dirty="0"/>
              <a:t>;</a:t>
            </a:r>
          </a:p>
          <a:p>
            <a:r>
              <a:rPr lang="it-IT" dirty="0"/>
              <a:t>        }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Se scriviamo </a:t>
            </a:r>
            <a:r>
              <a:rPr lang="it-IT" dirty="0" err="1">
                <a:solidFill>
                  <a:srgbClr val="171FE2"/>
                </a:solidFill>
              </a:rPr>
              <a:t>nell’url</a:t>
            </a:r>
            <a:r>
              <a:rPr lang="it-IT" dirty="0">
                <a:solidFill>
                  <a:srgbClr val="171FE2"/>
                </a:solidFill>
              </a:rPr>
              <a:t>: shop.skillfactory.it il servizio ci risponderà </a:t>
            </a:r>
          </a:p>
          <a:p>
            <a:r>
              <a:rPr lang="it-IT" dirty="0">
                <a:solidFill>
                  <a:srgbClr val="171FE2"/>
                </a:solidFill>
              </a:rPr>
              <a:t>'Infrastruttura locale per shop.skillfactory.it pronta!'</a:t>
            </a:r>
          </a:p>
        </p:txBody>
      </p:sp>
    </p:spTree>
    <p:extLst>
      <p:ext uri="{BB962C8B-B14F-4D97-AF65-F5344CB8AC3E}">
        <p14:creationId xmlns:p14="http://schemas.microsoft.com/office/powerpoint/2010/main" val="4064738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25E69-755B-6455-3338-76144CDF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4E2A4F7B-1586-E71A-231E-22552F37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16: Step 4 – </a:t>
            </a:r>
            <a:br>
              <a:rPr lang="it-IT" dirty="0"/>
            </a:br>
            <a:r>
              <a:rPr lang="it-IT" dirty="0"/>
              <a:t>Stesura dell'Orchestratore </a:t>
            </a:r>
            <a:br>
              <a:rPr lang="it-IT" dirty="0"/>
            </a:br>
            <a:r>
              <a:rPr lang="it-IT" dirty="0" err="1"/>
              <a:t>docker-compose.yml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ECCDAAC3-63F3-0536-812E-60EE517B9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8106"/>
            <a:ext cx="3609523" cy="4803369"/>
          </a:xfrm>
        </p:spPr>
        <p:txBody>
          <a:bodyPr/>
          <a:lstStyle/>
          <a:p>
            <a:r>
              <a:rPr lang="it-IT" dirty="0"/>
              <a:t>Spostarsi nella cartella radice progetto-shop/, creare il file </a:t>
            </a:r>
            <a:r>
              <a:rPr lang="it-IT" dirty="0" err="1"/>
              <a:t>docker-compose.yml</a:t>
            </a:r>
            <a:r>
              <a:rPr lang="it-IT" dirty="0"/>
              <a:t> e definire l'accoppiata di servizi (</a:t>
            </a:r>
            <a:r>
              <a:rPr lang="it-IT" dirty="0" err="1"/>
              <a:t>Nginx</a:t>
            </a:r>
            <a:r>
              <a:rPr lang="it-IT" dirty="0"/>
              <a:t> e l'agente </a:t>
            </a:r>
            <a:r>
              <a:rPr lang="it-IT" dirty="0" err="1"/>
              <a:t>Certbot</a:t>
            </a:r>
            <a:r>
              <a:rPr lang="it-IT" dirty="0"/>
              <a:t>) uniti dai volumi logici per lo scambio dei certificati:</a:t>
            </a:r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651A80-DF75-A60A-8388-CF1F62EA1A33}"/>
              </a:ext>
            </a:extLst>
          </p:cNvPr>
          <p:cNvSpPr txBox="1"/>
          <p:nvPr/>
        </p:nvSpPr>
        <p:spPr>
          <a:xfrm>
            <a:off x="5171520" y="258901"/>
            <a:ext cx="568201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services: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webserver-nginx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image: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nginx:alpine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container_name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proxy_shop_nginx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ports: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  - "80:80"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  - "443:443"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  - ./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nginx.conf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nginx.conf:ro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  -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certbot_etc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networks: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  -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rete_shop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b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-agent: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image: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container_name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agente_shop_certbot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  -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certbot_etc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networks: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    -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rete_shop</a:t>
            </a: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b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certbot_etc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certbot_var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b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4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networks: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 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rete_shop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F8616B38-02F6-9024-E934-E01987791C7D}"/>
              </a:ext>
            </a:extLst>
          </p:cNvPr>
          <p:cNvSpPr/>
          <p:nvPr/>
        </p:nvSpPr>
        <p:spPr>
          <a:xfrm>
            <a:off x="2129231" y="3275463"/>
            <a:ext cx="3166100" cy="6550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2419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2F52-C737-4E75-B337-9AF6A1DD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88F2122-E55E-A565-7196-79C3E93B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17: Step 5 – Primo Avvio ed Ispezione Visiva della Porta 80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3DB050F-0930-A1A2-C5B7-4D9098712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Aprire il terminale dei comandi, posizionarsi all'interno della cartella principale progetto-shop/ e lanciare l'infrastruttura iniziale in modalità </a:t>
            </a:r>
            <a:r>
              <a:rPr lang="it-IT" dirty="0" err="1"/>
              <a:t>detached</a:t>
            </a:r>
            <a:r>
              <a:rPr lang="it-IT" dirty="0"/>
              <a:t> (in background) digitando:</a:t>
            </a:r>
          </a:p>
          <a:p>
            <a:r>
              <a:rPr lang="it-IT" b="1" dirty="0" err="1">
                <a:solidFill>
                  <a:srgbClr val="171FE2"/>
                </a:solidFill>
              </a:rPr>
              <a:t>docker</a:t>
            </a:r>
            <a:r>
              <a:rPr lang="it-IT" b="1" dirty="0">
                <a:solidFill>
                  <a:srgbClr val="171FE2"/>
                </a:solidFill>
              </a:rPr>
              <a:t> compose up -d </a:t>
            </a:r>
            <a:r>
              <a:rPr lang="it-IT" b="1" dirty="0" err="1">
                <a:solidFill>
                  <a:srgbClr val="171FE2"/>
                </a:solidFill>
              </a:rPr>
              <a:t>webserver-nginx</a:t>
            </a:r>
            <a:endParaRPr lang="it-IT" b="1" dirty="0">
              <a:solidFill>
                <a:srgbClr val="171FE2"/>
              </a:solidFill>
            </a:endParaRPr>
          </a:p>
          <a:p>
            <a:r>
              <a:rPr lang="it-IT" dirty="0"/>
              <a:t>Docker scaricherà le risorse e avvierà esclusivamente il container di </a:t>
            </a:r>
            <a:r>
              <a:rPr lang="it-IT" dirty="0" err="1"/>
              <a:t>Nginx</a:t>
            </a:r>
            <a:r>
              <a:rPr lang="it-IT" dirty="0"/>
              <a:t>. </a:t>
            </a:r>
          </a:p>
          <a:p>
            <a:r>
              <a:rPr lang="it-IT" dirty="0"/>
              <a:t>Per verificare che tutto sia corretto, aprire il browser web e navigare sull'indirizzo: </a:t>
            </a:r>
            <a:r>
              <a:rPr lang="it-IT" dirty="0">
                <a:hlinkClick r:id="rId2"/>
              </a:rPr>
              <a:t>http://shop.skillfactory.it</a:t>
            </a:r>
            <a:r>
              <a:rPr lang="it-IT" dirty="0"/>
              <a:t>.</a:t>
            </a:r>
          </a:p>
          <a:p>
            <a:r>
              <a:rPr lang="it-IT" dirty="0"/>
              <a:t>Se la configurazione è esatta, visualizzeremo a schermo la stringa: "Infrastruttura locale per shop.skillfactory.it pronta!".</a:t>
            </a:r>
          </a:p>
        </p:txBody>
      </p:sp>
    </p:spTree>
    <p:extLst>
      <p:ext uri="{BB962C8B-B14F-4D97-AF65-F5344CB8AC3E}">
        <p14:creationId xmlns:p14="http://schemas.microsoft.com/office/powerpoint/2010/main" val="387064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D12C-C666-5270-BEAE-B8CA9E66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44762A4-69CD-8DD5-9C86-6D6268AF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18: Step 6 – Forzatura Offline e Generazione delle Chiavi Crittografiche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2FD942CB-D743-7FD0-E540-1232E1F8F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Sapendo che </a:t>
            </a:r>
            <a:r>
              <a:rPr lang="it-IT" dirty="0" err="1"/>
              <a:t>Let's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rifiuta le richieste per i domini finti gestiti in locale, bypassiamo i server remoti e ordiniamo alla shell interna del container </a:t>
            </a:r>
            <a:r>
              <a:rPr lang="it-IT" dirty="0" err="1"/>
              <a:t>Certbot</a:t>
            </a:r>
            <a:r>
              <a:rPr lang="it-IT" dirty="0"/>
              <a:t> di generare all'istante una coppia di chiavi asimmetriche </a:t>
            </a:r>
            <a:r>
              <a:rPr lang="it-IT" dirty="0" err="1"/>
              <a:t>autosottoscritte</a:t>
            </a:r>
            <a:r>
              <a:rPr lang="it-IT" dirty="0"/>
              <a:t> (Self-</a:t>
            </a:r>
            <a:r>
              <a:rPr lang="it-IT" dirty="0" err="1"/>
              <a:t>Signed</a:t>
            </a:r>
            <a:r>
              <a:rPr lang="it-IT" dirty="0"/>
              <a:t>) </a:t>
            </a:r>
            <a:r>
              <a:rPr lang="it-IT" dirty="0" err="1"/>
              <a:t>OpenSSL</a:t>
            </a:r>
            <a:r>
              <a:rPr lang="it-IT" dirty="0"/>
              <a:t> specifiche per il nostro brand, depositandole nel volume condiviso: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compose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entrypoint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"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openssl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"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-agent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req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-x509 -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nodes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-days 365 -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newkey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rsa:2048 -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keyout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privkey.pem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-out 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etc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letsencrypt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fullchain.pem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subj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"/CN=shop.skillfactory.it"</a:t>
            </a:r>
          </a:p>
          <a:p>
            <a:endParaRPr lang="it-IT" dirty="0"/>
          </a:p>
          <a:p>
            <a:r>
              <a:rPr lang="it-IT" dirty="0"/>
              <a:t>Osservare lo scorrimento dei caratteri matematici sul terminale. </a:t>
            </a:r>
          </a:p>
          <a:p>
            <a:r>
              <a:rPr lang="it-IT" dirty="0"/>
              <a:t>Al termine del calcolo, il container si auto-eliminerà lasciando le chiavi protette dentro il volume condiviso.</a:t>
            </a:r>
          </a:p>
          <a:p>
            <a:r>
              <a:rPr lang="it-IT" dirty="0"/>
              <a:t>--</a:t>
            </a:r>
            <a:r>
              <a:rPr lang="it-IT" dirty="0" err="1"/>
              <a:t>entrypoint</a:t>
            </a:r>
            <a:r>
              <a:rPr lang="it-IT" dirty="0"/>
              <a:t> "/bin/sh" abbinato a –c</a:t>
            </a:r>
          </a:p>
          <a:p>
            <a:r>
              <a:rPr lang="it-IT" dirty="0"/>
              <a:t>serve a proteggere la stringa dai difetti di interpretazione dei terminali Windows (</a:t>
            </a:r>
            <a:r>
              <a:rPr lang="it-IT" dirty="0" err="1"/>
              <a:t>PowerShell</a:t>
            </a:r>
            <a:r>
              <a:rPr lang="it-IT" dirty="0"/>
              <a:t>/CMD), eseguendo il comando direttamente in ambiente Linux nativo.</a:t>
            </a:r>
          </a:p>
        </p:txBody>
      </p:sp>
    </p:spTree>
    <p:extLst>
      <p:ext uri="{BB962C8B-B14F-4D97-AF65-F5344CB8AC3E}">
        <p14:creationId xmlns:p14="http://schemas.microsoft.com/office/powerpoint/2010/main" val="3567988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2720-EDA6-B5ED-91C9-FC0CAE89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B583160-270D-5DAF-24CB-DBF0B618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85" y="831206"/>
            <a:ext cx="10515600" cy="314198"/>
          </a:xfrm>
        </p:spPr>
        <p:txBody>
          <a:bodyPr/>
          <a:lstStyle/>
          <a:p>
            <a:r>
              <a:rPr lang="it-IT" dirty="0"/>
              <a:t>Slide 19: Step 7 – </a:t>
            </a:r>
            <a:br>
              <a:rPr lang="it-IT" dirty="0"/>
            </a:br>
            <a:r>
              <a:rPr lang="it-IT" dirty="0"/>
              <a:t>Aggiornamento di </a:t>
            </a:r>
            <a:r>
              <a:rPr lang="it-IT" dirty="0" err="1"/>
              <a:t>Nginx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ed Attivazione della </a:t>
            </a:r>
            <a:br>
              <a:rPr lang="it-IT" dirty="0"/>
            </a:br>
            <a:r>
              <a:rPr lang="it-IT" dirty="0"/>
              <a:t>Porta 443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B87889B-BC73-6681-2B75-1759E6F45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85" y="2235369"/>
            <a:ext cx="2954430" cy="4803369"/>
          </a:xfrm>
        </p:spPr>
        <p:txBody>
          <a:bodyPr/>
          <a:lstStyle/>
          <a:p>
            <a:r>
              <a:rPr lang="it-IT" dirty="0"/>
              <a:t>Le chiavi esistono. Ora dobbiamo istruire </a:t>
            </a:r>
            <a:r>
              <a:rPr lang="it-IT" dirty="0" err="1"/>
              <a:t>Nginx</a:t>
            </a:r>
            <a:r>
              <a:rPr lang="it-IT" dirty="0"/>
              <a:t> a blindare l'accesso. Aprire il file </a:t>
            </a:r>
            <a:r>
              <a:rPr lang="it-IT" dirty="0" err="1"/>
              <a:t>nginx</a:t>
            </a:r>
            <a:r>
              <a:rPr lang="it-IT" dirty="0"/>
              <a:t>/</a:t>
            </a:r>
            <a:r>
              <a:rPr lang="it-IT" dirty="0" err="1"/>
              <a:t>nginx.conf</a:t>
            </a:r>
            <a:r>
              <a:rPr lang="it-IT" dirty="0"/>
              <a:t> sul proprio PC, cancellare il vecchio testo iniziale e sostituirlo completamente con la configurazione di produzione sicura, comprensiva di </a:t>
            </a:r>
            <a:r>
              <a:rPr lang="it-IT" dirty="0" err="1"/>
              <a:t>redirect</a:t>
            </a:r>
            <a:r>
              <a:rPr lang="it-IT" dirty="0"/>
              <a:t> automatico e puntamenti SSL: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D0ACC3-FF7E-7948-3F7B-754EE94ADE11}"/>
              </a:ext>
            </a:extLst>
          </p:cNvPr>
          <p:cNvSpPr txBox="1"/>
          <p:nvPr/>
        </p:nvSpPr>
        <p:spPr>
          <a:xfrm>
            <a:off x="3575959" y="302617"/>
            <a:ext cx="8723991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events { </a:t>
            </a:r>
            <a:r>
              <a:rPr lang="it-IT" dirty="0" err="1"/>
              <a:t>worker_connections</a:t>
            </a:r>
            <a:r>
              <a:rPr lang="it-IT" dirty="0"/>
              <a:t> 1024; }</a:t>
            </a:r>
          </a:p>
          <a:p>
            <a:endParaRPr lang="it-IT" dirty="0"/>
          </a:p>
          <a:p>
            <a:r>
              <a:rPr lang="it-IT" dirty="0"/>
              <a:t>http {</a:t>
            </a:r>
          </a:p>
          <a:p>
            <a:r>
              <a:rPr lang="it-IT" dirty="0"/>
              <a:t>    server {</a:t>
            </a:r>
          </a:p>
          <a:p>
            <a:r>
              <a:rPr lang="it-IT" dirty="0"/>
              <a:t>        </a:t>
            </a:r>
            <a:r>
              <a:rPr lang="it-IT" dirty="0" err="1"/>
              <a:t>listen</a:t>
            </a:r>
            <a:r>
              <a:rPr lang="it-IT" dirty="0"/>
              <a:t> 80;</a:t>
            </a:r>
          </a:p>
          <a:p>
            <a:r>
              <a:rPr lang="it-IT" dirty="0"/>
              <a:t>        </a:t>
            </a:r>
            <a:r>
              <a:rPr lang="it-IT" dirty="0" err="1"/>
              <a:t>server_name</a:t>
            </a:r>
            <a:r>
              <a:rPr lang="it-IT" dirty="0"/>
              <a:t> shop.skillfactory.it;</a:t>
            </a:r>
          </a:p>
          <a:p>
            <a:r>
              <a:rPr lang="it-IT" dirty="0"/>
              <a:t>        </a:t>
            </a:r>
            <a:r>
              <a:rPr lang="it-IT" dirty="0" err="1"/>
              <a:t>return</a:t>
            </a:r>
            <a:r>
              <a:rPr lang="it-IT" dirty="0"/>
              <a:t> 301 https://$</a:t>
            </a:r>
            <a:r>
              <a:rPr lang="it-IT" dirty="0" err="1"/>
              <a:t>host$request_uri</a:t>
            </a:r>
            <a:r>
              <a:rPr lang="it-IT" dirty="0"/>
              <a:t>; # </a:t>
            </a:r>
            <a:r>
              <a:rPr lang="it-IT" dirty="0" err="1"/>
              <a:t>Redirect</a:t>
            </a:r>
            <a:r>
              <a:rPr lang="it-IT" dirty="0"/>
              <a:t> automatico a HTTPS</a:t>
            </a:r>
          </a:p>
          <a:p>
            <a:r>
              <a:rPr lang="it-IT" dirty="0"/>
              <a:t>    }</a:t>
            </a:r>
          </a:p>
          <a:p>
            <a:endParaRPr lang="it-IT" dirty="0"/>
          </a:p>
          <a:p>
            <a:r>
              <a:rPr lang="it-IT" dirty="0"/>
              <a:t>    server {</a:t>
            </a:r>
          </a:p>
          <a:p>
            <a:r>
              <a:rPr lang="it-IT" dirty="0"/>
              <a:t>        </a:t>
            </a:r>
            <a:r>
              <a:rPr lang="it-IT" dirty="0" err="1"/>
              <a:t>listen</a:t>
            </a:r>
            <a:r>
              <a:rPr lang="it-IT" dirty="0"/>
              <a:t> 443 </a:t>
            </a:r>
            <a:r>
              <a:rPr lang="it-IT" dirty="0" err="1"/>
              <a:t>ssl</a:t>
            </a:r>
            <a:r>
              <a:rPr lang="it-IT" dirty="0"/>
              <a:t>;</a:t>
            </a:r>
          </a:p>
          <a:p>
            <a:r>
              <a:rPr lang="it-IT" dirty="0"/>
              <a:t>        </a:t>
            </a:r>
            <a:r>
              <a:rPr lang="it-IT" dirty="0" err="1"/>
              <a:t>server_name</a:t>
            </a:r>
            <a:r>
              <a:rPr lang="it-IT" dirty="0"/>
              <a:t> shop.skillfactory.it;</a:t>
            </a:r>
          </a:p>
          <a:p>
            <a:endParaRPr lang="it-IT" dirty="0"/>
          </a:p>
          <a:p>
            <a:r>
              <a:rPr lang="it-IT" dirty="0"/>
              <a:t>        # Percorsi corretti allineati alla radice del volume condiviso</a:t>
            </a:r>
          </a:p>
          <a:p>
            <a:r>
              <a:rPr lang="it-IT" dirty="0"/>
              <a:t>        </a:t>
            </a:r>
            <a:r>
              <a:rPr lang="it-IT" dirty="0" err="1"/>
              <a:t>ssl_certificate</a:t>
            </a:r>
            <a:r>
              <a:rPr lang="it-IT" dirty="0"/>
              <a:t> /</a:t>
            </a:r>
            <a:r>
              <a:rPr lang="it-IT" dirty="0" err="1"/>
              <a:t>etc</a:t>
            </a:r>
            <a:r>
              <a:rPr lang="it-IT" dirty="0"/>
              <a:t>/</a:t>
            </a:r>
            <a:r>
              <a:rPr lang="it-IT" dirty="0" err="1"/>
              <a:t>letsencrypt</a:t>
            </a:r>
            <a:r>
              <a:rPr lang="it-IT" dirty="0"/>
              <a:t>/</a:t>
            </a:r>
            <a:r>
              <a:rPr lang="it-IT" dirty="0" err="1"/>
              <a:t>fullchain.pem</a:t>
            </a:r>
            <a:r>
              <a:rPr lang="it-IT" dirty="0"/>
              <a:t>;</a:t>
            </a:r>
          </a:p>
          <a:p>
            <a:r>
              <a:rPr lang="it-IT" dirty="0"/>
              <a:t>        </a:t>
            </a:r>
            <a:r>
              <a:rPr lang="it-IT" dirty="0" err="1"/>
              <a:t>ssl_certificate_key</a:t>
            </a:r>
            <a:r>
              <a:rPr lang="it-IT" dirty="0"/>
              <a:t> /</a:t>
            </a:r>
            <a:r>
              <a:rPr lang="it-IT" dirty="0" err="1"/>
              <a:t>etc</a:t>
            </a:r>
            <a:r>
              <a:rPr lang="it-IT" dirty="0"/>
              <a:t>/</a:t>
            </a:r>
            <a:r>
              <a:rPr lang="it-IT" dirty="0" err="1"/>
              <a:t>letsencrypt</a:t>
            </a:r>
            <a:r>
              <a:rPr lang="it-IT" dirty="0"/>
              <a:t>/</a:t>
            </a:r>
            <a:r>
              <a:rPr lang="it-IT" dirty="0" err="1"/>
              <a:t>privkey.pem</a:t>
            </a:r>
            <a:r>
              <a:rPr lang="it-IT" dirty="0"/>
              <a:t>;</a:t>
            </a:r>
          </a:p>
          <a:p>
            <a:endParaRPr lang="it-IT" dirty="0"/>
          </a:p>
          <a:p>
            <a:r>
              <a:rPr lang="it-IT" dirty="0"/>
              <a:t>        location / {</a:t>
            </a:r>
          </a:p>
          <a:p>
            <a:r>
              <a:rPr lang="it-IT" dirty="0"/>
              <a:t>            </a:t>
            </a:r>
            <a:r>
              <a:rPr lang="it-IT" dirty="0" err="1"/>
              <a:t>return</a:t>
            </a:r>
            <a:r>
              <a:rPr lang="it-IT" dirty="0"/>
              <a:t> 200 'Benvenuti nello Shop di Skill </a:t>
            </a:r>
            <a:r>
              <a:rPr lang="it-IT" dirty="0" err="1"/>
              <a:t>Factory</a:t>
            </a:r>
            <a:r>
              <a:rPr lang="it-IT" dirty="0"/>
              <a:t> - Connessione HTTPS Funzionante!';</a:t>
            </a:r>
          </a:p>
          <a:p>
            <a:r>
              <a:rPr lang="it-IT" dirty="0"/>
              <a:t>            </a:t>
            </a:r>
            <a:r>
              <a:rPr lang="it-IT" dirty="0" err="1"/>
              <a:t>add_header</a:t>
            </a:r>
            <a:r>
              <a:rPr lang="it-IT" dirty="0"/>
              <a:t> Content-</a:t>
            </a:r>
            <a:r>
              <a:rPr lang="it-IT" dirty="0" err="1"/>
              <a:t>Type</a:t>
            </a:r>
            <a:r>
              <a:rPr lang="it-IT" dirty="0"/>
              <a:t> text/</a:t>
            </a:r>
            <a:r>
              <a:rPr lang="it-IT" dirty="0" err="1"/>
              <a:t>plain</a:t>
            </a:r>
            <a:r>
              <a:rPr lang="it-IT" dirty="0"/>
              <a:t>;</a:t>
            </a:r>
          </a:p>
          <a:p>
            <a:r>
              <a:rPr lang="it-IT" dirty="0"/>
              <a:t>        }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7673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2460-3CAA-5B34-3562-C7E194B7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AAB4DAFB-BB6C-DDEF-7B2B-ABC3B083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20: Step 8 – Ricaricamento a Caldo (Hot </a:t>
            </a:r>
            <a:r>
              <a:rPr lang="it-IT" dirty="0" err="1"/>
              <a:t>Reload</a:t>
            </a:r>
            <a:r>
              <a:rPr lang="it-IT" dirty="0"/>
              <a:t>) e Collaudo Finale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105A4B54-BF92-9899-8DAB-9F777E798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Per fare in modo che </a:t>
            </a:r>
            <a:r>
              <a:rPr lang="it-IT" dirty="0" err="1"/>
              <a:t>Nginx</a:t>
            </a:r>
            <a:r>
              <a:rPr lang="it-IT" dirty="0"/>
              <a:t> carichi in memoria le nuove direttive e le chiavi crittografiche senza spegnere l'infrastruttura, eseguiamo il segnale di Hot </a:t>
            </a:r>
            <a:r>
              <a:rPr lang="it-IT" dirty="0" err="1"/>
              <a:t>Reloading</a:t>
            </a:r>
            <a:r>
              <a:rPr lang="it-IT" dirty="0"/>
              <a:t> digitando nel terminale: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compose exec webserver-nginx nginx -s reload</a:t>
            </a:r>
          </a:p>
          <a:p>
            <a:r>
              <a:rPr lang="it-IT" dirty="0"/>
              <a:t>Tornare nel browser web e digitare l'indirizzo sicuro completo:</a:t>
            </a:r>
          </a:p>
          <a:p>
            <a:r>
              <a:rPr lang="it-IT" dirty="0"/>
              <a:t> </a:t>
            </a:r>
            <a:r>
              <a:rPr lang="it-IT" dirty="0">
                <a:hlinkClick r:id="rId2"/>
              </a:rPr>
              <a:t>https://shop.skillfactory.it</a:t>
            </a:r>
            <a:r>
              <a:rPr lang="it-IT" dirty="0"/>
              <a:t>.</a:t>
            </a:r>
          </a:p>
          <a:p>
            <a:r>
              <a:rPr lang="it-IT" dirty="0"/>
              <a:t>Il browser mostrerà la schermata di protezione per via del certificato </a:t>
            </a:r>
            <a:r>
              <a:rPr lang="it-IT" dirty="0" err="1"/>
              <a:t>autosottoscritto</a:t>
            </a:r>
            <a:r>
              <a:rPr lang="it-IT" dirty="0"/>
              <a:t> locale. </a:t>
            </a:r>
          </a:p>
          <a:p>
            <a:r>
              <a:rPr lang="it-IT" dirty="0"/>
              <a:t>Cliccare su "Avanzate" e poi su "Procedi (non sicuro)". </a:t>
            </a:r>
          </a:p>
          <a:p>
            <a:r>
              <a:rPr lang="it-IT" dirty="0"/>
              <a:t>Sullo schermo si materializzerà il messaggio: "Benvenuti nello Shop di Skill </a:t>
            </a:r>
            <a:r>
              <a:rPr lang="it-IT" dirty="0" err="1"/>
              <a:t>Factory</a:t>
            </a:r>
            <a:r>
              <a:rPr lang="it-IT" dirty="0"/>
              <a:t> - Connessione HTTPS Funzionante!".</a:t>
            </a:r>
          </a:p>
        </p:txBody>
      </p:sp>
    </p:spTree>
    <p:extLst>
      <p:ext uri="{BB962C8B-B14F-4D97-AF65-F5344CB8AC3E}">
        <p14:creationId xmlns:p14="http://schemas.microsoft.com/office/powerpoint/2010/main" val="2554690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1B5E-1AFC-3150-0B5B-12648D23E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9008F7D-543A-14D0-2F7A-3C7876F9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21: Introduzione all'Architettura a Tre Livelli (Three-Tier)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B6AD6B87-2010-972A-3DB2-F49CF7F13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Ora che il Reverse Proxy </a:t>
            </a:r>
            <a:r>
              <a:rPr lang="it-IT" dirty="0" err="1"/>
              <a:t>Nginx</a:t>
            </a:r>
            <a:r>
              <a:rPr lang="it-IT" dirty="0"/>
              <a:t> risponde correttamente su https://shop.skillfactory.it, andremo ad affiancare a </a:t>
            </a:r>
            <a:r>
              <a:rPr lang="it-IT" dirty="0" err="1"/>
              <a:t>Nginx</a:t>
            </a:r>
            <a:r>
              <a:rPr lang="it-IT" dirty="0"/>
              <a:t> altri tre container specializzati che coopereranno nella stessa rete virtuale isolata di Docker Compose.</a:t>
            </a:r>
          </a:p>
          <a:p>
            <a:r>
              <a:rPr lang="it-IT" dirty="0"/>
              <a:t>shop-database (</a:t>
            </a:r>
            <a:r>
              <a:rPr lang="it-IT" dirty="0" err="1"/>
              <a:t>MariaDB</a:t>
            </a:r>
            <a:r>
              <a:rPr lang="it-IT" dirty="0"/>
              <a:t>): Il motore database relazionale. Sarà protetto all'interno della rete Docker e non esporrà porte sulla macchina </a:t>
            </a:r>
            <a:r>
              <a:rPr lang="it-IT" dirty="0" err="1"/>
              <a:t>host</a:t>
            </a:r>
            <a:r>
              <a:rPr lang="it-IT" dirty="0"/>
              <a:t> (il PC esterno), garantendo la massima sicurezza.</a:t>
            </a:r>
          </a:p>
          <a:p>
            <a:r>
              <a:rPr lang="it-IT" dirty="0"/>
              <a:t>shop-admin (</a:t>
            </a:r>
            <a:r>
              <a:rPr lang="it-IT" dirty="0" err="1"/>
              <a:t>phpMyAdmin</a:t>
            </a:r>
            <a:r>
              <a:rPr lang="it-IT" dirty="0"/>
              <a:t>): Uno strumento web pronto all'uso per amministrare </a:t>
            </a:r>
            <a:r>
              <a:rPr lang="it-IT" dirty="0" err="1"/>
              <a:t>MariaDB</a:t>
            </a:r>
            <a:r>
              <a:rPr lang="it-IT" dirty="0"/>
              <a:t>, esposto sulla porta 8080.</a:t>
            </a:r>
          </a:p>
          <a:p>
            <a:r>
              <a:rPr lang="it-IT" dirty="0"/>
              <a:t>shop-</a:t>
            </a:r>
            <a:r>
              <a:rPr lang="it-IT" dirty="0" err="1"/>
              <a:t>frontend</a:t>
            </a:r>
            <a:r>
              <a:rPr lang="it-IT" dirty="0"/>
              <a:t> (React): L'interfaccia utente con il form di registrazione dei prodotti.</a:t>
            </a:r>
          </a:p>
          <a:p>
            <a:r>
              <a:rPr lang="it-IT" dirty="0">
                <a:solidFill>
                  <a:srgbClr val="171FE2"/>
                </a:solidFill>
              </a:rPr>
              <a:t>Concetto di </a:t>
            </a:r>
            <a:r>
              <a:rPr lang="it-IT" b="1" dirty="0">
                <a:solidFill>
                  <a:srgbClr val="171FE2"/>
                </a:solidFill>
              </a:rPr>
              <a:t>Service Discovery</a:t>
            </a:r>
            <a:r>
              <a:rPr lang="it-IT" dirty="0">
                <a:solidFill>
                  <a:srgbClr val="171FE2"/>
                </a:solidFill>
              </a:rPr>
              <a:t>: all'interno dello stesso file Compose, i container si parlano </a:t>
            </a:r>
            <a:r>
              <a:rPr lang="it-IT" b="1" dirty="0">
                <a:solidFill>
                  <a:srgbClr val="171FE2"/>
                </a:solidFill>
              </a:rPr>
              <a:t>usando il nome del servizio </a:t>
            </a:r>
            <a:r>
              <a:rPr lang="it-IT" dirty="0">
                <a:solidFill>
                  <a:srgbClr val="171FE2"/>
                </a:solidFill>
              </a:rPr>
              <a:t>come se fosse un dominio internet (es. </a:t>
            </a:r>
            <a:r>
              <a:rPr lang="it-IT" dirty="0" err="1">
                <a:solidFill>
                  <a:srgbClr val="171FE2"/>
                </a:solidFill>
              </a:rPr>
              <a:t>phpMyAdmin</a:t>
            </a:r>
            <a:r>
              <a:rPr lang="it-IT" dirty="0">
                <a:solidFill>
                  <a:srgbClr val="171FE2"/>
                </a:solidFill>
              </a:rPr>
              <a:t> cercherà il database usando </a:t>
            </a:r>
            <a:r>
              <a:rPr lang="it-IT" dirty="0" err="1">
                <a:solidFill>
                  <a:srgbClr val="171FE2"/>
                </a:solidFill>
              </a:rPr>
              <a:t>l'host</a:t>
            </a:r>
            <a:r>
              <a:rPr lang="it-IT" dirty="0">
                <a:solidFill>
                  <a:srgbClr val="171FE2"/>
                </a:solidFill>
              </a:rPr>
              <a:t> shop-database invece di un indirizzo IP).</a:t>
            </a:r>
          </a:p>
        </p:txBody>
      </p:sp>
    </p:spTree>
    <p:extLst>
      <p:ext uri="{BB962C8B-B14F-4D97-AF65-F5344CB8AC3E}">
        <p14:creationId xmlns:p14="http://schemas.microsoft.com/office/powerpoint/2010/main" val="1483443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E1461-FF10-F7BE-310B-12999E48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6DED1D5-33F0-1751-7C62-0623482E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22: Step 9/1 – </a:t>
            </a:r>
            <a:br>
              <a:rPr lang="it-IT" dirty="0"/>
            </a:br>
            <a:r>
              <a:rPr lang="it-IT" dirty="0"/>
              <a:t>Aggiornamento del file </a:t>
            </a:r>
            <a:br>
              <a:rPr lang="it-IT" dirty="0"/>
            </a:br>
            <a:r>
              <a:rPr lang="it-IT" dirty="0" err="1"/>
              <a:t>docker-compose.yml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9604A85-A3E8-1B42-E75F-0A96761F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4631"/>
            <a:ext cx="3254681" cy="4803369"/>
          </a:xfrm>
        </p:spPr>
        <p:txBody>
          <a:bodyPr/>
          <a:lstStyle/>
          <a:p>
            <a:r>
              <a:rPr lang="it-IT" dirty="0"/>
              <a:t>Aprire il file </a:t>
            </a:r>
            <a:r>
              <a:rPr lang="it-IT" dirty="0" err="1"/>
              <a:t>docker-compose.yml</a:t>
            </a:r>
            <a:r>
              <a:rPr lang="it-IT" dirty="0"/>
              <a:t> e aggiungere i servizi per il Database e per </a:t>
            </a:r>
            <a:r>
              <a:rPr lang="it-IT" dirty="0" err="1"/>
              <a:t>phpMyAdmin</a:t>
            </a:r>
            <a:r>
              <a:rPr lang="it-IT" dirty="0"/>
              <a:t>. </a:t>
            </a:r>
          </a:p>
          <a:p>
            <a:r>
              <a:rPr lang="it-IT" dirty="0"/>
              <a:t>Configureremo le credenziali tramite le variabili d'ambiente (</a:t>
            </a:r>
            <a:r>
              <a:rPr lang="it-IT" dirty="0" err="1"/>
              <a:t>environment</a:t>
            </a:r>
            <a:r>
              <a:rPr lang="it-IT" dirty="0"/>
              <a:t>) e collegheremo un volume logico per fare in modo che i dati dei prodotti non svaniscano allo spegnimento dei container:</a:t>
            </a:r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5A2DAA5-E0EE-34D3-D601-8A867CF26E7D}"/>
              </a:ext>
            </a:extLst>
          </p:cNvPr>
          <p:cNvSpPr txBox="1"/>
          <p:nvPr/>
        </p:nvSpPr>
        <p:spPr>
          <a:xfrm>
            <a:off x="5023150" y="709683"/>
            <a:ext cx="499046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171FE2"/>
                </a:solidFill>
              </a:rPr>
              <a:t># dopo il servizio </a:t>
            </a:r>
            <a:r>
              <a:rPr lang="it-IT" dirty="0" err="1">
                <a:solidFill>
                  <a:srgbClr val="171FE2"/>
                </a:solidFill>
              </a:rPr>
              <a:t>cerbot</a:t>
            </a:r>
            <a:r>
              <a:rPr lang="it-IT" dirty="0">
                <a:solidFill>
                  <a:srgbClr val="171FE2"/>
                </a:solidFill>
              </a:rPr>
              <a:t>-agent</a:t>
            </a:r>
          </a:p>
          <a:p>
            <a:endParaRPr lang="it-IT" dirty="0"/>
          </a:p>
          <a:p>
            <a:r>
              <a:rPr lang="it-IT" dirty="0"/>
              <a:t>  shop-database:</a:t>
            </a:r>
          </a:p>
          <a:p>
            <a:r>
              <a:rPr lang="it-IT" dirty="0"/>
              <a:t>    image: </a:t>
            </a:r>
            <a:r>
              <a:rPr lang="it-IT" dirty="0" err="1"/>
              <a:t>mariadb:latest</a:t>
            </a:r>
            <a:endParaRPr lang="it-IT" dirty="0"/>
          </a:p>
          <a:p>
            <a:r>
              <a:rPr lang="it-IT" dirty="0"/>
              <a:t>    </a:t>
            </a:r>
            <a:r>
              <a:rPr lang="it-IT" dirty="0" err="1"/>
              <a:t>container_name</a:t>
            </a:r>
            <a:r>
              <a:rPr lang="it-IT" dirty="0"/>
              <a:t>: </a:t>
            </a:r>
            <a:r>
              <a:rPr lang="it-IT" dirty="0" err="1"/>
              <a:t>db_shop_mariadb</a:t>
            </a:r>
            <a:endParaRPr lang="it-IT" dirty="0"/>
          </a:p>
          <a:p>
            <a:r>
              <a:rPr lang="it-IT" dirty="0"/>
              <a:t>    </a:t>
            </a:r>
            <a:r>
              <a:rPr lang="it-IT" dirty="0" err="1"/>
              <a:t>environment</a:t>
            </a:r>
            <a:r>
              <a:rPr lang="it-IT" dirty="0"/>
              <a:t>:</a:t>
            </a:r>
          </a:p>
          <a:p>
            <a:r>
              <a:rPr lang="it-IT" dirty="0"/>
              <a:t>      MYSQL_ROOT_PASSWORD: </a:t>
            </a:r>
            <a:r>
              <a:rPr lang="it-IT" dirty="0" err="1"/>
              <a:t>root_password_skill</a:t>
            </a:r>
            <a:endParaRPr lang="it-IT" dirty="0"/>
          </a:p>
          <a:p>
            <a:r>
              <a:rPr lang="it-IT" dirty="0"/>
              <a:t>      MYSQL_DATABASE: </a:t>
            </a:r>
            <a:r>
              <a:rPr lang="it-IT" dirty="0" err="1"/>
              <a:t>negozio_db</a:t>
            </a:r>
            <a:endParaRPr lang="it-IT" dirty="0"/>
          </a:p>
          <a:p>
            <a:r>
              <a:rPr lang="it-IT" dirty="0"/>
              <a:t>      MYSQL_USER: </a:t>
            </a:r>
            <a:r>
              <a:rPr lang="it-IT" dirty="0" err="1"/>
              <a:t>user_shop</a:t>
            </a:r>
            <a:endParaRPr lang="it-IT" dirty="0"/>
          </a:p>
          <a:p>
            <a:r>
              <a:rPr lang="it-IT" dirty="0"/>
              <a:t>      MYSQL_PASSWORD: </a:t>
            </a:r>
            <a:r>
              <a:rPr lang="it-IT" dirty="0" err="1"/>
              <a:t>user_password_skill</a:t>
            </a:r>
            <a:endParaRPr lang="it-IT" dirty="0"/>
          </a:p>
          <a:p>
            <a:r>
              <a:rPr lang="it-IT" dirty="0"/>
              <a:t>    </a:t>
            </a:r>
            <a:r>
              <a:rPr lang="it-IT" dirty="0" err="1"/>
              <a:t>volumes</a:t>
            </a:r>
            <a:r>
              <a:rPr lang="it-IT" dirty="0"/>
              <a:t>:</a:t>
            </a:r>
          </a:p>
          <a:p>
            <a:r>
              <a:rPr lang="it-IT" dirty="0"/>
              <a:t>      - </a:t>
            </a:r>
            <a:r>
              <a:rPr lang="it-IT" dirty="0" err="1"/>
              <a:t>data_shop_db</a:t>
            </a:r>
            <a:r>
              <a:rPr lang="it-IT" dirty="0"/>
              <a:t>:/var/</a:t>
            </a:r>
            <a:r>
              <a:rPr lang="it-IT" dirty="0" err="1"/>
              <a:t>lib</a:t>
            </a:r>
            <a:r>
              <a:rPr lang="it-IT" dirty="0"/>
              <a:t>/</a:t>
            </a:r>
            <a:r>
              <a:rPr lang="it-IT" dirty="0" err="1"/>
              <a:t>mysql</a:t>
            </a:r>
            <a:endParaRPr lang="it-IT" dirty="0"/>
          </a:p>
          <a:p>
            <a:r>
              <a:rPr lang="it-IT" dirty="0"/>
              <a:t>    networks:</a:t>
            </a:r>
          </a:p>
          <a:p>
            <a:r>
              <a:rPr lang="it-IT" dirty="0"/>
              <a:t>      - </a:t>
            </a:r>
            <a:r>
              <a:rPr lang="it-IT" dirty="0" err="1"/>
              <a:t>rete_shop</a:t>
            </a:r>
            <a:endParaRPr lang="it-IT" dirty="0"/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# continua nella slide successiva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69035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C9BF-7BDE-4639-E7EC-66EB6F904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07E859A1-10CC-9216-8DFA-CF4CA636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23: Step 9/2 – </a:t>
            </a:r>
            <a:br>
              <a:rPr lang="it-IT" dirty="0"/>
            </a:br>
            <a:r>
              <a:rPr lang="it-IT" dirty="0"/>
              <a:t>Aggiornamento del file </a:t>
            </a:r>
            <a:br>
              <a:rPr lang="it-IT" dirty="0"/>
            </a:br>
            <a:r>
              <a:rPr lang="it-IT" dirty="0" err="1"/>
              <a:t>docker-compose.yml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CD7406D-938C-7E14-D9A3-464E22287D01}"/>
              </a:ext>
            </a:extLst>
          </p:cNvPr>
          <p:cNvSpPr txBox="1"/>
          <p:nvPr/>
        </p:nvSpPr>
        <p:spPr>
          <a:xfrm>
            <a:off x="5746481" y="724039"/>
            <a:ext cx="615194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171FE2"/>
                </a:solidFill>
              </a:rPr>
              <a:t># dopo il servizio shop-database</a:t>
            </a:r>
          </a:p>
          <a:p>
            <a:endParaRPr lang="it-IT" dirty="0"/>
          </a:p>
          <a:p>
            <a:r>
              <a:rPr lang="it-IT" dirty="0"/>
              <a:t>  shop-admin:</a:t>
            </a:r>
          </a:p>
          <a:p>
            <a:r>
              <a:rPr lang="it-IT" dirty="0"/>
              <a:t>    image: </a:t>
            </a:r>
            <a:r>
              <a:rPr lang="it-IT" dirty="0" err="1"/>
              <a:t>phpmyadmin:latest</a:t>
            </a:r>
            <a:endParaRPr lang="it-IT" dirty="0"/>
          </a:p>
          <a:p>
            <a:r>
              <a:rPr lang="it-IT" dirty="0"/>
              <a:t>    </a:t>
            </a:r>
            <a:r>
              <a:rPr lang="it-IT" dirty="0" err="1"/>
              <a:t>container_name</a:t>
            </a:r>
            <a:r>
              <a:rPr lang="it-IT" dirty="0"/>
              <a:t>: </a:t>
            </a:r>
            <a:r>
              <a:rPr lang="it-IT" dirty="0" err="1"/>
              <a:t>client_shop_phpmyadmin</a:t>
            </a:r>
            <a:endParaRPr lang="it-IT" dirty="0"/>
          </a:p>
          <a:p>
            <a:r>
              <a:rPr lang="it-IT" dirty="0"/>
              <a:t>    ports:</a:t>
            </a:r>
          </a:p>
          <a:p>
            <a:r>
              <a:rPr lang="it-IT" dirty="0"/>
              <a:t>      - "8080:80"</a:t>
            </a:r>
          </a:p>
          <a:p>
            <a:r>
              <a:rPr lang="it-IT" dirty="0"/>
              <a:t>    </a:t>
            </a:r>
            <a:r>
              <a:rPr lang="it-IT" dirty="0" err="1"/>
              <a:t>environment</a:t>
            </a:r>
            <a:r>
              <a:rPr lang="it-IT" dirty="0"/>
              <a:t>:</a:t>
            </a:r>
          </a:p>
          <a:p>
            <a:r>
              <a:rPr lang="it-IT" dirty="0"/>
              <a:t>      PMA_HOST: shop-database</a:t>
            </a:r>
          </a:p>
          <a:p>
            <a:r>
              <a:rPr lang="it-IT" dirty="0"/>
              <a:t>      PMA_USER: root</a:t>
            </a:r>
          </a:p>
          <a:p>
            <a:r>
              <a:rPr lang="it-IT" dirty="0"/>
              <a:t>      PMA_PASSWORD: </a:t>
            </a:r>
            <a:r>
              <a:rPr lang="it-IT" dirty="0" err="1"/>
              <a:t>root_password_skill</a:t>
            </a:r>
            <a:endParaRPr lang="it-IT" dirty="0"/>
          </a:p>
          <a:p>
            <a:r>
              <a:rPr lang="it-IT" dirty="0"/>
              <a:t>    networks:</a:t>
            </a:r>
          </a:p>
          <a:p>
            <a:r>
              <a:rPr lang="it-IT" dirty="0"/>
              <a:t>      - </a:t>
            </a:r>
            <a:r>
              <a:rPr lang="it-IT" dirty="0" err="1"/>
              <a:t>rete_shop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volumes</a:t>
            </a:r>
            <a:r>
              <a:rPr lang="it-IT" dirty="0"/>
              <a:t>:</a:t>
            </a:r>
          </a:p>
          <a:p>
            <a:r>
              <a:rPr lang="it-IT" dirty="0"/>
              <a:t>  </a:t>
            </a:r>
            <a:r>
              <a:rPr lang="it-IT" dirty="0" err="1"/>
              <a:t>certbot_etc</a:t>
            </a:r>
            <a:r>
              <a:rPr lang="it-IT" dirty="0"/>
              <a:t>:</a:t>
            </a:r>
          </a:p>
          <a:p>
            <a:r>
              <a:rPr lang="it-IT" dirty="0"/>
              <a:t>  </a:t>
            </a:r>
            <a:r>
              <a:rPr lang="it-IT" dirty="0" err="1"/>
              <a:t>data_shop_db</a:t>
            </a:r>
            <a:r>
              <a:rPr lang="it-IT" dirty="0"/>
              <a:t>: # Volume dedicato alla persistenza dei prodotti</a:t>
            </a:r>
          </a:p>
          <a:p>
            <a:endParaRPr lang="it-IT" dirty="0"/>
          </a:p>
          <a:p>
            <a:r>
              <a:rPr lang="it-IT" dirty="0"/>
              <a:t>networks:</a:t>
            </a:r>
          </a:p>
          <a:p>
            <a:r>
              <a:rPr lang="it-IT" dirty="0"/>
              <a:t>  </a:t>
            </a:r>
            <a:r>
              <a:rPr lang="it-IT" dirty="0" err="1"/>
              <a:t>rete_shop</a:t>
            </a:r>
            <a:r>
              <a:rPr lang="it-IT" dirty="0"/>
              <a:t>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2EAAAA-F753-CC45-E397-4F0B9AF0B238}"/>
              </a:ext>
            </a:extLst>
          </p:cNvPr>
          <p:cNvSpPr txBox="1"/>
          <p:nvPr/>
        </p:nvSpPr>
        <p:spPr>
          <a:xfrm>
            <a:off x="838200" y="2169994"/>
            <a:ext cx="46535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171FE2"/>
                </a:solidFill>
              </a:rPr>
              <a:t>PMA_HOST</a:t>
            </a:r>
            <a:r>
              <a:rPr lang="it-IT" dirty="0"/>
              <a:t>: shop-database </a:t>
            </a:r>
          </a:p>
          <a:p>
            <a:r>
              <a:rPr lang="it-IT" dirty="0"/>
              <a:t>sfrutta il DNS interno di Docker per agganciare </a:t>
            </a:r>
          </a:p>
          <a:p>
            <a:r>
              <a:rPr lang="it-IT" dirty="0" err="1"/>
              <a:t>MariaDB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Il database non ha la direttiva ports: </a:t>
            </a:r>
          </a:p>
          <a:p>
            <a:r>
              <a:rPr lang="it-IT" dirty="0">
                <a:solidFill>
                  <a:srgbClr val="171FE2"/>
                </a:solidFill>
              </a:rPr>
              <a:t>è accessibile solo dall'interno della rete Docker.</a:t>
            </a:r>
          </a:p>
        </p:txBody>
      </p:sp>
    </p:spTree>
    <p:extLst>
      <p:ext uri="{BB962C8B-B14F-4D97-AF65-F5344CB8AC3E}">
        <p14:creationId xmlns:p14="http://schemas.microsoft.com/office/powerpoint/2010/main" val="3520078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3EE5-05B6-B265-2DED-3E592370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4CF65FF6-8C71-82C0-EAA4-E71A2D70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24: Step 10 – Accensione del Database e di </a:t>
            </a:r>
            <a:r>
              <a:rPr lang="it-IT" dirty="0" err="1"/>
              <a:t>phpMyAdmin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9780B91-37F3-5272-51A1-494183FD7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Lanciare il comando per scaricare le nuove immagini e avviare i servizi aggiuntivi in background:</a:t>
            </a:r>
          </a:p>
          <a:p>
            <a:r>
              <a:rPr lang="it-IT" dirty="0" err="1">
                <a:solidFill>
                  <a:srgbClr val="171FE2"/>
                </a:solidFill>
              </a:rPr>
              <a:t>docker</a:t>
            </a:r>
            <a:r>
              <a:rPr lang="it-IT" dirty="0">
                <a:solidFill>
                  <a:srgbClr val="171FE2"/>
                </a:solidFill>
              </a:rPr>
              <a:t> compose up -d</a:t>
            </a:r>
          </a:p>
          <a:p>
            <a:r>
              <a:rPr lang="it-IT" dirty="0"/>
              <a:t>Al termine del download, Docker Compose lascerà intatto </a:t>
            </a:r>
            <a:r>
              <a:rPr lang="it-IT" dirty="0" err="1"/>
              <a:t>Nginx</a:t>
            </a:r>
            <a:r>
              <a:rPr lang="it-IT" dirty="0"/>
              <a:t> e accenderà i motori di </a:t>
            </a:r>
            <a:r>
              <a:rPr lang="it-IT" dirty="0" err="1"/>
              <a:t>MariaDB</a:t>
            </a:r>
            <a:r>
              <a:rPr lang="it-IT" dirty="0"/>
              <a:t> e del client web di amministrazione (</a:t>
            </a:r>
            <a:r>
              <a:rPr lang="it-IT" dirty="0" err="1"/>
              <a:t>phpMyAdmin</a:t>
            </a:r>
            <a:r>
              <a:rPr lang="it-IT" dirty="0"/>
              <a:t>).</a:t>
            </a:r>
          </a:p>
          <a:p>
            <a:r>
              <a:rPr lang="it-IT" dirty="0">
                <a:solidFill>
                  <a:srgbClr val="171FE2"/>
                </a:solidFill>
              </a:rPr>
              <a:t>L'infrastruttura modulare di Compose permette di aggiungere pezzi a caldo senza interrompere i servizi già a regime.</a:t>
            </a:r>
          </a:p>
        </p:txBody>
      </p:sp>
    </p:spTree>
    <p:extLst>
      <p:ext uri="{BB962C8B-B14F-4D97-AF65-F5344CB8AC3E}">
        <p14:creationId xmlns:p14="http://schemas.microsoft.com/office/powerpoint/2010/main" val="3681236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8AB1-E07E-3AB5-26E3-FB34F534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33D32F6A-8EAA-7396-D11C-3D4AEEF5D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25: Step 11 – Verifica del Database tramite </a:t>
            </a:r>
            <a:r>
              <a:rPr lang="it-IT" dirty="0" err="1"/>
              <a:t>phpMyAdmin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BB7374B-5574-B1D9-663D-6994DE59B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L'infrastruttura dati è attiva. Verifichiamo che il client riesca a comunicare internamente con </a:t>
            </a:r>
            <a:r>
              <a:rPr lang="it-IT" dirty="0" err="1"/>
              <a:t>MariaDB</a:t>
            </a:r>
            <a:r>
              <a:rPr lang="it-IT" dirty="0"/>
              <a:t>:</a:t>
            </a:r>
          </a:p>
          <a:p>
            <a:r>
              <a:rPr lang="it-IT" dirty="0"/>
              <a:t>Aprire una nuova scheda nel browser del proprio PC.</a:t>
            </a:r>
          </a:p>
          <a:p>
            <a:r>
              <a:rPr lang="it-IT" dirty="0"/>
              <a:t>Navigare sull'indirizzo: http://localhost:8080 (oppure http://127.0.0.1:8080).</a:t>
            </a:r>
          </a:p>
          <a:p>
            <a:r>
              <a:rPr lang="it-IT" dirty="0"/>
              <a:t>Si aprirà la schermata ufficiale di login di </a:t>
            </a:r>
            <a:r>
              <a:rPr lang="it-IT" dirty="0" err="1"/>
              <a:t>phpMyAdmin</a:t>
            </a:r>
            <a:r>
              <a:rPr lang="it-IT" dirty="0"/>
              <a:t>.</a:t>
            </a:r>
          </a:p>
          <a:p>
            <a:r>
              <a:rPr lang="it-IT" dirty="0"/>
              <a:t>Poiché abbiamo </a:t>
            </a:r>
            <a:r>
              <a:rPr lang="it-IT" dirty="0" err="1"/>
              <a:t>pre</a:t>
            </a:r>
            <a:r>
              <a:rPr lang="it-IT" dirty="0"/>
              <a:t>-impostato le variabili d'ambiente nel file Compose, l'accesso potrebbe essere persino automatico o richiederà l'utente root con password </a:t>
            </a:r>
            <a:r>
              <a:rPr lang="it-IT" dirty="0" err="1"/>
              <a:t>root_password_skill</a:t>
            </a:r>
            <a:r>
              <a:rPr lang="it-IT" dirty="0"/>
              <a:t>. </a:t>
            </a:r>
          </a:p>
          <a:p>
            <a:r>
              <a:rPr lang="it-IT" dirty="0"/>
              <a:t>Nel pannello di sinistra noterete la presenza del database vuoto </a:t>
            </a:r>
            <a:r>
              <a:rPr lang="it-IT" b="1" dirty="0" err="1"/>
              <a:t>negozio_db</a:t>
            </a:r>
            <a:r>
              <a:rPr lang="it-IT" dirty="0"/>
              <a:t> generato automaticamente da </a:t>
            </a:r>
            <a:r>
              <a:rPr lang="it-IT" dirty="0" err="1"/>
              <a:t>MariaDB</a:t>
            </a:r>
            <a:r>
              <a:rPr lang="it-IT" dirty="0"/>
              <a:t> al primo avvio.</a:t>
            </a:r>
          </a:p>
          <a:p>
            <a:r>
              <a:rPr lang="it-IT" dirty="0">
                <a:solidFill>
                  <a:srgbClr val="171FE2"/>
                </a:solidFill>
              </a:rPr>
              <a:t>È la prova del nove che la comunicazione di rete interna (Service Discovery) tra </a:t>
            </a:r>
            <a:r>
              <a:rPr lang="it-IT" dirty="0" err="1">
                <a:solidFill>
                  <a:srgbClr val="171FE2"/>
                </a:solidFill>
              </a:rPr>
              <a:t>phpMyAdmin</a:t>
            </a:r>
            <a:r>
              <a:rPr lang="it-IT" dirty="0">
                <a:solidFill>
                  <a:srgbClr val="171FE2"/>
                </a:solidFill>
              </a:rPr>
              <a:t> e </a:t>
            </a:r>
            <a:r>
              <a:rPr lang="it-IT" dirty="0" err="1">
                <a:solidFill>
                  <a:srgbClr val="171FE2"/>
                </a:solidFill>
              </a:rPr>
              <a:t>MariaDB</a:t>
            </a:r>
            <a:r>
              <a:rPr lang="it-IT" dirty="0">
                <a:solidFill>
                  <a:srgbClr val="171FE2"/>
                </a:solidFill>
              </a:rPr>
              <a:t> sta funzionando.</a:t>
            </a:r>
          </a:p>
        </p:txBody>
      </p:sp>
    </p:spTree>
    <p:extLst>
      <p:ext uri="{BB962C8B-B14F-4D97-AF65-F5344CB8AC3E}">
        <p14:creationId xmlns:p14="http://schemas.microsoft.com/office/powerpoint/2010/main" val="588483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4EB8-59F4-3AA1-6424-FC5D2C4C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542BE5AF-01EB-6349-1A4F-61F35D2A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26: Step 12 – Struttura del </a:t>
            </a:r>
            <a:r>
              <a:rPr lang="it-IT" dirty="0" err="1"/>
              <a:t>Frontend</a:t>
            </a:r>
            <a:r>
              <a:rPr lang="it-IT" dirty="0"/>
              <a:t> React in Locale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1BFF643-6645-8ED0-6A5B-666F443B7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Per fare in modo che il nostro negozio abbia un'interfaccia, creiamo una cartella dedicata al codice del </a:t>
            </a:r>
            <a:r>
              <a:rPr lang="it-IT" dirty="0" err="1"/>
              <a:t>frontend</a:t>
            </a:r>
            <a:r>
              <a:rPr lang="it-IT" dirty="0"/>
              <a:t> all'interno del nostro spazio di lavoro. </a:t>
            </a:r>
          </a:p>
          <a:p>
            <a:r>
              <a:rPr lang="it-IT" dirty="0"/>
              <a:t>Nella cartella principale progetto-shop/, generare una sottocartella chiamata </a:t>
            </a:r>
            <a:r>
              <a:rPr lang="it-IT" dirty="0" err="1"/>
              <a:t>frontend</a:t>
            </a:r>
            <a:r>
              <a:rPr lang="it-IT" dirty="0"/>
              <a:t>/ e al suo interno creare il file sorgente index.html che conterrà il form di inserimento dei prodotti:</a:t>
            </a:r>
          </a:p>
          <a:p>
            <a:r>
              <a:rPr lang="it-IT" dirty="0">
                <a:solidFill>
                  <a:srgbClr val="171FE2"/>
                </a:solidFill>
              </a:rPr>
              <a:t>progetto-shop/</a:t>
            </a:r>
          </a:p>
          <a:p>
            <a:r>
              <a:rPr lang="it-IT" dirty="0">
                <a:solidFill>
                  <a:srgbClr val="171FE2"/>
                </a:solidFill>
              </a:rPr>
              <a:t>├── </a:t>
            </a:r>
            <a:r>
              <a:rPr lang="it-IT" dirty="0" err="1">
                <a:solidFill>
                  <a:srgbClr val="171FE2"/>
                </a:solidFill>
              </a:rPr>
              <a:t>docker-compose.yml</a:t>
            </a:r>
            <a:endParaRPr lang="it-IT" dirty="0">
              <a:solidFill>
                <a:srgbClr val="171FE2"/>
              </a:solidFill>
            </a:endParaRPr>
          </a:p>
          <a:p>
            <a:r>
              <a:rPr lang="it-IT" dirty="0">
                <a:solidFill>
                  <a:srgbClr val="171FE2"/>
                </a:solidFill>
              </a:rPr>
              <a:t>├── </a:t>
            </a:r>
            <a:r>
              <a:rPr lang="it-IT" dirty="0" err="1">
                <a:solidFill>
                  <a:srgbClr val="171FE2"/>
                </a:solidFill>
              </a:rPr>
              <a:t>nginx</a:t>
            </a:r>
            <a:r>
              <a:rPr lang="it-IT" dirty="0">
                <a:solidFill>
                  <a:srgbClr val="171FE2"/>
                </a:solidFill>
              </a:rPr>
              <a:t>/</a:t>
            </a:r>
          </a:p>
          <a:p>
            <a:r>
              <a:rPr lang="it-IT" dirty="0">
                <a:solidFill>
                  <a:srgbClr val="171FE2"/>
                </a:solidFill>
              </a:rPr>
              <a:t>└── </a:t>
            </a:r>
            <a:r>
              <a:rPr lang="it-IT" dirty="0" err="1">
                <a:solidFill>
                  <a:srgbClr val="171FE2"/>
                </a:solidFill>
              </a:rPr>
              <a:t>frontend</a:t>
            </a:r>
            <a:r>
              <a:rPr lang="it-IT" dirty="0">
                <a:solidFill>
                  <a:srgbClr val="171FE2"/>
                </a:solidFill>
              </a:rPr>
              <a:t>/</a:t>
            </a:r>
          </a:p>
          <a:p>
            <a:r>
              <a:rPr lang="it-IT" dirty="0">
                <a:solidFill>
                  <a:srgbClr val="171FE2"/>
                </a:solidFill>
              </a:rPr>
              <a:t>    └── index.html</a:t>
            </a:r>
          </a:p>
          <a:p>
            <a:r>
              <a:rPr lang="it-IT" dirty="0"/>
              <a:t>Nell’index implementeremo Vanilla.js che presenterà tre campi di input e invierà i dati tramite una richiesta HTTP POST verso il nostro </a:t>
            </a:r>
            <a:r>
              <a:rPr lang="it-IT" dirty="0" err="1"/>
              <a:t>backend</a:t>
            </a:r>
            <a:r>
              <a:rPr lang="it-IT" dirty="0"/>
              <a:t> o database.</a:t>
            </a:r>
          </a:p>
          <a:p>
            <a:r>
              <a:rPr lang="it-IT" dirty="0"/>
              <a:t>Tuttavia, al momento lo lasciamo vuoto. Aggiungiamo il </a:t>
            </a:r>
            <a:r>
              <a:rPr lang="it-IT" dirty="0" err="1"/>
              <a:t>backend</a:t>
            </a:r>
            <a:r>
              <a:rPr lang="it-IT" dirty="0"/>
              <a:t> e poi procediamo con il form di registrazione.</a:t>
            </a:r>
          </a:p>
        </p:txBody>
      </p:sp>
    </p:spTree>
    <p:extLst>
      <p:ext uri="{BB962C8B-B14F-4D97-AF65-F5344CB8AC3E}">
        <p14:creationId xmlns:p14="http://schemas.microsoft.com/office/powerpoint/2010/main" val="2573214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BF1E5-4EE8-14E2-5494-47A62419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990BFE8-EAEC-AA8B-7753-C02EC378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27: Step 13 – Inserimento di React nel file </a:t>
            </a:r>
            <a:r>
              <a:rPr lang="it-IT" dirty="0" err="1"/>
              <a:t>docker-compose.yml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F76F20BD-450E-036F-1827-E094B937D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Ora istruiamo Docker Compose a lanciare un container Node.js pronto a servire la nostra applicazione Vanilla.js a caldo, montando la cartella locale appena creata. </a:t>
            </a:r>
          </a:p>
          <a:p>
            <a:r>
              <a:rPr lang="it-IT" dirty="0"/>
              <a:t>Aprire il file </a:t>
            </a:r>
            <a:r>
              <a:rPr lang="it-IT" dirty="0" err="1"/>
              <a:t>docker-compose.yml</a:t>
            </a:r>
            <a:r>
              <a:rPr lang="it-IT" dirty="0"/>
              <a:t> e aggiungere il servizio shop-</a:t>
            </a:r>
            <a:r>
              <a:rPr lang="it-IT" dirty="0" err="1"/>
              <a:t>frontend</a:t>
            </a:r>
            <a:r>
              <a:rPr lang="it-IT" dirty="0"/>
              <a:t> sotto gli altri: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shop-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frontend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image: node:18-alpine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container_name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app_shop_frontend</a:t>
            </a:r>
            <a:endParaRPr lang="it-IT" sz="16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working_dir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 /app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ports: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  - "3000:3000"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  - ./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frontend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:/app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command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: sh -c "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npm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install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-g serve &amp;&amp; serve -s . -l 3000"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networks:</a:t>
            </a:r>
          </a:p>
          <a:p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     -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rete_shop</a:t>
            </a:r>
            <a:endParaRPr lang="it-IT" sz="1600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EC4F42-5E14-EFF0-09E0-29B4476CE179}"/>
              </a:ext>
            </a:extLst>
          </p:cNvPr>
          <p:cNvSpPr txBox="1"/>
          <p:nvPr/>
        </p:nvSpPr>
        <p:spPr>
          <a:xfrm>
            <a:off x="6865258" y="2939003"/>
            <a:ext cx="50048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Neue Haas Grotesk Text Pro" panose="020B0504020202020204" pitchFamily="34" charset="0"/>
              </a:rPr>
              <a:t>Eseguire</a:t>
            </a:r>
            <a:r>
              <a:rPr lang="en-US" dirty="0">
                <a:latin typeface="Neue Haas Grotesk Text Pro" panose="020B0504020202020204" pitchFamily="34" charset="0"/>
              </a:rPr>
              <a:t> poi il commando: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compose up -d shop-frontend</a:t>
            </a:r>
          </a:p>
          <a:p>
            <a:endParaRPr lang="en-US" dirty="0">
              <a:latin typeface="Neue Haas Grotesk Text Pro" panose="020B0504020202020204" pitchFamily="34" charset="0"/>
            </a:endParaRPr>
          </a:p>
          <a:p>
            <a:r>
              <a:rPr lang="it-IT" dirty="0">
                <a:latin typeface="Neue Haas Grotesk Text Pro" panose="020B0504020202020204" pitchFamily="34" charset="0"/>
              </a:rPr>
              <a:t>Tramite il </a:t>
            </a:r>
            <a:r>
              <a:rPr lang="it-IT" b="1" dirty="0" err="1">
                <a:latin typeface="Neue Haas Grotesk Text Pro" panose="020B0504020202020204" pitchFamily="34" charset="0"/>
              </a:rPr>
              <a:t>command</a:t>
            </a:r>
            <a:r>
              <a:rPr lang="it-IT" dirty="0">
                <a:latin typeface="Neue Haas Grotesk Text Pro" panose="020B0504020202020204" pitchFamily="34" charset="0"/>
              </a:rPr>
              <a:t>, installiamo un server </a:t>
            </a:r>
          </a:p>
          <a:p>
            <a:r>
              <a:rPr lang="it-IT" dirty="0">
                <a:latin typeface="Neue Haas Grotesk Text Pro" panose="020B0504020202020204" pitchFamily="34" charset="0"/>
              </a:rPr>
              <a:t>statico (serve) per mostrare l'interfaccia </a:t>
            </a:r>
          </a:p>
          <a:p>
            <a:r>
              <a:rPr lang="it-IT" dirty="0">
                <a:latin typeface="Neue Haas Grotesk Text Pro" panose="020B0504020202020204" pitchFamily="34" charset="0"/>
              </a:rPr>
              <a:t>sulla porta 3000 senza dover configurare un </a:t>
            </a:r>
          </a:p>
          <a:p>
            <a:r>
              <a:rPr lang="it-IT" dirty="0">
                <a:latin typeface="Neue Haas Grotesk Text Pro" panose="020B0504020202020204" pitchFamily="34" charset="0"/>
              </a:rPr>
              <a:t>intero progetto pesante da zero.</a:t>
            </a:r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BAB03356-07F9-3D32-E036-AC92293EF887}"/>
              </a:ext>
            </a:extLst>
          </p:cNvPr>
          <p:cNvSpPr/>
          <p:nvPr/>
        </p:nvSpPr>
        <p:spPr>
          <a:xfrm>
            <a:off x="4296229" y="3954665"/>
            <a:ext cx="2293257" cy="7189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6862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1BC46-B747-F319-9E4D-87FFDADB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869898B-901E-1A1B-A00F-7B52D8BF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28: Step 14 – Collegamento nel Proxy Generale (</a:t>
            </a:r>
            <a:r>
              <a:rPr lang="it-IT" dirty="0" err="1"/>
              <a:t>nginx.conf</a:t>
            </a:r>
            <a:r>
              <a:rPr lang="it-IT" dirty="0"/>
              <a:t>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C3D552DE-820F-7386-386E-33FBE6BA4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L'ultimo passo fondamentale consiste nel fare in modo che chi digita https://shop.skillfactory.it non veda più una stringa testuale fissa, ma venga reindirizzato internamente verso il container di React sulla porta 3000. </a:t>
            </a:r>
          </a:p>
          <a:p>
            <a:r>
              <a:rPr lang="it-IT" dirty="0"/>
              <a:t>Aprire </a:t>
            </a:r>
            <a:r>
              <a:rPr lang="it-IT" dirty="0" err="1"/>
              <a:t>nginx</a:t>
            </a:r>
            <a:r>
              <a:rPr lang="it-IT" dirty="0"/>
              <a:t>/</a:t>
            </a:r>
            <a:r>
              <a:rPr lang="it-IT" dirty="0" err="1"/>
              <a:t>nginx.conf</a:t>
            </a:r>
            <a:r>
              <a:rPr lang="it-IT" dirty="0"/>
              <a:t> e modificare la rotta interna (location /) del server 443 sfruttando il </a:t>
            </a:r>
            <a:r>
              <a:rPr lang="it-IT" b="1" dirty="0"/>
              <a:t>Proxy Pass</a:t>
            </a:r>
            <a:r>
              <a:rPr lang="it-IT" dirty="0"/>
              <a:t>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location / {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     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proxy_pass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http://shop-frontend:3000;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# </a:t>
            </a:r>
            <a:r>
              <a:rPr lang="en-US" dirty="0" err="1">
                <a:solidFill>
                  <a:schemeClr val="accent6"/>
                </a:solidFill>
                <a:latin typeface="Consolas" panose="020B0609020204030204" pitchFamily="49" charset="0"/>
              </a:rPr>
              <a:t>Inoltra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il </a:t>
            </a:r>
            <a:r>
              <a:rPr lang="en-US" dirty="0" err="1">
                <a:solidFill>
                  <a:schemeClr val="accent6"/>
                </a:solidFill>
                <a:latin typeface="Consolas" panose="020B0609020204030204" pitchFamily="49" charset="0"/>
              </a:rPr>
              <a:t>traffico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a React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     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proxy_set_header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Host $host;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     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proxy_set_header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X-Real-IP $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remote_addr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it-IT" dirty="0"/>
              <a:t>Applicare la modifica digitando nel terminale il comando di </a:t>
            </a:r>
            <a:r>
              <a:rPr lang="it-IT" dirty="0" err="1"/>
              <a:t>reload</a:t>
            </a:r>
            <a:r>
              <a:rPr lang="it-IT" dirty="0"/>
              <a:t> a caldo: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compose exec webserver-nginx nginx -s reload</a:t>
            </a:r>
          </a:p>
          <a:p>
            <a:r>
              <a:rPr lang="it-IT" dirty="0" err="1"/>
              <a:t>Nginx</a:t>
            </a:r>
            <a:r>
              <a:rPr lang="it-IT" dirty="0"/>
              <a:t> fa da scudo e da gateway, ricevendo la richiesta cifrata in HTTPS dall'esterno e parlando internamente con il container React tramite la rete isolata di Docker.</a:t>
            </a:r>
          </a:p>
        </p:txBody>
      </p:sp>
    </p:spTree>
    <p:extLst>
      <p:ext uri="{BB962C8B-B14F-4D97-AF65-F5344CB8AC3E}">
        <p14:creationId xmlns:p14="http://schemas.microsoft.com/office/powerpoint/2010/main" val="839711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1F584-FA89-DF34-8625-F82B73A3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744A6870-693D-FF9F-E1E3-11E335188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29: Step 15 – Creazione della Tabella prodotti tramite SQL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10AEF905-D1B0-54F4-FA99-19BA26B58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All'interno del pannello di </a:t>
            </a:r>
            <a:r>
              <a:rPr lang="it-IT" dirty="0" err="1"/>
              <a:t>phpMyAdmin</a:t>
            </a:r>
            <a:r>
              <a:rPr lang="it-IT" dirty="0"/>
              <a:t>, cliccare sulla scheda </a:t>
            </a:r>
            <a:r>
              <a:rPr lang="it-IT" b="1" dirty="0"/>
              <a:t>"SQL"</a:t>
            </a:r>
            <a:r>
              <a:rPr lang="it-IT" dirty="0"/>
              <a:t> in alto e incollare il seguente script DDL per generare la tabella destinata a ospitare i record del form React:</a:t>
            </a:r>
          </a:p>
          <a:p>
            <a:endParaRPr lang="it-IT" dirty="0"/>
          </a:p>
          <a:p>
            <a:r>
              <a:rPr lang="it-IT" dirty="0"/>
              <a:t>CREATE TABLE IF NOT EXISTS prodotti (</a:t>
            </a:r>
          </a:p>
          <a:p>
            <a:r>
              <a:rPr lang="it-IT" dirty="0"/>
              <a:t>    id INT AUTO_INCREMENT PRIMARY KEY,</a:t>
            </a:r>
          </a:p>
          <a:p>
            <a:r>
              <a:rPr lang="it-IT" dirty="0"/>
              <a:t>    nome VARCHAR(100) NOT NULL,</a:t>
            </a:r>
          </a:p>
          <a:p>
            <a:r>
              <a:rPr lang="it-IT" dirty="0"/>
              <a:t>    prezzo DECIMAL(10, 2) NOT NULL,</a:t>
            </a:r>
          </a:p>
          <a:p>
            <a:r>
              <a:rPr lang="it-IT" dirty="0"/>
              <a:t>    descrizione TEXT,</a:t>
            </a:r>
          </a:p>
          <a:p>
            <a:r>
              <a:rPr lang="it-IT" dirty="0"/>
              <a:t>    </a:t>
            </a:r>
            <a:r>
              <a:rPr lang="it-IT" dirty="0" err="1"/>
              <a:t>data_creazione</a:t>
            </a:r>
            <a:r>
              <a:rPr lang="it-IT" dirty="0"/>
              <a:t> TIMESTAMP DEFAULT CURRENT_TIMESTAMP</a:t>
            </a:r>
          </a:p>
          <a:p>
            <a:r>
              <a:rPr lang="it-IT" dirty="0"/>
              <a:t>) ENGINE=</a:t>
            </a:r>
            <a:r>
              <a:rPr lang="it-IT" dirty="0" err="1"/>
              <a:t>InnoDB</a:t>
            </a:r>
            <a:r>
              <a:rPr lang="it-IT" dirty="0"/>
              <a:t> DEFAULT CHARSET=utf8mb4;</a:t>
            </a:r>
          </a:p>
          <a:p>
            <a:endParaRPr lang="it-IT" dirty="0"/>
          </a:p>
          <a:p>
            <a:r>
              <a:rPr lang="it-IT" dirty="0"/>
              <a:t>Uso del motore </a:t>
            </a:r>
            <a:r>
              <a:rPr lang="it-IT" dirty="0" err="1"/>
              <a:t>InnoDB</a:t>
            </a:r>
            <a:r>
              <a:rPr lang="it-IT" dirty="0"/>
              <a:t> per garantire l'integrità transazionale.</a:t>
            </a:r>
          </a:p>
        </p:txBody>
      </p:sp>
    </p:spTree>
    <p:extLst>
      <p:ext uri="{BB962C8B-B14F-4D97-AF65-F5344CB8AC3E}">
        <p14:creationId xmlns:p14="http://schemas.microsoft.com/office/powerpoint/2010/main" val="2841912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AEC4-ED1A-640A-FB12-8EBE6D1B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FB54873-2686-AE84-946A-B8327B67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30: Dimostrazione della Persistenza dei Dati (La Prova di Docker)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65286168-498A-A5AB-30E3-F9F869F7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Per comprendere il valore dei </a:t>
            </a:r>
            <a:r>
              <a:rPr lang="it-IT" b="1" dirty="0"/>
              <a:t>Volumi di Docker</a:t>
            </a:r>
            <a:r>
              <a:rPr lang="it-IT" dirty="0"/>
              <a:t>, inseriamo manualmente un prodotto di test su </a:t>
            </a:r>
            <a:r>
              <a:rPr lang="it-IT" dirty="0" err="1"/>
              <a:t>phpMyAdmin</a:t>
            </a:r>
            <a:r>
              <a:rPr lang="it-IT" dirty="0"/>
              <a:t>, scrivendo ad esempio "Tastiera Meccanica", prezzo "89.90". </a:t>
            </a:r>
          </a:p>
          <a:p>
            <a:r>
              <a:rPr lang="it-IT" dirty="0"/>
              <a:t>Ora, andiamo nel terminale principale e distruggiamo l'intero ecosistema con il comando: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compose down</a:t>
            </a:r>
          </a:p>
          <a:p>
            <a:r>
              <a:rPr lang="it-IT" dirty="0"/>
              <a:t>I container vengono cancellati e la RAM azzerata. Subito dopo, riaccendiamo tutto: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compose up –d</a:t>
            </a:r>
          </a:p>
          <a:p>
            <a:r>
              <a:rPr lang="it-IT" dirty="0"/>
              <a:t>Tornando su </a:t>
            </a:r>
            <a:r>
              <a:rPr lang="it-IT" dirty="0" err="1"/>
              <a:t>phpMyAdmin</a:t>
            </a:r>
            <a:r>
              <a:rPr lang="it-IT" dirty="0"/>
              <a:t>, noteremo che la tabella e il prodotto inserito </a:t>
            </a:r>
            <a:r>
              <a:rPr lang="it-IT" b="1" dirty="0"/>
              <a:t>sono ancora intatti</a:t>
            </a:r>
            <a:r>
              <a:rPr lang="it-IT" dirty="0"/>
              <a:t>.</a:t>
            </a:r>
          </a:p>
          <a:p>
            <a:r>
              <a:rPr lang="it-IT" b="1" dirty="0">
                <a:solidFill>
                  <a:srgbClr val="171FE2"/>
                </a:solidFill>
              </a:rPr>
              <a:t>Concetto chiave in ottica </a:t>
            </a:r>
            <a:r>
              <a:rPr lang="it-IT" b="1" dirty="0" err="1">
                <a:solidFill>
                  <a:srgbClr val="171FE2"/>
                </a:solidFill>
              </a:rPr>
              <a:t>DevOps</a:t>
            </a:r>
            <a:r>
              <a:rPr lang="it-IT" dirty="0">
                <a:solidFill>
                  <a:srgbClr val="171FE2"/>
                </a:solidFill>
              </a:rPr>
              <a:t>: i container sono effimeri (nascono e muoiono), ma grazie alla riga </a:t>
            </a:r>
            <a:r>
              <a:rPr lang="it-IT" dirty="0" err="1">
                <a:solidFill>
                  <a:srgbClr val="171FE2"/>
                </a:solidFill>
              </a:rPr>
              <a:t>data_shop_db</a:t>
            </a:r>
            <a:r>
              <a:rPr lang="it-IT" dirty="0">
                <a:solidFill>
                  <a:srgbClr val="171FE2"/>
                </a:solidFill>
              </a:rPr>
              <a:t>:/var/</a:t>
            </a:r>
            <a:r>
              <a:rPr lang="it-IT" dirty="0" err="1">
                <a:solidFill>
                  <a:srgbClr val="171FE2"/>
                </a:solidFill>
              </a:rPr>
              <a:t>lib</a:t>
            </a:r>
            <a:r>
              <a:rPr lang="it-IT" dirty="0">
                <a:solidFill>
                  <a:srgbClr val="171FE2"/>
                </a:solidFill>
              </a:rPr>
              <a:t>/</a:t>
            </a:r>
            <a:r>
              <a:rPr lang="it-IT" dirty="0" err="1">
                <a:solidFill>
                  <a:srgbClr val="171FE2"/>
                </a:solidFill>
              </a:rPr>
              <a:t>mysql</a:t>
            </a:r>
            <a:r>
              <a:rPr lang="it-IT" dirty="0">
                <a:solidFill>
                  <a:srgbClr val="171FE2"/>
                </a:solidFill>
              </a:rPr>
              <a:t> inserita nel file Compose, i file fisici del database risiedono al sicuro sul disco fisso </a:t>
            </a:r>
            <a:r>
              <a:rPr lang="it-IT" dirty="0" err="1">
                <a:solidFill>
                  <a:srgbClr val="171FE2"/>
                </a:solidFill>
              </a:rPr>
              <a:t>dell'host</a:t>
            </a:r>
            <a:r>
              <a:rPr lang="it-IT" dirty="0">
                <a:solidFill>
                  <a:srgbClr val="171FE2"/>
                </a:solidFill>
              </a:rPr>
              <a:t>, sopravvivendo a qualsiasi ciclo di vita dell'infrastruttura.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97306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D312-4972-5A09-73AB-9FC5CC6F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FA851B4F-C62F-7B80-189D-9A507E26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31: Creazione del </a:t>
            </a:r>
            <a:r>
              <a:rPr lang="it-IT" dirty="0" err="1"/>
              <a:t>Backend</a:t>
            </a:r>
            <a:r>
              <a:rPr lang="it-IT" dirty="0"/>
              <a:t> e Disaccoppiamento Architetturale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5C0F471-B546-FC43-CC79-392E7BF1D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L'utente compila il form e preme "Salva Prodotto".</a:t>
            </a:r>
          </a:p>
          <a:p>
            <a:r>
              <a:rPr lang="it-IT" dirty="0"/>
              <a:t>Il </a:t>
            </a:r>
            <a:r>
              <a:rPr lang="it-IT" dirty="0" err="1"/>
              <a:t>frontend</a:t>
            </a:r>
            <a:r>
              <a:rPr lang="it-IT" dirty="0"/>
              <a:t> effettua una chiamata HTTP fetch() verso l'URL /api/prodotti.</a:t>
            </a:r>
          </a:p>
          <a:p>
            <a:r>
              <a:rPr lang="it-IT" dirty="0"/>
              <a:t>Il Proxy </a:t>
            </a:r>
            <a:r>
              <a:rPr lang="it-IT" dirty="0" err="1"/>
              <a:t>Nginx</a:t>
            </a:r>
            <a:r>
              <a:rPr lang="it-IT" dirty="0"/>
              <a:t> intercetta la rotta /api/ e la dirotta internamente verso il container del </a:t>
            </a:r>
            <a:r>
              <a:rPr lang="it-IT" dirty="0" err="1"/>
              <a:t>Backend</a:t>
            </a:r>
            <a:r>
              <a:rPr lang="it-IT" dirty="0"/>
              <a:t>.</a:t>
            </a:r>
          </a:p>
          <a:p>
            <a:r>
              <a:rPr lang="it-IT" dirty="0"/>
              <a:t>Il </a:t>
            </a:r>
            <a:r>
              <a:rPr lang="it-IT" dirty="0" err="1"/>
              <a:t>Backend</a:t>
            </a:r>
            <a:r>
              <a:rPr lang="it-IT" dirty="0"/>
              <a:t> riceve i dati, si connette a </a:t>
            </a:r>
            <a:r>
              <a:rPr lang="it-IT" dirty="0" err="1"/>
              <a:t>MariaDB</a:t>
            </a:r>
            <a:r>
              <a:rPr lang="it-IT" dirty="0"/>
              <a:t> tramite la rete interna Docker ed esegue la query INSERT INTO.</a:t>
            </a:r>
          </a:p>
        </p:txBody>
      </p:sp>
    </p:spTree>
    <p:extLst>
      <p:ext uri="{BB962C8B-B14F-4D97-AF65-F5344CB8AC3E}">
        <p14:creationId xmlns:p14="http://schemas.microsoft.com/office/powerpoint/2010/main" val="3972979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B3E2-7C74-4C59-CD49-4D64B78D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85AD0D6-590B-705B-2E24-2073F8EA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32: Step 16 - Struttura delle Cartelle per il </a:t>
            </a:r>
            <a:r>
              <a:rPr lang="it-IT" dirty="0" err="1"/>
              <a:t>Backend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D90F402-FE01-37B3-F370-396E8364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Per fare spazio al codice lato server, creiamo una nuova cartella indipendente all'interno del nostro progetto. </a:t>
            </a:r>
          </a:p>
          <a:p>
            <a:r>
              <a:rPr lang="it-IT" dirty="0"/>
              <a:t>Nella directory principale progetto-shop/, generare una sottocartella chiamata </a:t>
            </a:r>
            <a:r>
              <a:rPr lang="it-IT" dirty="0" err="1"/>
              <a:t>backend</a:t>
            </a:r>
            <a:r>
              <a:rPr lang="it-IT" dirty="0"/>
              <a:t>/ e al suo interno creare il file sorgente server.js:</a:t>
            </a:r>
          </a:p>
          <a:p>
            <a:r>
              <a:rPr lang="it-IT" dirty="0"/>
              <a:t>progetto-shop/</a:t>
            </a:r>
          </a:p>
          <a:p>
            <a:r>
              <a:rPr lang="it-IT" dirty="0"/>
              <a:t>├── </a:t>
            </a:r>
            <a:r>
              <a:rPr lang="it-IT" dirty="0" err="1"/>
              <a:t>docker-compose.yml</a:t>
            </a:r>
            <a:endParaRPr lang="it-IT" dirty="0"/>
          </a:p>
          <a:p>
            <a:r>
              <a:rPr lang="it-IT" dirty="0"/>
              <a:t>├── </a:t>
            </a:r>
            <a:r>
              <a:rPr lang="it-IT" dirty="0" err="1"/>
              <a:t>nginx</a:t>
            </a:r>
            <a:r>
              <a:rPr lang="it-IT" dirty="0"/>
              <a:t>/</a:t>
            </a:r>
          </a:p>
          <a:p>
            <a:r>
              <a:rPr lang="it-IT" dirty="0"/>
              <a:t>├── </a:t>
            </a:r>
            <a:r>
              <a:rPr lang="it-IT" dirty="0" err="1"/>
              <a:t>frontend</a:t>
            </a:r>
            <a:r>
              <a:rPr lang="it-IT" dirty="0"/>
              <a:t>/</a:t>
            </a:r>
          </a:p>
          <a:p>
            <a:r>
              <a:rPr lang="it-IT" dirty="0"/>
              <a:t>└── </a:t>
            </a:r>
            <a:r>
              <a:rPr lang="it-IT" dirty="0" err="1"/>
              <a:t>backend</a:t>
            </a:r>
            <a:r>
              <a:rPr lang="it-IT" dirty="0"/>
              <a:t>/</a:t>
            </a:r>
          </a:p>
          <a:p>
            <a:r>
              <a:rPr lang="it-IT" dirty="0"/>
              <a:t>    └── server.js      &lt;-- Nuovo File</a:t>
            </a:r>
          </a:p>
        </p:txBody>
      </p:sp>
    </p:spTree>
    <p:extLst>
      <p:ext uri="{BB962C8B-B14F-4D97-AF65-F5344CB8AC3E}">
        <p14:creationId xmlns:p14="http://schemas.microsoft.com/office/powerpoint/2010/main" val="90932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2856-3744-D1AD-FE4D-82DDB0A6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E01AC20B-6F35-ABC1-BA3C-31C73A69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33: Step 17 - Scrittura del codice API (</a:t>
            </a:r>
            <a:r>
              <a:rPr lang="it-IT" dirty="0" err="1"/>
              <a:t>backend</a:t>
            </a:r>
            <a:r>
              <a:rPr lang="it-IT" dirty="0"/>
              <a:t>/server.js)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7159E8A-7F42-75BC-C584-BC18D30D5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830"/>
            <a:ext cx="3229281" cy="4803369"/>
          </a:xfrm>
        </p:spPr>
        <p:txBody>
          <a:bodyPr/>
          <a:lstStyle/>
          <a:p>
            <a:r>
              <a:rPr lang="it-IT" dirty="0"/>
              <a:t>Aprire il file </a:t>
            </a:r>
            <a:r>
              <a:rPr lang="it-IT" dirty="0" err="1"/>
              <a:t>backend</a:t>
            </a:r>
            <a:r>
              <a:rPr lang="it-IT" dirty="0"/>
              <a:t>/server.js e inserire il codice per attivare il server Express e gestire la connessione a </a:t>
            </a:r>
            <a:r>
              <a:rPr lang="it-IT" dirty="0" err="1"/>
              <a:t>MariaDB</a:t>
            </a:r>
            <a:r>
              <a:rPr lang="it-IT" dirty="0"/>
              <a:t>.</a:t>
            </a:r>
          </a:p>
          <a:p>
            <a:r>
              <a:rPr lang="it-IT" dirty="0"/>
              <a:t> Useremo il modulo nativo mysql2 per inviare i dati alla tabella:</a:t>
            </a:r>
          </a:p>
          <a:p>
            <a:endParaRPr lang="it-IT" dirty="0"/>
          </a:p>
          <a:p>
            <a:r>
              <a:rPr lang="it-IT" dirty="0"/>
              <a:t>Notare la </a:t>
            </a:r>
            <a:r>
              <a:rPr lang="it-IT" dirty="0">
                <a:solidFill>
                  <a:srgbClr val="171FE2"/>
                </a:solidFill>
              </a:rPr>
              <a:t>riga </a:t>
            </a:r>
            <a:r>
              <a:rPr lang="it-IT" dirty="0" err="1">
                <a:solidFill>
                  <a:srgbClr val="171FE2"/>
                </a:solidFill>
              </a:rPr>
              <a:t>host</a:t>
            </a:r>
            <a:r>
              <a:rPr lang="it-IT" dirty="0">
                <a:solidFill>
                  <a:srgbClr val="171FE2"/>
                </a:solidFill>
              </a:rPr>
              <a:t>: 'shop-database’</a:t>
            </a:r>
            <a:r>
              <a:rPr lang="it-IT" dirty="0"/>
              <a:t>. </a:t>
            </a:r>
          </a:p>
          <a:p>
            <a:r>
              <a:rPr lang="it-IT" dirty="0"/>
              <a:t>Grazie al DNS interno di Docker Compose, non abbiamo bisogno di conoscere l'IP del database; basta usare il nome del servizio!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68AEBF1-30EC-3BD0-1E1A-BF5B38ACB36F}"/>
              </a:ext>
            </a:extLst>
          </p:cNvPr>
          <p:cNvSpPr txBox="1"/>
          <p:nvPr/>
        </p:nvSpPr>
        <p:spPr>
          <a:xfrm>
            <a:off x="4171950" y="1273830"/>
            <a:ext cx="60960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/>
              <a:t>const</a:t>
            </a:r>
            <a:r>
              <a:rPr lang="it-IT" sz="1200" dirty="0"/>
              <a:t> express = </a:t>
            </a:r>
            <a:r>
              <a:rPr lang="it-IT" sz="1200" dirty="0" err="1"/>
              <a:t>require</a:t>
            </a:r>
            <a:r>
              <a:rPr lang="it-IT" sz="1200" dirty="0"/>
              <a:t>('express');</a:t>
            </a:r>
          </a:p>
          <a:p>
            <a:r>
              <a:rPr lang="it-IT" sz="1200" dirty="0" err="1"/>
              <a:t>const</a:t>
            </a:r>
            <a:r>
              <a:rPr lang="it-IT" sz="1200" dirty="0"/>
              <a:t> </a:t>
            </a:r>
            <a:r>
              <a:rPr lang="it-IT" sz="1200" dirty="0" err="1"/>
              <a:t>mysql</a:t>
            </a:r>
            <a:r>
              <a:rPr lang="it-IT" sz="1200" dirty="0"/>
              <a:t> = </a:t>
            </a:r>
            <a:r>
              <a:rPr lang="it-IT" sz="1200" dirty="0" err="1"/>
              <a:t>require</a:t>
            </a:r>
            <a:r>
              <a:rPr lang="it-IT" sz="1200" dirty="0"/>
              <a:t>('mysql2');</a:t>
            </a:r>
          </a:p>
          <a:p>
            <a:r>
              <a:rPr lang="it-IT" sz="1200" dirty="0" err="1"/>
              <a:t>const</a:t>
            </a:r>
            <a:r>
              <a:rPr lang="it-IT" sz="1200" dirty="0"/>
              <a:t> app = express();</a:t>
            </a:r>
          </a:p>
          <a:p>
            <a:endParaRPr lang="it-IT" sz="1200" dirty="0"/>
          </a:p>
          <a:p>
            <a:r>
              <a:rPr lang="it-IT" sz="1200" dirty="0" err="1"/>
              <a:t>app.use</a:t>
            </a:r>
            <a:r>
              <a:rPr lang="it-IT" sz="1200" dirty="0"/>
              <a:t>(</a:t>
            </a:r>
            <a:r>
              <a:rPr lang="it-IT" sz="1200" dirty="0" err="1"/>
              <a:t>express.json</a:t>
            </a:r>
            <a:r>
              <a:rPr lang="it-IT" sz="1200" dirty="0"/>
              <a:t>()); // Permette ad Express di leggere i dati JSON in ingresso</a:t>
            </a:r>
          </a:p>
          <a:p>
            <a:endParaRPr lang="it-IT" sz="1200" dirty="0"/>
          </a:p>
          <a:p>
            <a:r>
              <a:rPr lang="it-IT" sz="1200" dirty="0"/>
              <a:t>// Configurazione del tunnel di connessione verso il container </a:t>
            </a:r>
            <a:r>
              <a:rPr lang="it-IT" sz="1200" dirty="0" err="1"/>
              <a:t>MariaDB</a:t>
            </a:r>
            <a:endParaRPr lang="it-IT" sz="1200" dirty="0"/>
          </a:p>
          <a:p>
            <a:r>
              <a:rPr lang="it-IT" sz="1200" dirty="0" err="1"/>
              <a:t>const</a:t>
            </a:r>
            <a:r>
              <a:rPr lang="it-IT" sz="1200" dirty="0"/>
              <a:t> </a:t>
            </a:r>
            <a:r>
              <a:rPr lang="it-IT" sz="1200" dirty="0" err="1"/>
              <a:t>db</a:t>
            </a:r>
            <a:r>
              <a:rPr lang="it-IT" sz="1200" dirty="0"/>
              <a:t> = </a:t>
            </a:r>
            <a:r>
              <a:rPr lang="it-IT" sz="1200" dirty="0" err="1"/>
              <a:t>mysql.createPool</a:t>
            </a:r>
            <a:r>
              <a:rPr lang="it-IT" sz="1200" dirty="0"/>
              <a:t>({</a:t>
            </a:r>
          </a:p>
          <a:p>
            <a:r>
              <a:rPr lang="it-IT" sz="1200" dirty="0"/>
              <a:t>  </a:t>
            </a:r>
            <a:r>
              <a:rPr lang="it-IT" sz="1200" dirty="0" err="1"/>
              <a:t>host</a:t>
            </a:r>
            <a:r>
              <a:rPr lang="it-IT" sz="1200" dirty="0"/>
              <a:t>: 'shop-database', // Nome del servizio definito nel </a:t>
            </a:r>
            <a:r>
              <a:rPr lang="it-IT" sz="1200" dirty="0" err="1"/>
              <a:t>docker</a:t>
            </a:r>
            <a:r>
              <a:rPr lang="it-IT" sz="1200" dirty="0"/>
              <a:t>-compose</a:t>
            </a:r>
          </a:p>
          <a:p>
            <a:r>
              <a:rPr lang="it-IT" sz="1200" dirty="0"/>
              <a:t>  user: '</a:t>
            </a:r>
            <a:r>
              <a:rPr lang="it-IT" sz="1200" dirty="0" err="1"/>
              <a:t>user_shop</a:t>
            </a:r>
            <a:r>
              <a:rPr lang="it-IT" sz="1200" dirty="0"/>
              <a:t>',</a:t>
            </a:r>
          </a:p>
          <a:p>
            <a:r>
              <a:rPr lang="it-IT" sz="1200" dirty="0"/>
              <a:t>  password: '</a:t>
            </a:r>
            <a:r>
              <a:rPr lang="it-IT" sz="1200" dirty="0" err="1"/>
              <a:t>user_password_skill</a:t>
            </a:r>
            <a:r>
              <a:rPr lang="it-IT" sz="1200" dirty="0"/>
              <a:t>',</a:t>
            </a:r>
          </a:p>
          <a:p>
            <a:r>
              <a:rPr lang="it-IT" sz="1200" dirty="0"/>
              <a:t>  database: '</a:t>
            </a:r>
            <a:r>
              <a:rPr lang="it-IT" sz="1200" dirty="0" err="1"/>
              <a:t>negozio_db</a:t>
            </a:r>
            <a:r>
              <a:rPr lang="it-IT" sz="1200" dirty="0"/>
              <a:t>'</a:t>
            </a:r>
          </a:p>
          <a:p>
            <a:r>
              <a:rPr lang="it-IT" sz="1200" dirty="0"/>
              <a:t>});</a:t>
            </a:r>
          </a:p>
          <a:p>
            <a:endParaRPr lang="it-IT" sz="1200" dirty="0"/>
          </a:p>
          <a:p>
            <a:r>
              <a:rPr lang="it-IT" sz="1200" dirty="0"/>
              <a:t>// Endpoint POST per ricevere i dati dal Form React e salvarli nel DB</a:t>
            </a:r>
          </a:p>
          <a:p>
            <a:r>
              <a:rPr lang="it-IT" sz="1200" dirty="0" err="1"/>
              <a:t>app.post</a:t>
            </a:r>
            <a:r>
              <a:rPr lang="it-IT" sz="1200" dirty="0"/>
              <a:t>('/api/prodotti', (</a:t>
            </a:r>
            <a:r>
              <a:rPr lang="it-IT" sz="1200" dirty="0" err="1"/>
              <a:t>req</a:t>
            </a:r>
            <a:r>
              <a:rPr lang="it-IT" sz="1200" dirty="0"/>
              <a:t>, res) =&gt; {</a:t>
            </a:r>
          </a:p>
          <a:p>
            <a:r>
              <a:rPr lang="it-IT" sz="1200" dirty="0"/>
              <a:t>  </a:t>
            </a:r>
            <a:r>
              <a:rPr lang="it-IT" sz="1200" dirty="0" err="1"/>
              <a:t>const</a:t>
            </a:r>
            <a:r>
              <a:rPr lang="it-IT" sz="1200" dirty="0"/>
              <a:t> { nome, prezzo, descrizione } = </a:t>
            </a:r>
            <a:r>
              <a:rPr lang="it-IT" sz="1200" dirty="0" err="1"/>
              <a:t>req.body</a:t>
            </a:r>
            <a:r>
              <a:rPr lang="it-IT" sz="1200" dirty="0"/>
              <a:t>;</a:t>
            </a:r>
          </a:p>
          <a:p>
            <a:r>
              <a:rPr lang="it-IT" sz="1200" dirty="0"/>
              <a:t>  </a:t>
            </a:r>
            <a:r>
              <a:rPr lang="it-IT" sz="1200" dirty="0" err="1"/>
              <a:t>const</a:t>
            </a:r>
            <a:r>
              <a:rPr lang="it-IT" sz="1200" dirty="0"/>
              <a:t> </a:t>
            </a:r>
            <a:r>
              <a:rPr lang="it-IT" sz="1200" dirty="0" err="1"/>
              <a:t>querySQL</a:t>
            </a:r>
            <a:r>
              <a:rPr lang="it-IT" sz="1200" dirty="0"/>
              <a:t> = 'INSERT INTO prodotti (nome, prezzo, descrizione) VALUES (?, ?, ?)';</a:t>
            </a:r>
          </a:p>
          <a:p>
            <a:endParaRPr lang="it-IT" sz="1200" dirty="0"/>
          </a:p>
          <a:p>
            <a:r>
              <a:rPr lang="it-IT" sz="1200" dirty="0"/>
              <a:t>  </a:t>
            </a:r>
            <a:r>
              <a:rPr lang="it-IT" sz="1200" dirty="0" err="1"/>
              <a:t>db.query</a:t>
            </a:r>
            <a:r>
              <a:rPr lang="it-IT" sz="1200" dirty="0"/>
              <a:t>(</a:t>
            </a:r>
            <a:r>
              <a:rPr lang="it-IT" sz="1200" dirty="0" err="1"/>
              <a:t>querySQL</a:t>
            </a:r>
            <a:r>
              <a:rPr lang="it-IT" sz="1200" dirty="0"/>
              <a:t>, [nome, prezzo, descrizione], (</a:t>
            </a:r>
            <a:r>
              <a:rPr lang="it-IT" sz="1200" dirty="0" err="1"/>
              <a:t>err</a:t>
            </a:r>
            <a:r>
              <a:rPr lang="it-IT" sz="1200" dirty="0"/>
              <a:t>, </a:t>
            </a:r>
            <a:r>
              <a:rPr lang="it-IT" sz="1200" dirty="0" err="1"/>
              <a:t>result</a:t>
            </a:r>
            <a:r>
              <a:rPr lang="it-IT" sz="1200" dirty="0"/>
              <a:t>) =&gt; {</a:t>
            </a:r>
          </a:p>
          <a:p>
            <a:r>
              <a:rPr lang="it-IT" sz="1200" dirty="0"/>
              <a:t>    </a:t>
            </a:r>
            <a:r>
              <a:rPr lang="it-IT" sz="1200" dirty="0" err="1"/>
              <a:t>if</a:t>
            </a:r>
            <a:r>
              <a:rPr lang="it-IT" sz="1200" dirty="0"/>
              <a:t> (</a:t>
            </a:r>
            <a:r>
              <a:rPr lang="it-IT" sz="1200" dirty="0" err="1"/>
              <a:t>err</a:t>
            </a:r>
            <a:r>
              <a:rPr lang="it-IT" sz="1200" dirty="0"/>
              <a:t>) {</a:t>
            </a:r>
          </a:p>
          <a:p>
            <a:r>
              <a:rPr lang="it-IT" sz="1200" dirty="0"/>
              <a:t>      </a:t>
            </a:r>
            <a:r>
              <a:rPr lang="it-IT" sz="1200" dirty="0" err="1"/>
              <a:t>console.error</a:t>
            </a:r>
            <a:r>
              <a:rPr lang="it-IT" sz="1200" dirty="0"/>
              <a:t>("Errore durante l'</a:t>
            </a:r>
            <a:r>
              <a:rPr lang="it-IT" sz="1200" dirty="0" err="1"/>
              <a:t>insert</a:t>
            </a:r>
            <a:r>
              <a:rPr lang="it-IT" sz="1200" dirty="0"/>
              <a:t>:", </a:t>
            </a:r>
            <a:r>
              <a:rPr lang="it-IT" sz="1200" dirty="0" err="1"/>
              <a:t>err</a:t>
            </a:r>
            <a:r>
              <a:rPr lang="it-IT" sz="1200" dirty="0"/>
              <a:t>);</a:t>
            </a:r>
          </a:p>
          <a:p>
            <a:r>
              <a:rPr lang="it-IT" sz="1200" dirty="0"/>
              <a:t>      </a:t>
            </a:r>
            <a:r>
              <a:rPr lang="it-IT" sz="1200" dirty="0" err="1"/>
              <a:t>return</a:t>
            </a:r>
            <a:r>
              <a:rPr lang="it-IT" sz="1200" dirty="0"/>
              <a:t> </a:t>
            </a:r>
            <a:r>
              <a:rPr lang="it-IT" sz="1200" dirty="0" err="1"/>
              <a:t>res.status</a:t>
            </a:r>
            <a:r>
              <a:rPr lang="it-IT" sz="1200" dirty="0"/>
              <a:t>(500).</a:t>
            </a:r>
            <a:r>
              <a:rPr lang="it-IT" sz="1200" dirty="0" err="1"/>
              <a:t>json</a:t>
            </a:r>
            <a:r>
              <a:rPr lang="it-IT" sz="1200" dirty="0"/>
              <a:t>({ </a:t>
            </a:r>
            <a:r>
              <a:rPr lang="it-IT" sz="1200" dirty="0" err="1"/>
              <a:t>error</a:t>
            </a:r>
            <a:r>
              <a:rPr lang="it-IT" sz="1200" dirty="0"/>
              <a:t>: 'Errore interno del database' });</a:t>
            </a:r>
          </a:p>
          <a:p>
            <a:r>
              <a:rPr lang="it-IT" sz="1200" dirty="0"/>
              <a:t>    }</a:t>
            </a:r>
          </a:p>
          <a:p>
            <a:r>
              <a:rPr lang="it-IT" sz="1200" dirty="0"/>
              <a:t>    </a:t>
            </a:r>
            <a:r>
              <a:rPr lang="it-IT" sz="1200" dirty="0" err="1"/>
              <a:t>res.status</a:t>
            </a:r>
            <a:r>
              <a:rPr lang="it-IT" sz="1200" dirty="0"/>
              <a:t>(201).</a:t>
            </a:r>
            <a:r>
              <a:rPr lang="it-IT" sz="1200" dirty="0" err="1"/>
              <a:t>json</a:t>
            </a:r>
            <a:r>
              <a:rPr lang="it-IT" sz="1200" dirty="0"/>
              <a:t>({ </a:t>
            </a:r>
            <a:r>
              <a:rPr lang="it-IT" sz="1200" dirty="0" err="1"/>
              <a:t>message</a:t>
            </a:r>
            <a:r>
              <a:rPr lang="it-IT" sz="1200" dirty="0"/>
              <a:t>: 'Prodotto salvato con successo!', id: </a:t>
            </a:r>
            <a:r>
              <a:rPr lang="it-IT" sz="1200" dirty="0" err="1"/>
              <a:t>result.insertId</a:t>
            </a:r>
            <a:r>
              <a:rPr lang="it-IT" sz="1200" dirty="0"/>
              <a:t> });</a:t>
            </a:r>
          </a:p>
          <a:p>
            <a:r>
              <a:rPr lang="it-IT" sz="1200" dirty="0"/>
              <a:t>  });</a:t>
            </a:r>
          </a:p>
          <a:p>
            <a:r>
              <a:rPr lang="it-IT" sz="1200" dirty="0"/>
              <a:t>});</a:t>
            </a:r>
          </a:p>
          <a:p>
            <a:endParaRPr lang="it-IT" sz="1200" dirty="0"/>
          </a:p>
          <a:p>
            <a:r>
              <a:rPr lang="it-IT" sz="1200" dirty="0" err="1"/>
              <a:t>app.listen</a:t>
            </a:r>
            <a:r>
              <a:rPr lang="it-IT" sz="1200" dirty="0"/>
              <a:t>(5000, () =&gt; console.log('</a:t>
            </a:r>
            <a:r>
              <a:rPr lang="it-IT" sz="1200" dirty="0" err="1"/>
              <a:t>Backend</a:t>
            </a:r>
            <a:r>
              <a:rPr lang="it-IT" sz="1200" dirty="0"/>
              <a:t> API in ascolto sulla porta 5000'));</a:t>
            </a: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97A83E44-23E7-71D3-698C-D488C0F2ABE4}"/>
              </a:ext>
            </a:extLst>
          </p:cNvPr>
          <p:cNvSpPr/>
          <p:nvPr/>
        </p:nvSpPr>
        <p:spPr>
          <a:xfrm>
            <a:off x="1825930" y="3135474"/>
            <a:ext cx="2346019" cy="368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0483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F5620-EF67-7321-F93F-9414BC52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2D24C636-F35A-A78E-E144-E2E47A4E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34: Step 18 – Inserimento del </a:t>
            </a:r>
            <a:r>
              <a:rPr lang="it-IT" dirty="0" err="1"/>
              <a:t>Backend</a:t>
            </a:r>
            <a:r>
              <a:rPr lang="it-IT" dirty="0"/>
              <a:t> nel </a:t>
            </a:r>
            <a:r>
              <a:rPr lang="it-IT" dirty="0" err="1"/>
              <a:t>docker-compose.yml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16FC7571-AFA8-59F1-57AB-6020F8387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Ora dobbiamo dire a Docker di accendere questo servizio. Aprire il file </a:t>
            </a:r>
            <a:r>
              <a:rPr lang="it-IT" dirty="0" err="1"/>
              <a:t>docker-compose.yml</a:t>
            </a:r>
            <a:r>
              <a:rPr lang="it-IT" dirty="0"/>
              <a:t> e aggiungere il blocco shop-</a:t>
            </a:r>
            <a:r>
              <a:rPr lang="it-IT" dirty="0" err="1"/>
              <a:t>backend</a:t>
            </a:r>
            <a:r>
              <a:rPr lang="it-IT" dirty="0"/>
              <a:t> subito sotto il </a:t>
            </a:r>
            <a:r>
              <a:rPr lang="it-IT" dirty="0" err="1"/>
              <a:t>frontend</a:t>
            </a:r>
            <a:r>
              <a:rPr lang="it-IT" dirty="0"/>
              <a:t>. Useremo un'immagine </a:t>
            </a:r>
            <a:r>
              <a:rPr lang="it-IT" dirty="0" err="1"/>
              <a:t>Node</a:t>
            </a:r>
            <a:r>
              <a:rPr lang="it-IT" dirty="0"/>
              <a:t> leggera e installeremo le dipendenze al volo: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shop-</a:t>
            </a:r>
            <a:r>
              <a:rPr lang="it-IT" sz="1200" dirty="0" err="1">
                <a:latin typeface="Consolas" panose="020B0609020204030204" pitchFamily="49" charset="0"/>
              </a:rPr>
              <a:t>backend</a:t>
            </a:r>
            <a:r>
              <a:rPr lang="it-IT" sz="12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image: node:18-alpine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</a:t>
            </a:r>
            <a:r>
              <a:rPr lang="it-IT" sz="1200" dirty="0" err="1">
                <a:latin typeface="Consolas" panose="020B0609020204030204" pitchFamily="49" charset="0"/>
              </a:rPr>
              <a:t>container_name</a:t>
            </a:r>
            <a:r>
              <a:rPr lang="it-IT" sz="1200" dirty="0">
                <a:latin typeface="Consolas" panose="020B0609020204030204" pitchFamily="49" charset="0"/>
              </a:rPr>
              <a:t>: </a:t>
            </a:r>
            <a:r>
              <a:rPr lang="it-IT" sz="1200" dirty="0" err="1">
                <a:latin typeface="Consolas" panose="020B0609020204030204" pitchFamily="49" charset="0"/>
              </a:rPr>
              <a:t>app_shop_backend</a:t>
            </a:r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    </a:t>
            </a:r>
            <a:r>
              <a:rPr lang="it-IT" sz="1200" dirty="0" err="1">
                <a:latin typeface="Consolas" panose="020B0609020204030204" pitchFamily="49" charset="0"/>
              </a:rPr>
              <a:t>working_dir</a:t>
            </a:r>
            <a:r>
              <a:rPr lang="it-IT" sz="1200" dirty="0">
                <a:latin typeface="Consolas" panose="020B0609020204030204" pitchFamily="49" charset="0"/>
              </a:rPr>
              <a:t>: /app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ports: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- "5000:5000"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</a:t>
            </a:r>
            <a:r>
              <a:rPr lang="it-IT" sz="1200" dirty="0" err="1">
                <a:latin typeface="Consolas" panose="020B0609020204030204" pitchFamily="49" charset="0"/>
              </a:rPr>
              <a:t>volumes</a:t>
            </a:r>
            <a:r>
              <a:rPr lang="it-IT" sz="12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- ./</a:t>
            </a:r>
            <a:r>
              <a:rPr lang="it-IT" sz="1200" dirty="0" err="1">
                <a:latin typeface="Consolas" panose="020B0609020204030204" pitchFamily="49" charset="0"/>
              </a:rPr>
              <a:t>backend</a:t>
            </a:r>
            <a:r>
              <a:rPr lang="it-IT" sz="1200" dirty="0">
                <a:latin typeface="Consolas" panose="020B0609020204030204" pitchFamily="49" charset="0"/>
              </a:rPr>
              <a:t>:/app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</a:t>
            </a:r>
            <a:r>
              <a:rPr lang="it-IT" sz="1200" dirty="0" err="1">
                <a:latin typeface="Consolas" panose="020B0609020204030204" pitchFamily="49" charset="0"/>
              </a:rPr>
              <a:t>command</a:t>
            </a:r>
            <a:r>
              <a:rPr lang="it-IT" sz="1200" dirty="0">
                <a:latin typeface="Consolas" panose="020B0609020204030204" pitchFamily="49" charset="0"/>
              </a:rPr>
              <a:t>: sh -c "</a:t>
            </a:r>
            <a:r>
              <a:rPr lang="it-IT" sz="1200" dirty="0" err="1">
                <a:latin typeface="Consolas" panose="020B0609020204030204" pitchFamily="49" charset="0"/>
              </a:rPr>
              <a:t>npm</a:t>
            </a:r>
            <a:r>
              <a:rPr lang="it-IT" sz="1200" dirty="0">
                <a:latin typeface="Consolas" panose="020B0609020204030204" pitchFamily="49" charset="0"/>
              </a:rPr>
              <a:t> </a:t>
            </a:r>
            <a:r>
              <a:rPr lang="it-IT" sz="1200" dirty="0" err="1">
                <a:latin typeface="Consolas" panose="020B0609020204030204" pitchFamily="49" charset="0"/>
              </a:rPr>
              <a:t>install</a:t>
            </a:r>
            <a:r>
              <a:rPr lang="it-IT" sz="1200" dirty="0">
                <a:latin typeface="Consolas" panose="020B0609020204030204" pitchFamily="49" charset="0"/>
              </a:rPr>
              <a:t> express mysql2 &amp;&amp; </a:t>
            </a:r>
            <a:r>
              <a:rPr lang="it-IT" sz="1200" dirty="0" err="1">
                <a:latin typeface="Consolas" panose="020B0609020204030204" pitchFamily="49" charset="0"/>
              </a:rPr>
              <a:t>node</a:t>
            </a:r>
            <a:r>
              <a:rPr lang="it-IT" sz="1200" dirty="0">
                <a:latin typeface="Consolas" panose="020B0609020204030204" pitchFamily="49" charset="0"/>
              </a:rPr>
              <a:t> server.js"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networks: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- </a:t>
            </a:r>
            <a:r>
              <a:rPr lang="it-IT" sz="1200" dirty="0" err="1">
                <a:latin typeface="Consolas" panose="020B0609020204030204" pitchFamily="49" charset="0"/>
              </a:rPr>
              <a:t>rete_shop</a:t>
            </a:r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/>
              <a:t>Salvare il file e lanciare nel terminale l'aggiornamento dell'infrastruttura: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docker compose up -d shop-backend</a:t>
            </a:r>
            <a:endParaRPr lang="it-IT" sz="1200" dirty="0">
              <a:latin typeface="Consolas" panose="020B060902020403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4450CD6-A2CB-778A-1ACA-9127069F5E25}"/>
              </a:ext>
            </a:extLst>
          </p:cNvPr>
          <p:cNvSpPr txBox="1"/>
          <p:nvPr/>
        </p:nvSpPr>
        <p:spPr>
          <a:xfrm>
            <a:off x="6182191" y="3219362"/>
            <a:ext cx="51716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comando in linea installa i due pacchetti necessari </a:t>
            </a:r>
          </a:p>
          <a:p>
            <a:r>
              <a:rPr lang="it-IT" dirty="0"/>
              <a:t>(express e mysql2) e avvia immediatamente il server, </a:t>
            </a:r>
          </a:p>
          <a:p>
            <a:r>
              <a:rPr lang="it-IT" dirty="0"/>
              <a:t>evitando di creare un file </a:t>
            </a:r>
            <a:r>
              <a:rPr lang="it-IT" dirty="0" err="1"/>
              <a:t>package.json</a:t>
            </a:r>
            <a:r>
              <a:rPr lang="it-IT" dirty="0"/>
              <a:t> manuale.</a:t>
            </a:r>
          </a:p>
        </p:txBody>
      </p:sp>
      <p:cxnSp>
        <p:nvCxnSpPr>
          <p:cNvPr id="5" name="Connettore a gomito 4">
            <a:extLst>
              <a:ext uri="{FF2B5EF4-FFF2-40B4-BE49-F238E27FC236}">
                <a16:creationId xmlns:a16="http://schemas.microsoft.com/office/drawing/2014/main" id="{D2F199B0-20D9-8069-1D4C-4853C342FA0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79142" y="3837486"/>
            <a:ext cx="1059507" cy="746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053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CEE0-CB26-4432-3021-40EEA054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ECEE57C2-7060-09B0-3B3E-D3162C20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35: Step 19 – Configurazione del Gateway di Smistamento (</a:t>
            </a:r>
            <a:r>
              <a:rPr lang="it-IT" dirty="0" err="1"/>
              <a:t>nginx.conf</a:t>
            </a:r>
            <a:r>
              <a:rPr lang="it-IT" dirty="0"/>
              <a:t>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7CD6551-8ACB-9AC5-E27D-BDC3E66BE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2981"/>
            <a:ext cx="9557362" cy="4803369"/>
          </a:xfrm>
        </p:spPr>
        <p:txBody>
          <a:bodyPr/>
          <a:lstStyle/>
          <a:p>
            <a:r>
              <a:rPr lang="it-IT" dirty="0"/>
              <a:t>Attualmente </a:t>
            </a:r>
            <a:r>
              <a:rPr lang="it-IT" dirty="0" err="1"/>
              <a:t>Nginx</a:t>
            </a:r>
            <a:r>
              <a:rPr lang="it-IT" dirty="0"/>
              <a:t> manda tutto il traffico verso React. </a:t>
            </a:r>
          </a:p>
          <a:p>
            <a:r>
              <a:rPr lang="it-IT" dirty="0"/>
              <a:t>Dobbiamo istruirlo affinché distingua le richieste grafiche dalle chiamate API. </a:t>
            </a:r>
          </a:p>
          <a:p>
            <a:r>
              <a:rPr lang="it-IT" dirty="0"/>
              <a:t>Aprire </a:t>
            </a:r>
            <a:r>
              <a:rPr lang="it-IT" dirty="0" err="1"/>
              <a:t>nginx</a:t>
            </a:r>
            <a:r>
              <a:rPr lang="it-IT" dirty="0"/>
              <a:t>/</a:t>
            </a:r>
            <a:r>
              <a:rPr lang="it-IT" dirty="0" err="1"/>
              <a:t>nginx.conf</a:t>
            </a:r>
            <a:r>
              <a:rPr lang="it-IT" dirty="0"/>
              <a:t> e aggiungere una nuova location all'interno del server della porta 443: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# Rotta per il </a:t>
            </a:r>
            <a:r>
              <a:rPr lang="it-IT" sz="1200" dirty="0" err="1">
                <a:latin typeface="Consolas" panose="020B0609020204030204" pitchFamily="49" charset="0"/>
              </a:rPr>
              <a:t>Frontend</a:t>
            </a:r>
            <a:r>
              <a:rPr lang="it-IT" sz="1200" dirty="0">
                <a:latin typeface="Consolas" panose="020B0609020204030204" pitchFamily="49" charset="0"/>
              </a:rPr>
              <a:t> React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location / {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</a:t>
            </a:r>
            <a:r>
              <a:rPr lang="it-IT" sz="1200" dirty="0" err="1">
                <a:latin typeface="Consolas" panose="020B0609020204030204" pitchFamily="49" charset="0"/>
              </a:rPr>
              <a:t>proxy_pass</a:t>
            </a:r>
            <a:r>
              <a:rPr lang="it-IT" sz="1200" dirty="0">
                <a:latin typeface="Consolas" panose="020B0609020204030204" pitchFamily="49" charset="0"/>
              </a:rPr>
              <a:t> http://shop-frontend:3000;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</a:t>
            </a:r>
            <a:r>
              <a:rPr lang="it-IT" sz="1200" dirty="0" err="1">
                <a:latin typeface="Consolas" panose="020B0609020204030204" pitchFamily="49" charset="0"/>
              </a:rPr>
              <a:t>proxy_set_header</a:t>
            </a:r>
            <a:r>
              <a:rPr lang="it-IT" sz="1200" dirty="0">
                <a:latin typeface="Consolas" panose="020B0609020204030204" pitchFamily="49" charset="0"/>
              </a:rPr>
              <a:t> Host $</a:t>
            </a:r>
            <a:r>
              <a:rPr lang="it-IT" sz="1200" dirty="0" err="1">
                <a:latin typeface="Consolas" panose="020B0609020204030204" pitchFamily="49" charset="0"/>
              </a:rPr>
              <a:t>host</a:t>
            </a:r>
            <a:r>
              <a:rPr lang="it-IT" sz="1200" dirty="0">
                <a:latin typeface="Consolas" panose="020B0609020204030204" pitchFamily="49" charset="0"/>
              </a:rPr>
              <a:t>;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}</a:t>
            </a:r>
          </a:p>
          <a:p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        # NUOVA: Rotta specifica per le API del </a:t>
            </a:r>
            <a:r>
              <a:rPr lang="it-IT" sz="1200" dirty="0" err="1">
                <a:latin typeface="Consolas" panose="020B0609020204030204" pitchFamily="49" charset="0"/>
              </a:rPr>
              <a:t>Backend</a:t>
            </a:r>
            <a:endParaRPr lang="it-IT" sz="1200" dirty="0">
              <a:latin typeface="Consolas" panose="020B0609020204030204" pitchFamily="49" charset="0"/>
            </a:endParaRPr>
          </a:p>
          <a:p>
            <a:r>
              <a:rPr lang="it-IT" sz="1200" dirty="0">
                <a:latin typeface="Consolas" panose="020B0609020204030204" pitchFamily="49" charset="0"/>
              </a:rPr>
              <a:t>        location /api/ {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</a:t>
            </a:r>
            <a:r>
              <a:rPr lang="it-IT" sz="1200" dirty="0" err="1">
                <a:latin typeface="Consolas" panose="020B0609020204030204" pitchFamily="49" charset="0"/>
              </a:rPr>
              <a:t>proxy_pass</a:t>
            </a:r>
            <a:r>
              <a:rPr lang="it-IT" sz="1200" dirty="0">
                <a:latin typeface="Consolas" panose="020B0609020204030204" pitchFamily="49" charset="0"/>
              </a:rPr>
              <a:t> http://shop-backend:5000;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</a:t>
            </a:r>
            <a:r>
              <a:rPr lang="it-IT" sz="1200" dirty="0" err="1">
                <a:latin typeface="Consolas" panose="020B0609020204030204" pitchFamily="49" charset="0"/>
              </a:rPr>
              <a:t>proxy_set_header</a:t>
            </a:r>
            <a:r>
              <a:rPr lang="it-IT" sz="1200" dirty="0">
                <a:latin typeface="Consolas" panose="020B0609020204030204" pitchFamily="49" charset="0"/>
              </a:rPr>
              <a:t> Host $</a:t>
            </a:r>
            <a:r>
              <a:rPr lang="it-IT" sz="1200" dirty="0" err="1">
                <a:latin typeface="Consolas" panose="020B0609020204030204" pitchFamily="49" charset="0"/>
              </a:rPr>
              <a:t>host</a:t>
            </a:r>
            <a:r>
              <a:rPr lang="it-IT" sz="1200" dirty="0">
                <a:latin typeface="Consolas" panose="020B0609020204030204" pitchFamily="49" charset="0"/>
              </a:rPr>
              <a:t>;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    </a:t>
            </a:r>
            <a:r>
              <a:rPr lang="it-IT" sz="1200" dirty="0" err="1">
                <a:latin typeface="Consolas" panose="020B0609020204030204" pitchFamily="49" charset="0"/>
              </a:rPr>
              <a:t>proxy_set_header</a:t>
            </a:r>
            <a:r>
              <a:rPr lang="it-IT" sz="1200" dirty="0">
                <a:latin typeface="Consolas" panose="020B0609020204030204" pitchFamily="49" charset="0"/>
              </a:rPr>
              <a:t> X-Real-IP $</a:t>
            </a:r>
            <a:r>
              <a:rPr lang="it-IT" sz="1200" dirty="0" err="1">
                <a:latin typeface="Consolas" panose="020B0609020204030204" pitchFamily="49" charset="0"/>
              </a:rPr>
              <a:t>remote_addr</a:t>
            </a:r>
            <a:r>
              <a:rPr lang="it-IT" sz="1200" dirty="0">
                <a:latin typeface="Consolas" panose="020B0609020204030204" pitchFamily="49" charset="0"/>
              </a:rPr>
              <a:t>;</a:t>
            </a:r>
          </a:p>
          <a:p>
            <a:r>
              <a:rPr lang="it-IT" sz="1200" dirty="0">
                <a:latin typeface="Consolas" panose="020B0609020204030204" pitchFamily="49" charset="0"/>
              </a:rPr>
              <a:t>        }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53F0C4B-D661-E40C-8EEC-2A69BDC6DCA1}"/>
              </a:ext>
            </a:extLst>
          </p:cNvPr>
          <p:cNvSpPr txBox="1"/>
          <p:nvPr/>
        </p:nvSpPr>
        <p:spPr>
          <a:xfrm>
            <a:off x="6238453" y="5153918"/>
            <a:ext cx="55582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Applicare la modifica inviando il segnale di ricaricamento </a:t>
            </a:r>
          </a:p>
          <a:p>
            <a:r>
              <a:rPr lang="it-IT" dirty="0"/>
              <a:t>a caldo:</a:t>
            </a:r>
            <a:endParaRPr lang="en-US" dirty="0"/>
          </a:p>
          <a:p>
            <a:r>
              <a:rPr lang="en-US" dirty="0">
                <a:solidFill>
                  <a:srgbClr val="171FE2"/>
                </a:solidFill>
              </a:rPr>
              <a:t>docker compose exec webserver-nginx nginx -s reload</a:t>
            </a:r>
            <a:endParaRPr lang="it-IT" dirty="0">
              <a:solidFill>
                <a:srgbClr val="171F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81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5272-7801-78CA-B84F-7D65D4F7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5633103E-31CC-BA37-E578-29841F56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36: Step 20/1 – Collegamento Finale della Fetch in </a:t>
            </a:r>
            <a:r>
              <a:rPr lang="it-IT" dirty="0" err="1"/>
              <a:t>Vanilla</a:t>
            </a:r>
            <a:r>
              <a:rPr lang="it-IT" dirty="0"/>
              <a:t> (</a:t>
            </a:r>
            <a:r>
              <a:rPr lang="it-IT" dirty="0" err="1"/>
              <a:t>frontend</a:t>
            </a:r>
            <a:r>
              <a:rPr lang="it-IT" dirty="0"/>
              <a:t>/index.html)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A406F95-6E83-30D9-942B-EACD9150D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66" y="1667281"/>
            <a:ext cx="9293434" cy="4803369"/>
          </a:xfrm>
        </p:spPr>
        <p:txBody>
          <a:bodyPr/>
          <a:lstStyle/>
          <a:p>
            <a:r>
              <a:rPr lang="it-IT" dirty="0"/>
              <a:t>Sviluppiamo in form nell’index:</a:t>
            </a:r>
            <a:endParaRPr lang="it-IT" sz="1200" dirty="0">
              <a:latin typeface="Consolas" panose="020B0609020204030204" pitchFamily="49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65738DA-EE3F-CCC9-32C6-3DFF665DF3B4}"/>
              </a:ext>
            </a:extLst>
          </p:cNvPr>
          <p:cNvSpPr txBox="1"/>
          <p:nvPr/>
        </p:nvSpPr>
        <p:spPr>
          <a:xfrm>
            <a:off x="220453" y="1889531"/>
            <a:ext cx="1197154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sz="13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&lt;!DOCTYPE html&gt;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&lt;html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lang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it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"&gt;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&lt;meta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charset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="UTF-8"&gt;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&lt;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title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&gt;Skill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Factory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Shop&lt;/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title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&lt;body style="background-color: #f4f6f9;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margin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0; font-family: sans-serif;"&gt;</a:t>
            </a:r>
          </a:p>
          <a:p>
            <a:b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3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&lt;div style="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padding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40px; max-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width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400px;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margin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40px auto;"&gt;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&lt;h2&gt;Registrazione Prodotti Skill Shop&lt;/h2&gt;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&lt;form id="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productForm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" style="display: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flex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;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flex-direction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column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; gap: 15px;"&gt;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&lt;input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type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="text" id="nome"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placeholder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="Nome Prodotto"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required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style="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padding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10px;" /&gt;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&lt;input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type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number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" step="0.01" id="prezzo"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placeholder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="Prezzo"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required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style="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padding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10px;" /&gt;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&lt;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textarea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id="descrizione"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placeholder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="Descrizione" style="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padding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10px;"&gt;&lt;/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textarea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&lt;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button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type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submit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" style="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padding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10px; background-color: #0070f3; color: white;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border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none;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cursor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pointer;"&gt;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Salva Prodotto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&lt;/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button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&lt;/form&gt;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&lt;/div&gt;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   </a:t>
            </a:r>
            <a:r>
              <a:rPr lang="it-IT" sz="1300" dirty="0">
                <a:solidFill>
                  <a:schemeClr val="accent6"/>
                </a:solidFill>
                <a:latin typeface="Consolas" panose="020B0609020204030204" pitchFamily="49" charset="0"/>
              </a:rPr>
              <a:t>&lt;script&gt;…&lt;/script&gt;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232850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3290-BAAC-E748-9056-71AB13E5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E0BCA7E-9490-6667-0990-3E3210557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37: Step 20/2 – Collegamento Finale della Fetch in </a:t>
            </a:r>
            <a:r>
              <a:rPr lang="it-IT" dirty="0" err="1"/>
              <a:t>Vanilla</a:t>
            </a:r>
            <a:r>
              <a:rPr lang="it-IT" dirty="0"/>
              <a:t> (</a:t>
            </a:r>
            <a:r>
              <a:rPr lang="it-IT" dirty="0" err="1"/>
              <a:t>frontend</a:t>
            </a:r>
            <a:r>
              <a:rPr lang="it-IT" dirty="0"/>
              <a:t>/index.html)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B6C1E70-9D26-31F9-6674-9925A7C479EF}"/>
              </a:ext>
            </a:extLst>
          </p:cNvPr>
          <p:cNvSpPr txBox="1"/>
          <p:nvPr/>
        </p:nvSpPr>
        <p:spPr>
          <a:xfrm>
            <a:off x="1983335" y="2059335"/>
            <a:ext cx="8225329" cy="3893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00" dirty="0">
                <a:solidFill>
                  <a:schemeClr val="accent6"/>
                </a:solidFill>
                <a:latin typeface="Consolas" panose="020B0609020204030204" pitchFamily="49" charset="0"/>
              </a:rPr>
              <a:t>    &lt;/form&gt;</a:t>
            </a:r>
          </a:p>
          <a:p>
            <a:r>
              <a:rPr lang="it-IT" sz="1300" dirty="0">
                <a:solidFill>
                  <a:schemeClr val="accent6"/>
                </a:solidFill>
                <a:latin typeface="Consolas" panose="020B0609020204030204" pitchFamily="49" charset="0"/>
              </a:rPr>
              <a:t>&lt;/div&gt;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document.getElementById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('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productForm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').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addEventListener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('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submit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',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async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(e) =&gt; {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e.preventDefault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3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const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prodotto = {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nome: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document.getElementById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('nome').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value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prezzo: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parseFloat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document.getElementById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('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prezzo'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).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value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descrizione: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document.getElementById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('descrizione').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value</a:t>
            </a:r>
            <a:endParaRPr lang="it-IT" sz="13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};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       </a:t>
            </a:r>
            <a:r>
              <a:rPr lang="it-IT" sz="1300" dirty="0">
                <a:solidFill>
                  <a:schemeClr val="accent6"/>
                </a:solidFill>
                <a:latin typeface="Consolas" panose="020B0609020204030204" pitchFamily="49" charset="0"/>
              </a:rPr>
              <a:t>    /*</a:t>
            </a:r>
            <a:r>
              <a:rPr lang="it-IT" sz="1300" dirty="0" err="1">
                <a:solidFill>
                  <a:schemeClr val="accent6"/>
                </a:solidFill>
                <a:latin typeface="Consolas" panose="020B0609020204030204" pitchFamily="49" charset="0"/>
              </a:rPr>
              <a:t>try</a:t>
            </a:r>
            <a:r>
              <a:rPr lang="it-IT" sz="1300" dirty="0">
                <a:solidFill>
                  <a:schemeClr val="accent6"/>
                </a:solidFill>
                <a:latin typeface="Consolas" panose="020B0609020204030204" pitchFamily="49" charset="0"/>
              </a:rPr>
              <a:t>-catch da aggiungere*/</a:t>
            </a:r>
            <a:b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3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});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&lt;/script&gt;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021868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E96F-2F42-FEE9-D97D-54D85010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31974D79-0083-CF49-6CD6-29A3E8D3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38: Step 20/3 – Collegamento Finale della Fetch in </a:t>
            </a:r>
            <a:r>
              <a:rPr lang="it-IT" dirty="0" err="1"/>
              <a:t>Vanilla</a:t>
            </a:r>
            <a:r>
              <a:rPr lang="it-IT" dirty="0"/>
              <a:t> (</a:t>
            </a:r>
            <a:r>
              <a:rPr lang="it-IT" dirty="0" err="1"/>
              <a:t>frontend</a:t>
            </a:r>
            <a:r>
              <a:rPr lang="it-IT" dirty="0"/>
              <a:t>/index.html)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B8C5A8-FA1D-4322-A540-42F7A206B190}"/>
              </a:ext>
            </a:extLst>
          </p:cNvPr>
          <p:cNvSpPr txBox="1"/>
          <p:nvPr/>
        </p:nvSpPr>
        <p:spPr>
          <a:xfrm>
            <a:off x="1508769" y="1302424"/>
            <a:ext cx="7585731" cy="47243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it-IT" sz="1400" dirty="0">
                <a:solidFill>
                  <a:srgbClr val="171FE2"/>
                </a:solidFill>
              </a:rPr>
            </a:br>
            <a:endParaRPr lang="it-IT" sz="1400" dirty="0">
              <a:solidFill>
                <a:srgbClr val="171FE2"/>
              </a:solidFill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try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const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risposta =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await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fetch('/api/prodotti', {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method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'POST',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headers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: { 'Content-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Type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': '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application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json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' },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    body: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JSON.stringify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(prodotto)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});</a:t>
            </a:r>
          </a:p>
          <a:p>
            <a:b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3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const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dati =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await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risposta.json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</a:br>
            <a:endParaRPr lang="it-IT" sz="13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if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 (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risposta.ok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    alert(`Successo: ${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dati.message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} (ID Prodotto: ${dati.id})`);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document.getElementById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('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productForm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').reset(); 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} else {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    alert(`Errore: ${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dati.error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}`);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}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} catch (errore) {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console.error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("Errore di rete:", errore);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    alert("Impossibile raggiungere il </a:t>
            </a:r>
            <a:r>
              <a:rPr lang="it-IT" sz="1300" dirty="0" err="1">
                <a:solidFill>
                  <a:srgbClr val="171FE2"/>
                </a:solidFill>
                <a:latin typeface="Consolas" panose="020B0609020204030204" pitchFamily="49" charset="0"/>
              </a:rPr>
              <a:t>backend</a:t>
            </a:r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it-IT" sz="1300" dirty="0">
                <a:solidFill>
                  <a:srgbClr val="171FE2"/>
                </a:solidFill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42276192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customXml/itemProps3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1557</TotalTime>
  <Words>5911</Words>
  <Application>Microsoft Office PowerPoint</Application>
  <PresentationFormat>Widescreen</PresentationFormat>
  <Paragraphs>578</Paragraphs>
  <Slides>41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7" baseType="lpstr">
      <vt:lpstr>Arial</vt:lpstr>
      <vt:lpstr>Calibri</vt:lpstr>
      <vt:lpstr>Consolas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Slide 1: Obiettivo del Laboratorio ed Architettura Target</vt:lpstr>
      <vt:lpstr>Slide 2: Step 1 – Configurazione del DNS Locale (File hosts)</vt:lpstr>
      <vt:lpstr>Slide 3: Step 2 – Creazione dell'Albero delle Cartelle del Progetto</vt:lpstr>
      <vt:lpstr>Slide 4: Step 3 – Scrittura del File di Configurazione di Nginx (nginx.conf)</vt:lpstr>
      <vt:lpstr>Slide 5: Step 3 – Scrittura del File di Configurazione di Nginx (nginx.conf)</vt:lpstr>
      <vt:lpstr>Slide 6: Step 4 – Stesura  dell'Orchestratore  docker-compose.yml</vt:lpstr>
      <vt:lpstr>Slide 7: Step 5 – Il Primo Avvio dell'Infrastruttura</vt:lpstr>
      <vt:lpstr>Slide 8: Step 6 – Generazione Simulata del Primo Certificato SSL</vt:lpstr>
      <vt:lpstr>Slide 9: Step 7 – Configurazione del Canale Sicuro HTTPS su Nginx</vt:lpstr>
      <vt:lpstr>Slide 10: Step 8 – Ricaricamento a Caldo (Hot Reload) della Configurazione</vt:lpstr>
      <vt:lpstr>Slide 11: Step 9 – La Prova del Nove nel Browser Web</vt:lpstr>
      <vt:lpstr>Slide 12: Officina di Rinforzo – Allestimento del Proxy per "shop.skillfactory.it" (Locale)</vt:lpstr>
      <vt:lpstr>Slide 13: Step 1 – Configurazione del DNS Locale (File hosts)</vt:lpstr>
      <vt:lpstr>Slide 14: Step 2 – Creazione dell'Albero delle Cartelle "progetto-shop"</vt:lpstr>
      <vt:lpstr>Slide 15: Step 3 – Scrittura del File Iniziale nginx.conf (Porta 80)</vt:lpstr>
      <vt:lpstr>Slide 16: Step 4 –  Stesura dell'Orchestratore  docker-compose.yml</vt:lpstr>
      <vt:lpstr>Slide 17: Step 5 – Primo Avvio ed Ispezione Visiva della Porta 80</vt:lpstr>
      <vt:lpstr>Slide 18: Step 6 – Forzatura Offline e Generazione delle Chiavi Crittografiche</vt:lpstr>
      <vt:lpstr>Slide 19: Step 7 –  Aggiornamento di Nginx  ed Attivazione della  Porta 443</vt:lpstr>
      <vt:lpstr>Slide 20: Step 8 – Ricaricamento a Caldo (Hot Reload) e Collaudo Finale</vt:lpstr>
      <vt:lpstr>Slide 21: Introduzione all'Architettura a Tre Livelli (Three-Tier)</vt:lpstr>
      <vt:lpstr>Slide 22: Step 9/1 –  Aggiornamento del file  docker-compose.yml</vt:lpstr>
      <vt:lpstr>Slide 23: Step 9/2 –  Aggiornamento del file  docker-compose.yml</vt:lpstr>
      <vt:lpstr>Slide 24: Step 10 – Accensione del Database e di phpMyAdmin</vt:lpstr>
      <vt:lpstr>Slide 25: Step 11 – Verifica del Database tramite phpMyAdmin</vt:lpstr>
      <vt:lpstr>Slide 26: Step 12 – Struttura del Frontend React in Locale</vt:lpstr>
      <vt:lpstr>Slide 27: Step 13 – Inserimento di React nel file docker-compose.yml</vt:lpstr>
      <vt:lpstr>Slide 28: Step 14 – Collegamento nel Proxy Generale (nginx.conf)</vt:lpstr>
      <vt:lpstr>Slide 29: Step 15 – Creazione della Tabella prodotti tramite SQL</vt:lpstr>
      <vt:lpstr>Slide 30: Dimostrazione della Persistenza dei Dati (La Prova di Docker)</vt:lpstr>
      <vt:lpstr>Slide 31: Creazione del Backend e Disaccoppiamento Architetturale</vt:lpstr>
      <vt:lpstr>Slide 32: Step 16 - Struttura delle Cartelle per il Backend</vt:lpstr>
      <vt:lpstr>Slide 33: Step 17 - Scrittura del codice API (backend/server.js)</vt:lpstr>
      <vt:lpstr>Slide 34: Step 18 – Inserimento del Backend nel docker-compose.yml</vt:lpstr>
      <vt:lpstr>Slide 35: Step 19 – Configurazione del Gateway di Smistamento (nginx.conf)</vt:lpstr>
      <vt:lpstr>Slide 36: Step 20/1 – Collegamento Finale della Fetch in Vanilla (frontend/index.html)</vt:lpstr>
      <vt:lpstr>Slide 37: Step 20/2 – Collegamento Finale della Fetch in Vanilla (frontend/index.html)</vt:lpstr>
      <vt:lpstr>Slide 38: Step 20/3 – Collegamento Finale della Fetch in Vanilla (frontend/index.html)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Ony</cp:lastModifiedBy>
  <cp:revision>254</cp:revision>
  <dcterms:created xsi:type="dcterms:W3CDTF">2023-09-21T07:59:23Z</dcterms:created>
  <dcterms:modified xsi:type="dcterms:W3CDTF">2026-06-17T17:30:20Z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