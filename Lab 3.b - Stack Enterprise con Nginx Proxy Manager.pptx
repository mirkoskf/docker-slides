
<file path=[Content_Types].xml><?xml version="1.0" encoding="utf-8"?>
<Types xmlns="http://schemas.openxmlformats.org/package/2006/content-types">
  <Default Extension="jpeg" ContentType="image/jpeg"/>
  <Default Extension="jpg" ContentType="image/jp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72" r:id="rId4"/>
  </p:sldMasterIdLst>
  <p:notesMasterIdLst>
    <p:notesMasterId r:id="rId31"/>
  </p:notesMasterIdLst>
  <p:handoutMasterIdLst>
    <p:handoutMasterId r:id="rId32"/>
  </p:handoutMasterIdLst>
  <p:sldIdLst>
    <p:sldId id="262" r:id="rId5"/>
    <p:sldId id="259" r:id="rId6"/>
    <p:sldId id="258" r:id="rId7"/>
    <p:sldId id="263" r:id="rId8"/>
    <p:sldId id="267" r:id="rId9"/>
    <p:sldId id="264" r:id="rId10"/>
    <p:sldId id="265" r:id="rId11"/>
    <p:sldId id="266" r:id="rId12"/>
    <p:sldId id="268" r:id="rId13"/>
    <p:sldId id="269" r:id="rId14"/>
    <p:sldId id="271" r:id="rId15"/>
    <p:sldId id="273" r:id="rId16"/>
    <p:sldId id="277" r:id="rId17"/>
    <p:sldId id="270" r:id="rId18"/>
    <p:sldId id="272" r:id="rId19"/>
    <p:sldId id="275" r:id="rId20"/>
    <p:sldId id="278" r:id="rId21"/>
    <p:sldId id="276" r:id="rId22"/>
    <p:sldId id="279" r:id="rId23"/>
    <p:sldId id="280" r:id="rId24"/>
    <p:sldId id="281" r:id="rId25"/>
    <p:sldId id="282" r:id="rId26"/>
    <p:sldId id="283" r:id="rId27"/>
    <p:sldId id="284" r:id="rId28"/>
    <p:sldId id="285" r:id="rId29"/>
    <p:sldId id="261" r:id="rId30"/>
  </p:sldIdLst>
  <p:sldSz cx="12192000" cy="6858000"/>
  <p:notesSz cx="6858000" cy="9144000"/>
  <p:defaultTextStyle>
    <a:defPPr>
      <a:defRPr lang="it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71FE2"/>
    <a:srgbClr val="0C0C0D"/>
    <a:srgbClr val="FFDB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2233" autoAdjust="0"/>
    <p:restoredTop sz="92907" autoAdjust="0"/>
  </p:normalViewPr>
  <p:slideViewPr>
    <p:cSldViewPr snapToGrid="0" showGuides="1">
      <p:cViewPr varScale="1">
        <p:scale>
          <a:sx n="105" d="100"/>
          <a:sy n="105" d="100"/>
        </p:scale>
        <p:origin x="414" y="114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 showGuides="1">
      <p:cViewPr varScale="1">
        <p:scale>
          <a:sx n="56" d="100"/>
          <a:sy n="56" d="100"/>
        </p:scale>
        <p:origin x="1902" y="84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34" Type="http://schemas.openxmlformats.org/officeDocument/2006/relationships/viewProps" Target="view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slide" Target="slides/slide25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handoutMaster" Target="handoutMasters/handoutMaster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tableStyles" Target="tableStyle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notesMaster" Target="notesMasters/notes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theme" Target="theme/theme1.xml"/><Relationship Id="rId8" Type="http://schemas.openxmlformats.org/officeDocument/2006/relationships/slide" Target="slides/slide4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>
            <a:extLst>
              <a:ext uri="{FF2B5EF4-FFF2-40B4-BE49-F238E27FC236}">
                <a16:creationId xmlns:a16="http://schemas.microsoft.com/office/drawing/2014/main" id="{8BF59EF6-0FF4-3C26-C2BB-DB4C81646911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FA684938-E2E5-17C8-EF87-D39DC23A0CEC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B567D21-D55F-4A7B-94FF-7608FD989819}" type="datetimeFigureOut">
              <a:rPr lang="it-IT" smtClean="0"/>
              <a:t>11/06/2026</a:t>
            </a:fld>
            <a:endParaRPr lang="it-IT"/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71588DC1-54E0-DA10-6330-B5B85E54BE3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4BF496F1-A8FC-84F6-A381-661BDD027C82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11F2323-8915-4474-89BB-0944B80755B1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51458699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3" name="Segnaposto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E0B2B73-14A8-482F-9803-A95CC73B5B34}" type="datetimeFigureOut">
              <a:rPr lang="it-IT" smtClean="0"/>
              <a:t>11/06/2026</a:t>
            </a:fld>
            <a:endParaRPr lang="it-IT"/>
          </a:p>
        </p:txBody>
      </p:sp>
      <p:sp>
        <p:nvSpPr>
          <p:cNvPr id="4" name="Segnaposto immagin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it-IT"/>
          </a:p>
        </p:txBody>
      </p:sp>
      <p:sp>
        <p:nvSpPr>
          <p:cNvPr id="5" name="Segnaposto not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88FDE81-C331-4896-AC61-55381248B14B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4680550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88FDE81-C331-4896-AC61-55381248B14B}" type="slidenum">
              <a:rPr lang="it-IT" smtClean="0"/>
              <a:t>2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34724825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88FDE81-C331-4896-AC61-55381248B14B}" type="slidenum">
              <a:rPr lang="it-IT" smtClean="0"/>
              <a:t>3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839615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830C29-26D8-1FFE-BE34-F39DC79CF2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D155357D-16CD-88FE-C819-D164316FC87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FB74A603-A271-2CE1-5FC0-6204AED8A03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6FBB8038-BEE5-316D-5E1A-2060E0C1EC5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88FDE81-C331-4896-AC61-55381248B14B}" type="slidenum">
              <a:rPr lang="it-IT" smtClean="0"/>
              <a:t>4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13304837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37D825-6DB9-E84F-BD4A-9AAB327535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5694FAA2-7F61-0F50-9D49-AF7671D778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30C00F96-DA60-DFDD-0A34-EA701C163BC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5C431F2E-B574-2E01-2196-80FCEE6AE56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88FDE81-C331-4896-AC61-55381248B14B}" type="slidenum">
              <a:rPr lang="it-IT" smtClean="0"/>
              <a:t>5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52704499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2A66FF-8BE5-60E8-329A-31D645C04F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06E73ED9-CE0F-3C37-0811-C15F2E4B8A7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D92AA66E-557F-949E-0196-B5184F084BF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7413A06D-9BC4-A4B1-5546-90B4C80AE85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88FDE81-C331-4896-AC61-55381248B14B}" type="slidenum">
              <a:rPr lang="it-IT" smtClean="0"/>
              <a:t>6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50313598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8C3C4C-7795-6F97-7BC3-0D16910D8B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03ECC8BF-8DC6-4664-0D7B-34DD1706987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91CCB78F-55C0-0DA2-818A-96BC5CCC56B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051BD979-C9F2-E51D-273D-70094CC2D05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88FDE81-C331-4896-AC61-55381248B14B}" type="slidenum">
              <a:rPr lang="it-IT" smtClean="0"/>
              <a:t>7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0008208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D02F62-EDFD-FD1C-34B0-3BCDB7C2A6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30357E2F-FAF0-1EF0-E3B6-2C50FCA4471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6169E1B0-0E5E-8EE4-8CC1-4891635FBD9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3401E716-47EC-619C-3D65-855CA3A1AD4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88FDE81-C331-4896-AC61-55381248B14B}" type="slidenum">
              <a:rPr lang="it-IT" smtClean="0"/>
              <a:t>8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50174595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F1C8D7-A701-5F38-E71F-6796054E37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7CFC9644-CE98-A858-F0E4-CA3719B0B26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60F38F9A-BA6B-0CF9-42CE-C172D3E312E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4C2D082A-D7B9-9E6E-99AD-1E56ED9C953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88FDE81-C331-4896-AC61-55381248B14B}" type="slidenum">
              <a:rPr lang="it-IT" smtClean="0"/>
              <a:t>9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16754443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C68A9E-A326-5366-CFC6-2522A82014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34E80D1E-8994-B1E3-4AFB-2A6BBA3020B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E57083EA-661A-A9BF-8365-641A5AE0639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4263F04F-E2C5-8ED5-235E-3B91E98DFA0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88FDE81-C331-4896-AC61-55381248B14B}" type="slidenum">
              <a:rPr lang="it-IT" smtClean="0"/>
              <a:t>10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93853525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142B8B-2A1C-3550-B6E7-B1FB05376B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28FD4F47-25CD-EAD1-F2AF-F47F29EF444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C2A93806-1688-29FA-2860-A96B852EBBD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E759E6CA-F010-00CC-7C88-C57DC3DC1A7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88FDE81-C331-4896-AC61-55381248B14B}" type="slidenum">
              <a:rPr lang="it-IT" smtClean="0"/>
              <a:t>11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8144181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60A730-7A6E-B555-0C9C-0A1239D042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BF1B440A-5015-86C7-53F9-A6AB90CD259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CDEEA9C9-1693-9F5D-A119-9CFE1FA059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D33F25BB-C08C-FD26-BA55-B688557E26B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88FDE81-C331-4896-AC61-55381248B14B}" type="slidenum">
              <a:rPr lang="it-IT" smtClean="0"/>
              <a:t>12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76351675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277635-7706-C7DC-E327-FBF3CF8435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4C298A2E-FAFF-1BDE-7BB8-41FB1A35B7D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3881984D-3030-E8BD-9CEC-436C994B304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57787A01-363E-45DD-D3C8-DDD728F1031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88FDE81-C331-4896-AC61-55381248B14B}" type="slidenum">
              <a:rPr lang="it-IT" smtClean="0"/>
              <a:t>13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16618095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C9FB9F-AFBB-A8E8-2D97-3E2ADB4ED3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2E40D606-5300-8650-1D9D-761D6D51CCC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22610B75-08AE-1ED4-FA47-6A65B4CD8E9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32715C53-AA56-AD53-DAD8-FAFC7FE4674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88FDE81-C331-4896-AC61-55381248B14B}" type="slidenum">
              <a:rPr lang="it-IT" smtClean="0"/>
              <a:t>15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87961629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19F05C-AE69-361E-3947-3C9ED37E39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1B44BB06-9764-AE1D-248D-39C4D53057F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9624FA2F-E90C-ADA8-B18D-0C94D616ED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E2787335-2933-2DE8-FADE-1B6969DE8E1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88FDE81-C331-4896-AC61-55381248B14B}" type="slidenum">
              <a:rPr lang="it-IT" smtClean="0"/>
              <a:t>16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73885923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98A602-4B0C-6426-4312-85FDA892B5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39DE0D6D-F2D5-7502-2FAB-7F2EC47BCB5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3702377F-019D-7DFF-AE59-3E74DA1124B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EECAB6CF-CE8E-D3CF-3CD4-90A7305D7DC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88FDE81-C331-4896-AC61-55381248B14B}" type="slidenum">
              <a:rPr lang="it-IT" smtClean="0"/>
              <a:t>17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87370292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41A4A6-004A-C9D6-7365-0499882647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EC3CA44C-6574-94E0-9944-4BAB4A75137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CD0068C1-2121-A6DD-4155-A82CBCAFBAD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D1CA7F4D-25D0-A2AD-1439-A3C4B63F9B4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88FDE81-C331-4896-AC61-55381248B14B}" type="slidenum">
              <a:rPr lang="it-IT" smtClean="0"/>
              <a:t>18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97944186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12F6A7-63EF-457A-6FCC-1FCF554567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AB7A83E7-F8FE-C59C-896F-AA07228136A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3A2803F4-056C-E90A-CA21-B3E7FD2BD8D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8E9569BA-9C36-0AC8-07B2-BC7081D6814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88FDE81-C331-4896-AC61-55381248B14B}" type="slidenum">
              <a:rPr lang="it-IT" smtClean="0"/>
              <a:t>19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48502577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D6584D-4122-C210-D299-6EF05357AF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DEED87AF-F4ED-D9D5-BDD7-69356F56E29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04FFBBE0-0673-BB34-EE82-B2096E20C0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255F0AA8-7A83-2435-84B3-89315E727B7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88FDE81-C331-4896-AC61-55381248B14B}" type="slidenum">
              <a:rPr lang="it-IT" smtClean="0"/>
              <a:t>20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86855376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49761A-8405-1518-4862-2753DF48BE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4CA89D45-FAC0-747B-C525-37FA080815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61749DE6-4911-861B-1E4E-3AC1B309BCC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AD915580-EE69-CA43-252D-F353759EB25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88FDE81-C331-4896-AC61-55381248B14B}" type="slidenum">
              <a:rPr lang="it-IT" smtClean="0"/>
              <a:t>21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233130206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C5B52C-8EAB-5985-A2D5-5E2E51CD86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CB3ACA92-D7E6-112A-2057-55C70A36F89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AB8E9E9C-D330-D24E-C33A-CBD4CEE3ADB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B6C4B2EC-7A38-5760-0032-464579396D1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88FDE81-C331-4896-AC61-55381248B14B}" type="slidenum">
              <a:rPr lang="it-IT" smtClean="0"/>
              <a:t>22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935908252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2588C1-6727-60A9-0C50-EED0FFBD00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1E7B27AE-6B82-B5B8-8C5D-E83FBC2D17D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62958EAA-746D-DDED-9C47-BE4554EF963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53C4C417-69CA-259D-8972-CAD650ED797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88FDE81-C331-4896-AC61-55381248B14B}" type="slidenum">
              <a:rPr lang="it-IT" smtClean="0"/>
              <a:t>23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829668727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F67E0B-A50F-848C-3176-58076ED3FD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632D3A44-F1D8-05CF-D2ED-A2DEE674468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761D85C5-D9E8-E096-7D6D-3F0307E44FC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A90CAD8A-61EA-E875-59D8-6CC15915A9F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88FDE81-C331-4896-AC61-55381248B14B}" type="slidenum">
              <a:rPr lang="it-IT" smtClean="0"/>
              <a:t>24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542913006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33C7E6-30B7-66A9-8B71-7601E2D95E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6919CBCD-6093-853D-4ECB-8C4B62331E2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C21EF958-E5DB-75C3-268A-1D53DAB4D4D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06266C65-1806-0F7A-CF15-4CA438C43EE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88FDE81-C331-4896-AC61-55381248B14B}" type="slidenum">
              <a:rPr lang="it-IT" smtClean="0"/>
              <a:t>25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99414889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svg"/></Relationships>
</file>

<file path=ppt/slideLayouts/_rels/slideLayout2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7.jpg"/><Relationship Id="rId5" Type="http://schemas.openxmlformats.org/officeDocument/2006/relationships/image" Target="../media/image6.svg"/><Relationship Id="rId4" Type="http://schemas.openxmlformats.org/officeDocument/2006/relationships/image" Target="../media/image5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svg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Intr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Sfondo">
            <a:extLst>
              <a:ext uri="{FF2B5EF4-FFF2-40B4-BE49-F238E27FC236}">
                <a16:creationId xmlns:a16="http://schemas.microsoft.com/office/drawing/2014/main" id="{3151B56A-A6F1-5CFE-90D4-C91637CA43DC}"/>
              </a:ext>
            </a:extLst>
          </p:cNvPr>
          <p:cNvGrpSpPr/>
          <p:nvPr userDrawn="1"/>
        </p:nvGrpSpPr>
        <p:grpSpPr>
          <a:xfrm>
            <a:off x="0" y="0"/>
            <a:ext cx="12191999" cy="6857998"/>
            <a:chOff x="0" y="0"/>
            <a:chExt cx="12191999" cy="6857998"/>
          </a:xfrm>
        </p:grpSpPr>
        <p:pic>
          <p:nvPicPr>
            <p:cNvPr id="8" name="bg object 16">
              <a:extLst>
                <a:ext uri="{FF2B5EF4-FFF2-40B4-BE49-F238E27FC236}">
                  <a16:creationId xmlns:a16="http://schemas.microsoft.com/office/drawing/2014/main" id="{F245C0BF-8E93-514B-6EA0-0DB46DDE199E}"/>
                </a:ext>
              </a:extLst>
            </p:cNvPr>
            <p:cNvPicPr/>
            <p:nvPr userDrawn="1"/>
          </p:nvPicPr>
          <p:blipFill>
            <a:blip r:embed="rId2" cstate="print"/>
            <a:stretch>
              <a:fillRect/>
            </a:stretch>
          </p:blipFill>
          <p:spPr>
            <a:xfrm>
              <a:off x="0" y="0"/>
              <a:ext cx="12191999" cy="6857998"/>
            </a:xfrm>
            <a:prstGeom prst="rect">
              <a:avLst/>
            </a:prstGeom>
          </p:spPr>
        </p:pic>
        <p:sp>
          <p:nvSpPr>
            <p:cNvPr id="9" name="Sfondo nero">
              <a:extLst>
                <a:ext uri="{FF2B5EF4-FFF2-40B4-BE49-F238E27FC236}">
                  <a16:creationId xmlns:a16="http://schemas.microsoft.com/office/drawing/2014/main" id="{7E15F8EB-6BFE-6BE4-8488-2A37B82D22A6}"/>
                </a:ext>
              </a:extLst>
            </p:cNvPr>
            <p:cNvSpPr/>
            <p:nvPr userDrawn="1"/>
          </p:nvSpPr>
          <p:spPr>
            <a:xfrm>
              <a:off x="228600" y="203061"/>
              <a:ext cx="11734800" cy="6451878"/>
            </a:xfrm>
            <a:custGeom>
              <a:avLst/>
              <a:gdLst/>
              <a:ahLst/>
              <a:cxnLst/>
              <a:rect l="l" t="t" r="r" b="b"/>
              <a:pathLst>
                <a:path w="11506200" h="6248400">
                  <a:moveTo>
                    <a:pt x="11506200" y="0"/>
                  </a:moveTo>
                  <a:lnTo>
                    <a:pt x="0" y="0"/>
                  </a:lnTo>
                  <a:lnTo>
                    <a:pt x="0" y="6248400"/>
                  </a:lnTo>
                  <a:lnTo>
                    <a:pt x="11506200" y="6248400"/>
                  </a:lnTo>
                  <a:lnTo>
                    <a:pt x="1150620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b="0" i="0" dirty="0">
                <a:latin typeface="Arial" panose="020B0604020202020204" pitchFamily="34" charset="0"/>
              </a:endParaRPr>
            </a:p>
          </p:txBody>
        </p:sp>
      </p:grpSp>
      <p:pic>
        <p:nvPicPr>
          <p:cNvPr id="3" name="Logo">
            <a:extLst>
              <a:ext uri="{FF2B5EF4-FFF2-40B4-BE49-F238E27FC236}">
                <a16:creationId xmlns:a16="http://schemas.microsoft.com/office/drawing/2014/main" id="{4C834844-A2F7-AC9C-2087-6061FCF61E4E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881312" y="3055807"/>
            <a:ext cx="6429375" cy="746384"/>
          </a:xfrm>
          <a:prstGeom prst="rect">
            <a:avLst/>
          </a:prstGeom>
        </p:spPr>
      </p:pic>
      <p:sp>
        <p:nvSpPr>
          <p:cNvPr id="2" name="Segnaposto numero diapositiva 1">
            <a:extLst>
              <a:ext uri="{FF2B5EF4-FFF2-40B4-BE49-F238E27FC236}">
                <a16:creationId xmlns:a16="http://schemas.microsoft.com/office/drawing/2014/main" id="{38E5D1B6-A890-892D-9858-91BBCF4C4D7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E05E91E-B103-4211-9892-B5CF4BF06646}" type="slidenum">
              <a:rPr lang="it-IT" smtClean="0"/>
              <a:pPr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18316064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olo della l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Immagine 9">
            <a:extLst>
              <a:ext uri="{FF2B5EF4-FFF2-40B4-BE49-F238E27FC236}">
                <a16:creationId xmlns:a16="http://schemas.microsoft.com/office/drawing/2014/main" id="{03BCE473-8FC3-9F4F-E292-BFC28ABE7B2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harpenSoften amount="-100000"/>
                    </a14:imgEffect>
                    <a14:imgEffect>
                      <a14:saturation sat="66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t="7498" b="7498"/>
          <a:stretch/>
        </p:blipFill>
        <p:spPr>
          <a:xfrm>
            <a:off x="8" y="4"/>
            <a:ext cx="12191984" cy="6857991"/>
          </a:xfrm>
          <a:prstGeom prst="rect">
            <a:avLst/>
          </a:prstGeom>
        </p:spPr>
      </p:pic>
      <p:sp>
        <p:nvSpPr>
          <p:cNvPr id="2" name="Titolo 1">
            <a:extLst>
              <a:ext uri="{FF2B5EF4-FFF2-40B4-BE49-F238E27FC236}">
                <a16:creationId xmlns:a16="http://schemas.microsoft.com/office/drawing/2014/main" id="{D46FDB36-122C-6ED3-0E68-A0444075919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749604" y="2315869"/>
            <a:ext cx="2692791" cy="55802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800" b="1" kern="1200">
                <a:solidFill>
                  <a:schemeClr val="bg1"/>
                </a:solidFill>
                <a:latin typeface="Neue Haas Grotesk Display Pro" panose="020D0304030502050203" pitchFamily="34" charset="0"/>
                <a:ea typeface="+mj-ea"/>
                <a:cs typeface="+mj-cs"/>
              </a:defRPr>
            </a:lvl1pPr>
          </a:lstStyle>
          <a:p>
            <a:r>
              <a:rPr lang="it-IT" dirty="0"/>
              <a:t>Lezione n</a:t>
            </a: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C0F8F589-6BFD-59A4-6E34-32CA9C30E50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838200" y="3152912"/>
            <a:ext cx="10515600" cy="67281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4400" b="1" kern="1200">
                <a:solidFill>
                  <a:schemeClr val="bg1"/>
                </a:solidFill>
                <a:latin typeface="Neue Haas Grotesk Display Pro" panose="020D0304030502050203" pitchFamily="34" charset="0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it-IT" dirty="0"/>
              <a:t>TITOLO DELLA LEZIONE</a:t>
            </a:r>
          </a:p>
        </p:txBody>
      </p:sp>
      <p:sp>
        <p:nvSpPr>
          <p:cNvPr id="7" name="Autore">
            <a:extLst>
              <a:ext uri="{FF2B5EF4-FFF2-40B4-BE49-F238E27FC236}">
                <a16:creationId xmlns:a16="http://schemas.microsoft.com/office/drawing/2014/main" id="{21C9F551-AFE9-0973-2117-C6CBF8585A06}"/>
              </a:ext>
            </a:extLst>
          </p:cNvPr>
          <p:cNvSpPr txBox="1"/>
          <p:nvPr userDrawn="1"/>
        </p:nvSpPr>
        <p:spPr>
          <a:xfrm>
            <a:off x="9435948" y="349177"/>
            <a:ext cx="2337564" cy="158377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algn="l">
              <a:lnSpc>
                <a:spcPct val="100000"/>
              </a:lnSpc>
              <a:spcBef>
                <a:spcPts val="95"/>
              </a:spcBef>
              <a:tabLst>
                <a:tab pos="982980" algn="l"/>
              </a:tabLst>
            </a:pPr>
            <a:r>
              <a:rPr lang="it-IT" sz="950" b="1" spc="300" dirty="0">
                <a:solidFill>
                  <a:schemeClr val="bg1"/>
                </a:solidFill>
                <a:latin typeface="Arial"/>
                <a:cs typeface="Arial"/>
              </a:rPr>
              <a:t>Autore: Mirko Onorato</a:t>
            </a:r>
            <a:endParaRPr lang="it-IT" sz="950" spc="300" dirty="0">
              <a:solidFill>
                <a:schemeClr val="bg1"/>
              </a:solidFill>
              <a:latin typeface="Arial"/>
              <a:cs typeface="Arial"/>
            </a:endParaRPr>
          </a:p>
        </p:txBody>
      </p:sp>
      <p:pic>
        <p:nvPicPr>
          <p:cNvPr id="8" name="Logo">
            <a:extLst>
              <a:ext uri="{FF2B5EF4-FFF2-40B4-BE49-F238E27FC236}">
                <a16:creationId xmlns:a16="http://schemas.microsoft.com/office/drawing/2014/main" id="{C4425D4D-A67B-8DB9-9A03-E768C2FD3E34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lum bright="100000"/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18488" y="285335"/>
            <a:ext cx="2211023" cy="314198"/>
          </a:xfrm>
          <a:prstGeom prst="rect">
            <a:avLst/>
          </a:prstGeom>
        </p:spPr>
      </p:pic>
      <p:sp>
        <p:nvSpPr>
          <p:cNvPr id="13" name="Segnaposto numero diapositiva 6" hidden="1">
            <a:extLst>
              <a:ext uri="{FF2B5EF4-FFF2-40B4-BE49-F238E27FC236}">
                <a16:creationId xmlns:a16="http://schemas.microsoft.com/office/drawing/2014/main" id="{F8AAF250-B3FA-F808-9996-FA310B7EEAE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EE05E91E-B103-4211-9892-B5CF4BF06646}" type="slidenum">
              <a:rPr lang="it-IT" smtClean="0"/>
              <a:pPr/>
              <a:t>‹N›</a:t>
            </a:fld>
            <a:endParaRPr lang="it-IT"/>
          </a:p>
        </p:txBody>
      </p:sp>
      <p:pic>
        <p:nvPicPr>
          <p:cNvPr id="4" name="object 2">
            <a:extLst>
              <a:ext uri="{FF2B5EF4-FFF2-40B4-BE49-F238E27FC236}">
                <a16:creationId xmlns:a16="http://schemas.microsoft.com/office/drawing/2014/main" id="{481FF4BB-6EC3-F2A7-6542-58D51086A02D}"/>
              </a:ext>
            </a:extLst>
          </p:cNvPr>
          <p:cNvPicPr preferRelativeResize="0"/>
          <p:nvPr userDrawn="1"/>
        </p:nvPicPr>
        <p:blipFill rotWithShape="1">
          <a:blip r:embed="rId6" cstate="print"/>
          <a:srcRect l="1386" t="187" r="342" b="95555"/>
          <a:stretch/>
        </p:blipFill>
        <p:spPr>
          <a:xfrm>
            <a:off x="0" y="0"/>
            <a:ext cx="12191992" cy="2030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22857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L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698DC6F-CD43-0811-A979-B271C0C3A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31206"/>
            <a:ext cx="10515600" cy="314198"/>
          </a:xfrm>
          <a:prstGeom prst="rect">
            <a:avLst/>
          </a:prstGeom>
        </p:spPr>
        <p:txBody>
          <a:bodyPr/>
          <a:lstStyle>
            <a:lvl1pPr>
              <a:defRPr sz="2200" b="1">
                <a:solidFill>
                  <a:srgbClr val="171FE2"/>
                </a:solidFill>
                <a:latin typeface="Neue Haas Grotesk Text Pro" panose="020B0504020202020204" pitchFamily="34" charset="0"/>
              </a:defRPr>
            </a:lvl1pPr>
          </a:lstStyle>
          <a:p>
            <a:endParaRPr lang="it-IT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722E0480-F66A-DF55-F8D6-E7F6741750C0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18488" y="1399311"/>
            <a:ext cx="11355024" cy="480336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>
                <a:latin typeface="Neue Haas Grotesk Text Pro" panose="020B0504020202020204" pitchFamily="34" charset="0"/>
              </a:defRPr>
            </a:lvl1pPr>
          </a:lstStyle>
          <a:p>
            <a:pPr lvl="0"/>
            <a:r>
              <a:rPr lang="it-IT" dirty="0"/>
              <a:t>Contenuto della lezione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E4F14CEF-205B-0C08-0A06-82B4400959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 b="1"/>
            </a:lvl1pPr>
          </a:lstStyle>
          <a:p>
            <a:fld id="{EE05E91E-B103-4211-9892-B5CF4BF06646}" type="slidenum">
              <a:rPr lang="it-IT" smtClean="0"/>
              <a:pPr/>
              <a:t>‹N›</a:t>
            </a:fld>
            <a:endParaRPr lang="it-IT" dirty="0"/>
          </a:p>
        </p:txBody>
      </p:sp>
      <p:sp>
        <p:nvSpPr>
          <p:cNvPr id="7" name="Rettangolo 6">
            <a:extLst>
              <a:ext uri="{FF2B5EF4-FFF2-40B4-BE49-F238E27FC236}">
                <a16:creationId xmlns:a16="http://schemas.microsoft.com/office/drawing/2014/main" id="{7E4DB6AF-4CA5-F1AF-60DE-4AC9236D4298}"/>
              </a:ext>
            </a:extLst>
          </p:cNvPr>
          <p:cNvSpPr/>
          <p:nvPr userDrawn="1"/>
        </p:nvSpPr>
        <p:spPr>
          <a:xfrm>
            <a:off x="0" y="-2"/>
            <a:ext cx="12192000" cy="179193"/>
          </a:xfrm>
          <a:prstGeom prst="rect">
            <a:avLst/>
          </a:prstGeom>
          <a:solidFill>
            <a:srgbClr val="171FE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8" name="object 4">
            <a:extLst>
              <a:ext uri="{FF2B5EF4-FFF2-40B4-BE49-F238E27FC236}">
                <a16:creationId xmlns:a16="http://schemas.microsoft.com/office/drawing/2014/main" id="{590B833C-D2A8-59BC-D3D6-DC5153499B29}"/>
              </a:ext>
            </a:extLst>
          </p:cNvPr>
          <p:cNvSpPr txBox="1"/>
          <p:nvPr userDrawn="1"/>
        </p:nvSpPr>
        <p:spPr>
          <a:xfrm>
            <a:off x="9435948" y="349177"/>
            <a:ext cx="2337564" cy="158377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algn="l">
              <a:lnSpc>
                <a:spcPct val="100000"/>
              </a:lnSpc>
              <a:spcBef>
                <a:spcPts val="95"/>
              </a:spcBef>
              <a:tabLst>
                <a:tab pos="982980" algn="l"/>
              </a:tabLst>
            </a:pPr>
            <a:r>
              <a:rPr lang="it-IT" sz="950" b="1" spc="300" dirty="0">
                <a:solidFill>
                  <a:schemeClr val="tx1"/>
                </a:solidFill>
                <a:latin typeface="Arial"/>
                <a:cs typeface="Arial"/>
              </a:rPr>
              <a:t>Autore: Mirko Onorato</a:t>
            </a:r>
            <a:endParaRPr lang="it-IT" sz="950" spc="300" dirty="0">
              <a:solidFill>
                <a:schemeClr val="tx1"/>
              </a:solidFill>
              <a:latin typeface="Arial"/>
              <a:cs typeface="Arial"/>
            </a:endParaRPr>
          </a:p>
        </p:txBody>
      </p:sp>
      <p:pic>
        <p:nvPicPr>
          <p:cNvPr id="9" name="Elemento grafico 8">
            <a:extLst>
              <a:ext uri="{FF2B5EF4-FFF2-40B4-BE49-F238E27FC236}">
                <a16:creationId xmlns:a16="http://schemas.microsoft.com/office/drawing/2014/main" id="{545164C9-21E1-0EF7-17C2-2E5528B7FC8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18488" y="285335"/>
            <a:ext cx="2211023" cy="3141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256290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Laboratori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ttangolo 10">
            <a:extLst>
              <a:ext uri="{FF2B5EF4-FFF2-40B4-BE49-F238E27FC236}">
                <a16:creationId xmlns:a16="http://schemas.microsoft.com/office/drawing/2014/main" id="{5DB3A6F7-B730-F638-2762-1FD1042E5DD4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DB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F698DC6F-CD43-0811-A979-B271C0C3AF9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831206"/>
            <a:ext cx="10515600" cy="314198"/>
          </a:xfrm>
          <a:prstGeom prst="rect">
            <a:avLst/>
          </a:prstGeom>
        </p:spPr>
        <p:txBody>
          <a:bodyPr/>
          <a:lstStyle>
            <a:lvl1pPr>
              <a:defRPr sz="2200" b="1">
                <a:solidFill>
                  <a:schemeClr val="tx1"/>
                </a:solidFill>
                <a:latin typeface="Neue Haas Grotesk Text Pro" panose="020B0504020202020204" pitchFamily="34" charset="0"/>
              </a:defRPr>
            </a:lvl1pPr>
          </a:lstStyle>
          <a:p>
            <a:r>
              <a:rPr lang="it-IT" dirty="0"/>
              <a:t>Titolo del laboratorio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722E0480-F66A-DF55-F8D6-E7F6741750C0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18488" y="1399311"/>
            <a:ext cx="11355024" cy="480336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>
                <a:latin typeface="Neue Haas Grotesk Text Pro" panose="020B0504020202020204" pitchFamily="34" charset="0"/>
              </a:defRPr>
            </a:lvl1pPr>
          </a:lstStyle>
          <a:p>
            <a:pPr lvl="0"/>
            <a:r>
              <a:rPr lang="it-IT" dirty="0"/>
              <a:t>Traccia del laboratorio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E4F14CEF-205B-0C08-0A06-82B4400959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 b="1"/>
            </a:lvl1pPr>
          </a:lstStyle>
          <a:p>
            <a:fld id="{EE05E91E-B103-4211-9892-B5CF4BF06646}" type="slidenum">
              <a:rPr lang="it-IT" smtClean="0"/>
              <a:pPr/>
              <a:t>‹N›</a:t>
            </a:fld>
            <a:endParaRPr lang="it-IT"/>
          </a:p>
        </p:txBody>
      </p:sp>
      <p:sp>
        <p:nvSpPr>
          <p:cNvPr id="7" name="Rettangolo 6">
            <a:extLst>
              <a:ext uri="{FF2B5EF4-FFF2-40B4-BE49-F238E27FC236}">
                <a16:creationId xmlns:a16="http://schemas.microsoft.com/office/drawing/2014/main" id="{7E4DB6AF-4CA5-F1AF-60DE-4AC9236D4298}"/>
              </a:ext>
            </a:extLst>
          </p:cNvPr>
          <p:cNvSpPr/>
          <p:nvPr userDrawn="1"/>
        </p:nvSpPr>
        <p:spPr>
          <a:xfrm>
            <a:off x="0" y="-2"/>
            <a:ext cx="12192000" cy="179193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>
              <a:solidFill>
                <a:schemeClr val="tx1"/>
              </a:solidFill>
            </a:endParaRPr>
          </a:p>
        </p:txBody>
      </p:sp>
      <p:sp>
        <p:nvSpPr>
          <p:cNvPr id="8" name="object 4">
            <a:extLst>
              <a:ext uri="{FF2B5EF4-FFF2-40B4-BE49-F238E27FC236}">
                <a16:creationId xmlns:a16="http://schemas.microsoft.com/office/drawing/2014/main" id="{590B833C-D2A8-59BC-D3D6-DC5153499B29}"/>
              </a:ext>
            </a:extLst>
          </p:cNvPr>
          <p:cNvSpPr txBox="1"/>
          <p:nvPr userDrawn="1"/>
        </p:nvSpPr>
        <p:spPr>
          <a:xfrm>
            <a:off x="9435948" y="349177"/>
            <a:ext cx="2337564" cy="158377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algn="l">
              <a:lnSpc>
                <a:spcPct val="100000"/>
              </a:lnSpc>
              <a:spcBef>
                <a:spcPts val="95"/>
              </a:spcBef>
              <a:tabLst>
                <a:tab pos="982980" algn="l"/>
              </a:tabLst>
            </a:pPr>
            <a:r>
              <a:rPr lang="it-IT" sz="950" b="1" spc="300" dirty="0">
                <a:solidFill>
                  <a:schemeClr val="tx1"/>
                </a:solidFill>
                <a:latin typeface="Arial"/>
                <a:cs typeface="Arial"/>
              </a:rPr>
              <a:t>Autore: Nome Cognome</a:t>
            </a:r>
            <a:endParaRPr lang="it-IT" sz="950" spc="300" dirty="0">
              <a:solidFill>
                <a:schemeClr val="tx1"/>
              </a:solidFill>
              <a:latin typeface="Arial"/>
              <a:cs typeface="Arial"/>
            </a:endParaRPr>
          </a:p>
        </p:txBody>
      </p:sp>
      <p:pic>
        <p:nvPicPr>
          <p:cNvPr id="9" name="Elemento grafico 8">
            <a:extLst>
              <a:ext uri="{FF2B5EF4-FFF2-40B4-BE49-F238E27FC236}">
                <a16:creationId xmlns:a16="http://schemas.microsoft.com/office/drawing/2014/main" id="{545164C9-21E1-0EF7-17C2-2E5528B7FC8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18488" y="285335"/>
            <a:ext cx="2211023" cy="3141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278433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Outr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Sfondo">
            <a:extLst>
              <a:ext uri="{FF2B5EF4-FFF2-40B4-BE49-F238E27FC236}">
                <a16:creationId xmlns:a16="http://schemas.microsoft.com/office/drawing/2014/main" id="{3151B56A-A6F1-5CFE-90D4-C91637CA43DC}"/>
              </a:ext>
            </a:extLst>
          </p:cNvPr>
          <p:cNvGrpSpPr/>
          <p:nvPr userDrawn="1"/>
        </p:nvGrpSpPr>
        <p:grpSpPr>
          <a:xfrm>
            <a:off x="0" y="0"/>
            <a:ext cx="12191999" cy="6857998"/>
            <a:chOff x="0" y="0"/>
            <a:chExt cx="12191999" cy="6857998"/>
          </a:xfrm>
        </p:grpSpPr>
        <p:pic>
          <p:nvPicPr>
            <p:cNvPr id="8" name="bg object 16">
              <a:extLst>
                <a:ext uri="{FF2B5EF4-FFF2-40B4-BE49-F238E27FC236}">
                  <a16:creationId xmlns:a16="http://schemas.microsoft.com/office/drawing/2014/main" id="{F245C0BF-8E93-514B-6EA0-0DB46DDE199E}"/>
                </a:ext>
              </a:extLst>
            </p:cNvPr>
            <p:cNvPicPr/>
            <p:nvPr userDrawn="1"/>
          </p:nvPicPr>
          <p:blipFill>
            <a:blip r:embed="rId2" cstate="print"/>
            <a:stretch>
              <a:fillRect/>
            </a:stretch>
          </p:blipFill>
          <p:spPr>
            <a:xfrm>
              <a:off x="0" y="0"/>
              <a:ext cx="12191999" cy="6857998"/>
            </a:xfrm>
            <a:prstGeom prst="rect">
              <a:avLst/>
            </a:prstGeom>
          </p:spPr>
        </p:pic>
        <p:sp>
          <p:nvSpPr>
            <p:cNvPr id="9" name="Sfondo nero">
              <a:extLst>
                <a:ext uri="{FF2B5EF4-FFF2-40B4-BE49-F238E27FC236}">
                  <a16:creationId xmlns:a16="http://schemas.microsoft.com/office/drawing/2014/main" id="{7E15F8EB-6BFE-6BE4-8488-2A37B82D22A6}"/>
                </a:ext>
              </a:extLst>
            </p:cNvPr>
            <p:cNvSpPr/>
            <p:nvPr userDrawn="1"/>
          </p:nvSpPr>
          <p:spPr>
            <a:xfrm>
              <a:off x="228600" y="203061"/>
              <a:ext cx="11734800" cy="6451878"/>
            </a:xfrm>
            <a:custGeom>
              <a:avLst/>
              <a:gdLst/>
              <a:ahLst/>
              <a:cxnLst/>
              <a:rect l="l" t="t" r="r" b="b"/>
              <a:pathLst>
                <a:path w="11506200" h="6248400">
                  <a:moveTo>
                    <a:pt x="11506200" y="0"/>
                  </a:moveTo>
                  <a:lnTo>
                    <a:pt x="0" y="0"/>
                  </a:lnTo>
                  <a:lnTo>
                    <a:pt x="0" y="6248400"/>
                  </a:lnTo>
                  <a:lnTo>
                    <a:pt x="11506200" y="6248400"/>
                  </a:lnTo>
                  <a:lnTo>
                    <a:pt x="1150620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b="0" i="0" dirty="0">
                <a:latin typeface="Arial" panose="020B0604020202020204" pitchFamily="34" charset="0"/>
              </a:endParaRPr>
            </a:p>
          </p:txBody>
        </p:sp>
      </p:grpSp>
      <p:sp>
        <p:nvSpPr>
          <p:cNvPr id="10" name="Segnaposto numero diapositiva 5">
            <a:extLst>
              <a:ext uri="{FF2B5EF4-FFF2-40B4-BE49-F238E27FC236}">
                <a16:creationId xmlns:a16="http://schemas.microsoft.com/office/drawing/2014/main" id="{A234C8D3-EBFE-A5AB-FBEC-506345C26835}"/>
              </a:ext>
            </a:extLst>
          </p:cNvPr>
          <p:cNvSpPr txBox="1">
            <a:spLocks/>
          </p:cNvSpPr>
          <p:nvPr userDrawn="1"/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it-IT"/>
            </a:defPPr>
            <a:lvl1pPr marL="0" algn="r" defTabSz="914400" rtl="0" eaLnBrk="1" latinLnBrk="0" hangingPunct="1">
              <a:defRPr sz="1400" kern="1200">
                <a:solidFill>
                  <a:schemeClr val="tx1"/>
                </a:solidFill>
                <a:latin typeface="Neue Haas Grotesk Text Pro" panose="020B0504020202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EE05E91E-B103-4211-9892-B5CF4BF06646}" type="slidenum">
              <a:rPr lang="it-IT" smtClean="0"/>
              <a:pPr/>
              <a:t>‹N›</a:t>
            </a:fld>
            <a:endParaRPr lang="it-IT"/>
          </a:p>
        </p:txBody>
      </p:sp>
      <p:pic>
        <p:nvPicPr>
          <p:cNvPr id="11" name="Logo">
            <a:extLst>
              <a:ext uri="{FF2B5EF4-FFF2-40B4-BE49-F238E27FC236}">
                <a16:creationId xmlns:a16="http://schemas.microsoft.com/office/drawing/2014/main" id="{6DDC59E2-35B7-B79B-0CDA-5FE67578D340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424735" y="2446545"/>
            <a:ext cx="5342528" cy="620212"/>
          </a:xfrm>
          <a:prstGeom prst="rect">
            <a:avLst/>
          </a:prstGeom>
        </p:spPr>
      </p:pic>
      <p:sp>
        <p:nvSpPr>
          <p:cNvPr id="2" name="Titolo 1">
            <a:extLst>
              <a:ext uri="{FF2B5EF4-FFF2-40B4-BE49-F238E27FC236}">
                <a16:creationId xmlns:a16="http://schemas.microsoft.com/office/drawing/2014/main" id="{E295F674-D64B-ECCA-4DA2-D47F8EABE28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098283" y="3791244"/>
            <a:ext cx="7995432" cy="535518"/>
          </a:xfrm>
          <a:prstGeom prst="rect">
            <a:avLst/>
          </a:prstGeom>
        </p:spPr>
        <p:txBody>
          <a:bodyPr anchor="ctr"/>
          <a:lstStyle>
            <a:lvl1pPr algn="ctr">
              <a:defRPr sz="3600" b="1" spc="300">
                <a:solidFill>
                  <a:schemeClr val="bg1"/>
                </a:solidFill>
                <a:latin typeface="Neue Haas Grotesk Display Pro" panose="020D0304030502050203" pitchFamily="34" charset="0"/>
              </a:defRPr>
            </a:lvl1pPr>
          </a:lstStyle>
          <a:p>
            <a:r>
              <a:rPr lang="it-IT" dirty="0"/>
              <a:t>GRAZIE PER L’ATTENZIONE</a:t>
            </a:r>
          </a:p>
        </p:txBody>
      </p:sp>
    </p:spTree>
    <p:extLst>
      <p:ext uri="{BB962C8B-B14F-4D97-AF65-F5344CB8AC3E}">
        <p14:creationId xmlns:p14="http://schemas.microsoft.com/office/powerpoint/2010/main" val="12885466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Brea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Sfondo">
            <a:extLst>
              <a:ext uri="{FF2B5EF4-FFF2-40B4-BE49-F238E27FC236}">
                <a16:creationId xmlns:a16="http://schemas.microsoft.com/office/drawing/2014/main" id="{3151B56A-A6F1-5CFE-90D4-C91637CA43DC}"/>
              </a:ext>
            </a:extLst>
          </p:cNvPr>
          <p:cNvGrpSpPr/>
          <p:nvPr userDrawn="1"/>
        </p:nvGrpSpPr>
        <p:grpSpPr>
          <a:xfrm>
            <a:off x="0" y="0"/>
            <a:ext cx="12191999" cy="6857998"/>
            <a:chOff x="0" y="0"/>
            <a:chExt cx="12191999" cy="6857998"/>
          </a:xfrm>
        </p:grpSpPr>
        <p:pic>
          <p:nvPicPr>
            <p:cNvPr id="8" name="bg object 16">
              <a:extLst>
                <a:ext uri="{FF2B5EF4-FFF2-40B4-BE49-F238E27FC236}">
                  <a16:creationId xmlns:a16="http://schemas.microsoft.com/office/drawing/2014/main" id="{F245C0BF-8E93-514B-6EA0-0DB46DDE199E}"/>
                </a:ext>
              </a:extLst>
            </p:cNvPr>
            <p:cNvPicPr/>
            <p:nvPr userDrawn="1"/>
          </p:nvPicPr>
          <p:blipFill>
            <a:blip r:embed="rId2" cstate="print"/>
            <a:stretch>
              <a:fillRect/>
            </a:stretch>
          </p:blipFill>
          <p:spPr>
            <a:xfrm>
              <a:off x="0" y="0"/>
              <a:ext cx="12191999" cy="6857998"/>
            </a:xfrm>
            <a:prstGeom prst="rect">
              <a:avLst/>
            </a:prstGeom>
          </p:spPr>
        </p:pic>
        <p:sp>
          <p:nvSpPr>
            <p:cNvPr id="9" name="Sfondo nero">
              <a:extLst>
                <a:ext uri="{FF2B5EF4-FFF2-40B4-BE49-F238E27FC236}">
                  <a16:creationId xmlns:a16="http://schemas.microsoft.com/office/drawing/2014/main" id="{7E15F8EB-6BFE-6BE4-8488-2A37B82D22A6}"/>
                </a:ext>
              </a:extLst>
            </p:cNvPr>
            <p:cNvSpPr/>
            <p:nvPr userDrawn="1"/>
          </p:nvSpPr>
          <p:spPr>
            <a:xfrm>
              <a:off x="228600" y="203061"/>
              <a:ext cx="11734800" cy="6451878"/>
            </a:xfrm>
            <a:custGeom>
              <a:avLst/>
              <a:gdLst/>
              <a:ahLst/>
              <a:cxnLst/>
              <a:rect l="l" t="t" r="r" b="b"/>
              <a:pathLst>
                <a:path w="11506200" h="6248400">
                  <a:moveTo>
                    <a:pt x="11506200" y="0"/>
                  </a:moveTo>
                  <a:lnTo>
                    <a:pt x="0" y="0"/>
                  </a:lnTo>
                  <a:lnTo>
                    <a:pt x="0" y="6248400"/>
                  </a:lnTo>
                  <a:lnTo>
                    <a:pt x="11506200" y="6248400"/>
                  </a:lnTo>
                  <a:lnTo>
                    <a:pt x="1150620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b="0" i="0" dirty="0">
                <a:latin typeface="Arial" panose="020B0604020202020204" pitchFamily="34" charset="0"/>
              </a:endParaRPr>
            </a:p>
          </p:txBody>
        </p:sp>
      </p:grpSp>
      <p:sp>
        <p:nvSpPr>
          <p:cNvPr id="10" name="Segnaposto numero diapositiva 5">
            <a:extLst>
              <a:ext uri="{FF2B5EF4-FFF2-40B4-BE49-F238E27FC236}">
                <a16:creationId xmlns:a16="http://schemas.microsoft.com/office/drawing/2014/main" id="{A234C8D3-EBFE-A5AB-FBEC-506345C26835}"/>
              </a:ext>
            </a:extLst>
          </p:cNvPr>
          <p:cNvSpPr txBox="1">
            <a:spLocks/>
          </p:cNvSpPr>
          <p:nvPr userDrawn="1"/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it-IT"/>
            </a:defPPr>
            <a:lvl1pPr marL="0" algn="r" defTabSz="914400" rtl="0" eaLnBrk="1" latinLnBrk="0" hangingPunct="1">
              <a:defRPr sz="1400" kern="1200">
                <a:solidFill>
                  <a:schemeClr val="tx1"/>
                </a:solidFill>
                <a:latin typeface="Neue Haas Grotesk Text Pro" panose="020B0504020202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EE05E91E-B103-4211-9892-B5CF4BF06646}" type="slidenum">
              <a:rPr lang="it-IT" smtClean="0"/>
              <a:pPr/>
              <a:t>‹N›</a:t>
            </a:fld>
            <a:endParaRPr lang="it-IT"/>
          </a:p>
        </p:txBody>
      </p:sp>
      <p:pic>
        <p:nvPicPr>
          <p:cNvPr id="11" name="Logo">
            <a:extLst>
              <a:ext uri="{FF2B5EF4-FFF2-40B4-BE49-F238E27FC236}">
                <a16:creationId xmlns:a16="http://schemas.microsoft.com/office/drawing/2014/main" id="{6DDC59E2-35B7-B79B-0CDA-5FE67578D340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424735" y="2446545"/>
            <a:ext cx="5342528" cy="620212"/>
          </a:xfrm>
          <a:prstGeom prst="rect">
            <a:avLst/>
          </a:prstGeom>
        </p:spPr>
      </p:pic>
      <p:sp>
        <p:nvSpPr>
          <p:cNvPr id="2" name="Titolo 1">
            <a:extLst>
              <a:ext uri="{FF2B5EF4-FFF2-40B4-BE49-F238E27FC236}">
                <a16:creationId xmlns:a16="http://schemas.microsoft.com/office/drawing/2014/main" id="{E295F674-D64B-ECCA-4DA2-D47F8EABE28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098283" y="3791244"/>
            <a:ext cx="7995432" cy="535518"/>
          </a:xfrm>
          <a:prstGeom prst="rect">
            <a:avLst/>
          </a:prstGeom>
        </p:spPr>
        <p:txBody>
          <a:bodyPr anchor="ctr"/>
          <a:lstStyle>
            <a:lvl1pPr algn="ctr">
              <a:defRPr sz="3600" b="1" spc="300">
                <a:solidFill>
                  <a:schemeClr val="bg1"/>
                </a:solidFill>
                <a:latin typeface="Neue Haas Grotesk Display Pro" panose="020D0304030502050203" pitchFamily="34" charset="0"/>
              </a:defRPr>
            </a:lvl1pPr>
          </a:lstStyle>
          <a:p>
            <a:r>
              <a:rPr lang="it-IT" dirty="0"/>
              <a:t>BREAK</a:t>
            </a:r>
          </a:p>
        </p:txBody>
      </p:sp>
    </p:spTree>
    <p:extLst>
      <p:ext uri="{BB962C8B-B14F-4D97-AF65-F5344CB8AC3E}">
        <p14:creationId xmlns:p14="http://schemas.microsoft.com/office/powerpoint/2010/main" val="73610504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image" Target="../media/image3.svg"/><Relationship Id="rId4" Type="http://schemas.openxmlformats.org/officeDocument/2006/relationships/slideLayout" Target="../slideLayouts/slideLayout4.xml"/><Relationship Id="rId9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Sfondo">
            <a:extLst>
              <a:ext uri="{FF2B5EF4-FFF2-40B4-BE49-F238E27FC236}">
                <a16:creationId xmlns:a16="http://schemas.microsoft.com/office/drawing/2014/main" id="{0871CBC8-6163-D253-2648-0C5B2A35DADC}"/>
              </a:ext>
            </a:extLst>
          </p:cNvPr>
          <p:cNvGrpSpPr/>
          <p:nvPr userDrawn="1"/>
        </p:nvGrpSpPr>
        <p:grpSpPr>
          <a:xfrm>
            <a:off x="0" y="0"/>
            <a:ext cx="12191999" cy="6857998"/>
            <a:chOff x="0" y="0"/>
            <a:chExt cx="12191999" cy="6857998"/>
          </a:xfrm>
        </p:grpSpPr>
        <p:pic>
          <p:nvPicPr>
            <p:cNvPr id="7" name="bg object 16">
              <a:extLst>
                <a:ext uri="{FF2B5EF4-FFF2-40B4-BE49-F238E27FC236}">
                  <a16:creationId xmlns:a16="http://schemas.microsoft.com/office/drawing/2014/main" id="{D3B481F3-FDD2-E9B0-AAF0-6B05C97B7493}"/>
                </a:ext>
              </a:extLst>
            </p:cNvPr>
            <p:cNvPicPr/>
            <p:nvPr userDrawn="1"/>
          </p:nvPicPr>
          <p:blipFill>
            <a:blip r:embed="rId8" cstate="print"/>
            <a:stretch>
              <a:fillRect/>
            </a:stretch>
          </p:blipFill>
          <p:spPr>
            <a:xfrm>
              <a:off x="0" y="0"/>
              <a:ext cx="12191999" cy="6857998"/>
            </a:xfrm>
            <a:prstGeom prst="rect">
              <a:avLst/>
            </a:prstGeom>
          </p:spPr>
        </p:pic>
        <p:sp>
          <p:nvSpPr>
            <p:cNvPr id="8" name="Sfondo nero">
              <a:extLst>
                <a:ext uri="{FF2B5EF4-FFF2-40B4-BE49-F238E27FC236}">
                  <a16:creationId xmlns:a16="http://schemas.microsoft.com/office/drawing/2014/main" id="{2B2124EE-D2EC-EB26-C788-2D1671E2C0D4}"/>
                </a:ext>
              </a:extLst>
            </p:cNvPr>
            <p:cNvSpPr/>
            <p:nvPr userDrawn="1"/>
          </p:nvSpPr>
          <p:spPr>
            <a:xfrm>
              <a:off x="228600" y="203061"/>
              <a:ext cx="11734800" cy="6451878"/>
            </a:xfrm>
            <a:custGeom>
              <a:avLst/>
              <a:gdLst/>
              <a:ahLst/>
              <a:cxnLst/>
              <a:rect l="l" t="t" r="r" b="b"/>
              <a:pathLst>
                <a:path w="11506200" h="6248400">
                  <a:moveTo>
                    <a:pt x="11506200" y="0"/>
                  </a:moveTo>
                  <a:lnTo>
                    <a:pt x="0" y="0"/>
                  </a:lnTo>
                  <a:lnTo>
                    <a:pt x="0" y="6248400"/>
                  </a:lnTo>
                  <a:lnTo>
                    <a:pt x="11506200" y="6248400"/>
                  </a:lnTo>
                  <a:lnTo>
                    <a:pt x="1150620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b="0" i="0" dirty="0">
                <a:latin typeface="Arial" panose="020B0604020202020204" pitchFamily="34" charset="0"/>
              </a:endParaRPr>
            </a:p>
          </p:txBody>
        </p:sp>
      </p:grpSp>
      <p:sp>
        <p:nvSpPr>
          <p:cNvPr id="6" name="Segnaposto numero diapositiva 5" hidden="1">
            <a:extLst>
              <a:ext uri="{FF2B5EF4-FFF2-40B4-BE49-F238E27FC236}">
                <a16:creationId xmlns:a16="http://schemas.microsoft.com/office/drawing/2014/main" id="{8BF62DA6-567D-9738-C9B4-B35130FB096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400">
                <a:solidFill>
                  <a:schemeClr val="tx1"/>
                </a:solidFill>
                <a:latin typeface="Neue Haas Grotesk Text Pro" panose="020B0504020202020204" pitchFamily="34" charset="0"/>
              </a:defRPr>
            </a:lvl1pPr>
          </a:lstStyle>
          <a:p>
            <a:fld id="{EE05E91E-B103-4211-9892-B5CF4BF06646}" type="slidenum">
              <a:rPr lang="it-IT" smtClean="0"/>
              <a:pPr/>
              <a:t>‹N›</a:t>
            </a:fld>
            <a:endParaRPr lang="it-IT"/>
          </a:p>
        </p:txBody>
      </p:sp>
      <p:pic>
        <p:nvPicPr>
          <p:cNvPr id="10" name="Logo">
            <a:extLst>
              <a:ext uri="{FF2B5EF4-FFF2-40B4-BE49-F238E27FC236}">
                <a16:creationId xmlns:a16="http://schemas.microsoft.com/office/drawing/2014/main" id="{08AF4DDA-AF5C-9192-0A90-B2EE16B19797}"/>
              </a:ext>
            </a:extLst>
          </p:cNvPr>
          <p:cNvPicPr>
            <a:picLocks noChangeAspect="1"/>
          </p:cNvPicPr>
          <p:nvPr userDrawn="1"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2881312" y="3055807"/>
            <a:ext cx="6429375" cy="7463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73150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3" r:id="rId1"/>
    <p:sldLayoutId id="2147483691" r:id="rId2"/>
    <p:sldLayoutId id="2147483674" r:id="rId3"/>
    <p:sldLayoutId id="2147483692" r:id="rId4"/>
    <p:sldLayoutId id="2147483678" r:id="rId5"/>
    <p:sldLayoutId id="2147483694" r:id="rId6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38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http://localhost:81/" TargetMode="External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3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696590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ottotitolo 2">
            <a:extLst>
              <a:ext uri="{FF2B5EF4-FFF2-40B4-BE49-F238E27FC236}">
                <a16:creationId xmlns:a16="http://schemas.microsoft.com/office/drawing/2014/main" id="{614AE908-95ED-7A3B-515A-275CA831842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38200" y="2795046"/>
            <a:ext cx="10515600" cy="1445982"/>
          </a:xfrm>
        </p:spPr>
        <p:txBody>
          <a:bodyPr/>
          <a:lstStyle/>
          <a:p>
            <a:r>
              <a:rPr lang="it-IT" dirty="0"/>
              <a:t>MODULO 3.b: Stack Enterprise con </a:t>
            </a:r>
            <a:r>
              <a:rPr lang="it-IT" dirty="0" err="1"/>
              <a:t>Nginx</a:t>
            </a:r>
            <a:r>
              <a:rPr lang="it-IT" dirty="0"/>
              <a:t> Proxy Manager</a:t>
            </a:r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EDAC5512-E772-1D07-1956-6544F2732AF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E05E91E-B103-4211-9892-B5CF4BF06646}" type="slidenum">
              <a:rPr lang="it-IT" smtClean="0">
                <a:solidFill>
                  <a:srgbClr val="0C0C0D"/>
                </a:solidFill>
              </a:rPr>
              <a:pPr/>
              <a:t>2</a:t>
            </a:fld>
            <a:endParaRPr lang="it-IT" dirty="0">
              <a:solidFill>
                <a:srgbClr val="0C0C0D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907935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della lezione">
            <a:extLst>
              <a:ext uri="{FF2B5EF4-FFF2-40B4-BE49-F238E27FC236}">
                <a16:creationId xmlns:a16="http://schemas.microsoft.com/office/drawing/2014/main" id="{C232A863-9AB2-F1DD-0EBE-01D055E0CA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31206"/>
            <a:ext cx="10515600" cy="314198"/>
          </a:xfrm>
        </p:spPr>
        <p:txBody>
          <a:bodyPr/>
          <a:lstStyle/>
          <a:p>
            <a:r>
              <a:rPr lang="it-IT" dirty="0"/>
              <a:t>Slide 1: Obiettivo del Modulo – Stack Enterprise con </a:t>
            </a:r>
            <a:r>
              <a:rPr lang="it-IT" dirty="0" err="1"/>
              <a:t>Nginx</a:t>
            </a:r>
            <a:r>
              <a:rPr lang="it-IT" dirty="0"/>
              <a:t> Proxy Manager</a:t>
            </a:r>
          </a:p>
        </p:txBody>
      </p:sp>
      <p:sp>
        <p:nvSpPr>
          <p:cNvPr id="3" name="Contenuto della lezione">
            <a:extLst>
              <a:ext uri="{FF2B5EF4-FFF2-40B4-BE49-F238E27FC236}">
                <a16:creationId xmlns:a16="http://schemas.microsoft.com/office/drawing/2014/main" id="{4B7AE27A-7139-F647-C23C-B014C3A3B6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15438" y="1349192"/>
            <a:ext cx="9557362" cy="4803369"/>
          </a:xfrm>
        </p:spPr>
        <p:txBody>
          <a:bodyPr/>
          <a:lstStyle/>
          <a:p>
            <a:r>
              <a:rPr lang="it-IT" dirty="0"/>
              <a:t>L'obiettivo è testare, interamente all'interno del proprio computer di sviluppo locale, un'infrastruttura di rete sicura e invertita (Reverse Proxy) basata sulla cooperazione di tre entità distinte orchestrate da Docker Compose. </a:t>
            </a:r>
          </a:p>
          <a:p>
            <a:r>
              <a:rPr lang="it-IT" dirty="0"/>
              <a:t>Nello specifico, configureremo:</a:t>
            </a:r>
          </a:p>
          <a:p>
            <a:r>
              <a:rPr lang="it-IT" dirty="0"/>
              <a:t>un container </a:t>
            </a:r>
            <a:r>
              <a:rPr lang="it-IT" dirty="0" err="1"/>
              <a:t>Nginx</a:t>
            </a:r>
            <a:r>
              <a:rPr lang="it-IT" dirty="0"/>
              <a:t> che fungerà da vigile unico del sistema, intercettando il traffico HTTPS sulla porta 443.</a:t>
            </a:r>
          </a:p>
          <a:p>
            <a:r>
              <a:rPr lang="it-IT" dirty="0"/>
              <a:t>Un container </a:t>
            </a:r>
            <a:r>
              <a:rPr lang="it-IT" dirty="0" err="1"/>
              <a:t>Certbot</a:t>
            </a:r>
            <a:r>
              <a:rPr lang="it-IT" dirty="0"/>
              <a:t> deputato a simulare il ciclo di rilascio e rinnovo automatico dei certificati crittografici SSL.</a:t>
            </a:r>
          </a:p>
          <a:p>
            <a:r>
              <a:rPr lang="it-IT" dirty="0"/>
              <a:t>Un'applicazione </a:t>
            </a:r>
            <a:r>
              <a:rPr lang="it-IT" dirty="0" err="1"/>
              <a:t>Backend</a:t>
            </a:r>
            <a:r>
              <a:rPr lang="it-IT" dirty="0"/>
              <a:t> finta (</a:t>
            </a:r>
            <a:r>
              <a:rPr lang="it-IT" dirty="0" err="1"/>
              <a:t>Mock</a:t>
            </a:r>
            <a:r>
              <a:rPr lang="it-IT" dirty="0"/>
              <a:t>) posizionata nella stessa rete bridge, che riceverà il traffico pulito da </a:t>
            </a:r>
            <a:r>
              <a:rPr lang="it-IT" dirty="0" err="1"/>
              <a:t>Nginx</a:t>
            </a:r>
            <a:r>
              <a:rPr lang="it-IT" dirty="0"/>
              <a:t>.</a:t>
            </a:r>
          </a:p>
          <a:p>
            <a:r>
              <a:rPr lang="it-IT" dirty="0"/>
              <a:t>Grazie a questo allestimento, simuleremo un vero ambiente Cloud di produzione a "Zero </a:t>
            </a:r>
            <a:r>
              <a:rPr lang="it-IT" dirty="0" err="1"/>
              <a:t>Downtime</a:t>
            </a:r>
            <a:r>
              <a:rPr lang="it-IT" dirty="0"/>
              <a:t>".</a:t>
            </a:r>
          </a:p>
          <a:p>
            <a:r>
              <a:rPr lang="it-IT" dirty="0"/>
              <a:t>Questo schema rappresenta lo standard industriale per la protezione dei microservizi. Nessuna applicazione aziendale viene mai esposta direttamente su Internet senza lo scudo di un Reverse Proxy.</a:t>
            </a:r>
            <a:endParaRPr lang="it-IT" b="1" dirty="0">
              <a:solidFill>
                <a:srgbClr val="171FE2"/>
              </a:solidFill>
            </a:endParaRPr>
          </a:p>
        </p:txBody>
      </p:sp>
      <p:sp>
        <p:nvSpPr>
          <p:cNvPr id="12" name="Segnaposto numero diapositiva 11">
            <a:extLst>
              <a:ext uri="{FF2B5EF4-FFF2-40B4-BE49-F238E27FC236}">
                <a16:creationId xmlns:a16="http://schemas.microsoft.com/office/drawing/2014/main" id="{0A34DE43-08B1-290A-D6C2-1F28E294F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it-IT" dirty="0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52617813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DC7B1B-DAC1-F2CC-321E-A2D99E2AA7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della lezione">
            <a:extLst>
              <a:ext uri="{FF2B5EF4-FFF2-40B4-BE49-F238E27FC236}">
                <a16:creationId xmlns:a16="http://schemas.microsoft.com/office/drawing/2014/main" id="{B96A9CD3-B44A-5810-1756-FE710BC4EA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31206"/>
            <a:ext cx="10515600" cy="314198"/>
          </a:xfrm>
        </p:spPr>
        <p:txBody>
          <a:bodyPr/>
          <a:lstStyle/>
          <a:p>
            <a:r>
              <a:rPr lang="it-IT" dirty="0"/>
              <a:t>Slide 2: Topologia di Rete e Flusso dei Dati Interno</a:t>
            </a:r>
          </a:p>
        </p:txBody>
      </p:sp>
      <p:sp>
        <p:nvSpPr>
          <p:cNvPr id="3" name="Contenuto della lezione">
            <a:extLst>
              <a:ext uri="{FF2B5EF4-FFF2-40B4-BE49-F238E27FC236}">
                <a16:creationId xmlns:a16="http://schemas.microsoft.com/office/drawing/2014/main" id="{494960E4-63F0-3D45-D15B-4155BC4D98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15438" y="1349192"/>
            <a:ext cx="9557362" cy="4803369"/>
          </a:xfrm>
        </p:spPr>
        <p:txBody>
          <a:bodyPr/>
          <a:lstStyle/>
          <a:p>
            <a:r>
              <a:rPr lang="it-IT" dirty="0"/>
              <a:t>L'intera flotta di container coopererà all'interno di una rete virtuale isolata chiamata </a:t>
            </a:r>
            <a:r>
              <a:rPr lang="it-IT" b="1" dirty="0" err="1">
                <a:solidFill>
                  <a:srgbClr val="171FE2"/>
                </a:solidFill>
              </a:rPr>
              <a:t>rete_enterprise</a:t>
            </a:r>
            <a:r>
              <a:rPr lang="it-IT" dirty="0"/>
              <a:t>. </a:t>
            </a:r>
          </a:p>
          <a:p>
            <a:r>
              <a:rPr lang="it-IT" dirty="0"/>
              <a:t>Analizziamo i punti di ingresso del traffico:</a:t>
            </a:r>
          </a:p>
          <a:p>
            <a:r>
              <a:rPr lang="it-IT" dirty="0"/>
              <a:t>Il client interroga il proxy sulle porte pubbliche standard HTTP (80) e HTTPS (443).</a:t>
            </a:r>
          </a:p>
          <a:p>
            <a:r>
              <a:rPr lang="it-IT" dirty="0"/>
              <a:t>L'amministratore accede alla dashboard visiva del proxy sulla porta 81.</a:t>
            </a:r>
          </a:p>
          <a:p>
            <a:r>
              <a:rPr lang="it-IT" dirty="0"/>
              <a:t>L'amministratore ispeziona i dati di </a:t>
            </a:r>
            <a:r>
              <a:rPr lang="it-IT" dirty="0" err="1"/>
              <a:t>MariaDB</a:t>
            </a:r>
            <a:r>
              <a:rPr lang="it-IT" dirty="0"/>
              <a:t> tramite </a:t>
            </a:r>
            <a:r>
              <a:rPr lang="it-IT" dirty="0" err="1"/>
              <a:t>phpMyAdmin</a:t>
            </a:r>
            <a:r>
              <a:rPr lang="it-IT" dirty="0"/>
              <a:t> sulla porta 8080.</a:t>
            </a:r>
          </a:p>
          <a:p>
            <a:r>
              <a:rPr lang="it-IT" dirty="0"/>
              <a:t>Il Database e il </a:t>
            </a:r>
            <a:r>
              <a:rPr lang="it-IT" dirty="0" err="1"/>
              <a:t>Backend</a:t>
            </a:r>
            <a:r>
              <a:rPr lang="it-IT" dirty="0"/>
              <a:t> comunicano in totale isolamento all'interno della rete Docker, senza esporre porte vulnerabili verso l'esterno del PC </a:t>
            </a:r>
            <a:r>
              <a:rPr lang="it-IT" dirty="0" err="1"/>
              <a:t>host</a:t>
            </a:r>
            <a:r>
              <a:rPr lang="it-IT" dirty="0"/>
              <a:t>.</a:t>
            </a:r>
          </a:p>
          <a:p>
            <a:r>
              <a:rPr lang="it-IT" dirty="0"/>
              <a:t>Il database non risponde al mondo esterno, ma solo al </a:t>
            </a:r>
            <a:r>
              <a:rPr lang="it-IT" dirty="0" err="1"/>
              <a:t>backend</a:t>
            </a:r>
            <a:r>
              <a:rPr lang="it-IT" dirty="0"/>
              <a:t> e a </a:t>
            </a:r>
            <a:r>
              <a:rPr lang="it-IT" dirty="0" err="1"/>
              <a:t>phpMyAdmin</a:t>
            </a:r>
            <a:r>
              <a:rPr lang="it-IT" dirty="0"/>
              <a:t>.</a:t>
            </a:r>
            <a:endParaRPr lang="it-IT" b="1" dirty="0">
              <a:solidFill>
                <a:srgbClr val="171FE2"/>
              </a:solidFill>
            </a:endParaRPr>
          </a:p>
        </p:txBody>
      </p:sp>
      <p:sp>
        <p:nvSpPr>
          <p:cNvPr id="12" name="Segnaposto numero diapositiva 11">
            <a:extLst>
              <a:ext uri="{FF2B5EF4-FFF2-40B4-BE49-F238E27FC236}">
                <a16:creationId xmlns:a16="http://schemas.microsoft.com/office/drawing/2014/main" id="{49E5B036-C568-37B0-9454-147E2FE0AD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it-IT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1530384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37ED32-1C45-30B3-620C-AFB6266C45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della lezione">
            <a:extLst>
              <a:ext uri="{FF2B5EF4-FFF2-40B4-BE49-F238E27FC236}">
                <a16:creationId xmlns:a16="http://schemas.microsoft.com/office/drawing/2014/main" id="{FCDEB302-4B28-54BE-850E-A3E0B78701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31206"/>
            <a:ext cx="10515600" cy="314198"/>
          </a:xfrm>
        </p:spPr>
        <p:txBody>
          <a:bodyPr/>
          <a:lstStyle/>
          <a:p>
            <a:r>
              <a:rPr lang="it-IT" dirty="0"/>
              <a:t>Slide 3: Step 1 – Preparazione dello Spazio di Lavoro</a:t>
            </a:r>
          </a:p>
        </p:txBody>
      </p:sp>
      <p:sp>
        <p:nvSpPr>
          <p:cNvPr id="3" name="Contenuto della lezione">
            <a:extLst>
              <a:ext uri="{FF2B5EF4-FFF2-40B4-BE49-F238E27FC236}">
                <a16:creationId xmlns:a16="http://schemas.microsoft.com/office/drawing/2014/main" id="{3B562542-05E8-55F1-B91F-A2DF2239FC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15438" y="1349192"/>
            <a:ext cx="9557362" cy="4803369"/>
          </a:xfrm>
        </p:spPr>
        <p:txBody>
          <a:bodyPr/>
          <a:lstStyle/>
          <a:p>
            <a:r>
              <a:rPr lang="it-IT" dirty="0"/>
              <a:t>Creiamo una directory di progetto totalmente nuova sul nostro computer. </a:t>
            </a:r>
          </a:p>
          <a:p>
            <a:r>
              <a:rPr lang="it-IT" dirty="0"/>
              <a:t>Aprire il terminale (o </a:t>
            </a:r>
            <a:r>
              <a:rPr lang="it-IT" dirty="0" err="1"/>
              <a:t>PowerShell</a:t>
            </a:r>
            <a:r>
              <a:rPr lang="it-IT" dirty="0"/>
              <a:t>) e configurare l'albero delle cartelle:</a:t>
            </a:r>
          </a:p>
          <a:p>
            <a:endParaRPr lang="it-IT" dirty="0"/>
          </a:p>
          <a:p>
            <a:r>
              <a:rPr lang="it-IT" dirty="0">
                <a:latin typeface="Consolas" panose="020B0609020204030204" pitchFamily="49" charset="0"/>
              </a:rPr>
              <a:t># Creazione della cartella principale sul Desktop</a:t>
            </a:r>
          </a:p>
          <a:p>
            <a:r>
              <a:rPr lang="it-IT" dirty="0" err="1">
                <a:latin typeface="Consolas" panose="020B0609020204030204" pitchFamily="49" charset="0"/>
              </a:rPr>
              <a:t>mkdir</a:t>
            </a:r>
            <a:r>
              <a:rPr lang="it-IT" dirty="0">
                <a:latin typeface="Consolas" panose="020B0609020204030204" pitchFamily="49" charset="0"/>
              </a:rPr>
              <a:t> ~/Desktop/progetto-</a:t>
            </a:r>
            <a:r>
              <a:rPr lang="it-IT" dirty="0" err="1">
                <a:latin typeface="Consolas" panose="020B0609020204030204" pitchFamily="49" charset="0"/>
              </a:rPr>
              <a:t>enterprise</a:t>
            </a:r>
            <a:endParaRPr lang="it-IT" dirty="0">
              <a:latin typeface="Consolas" panose="020B0609020204030204" pitchFamily="49" charset="0"/>
            </a:endParaRPr>
          </a:p>
          <a:p>
            <a:r>
              <a:rPr lang="it-IT" dirty="0">
                <a:latin typeface="Consolas" panose="020B0609020204030204" pitchFamily="49" charset="0"/>
              </a:rPr>
              <a:t>cd ~/Desktop/progetto-</a:t>
            </a:r>
            <a:r>
              <a:rPr lang="it-IT" dirty="0" err="1">
                <a:latin typeface="Consolas" panose="020B0609020204030204" pitchFamily="49" charset="0"/>
              </a:rPr>
              <a:t>enterprise</a:t>
            </a:r>
            <a:endParaRPr lang="it-IT" dirty="0">
              <a:latin typeface="Consolas" panose="020B0609020204030204" pitchFamily="49" charset="0"/>
            </a:endParaRPr>
          </a:p>
          <a:p>
            <a:endParaRPr lang="it-IT" dirty="0">
              <a:latin typeface="Consolas" panose="020B0609020204030204" pitchFamily="49" charset="0"/>
            </a:endParaRPr>
          </a:p>
          <a:p>
            <a:r>
              <a:rPr lang="it-IT" dirty="0">
                <a:latin typeface="Consolas" panose="020B0609020204030204" pitchFamily="49" charset="0"/>
              </a:rPr>
              <a:t># Creazione delle sottocartelle per i moduli sorgente</a:t>
            </a:r>
          </a:p>
          <a:p>
            <a:r>
              <a:rPr lang="it-IT" dirty="0" err="1">
                <a:latin typeface="Consolas" panose="020B0609020204030204" pitchFamily="49" charset="0"/>
              </a:rPr>
              <a:t>mkdir</a:t>
            </a:r>
            <a:r>
              <a:rPr lang="it-IT" dirty="0">
                <a:latin typeface="Consolas" panose="020B0609020204030204" pitchFamily="49" charset="0"/>
              </a:rPr>
              <a:t> </a:t>
            </a:r>
            <a:r>
              <a:rPr lang="it-IT" dirty="0" err="1">
                <a:latin typeface="Consolas" panose="020B0609020204030204" pitchFamily="49" charset="0"/>
              </a:rPr>
              <a:t>frontend</a:t>
            </a:r>
            <a:endParaRPr lang="it-IT" dirty="0">
              <a:latin typeface="Consolas" panose="020B0609020204030204" pitchFamily="49" charset="0"/>
            </a:endParaRPr>
          </a:p>
          <a:p>
            <a:r>
              <a:rPr lang="it-IT" dirty="0" err="1">
                <a:latin typeface="Consolas" panose="020B0609020204030204" pitchFamily="49" charset="0"/>
              </a:rPr>
              <a:t>mkdir</a:t>
            </a:r>
            <a:r>
              <a:rPr lang="it-IT" dirty="0">
                <a:latin typeface="Consolas" panose="020B0609020204030204" pitchFamily="49" charset="0"/>
              </a:rPr>
              <a:t> </a:t>
            </a:r>
            <a:r>
              <a:rPr lang="it-IT" dirty="0" err="1">
                <a:latin typeface="Consolas" panose="020B0609020204030204" pitchFamily="49" charset="0"/>
              </a:rPr>
              <a:t>backend</a:t>
            </a:r>
            <a:endParaRPr lang="it-IT" dirty="0">
              <a:latin typeface="Consolas" panose="020B0609020204030204" pitchFamily="49" charset="0"/>
            </a:endParaRPr>
          </a:p>
        </p:txBody>
      </p:sp>
      <p:sp>
        <p:nvSpPr>
          <p:cNvPr id="12" name="Segnaposto numero diapositiva 11">
            <a:extLst>
              <a:ext uri="{FF2B5EF4-FFF2-40B4-BE49-F238E27FC236}">
                <a16:creationId xmlns:a16="http://schemas.microsoft.com/office/drawing/2014/main" id="{F0AED0E0-DDA0-0828-A547-89D0B44F5D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it-IT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19557413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166973-54BD-A175-D023-CD5A2DBD76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della lezione">
            <a:extLst>
              <a:ext uri="{FF2B5EF4-FFF2-40B4-BE49-F238E27FC236}">
                <a16:creationId xmlns:a16="http://schemas.microsoft.com/office/drawing/2014/main" id="{F037D0C5-FCEE-082B-8017-066AF4F4CE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31206"/>
            <a:ext cx="10515600" cy="314198"/>
          </a:xfrm>
        </p:spPr>
        <p:txBody>
          <a:bodyPr/>
          <a:lstStyle/>
          <a:p>
            <a:r>
              <a:rPr lang="it-IT" dirty="0"/>
              <a:t>Slide 4: Step 2/1 – Scrittura del file </a:t>
            </a:r>
            <a:r>
              <a:rPr lang="it-IT" dirty="0" err="1"/>
              <a:t>docker-compose.yml</a:t>
            </a:r>
            <a:r>
              <a:rPr lang="it-IT" dirty="0"/>
              <a:t> (La Nuova Flotta)</a:t>
            </a:r>
            <a:br>
              <a:rPr lang="it-IT" dirty="0"/>
            </a:br>
            <a:br>
              <a:rPr lang="it-IT" dirty="0"/>
            </a:br>
            <a:endParaRPr lang="it-IT" dirty="0"/>
          </a:p>
        </p:txBody>
      </p:sp>
      <p:sp>
        <p:nvSpPr>
          <p:cNvPr id="3" name="Contenuto della lezione">
            <a:extLst>
              <a:ext uri="{FF2B5EF4-FFF2-40B4-BE49-F238E27FC236}">
                <a16:creationId xmlns:a16="http://schemas.microsoft.com/office/drawing/2014/main" id="{794D6EF1-EDE7-F5E1-5074-D896FC4B44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07886" y="1291772"/>
            <a:ext cx="9564914" cy="4860790"/>
          </a:xfrm>
        </p:spPr>
        <p:txBody>
          <a:bodyPr/>
          <a:lstStyle/>
          <a:p>
            <a:r>
              <a:rPr lang="it-IT" dirty="0"/>
              <a:t>All'interno della radice di progetto-</a:t>
            </a:r>
            <a:r>
              <a:rPr lang="it-IT" dirty="0" err="1"/>
              <a:t>enterprise</a:t>
            </a:r>
            <a:r>
              <a:rPr lang="it-IT" dirty="0"/>
              <a:t>/, creare il file </a:t>
            </a:r>
            <a:r>
              <a:rPr lang="it-IT" dirty="0" err="1"/>
              <a:t>docker-compose.yml</a:t>
            </a:r>
            <a:r>
              <a:rPr lang="it-IT" dirty="0"/>
              <a:t> per dichiarare i primi tre servizi pronti all'uso (Proxy, Database e Pannello Admin):</a:t>
            </a:r>
          </a:p>
          <a:p>
            <a:r>
              <a:rPr lang="it-IT" sz="1600" dirty="0">
                <a:latin typeface="Consolas" panose="020B0609020204030204" pitchFamily="49" charset="0"/>
              </a:rPr>
              <a:t>services:</a:t>
            </a:r>
          </a:p>
          <a:p>
            <a:r>
              <a:rPr lang="it-IT" sz="1600" dirty="0">
                <a:latin typeface="Consolas" panose="020B0609020204030204" pitchFamily="49" charset="0"/>
              </a:rPr>
              <a:t>  proxy-manager:</a:t>
            </a:r>
          </a:p>
          <a:p>
            <a:r>
              <a:rPr lang="it-IT" sz="1600" dirty="0">
                <a:latin typeface="Consolas" panose="020B0609020204030204" pitchFamily="49" charset="0"/>
              </a:rPr>
              <a:t>    image: 'jc21/</a:t>
            </a:r>
            <a:r>
              <a:rPr lang="it-IT" sz="1600" dirty="0" err="1">
                <a:latin typeface="Consolas" panose="020B0609020204030204" pitchFamily="49" charset="0"/>
              </a:rPr>
              <a:t>nginx-proxy-manager:latest</a:t>
            </a:r>
            <a:r>
              <a:rPr lang="it-IT" sz="1600" dirty="0">
                <a:latin typeface="Consolas" panose="020B0609020204030204" pitchFamily="49" charset="0"/>
              </a:rPr>
              <a:t>'</a:t>
            </a:r>
          </a:p>
          <a:p>
            <a:r>
              <a:rPr lang="it-IT" sz="1600" dirty="0">
                <a:latin typeface="Consolas" panose="020B0609020204030204" pitchFamily="49" charset="0"/>
              </a:rPr>
              <a:t>    </a:t>
            </a:r>
            <a:r>
              <a:rPr lang="it-IT" sz="1600" dirty="0" err="1">
                <a:latin typeface="Consolas" panose="020B0609020204030204" pitchFamily="49" charset="0"/>
              </a:rPr>
              <a:t>container_name</a:t>
            </a:r>
            <a:r>
              <a:rPr lang="it-IT" sz="1600" dirty="0">
                <a:latin typeface="Consolas" panose="020B0609020204030204" pitchFamily="49" charset="0"/>
              </a:rPr>
              <a:t>: </a:t>
            </a:r>
            <a:r>
              <a:rPr lang="it-IT" sz="1600" dirty="0" err="1">
                <a:latin typeface="Consolas" panose="020B0609020204030204" pitchFamily="49" charset="0"/>
              </a:rPr>
              <a:t>enterprise_proxy_manager</a:t>
            </a:r>
            <a:endParaRPr lang="it-IT" sz="1600" dirty="0">
              <a:latin typeface="Consolas" panose="020B0609020204030204" pitchFamily="49" charset="0"/>
            </a:endParaRPr>
          </a:p>
          <a:p>
            <a:r>
              <a:rPr lang="it-IT" sz="1600" dirty="0">
                <a:latin typeface="Consolas" panose="020B0609020204030204" pitchFamily="49" charset="0"/>
              </a:rPr>
              <a:t>    </a:t>
            </a:r>
            <a:r>
              <a:rPr lang="it-IT" sz="1600" dirty="0" err="1">
                <a:latin typeface="Consolas" panose="020B0609020204030204" pitchFamily="49" charset="0"/>
              </a:rPr>
              <a:t>restart</a:t>
            </a:r>
            <a:r>
              <a:rPr lang="it-IT" sz="1600" dirty="0">
                <a:latin typeface="Consolas" panose="020B0609020204030204" pitchFamily="49" charset="0"/>
              </a:rPr>
              <a:t>: </a:t>
            </a:r>
            <a:r>
              <a:rPr lang="it-IT" sz="1600" dirty="0" err="1">
                <a:latin typeface="Consolas" panose="020B0609020204030204" pitchFamily="49" charset="0"/>
              </a:rPr>
              <a:t>unless-stopped</a:t>
            </a:r>
            <a:endParaRPr lang="it-IT" sz="1600" dirty="0">
              <a:latin typeface="Consolas" panose="020B0609020204030204" pitchFamily="49" charset="0"/>
            </a:endParaRPr>
          </a:p>
          <a:p>
            <a:r>
              <a:rPr lang="it-IT" sz="1600" dirty="0">
                <a:latin typeface="Consolas" panose="020B0609020204030204" pitchFamily="49" charset="0"/>
              </a:rPr>
              <a:t>    ports:</a:t>
            </a:r>
          </a:p>
          <a:p>
            <a:r>
              <a:rPr lang="it-IT" sz="1600" dirty="0">
                <a:latin typeface="Consolas" panose="020B0609020204030204" pitchFamily="49" charset="0"/>
              </a:rPr>
              <a:t>      - '80:80'</a:t>
            </a:r>
          </a:p>
          <a:p>
            <a:r>
              <a:rPr lang="it-IT" sz="1600" dirty="0">
                <a:latin typeface="Consolas" panose="020B0609020204030204" pitchFamily="49" charset="0"/>
              </a:rPr>
              <a:t>      - '443:443'</a:t>
            </a:r>
          </a:p>
          <a:p>
            <a:r>
              <a:rPr lang="it-IT" sz="1600" dirty="0">
                <a:latin typeface="Consolas" panose="020B0609020204030204" pitchFamily="49" charset="0"/>
              </a:rPr>
              <a:t>      - '81:81'   # Porta di amministrazione visuale di NPM</a:t>
            </a:r>
          </a:p>
          <a:p>
            <a:r>
              <a:rPr lang="it-IT" sz="1600" dirty="0">
                <a:latin typeface="Consolas" panose="020B0609020204030204" pitchFamily="49" charset="0"/>
              </a:rPr>
              <a:t>    </a:t>
            </a:r>
            <a:r>
              <a:rPr lang="it-IT" sz="1600" dirty="0" err="1">
                <a:latin typeface="Consolas" panose="020B0609020204030204" pitchFamily="49" charset="0"/>
              </a:rPr>
              <a:t>volumes</a:t>
            </a:r>
            <a:r>
              <a:rPr lang="it-IT" sz="1600" dirty="0">
                <a:latin typeface="Consolas" panose="020B0609020204030204" pitchFamily="49" charset="0"/>
              </a:rPr>
              <a:t>:</a:t>
            </a:r>
          </a:p>
          <a:p>
            <a:r>
              <a:rPr lang="it-IT" sz="1600" dirty="0">
                <a:latin typeface="Consolas" panose="020B0609020204030204" pitchFamily="49" charset="0"/>
              </a:rPr>
              <a:t>      - ./data:/data</a:t>
            </a:r>
          </a:p>
          <a:p>
            <a:r>
              <a:rPr lang="it-IT" sz="1600" dirty="0">
                <a:latin typeface="Consolas" panose="020B0609020204030204" pitchFamily="49" charset="0"/>
              </a:rPr>
              <a:t>      - ./</a:t>
            </a:r>
            <a:r>
              <a:rPr lang="it-IT" sz="1600" dirty="0" err="1">
                <a:latin typeface="Consolas" panose="020B0609020204030204" pitchFamily="49" charset="0"/>
              </a:rPr>
              <a:t>letsencrypt</a:t>
            </a:r>
            <a:r>
              <a:rPr lang="it-IT" sz="1600" dirty="0">
                <a:latin typeface="Consolas" panose="020B0609020204030204" pitchFamily="49" charset="0"/>
              </a:rPr>
              <a:t>:/</a:t>
            </a:r>
            <a:r>
              <a:rPr lang="it-IT" sz="1600" dirty="0" err="1">
                <a:latin typeface="Consolas" panose="020B0609020204030204" pitchFamily="49" charset="0"/>
              </a:rPr>
              <a:t>etc</a:t>
            </a:r>
            <a:r>
              <a:rPr lang="it-IT" sz="1600" dirty="0">
                <a:latin typeface="Consolas" panose="020B0609020204030204" pitchFamily="49" charset="0"/>
              </a:rPr>
              <a:t>/</a:t>
            </a:r>
            <a:r>
              <a:rPr lang="it-IT" sz="1600" dirty="0" err="1">
                <a:latin typeface="Consolas" panose="020B0609020204030204" pitchFamily="49" charset="0"/>
              </a:rPr>
              <a:t>letsencrypt</a:t>
            </a:r>
            <a:endParaRPr lang="it-IT" sz="1600" dirty="0">
              <a:latin typeface="Consolas" panose="020B0609020204030204" pitchFamily="49" charset="0"/>
            </a:endParaRPr>
          </a:p>
          <a:p>
            <a:r>
              <a:rPr lang="it-IT" sz="1600" dirty="0">
                <a:latin typeface="Consolas" panose="020B0609020204030204" pitchFamily="49" charset="0"/>
              </a:rPr>
              <a:t>    networks:</a:t>
            </a:r>
          </a:p>
          <a:p>
            <a:r>
              <a:rPr lang="it-IT" sz="1600" dirty="0">
                <a:latin typeface="Consolas" panose="020B0609020204030204" pitchFamily="49" charset="0"/>
              </a:rPr>
              <a:t>      - </a:t>
            </a:r>
            <a:r>
              <a:rPr lang="it-IT" sz="1600" dirty="0" err="1">
                <a:latin typeface="Consolas" panose="020B0609020204030204" pitchFamily="49" charset="0"/>
              </a:rPr>
              <a:t>rete_enterprise</a:t>
            </a:r>
            <a:endParaRPr lang="it-IT" sz="1600" dirty="0">
              <a:latin typeface="Consolas" panose="020B0609020204030204" pitchFamily="49" charset="0"/>
            </a:endParaRPr>
          </a:p>
          <a:p>
            <a:endParaRPr lang="it-IT" dirty="0"/>
          </a:p>
          <a:p>
            <a:r>
              <a:rPr lang="it-IT" dirty="0"/>
              <a:t>  </a:t>
            </a:r>
          </a:p>
        </p:txBody>
      </p:sp>
      <p:sp>
        <p:nvSpPr>
          <p:cNvPr id="12" name="Segnaposto numero diapositiva 11">
            <a:extLst>
              <a:ext uri="{FF2B5EF4-FFF2-40B4-BE49-F238E27FC236}">
                <a16:creationId xmlns:a16="http://schemas.microsoft.com/office/drawing/2014/main" id="{BAF9984A-C837-7BBA-1571-D0761BB9F2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it-IT" dirty="0"/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284172163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53C1A2-2403-9ABF-A0AA-C9B1A64F34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della lezione">
            <a:extLst>
              <a:ext uri="{FF2B5EF4-FFF2-40B4-BE49-F238E27FC236}">
                <a16:creationId xmlns:a16="http://schemas.microsoft.com/office/drawing/2014/main" id="{D8CCD1C7-B7A8-4C7C-CE37-6847B355F7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31206"/>
            <a:ext cx="10515600" cy="314198"/>
          </a:xfrm>
        </p:spPr>
        <p:txBody>
          <a:bodyPr/>
          <a:lstStyle/>
          <a:p>
            <a:r>
              <a:rPr lang="it-IT" dirty="0"/>
              <a:t>Slide 5: Step 2/2 – Scrittura del file </a:t>
            </a:r>
            <a:r>
              <a:rPr lang="it-IT" dirty="0" err="1"/>
              <a:t>docker-compose.yml</a:t>
            </a:r>
            <a:r>
              <a:rPr lang="it-IT" dirty="0"/>
              <a:t> (La Nuova Flotta)</a:t>
            </a:r>
            <a:br>
              <a:rPr lang="it-IT" dirty="0"/>
            </a:br>
            <a:br>
              <a:rPr lang="it-IT" dirty="0"/>
            </a:br>
            <a:endParaRPr lang="it-IT" dirty="0"/>
          </a:p>
        </p:txBody>
      </p:sp>
      <p:sp>
        <p:nvSpPr>
          <p:cNvPr id="3" name="Contenuto della lezione">
            <a:extLst>
              <a:ext uri="{FF2B5EF4-FFF2-40B4-BE49-F238E27FC236}">
                <a16:creationId xmlns:a16="http://schemas.microsoft.com/office/drawing/2014/main" id="{344EA26B-5AD0-563B-44F6-D183A7E25B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07886" y="1291772"/>
            <a:ext cx="9564914" cy="4860790"/>
          </a:xfrm>
        </p:spPr>
        <p:txBody>
          <a:bodyPr/>
          <a:lstStyle/>
          <a:p>
            <a:r>
              <a:rPr lang="it-IT" sz="1600" dirty="0">
                <a:latin typeface="Consolas" panose="020B0609020204030204" pitchFamily="49" charset="0"/>
              </a:rPr>
              <a:t>  </a:t>
            </a:r>
            <a:r>
              <a:rPr lang="it-IT" sz="1600" dirty="0" err="1">
                <a:latin typeface="Consolas" panose="020B0609020204030204" pitchFamily="49" charset="0"/>
              </a:rPr>
              <a:t>enterprise</a:t>
            </a:r>
            <a:r>
              <a:rPr lang="it-IT" sz="1600" dirty="0">
                <a:latin typeface="Consolas" panose="020B0609020204030204" pitchFamily="49" charset="0"/>
              </a:rPr>
              <a:t>-database:</a:t>
            </a:r>
          </a:p>
          <a:p>
            <a:r>
              <a:rPr lang="it-IT" sz="1600" dirty="0">
                <a:latin typeface="Consolas" panose="020B0609020204030204" pitchFamily="49" charset="0"/>
              </a:rPr>
              <a:t>    image: </a:t>
            </a:r>
            <a:r>
              <a:rPr lang="it-IT" sz="1600" dirty="0" err="1">
                <a:latin typeface="Consolas" panose="020B0609020204030204" pitchFamily="49" charset="0"/>
              </a:rPr>
              <a:t>mariadb:latest</a:t>
            </a:r>
            <a:endParaRPr lang="it-IT" sz="1600" dirty="0">
              <a:latin typeface="Consolas" panose="020B0609020204030204" pitchFamily="49" charset="0"/>
            </a:endParaRPr>
          </a:p>
          <a:p>
            <a:r>
              <a:rPr lang="it-IT" sz="1600" dirty="0">
                <a:latin typeface="Consolas" panose="020B0609020204030204" pitchFamily="49" charset="0"/>
              </a:rPr>
              <a:t>    </a:t>
            </a:r>
            <a:r>
              <a:rPr lang="it-IT" sz="1600" dirty="0" err="1">
                <a:latin typeface="Consolas" panose="020B0609020204030204" pitchFamily="49" charset="0"/>
              </a:rPr>
              <a:t>container_name</a:t>
            </a:r>
            <a:r>
              <a:rPr lang="it-IT" sz="1600" dirty="0">
                <a:latin typeface="Consolas" panose="020B0609020204030204" pitchFamily="49" charset="0"/>
              </a:rPr>
              <a:t>: </a:t>
            </a:r>
            <a:r>
              <a:rPr lang="it-IT" sz="1600" dirty="0" err="1">
                <a:latin typeface="Consolas" panose="020B0609020204030204" pitchFamily="49" charset="0"/>
              </a:rPr>
              <a:t>db_enterprise_mariadb</a:t>
            </a:r>
            <a:endParaRPr lang="it-IT" sz="1600" dirty="0">
              <a:latin typeface="Consolas" panose="020B0609020204030204" pitchFamily="49" charset="0"/>
            </a:endParaRPr>
          </a:p>
          <a:p>
            <a:r>
              <a:rPr lang="it-IT" sz="1600" dirty="0">
                <a:latin typeface="Consolas" panose="020B0609020204030204" pitchFamily="49" charset="0"/>
              </a:rPr>
              <a:t>    </a:t>
            </a:r>
            <a:r>
              <a:rPr lang="it-IT" sz="1600" dirty="0" err="1">
                <a:latin typeface="Consolas" panose="020B0609020204030204" pitchFamily="49" charset="0"/>
              </a:rPr>
              <a:t>restart</a:t>
            </a:r>
            <a:r>
              <a:rPr lang="it-IT" sz="1600" dirty="0">
                <a:latin typeface="Consolas" panose="020B0609020204030204" pitchFamily="49" charset="0"/>
              </a:rPr>
              <a:t>: </a:t>
            </a:r>
            <a:r>
              <a:rPr lang="it-IT" sz="1600" dirty="0" err="1">
                <a:latin typeface="Consolas" panose="020B0609020204030204" pitchFamily="49" charset="0"/>
              </a:rPr>
              <a:t>unless-stopped</a:t>
            </a:r>
            <a:endParaRPr lang="it-IT" sz="1600" dirty="0">
              <a:latin typeface="Consolas" panose="020B0609020204030204" pitchFamily="49" charset="0"/>
            </a:endParaRPr>
          </a:p>
          <a:p>
            <a:r>
              <a:rPr lang="it-IT" sz="1600" dirty="0">
                <a:latin typeface="Consolas" panose="020B0609020204030204" pitchFamily="49" charset="0"/>
              </a:rPr>
              <a:t>    </a:t>
            </a:r>
            <a:r>
              <a:rPr lang="it-IT" sz="1600" dirty="0" err="1">
                <a:latin typeface="Consolas" panose="020B0609020204030204" pitchFamily="49" charset="0"/>
              </a:rPr>
              <a:t>environment</a:t>
            </a:r>
            <a:r>
              <a:rPr lang="it-IT" sz="1600" dirty="0">
                <a:latin typeface="Consolas" panose="020B0609020204030204" pitchFamily="49" charset="0"/>
              </a:rPr>
              <a:t>:</a:t>
            </a:r>
          </a:p>
          <a:p>
            <a:r>
              <a:rPr lang="it-IT" sz="1600" dirty="0">
                <a:latin typeface="Consolas" panose="020B0609020204030204" pitchFamily="49" charset="0"/>
              </a:rPr>
              <a:t>      MYSQL_ROOT_PASSWORD: </a:t>
            </a:r>
            <a:r>
              <a:rPr lang="it-IT" sz="1600" dirty="0" err="1">
                <a:latin typeface="Consolas" panose="020B0609020204030204" pitchFamily="49" charset="0"/>
              </a:rPr>
              <a:t>root_password_skill</a:t>
            </a:r>
            <a:endParaRPr lang="it-IT" sz="1600" dirty="0">
              <a:latin typeface="Consolas" panose="020B0609020204030204" pitchFamily="49" charset="0"/>
            </a:endParaRPr>
          </a:p>
          <a:p>
            <a:r>
              <a:rPr lang="it-IT" sz="1600" dirty="0">
                <a:latin typeface="Consolas" panose="020B0609020204030204" pitchFamily="49" charset="0"/>
              </a:rPr>
              <a:t>      MYSQL_DATABASE: </a:t>
            </a:r>
            <a:r>
              <a:rPr lang="it-IT" sz="1600" dirty="0" err="1">
                <a:latin typeface="Consolas" panose="020B0609020204030204" pitchFamily="49" charset="0"/>
              </a:rPr>
              <a:t>azienda_db</a:t>
            </a:r>
            <a:endParaRPr lang="it-IT" sz="1600" dirty="0">
              <a:latin typeface="Consolas" panose="020B0609020204030204" pitchFamily="49" charset="0"/>
            </a:endParaRPr>
          </a:p>
          <a:p>
            <a:r>
              <a:rPr lang="it-IT" sz="1600" dirty="0">
                <a:latin typeface="Consolas" panose="020B0609020204030204" pitchFamily="49" charset="0"/>
              </a:rPr>
              <a:t>      MYSQL_USER: </a:t>
            </a:r>
            <a:r>
              <a:rPr lang="it-IT" sz="1600" dirty="0" err="1">
                <a:latin typeface="Consolas" panose="020B0609020204030204" pitchFamily="49" charset="0"/>
              </a:rPr>
              <a:t>user_enterprise</a:t>
            </a:r>
            <a:endParaRPr lang="it-IT" sz="1600" dirty="0">
              <a:latin typeface="Consolas" panose="020B0609020204030204" pitchFamily="49" charset="0"/>
            </a:endParaRPr>
          </a:p>
          <a:p>
            <a:r>
              <a:rPr lang="it-IT" sz="1600" dirty="0">
                <a:latin typeface="Consolas" panose="020B0609020204030204" pitchFamily="49" charset="0"/>
              </a:rPr>
              <a:t>      MYSQL_PASSWORD: </a:t>
            </a:r>
            <a:r>
              <a:rPr lang="it-IT" sz="1600" dirty="0" err="1">
                <a:latin typeface="Consolas" panose="020B0609020204030204" pitchFamily="49" charset="0"/>
              </a:rPr>
              <a:t>user_password_skill</a:t>
            </a:r>
            <a:endParaRPr lang="it-IT" sz="1600" dirty="0">
              <a:latin typeface="Consolas" panose="020B0609020204030204" pitchFamily="49" charset="0"/>
            </a:endParaRPr>
          </a:p>
          <a:p>
            <a:r>
              <a:rPr lang="it-IT" sz="1600" dirty="0">
                <a:latin typeface="Consolas" panose="020B0609020204030204" pitchFamily="49" charset="0"/>
              </a:rPr>
              <a:t>    </a:t>
            </a:r>
            <a:r>
              <a:rPr lang="it-IT" sz="1600" dirty="0" err="1">
                <a:latin typeface="Consolas" panose="020B0609020204030204" pitchFamily="49" charset="0"/>
              </a:rPr>
              <a:t>volumes</a:t>
            </a:r>
            <a:r>
              <a:rPr lang="it-IT" sz="1600" dirty="0">
                <a:latin typeface="Consolas" panose="020B0609020204030204" pitchFamily="49" charset="0"/>
              </a:rPr>
              <a:t>:</a:t>
            </a:r>
          </a:p>
          <a:p>
            <a:r>
              <a:rPr lang="it-IT" sz="1600" dirty="0">
                <a:latin typeface="Consolas" panose="020B0609020204030204" pitchFamily="49" charset="0"/>
              </a:rPr>
              <a:t>      - </a:t>
            </a:r>
            <a:r>
              <a:rPr lang="it-IT" sz="1600" dirty="0" err="1">
                <a:latin typeface="Consolas" panose="020B0609020204030204" pitchFamily="49" charset="0"/>
              </a:rPr>
              <a:t>data_enterprise_db</a:t>
            </a:r>
            <a:r>
              <a:rPr lang="it-IT" sz="1600" dirty="0">
                <a:latin typeface="Consolas" panose="020B0609020204030204" pitchFamily="49" charset="0"/>
              </a:rPr>
              <a:t>:/var/</a:t>
            </a:r>
            <a:r>
              <a:rPr lang="it-IT" sz="1600" dirty="0" err="1">
                <a:latin typeface="Consolas" panose="020B0609020204030204" pitchFamily="49" charset="0"/>
              </a:rPr>
              <a:t>lib</a:t>
            </a:r>
            <a:r>
              <a:rPr lang="it-IT" sz="1600" dirty="0">
                <a:latin typeface="Consolas" panose="020B0609020204030204" pitchFamily="49" charset="0"/>
              </a:rPr>
              <a:t>/</a:t>
            </a:r>
            <a:r>
              <a:rPr lang="it-IT" sz="1600" dirty="0" err="1">
                <a:latin typeface="Consolas" panose="020B0609020204030204" pitchFamily="49" charset="0"/>
              </a:rPr>
              <a:t>mysql</a:t>
            </a:r>
            <a:endParaRPr lang="it-IT" sz="1600" dirty="0">
              <a:latin typeface="Consolas" panose="020B0609020204030204" pitchFamily="49" charset="0"/>
            </a:endParaRPr>
          </a:p>
          <a:p>
            <a:r>
              <a:rPr lang="it-IT" sz="1600" dirty="0">
                <a:latin typeface="Consolas" panose="020B0609020204030204" pitchFamily="49" charset="0"/>
              </a:rPr>
              <a:t>    networks:</a:t>
            </a:r>
          </a:p>
          <a:p>
            <a:r>
              <a:rPr lang="it-IT" sz="1600" dirty="0">
                <a:latin typeface="Consolas" panose="020B0609020204030204" pitchFamily="49" charset="0"/>
              </a:rPr>
              <a:t>      - </a:t>
            </a:r>
            <a:r>
              <a:rPr lang="it-IT" sz="1600" dirty="0" err="1">
                <a:latin typeface="Consolas" panose="020B0609020204030204" pitchFamily="49" charset="0"/>
              </a:rPr>
              <a:t>rete_enterprise</a:t>
            </a:r>
            <a:endParaRPr lang="it-IT" sz="1600" dirty="0">
              <a:latin typeface="Consolas" panose="020B0609020204030204" pitchFamily="49" charset="0"/>
            </a:endParaRPr>
          </a:p>
          <a:p>
            <a:endParaRPr lang="it-IT" sz="1600" dirty="0">
              <a:latin typeface="Consolas" panose="020B0609020204030204" pitchFamily="49" charset="0"/>
            </a:endParaRPr>
          </a:p>
          <a:p>
            <a:r>
              <a:rPr lang="it-IT" sz="1600" dirty="0">
                <a:latin typeface="Consolas" panose="020B0609020204030204" pitchFamily="49" charset="0"/>
              </a:rPr>
              <a:t>  </a:t>
            </a:r>
            <a:endParaRPr lang="it-IT" dirty="0"/>
          </a:p>
        </p:txBody>
      </p:sp>
      <p:sp>
        <p:nvSpPr>
          <p:cNvPr id="12" name="Segnaposto numero diapositiva 11">
            <a:extLst>
              <a:ext uri="{FF2B5EF4-FFF2-40B4-BE49-F238E27FC236}">
                <a16:creationId xmlns:a16="http://schemas.microsoft.com/office/drawing/2014/main" id="{7E85E93F-A904-EA2D-8F36-97EB36014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it-IT" dirty="0"/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408135476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5E96C8-3EAF-E3CD-FBBA-8E1D4DA23B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della lezione">
            <a:extLst>
              <a:ext uri="{FF2B5EF4-FFF2-40B4-BE49-F238E27FC236}">
                <a16:creationId xmlns:a16="http://schemas.microsoft.com/office/drawing/2014/main" id="{121CAC46-768B-1297-3833-9DD9D18328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31206"/>
            <a:ext cx="10515600" cy="314198"/>
          </a:xfrm>
        </p:spPr>
        <p:txBody>
          <a:bodyPr/>
          <a:lstStyle/>
          <a:p>
            <a:r>
              <a:rPr lang="it-IT" dirty="0"/>
              <a:t>Slide 6: Step 2/3 – Scrittura del file </a:t>
            </a:r>
            <a:r>
              <a:rPr lang="it-IT" dirty="0" err="1"/>
              <a:t>docker-compose.yml</a:t>
            </a:r>
            <a:r>
              <a:rPr lang="it-IT" dirty="0"/>
              <a:t> (La Nuova Flotta)</a:t>
            </a:r>
            <a:br>
              <a:rPr lang="it-IT" dirty="0"/>
            </a:br>
            <a:br>
              <a:rPr lang="it-IT" dirty="0"/>
            </a:br>
            <a:endParaRPr lang="it-IT" dirty="0"/>
          </a:p>
        </p:txBody>
      </p:sp>
      <p:sp>
        <p:nvSpPr>
          <p:cNvPr id="3" name="Contenuto della lezione">
            <a:extLst>
              <a:ext uri="{FF2B5EF4-FFF2-40B4-BE49-F238E27FC236}">
                <a16:creationId xmlns:a16="http://schemas.microsoft.com/office/drawing/2014/main" id="{52B60BDA-4B81-822F-5EC6-BD9C8C8935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07886" y="1291772"/>
            <a:ext cx="9564914" cy="4860790"/>
          </a:xfrm>
        </p:spPr>
        <p:txBody>
          <a:bodyPr/>
          <a:lstStyle/>
          <a:p>
            <a:r>
              <a:rPr lang="it-IT" sz="1600" dirty="0">
                <a:latin typeface="Consolas" panose="020B0609020204030204" pitchFamily="49" charset="0"/>
              </a:rPr>
              <a:t>  </a:t>
            </a:r>
            <a:r>
              <a:rPr lang="it-IT" sz="1600" dirty="0" err="1">
                <a:latin typeface="Consolas" panose="020B0609020204030204" pitchFamily="49" charset="0"/>
              </a:rPr>
              <a:t>enterprise</a:t>
            </a:r>
            <a:r>
              <a:rPr lang="it-IT" sz="1600" dirty="0">
                <a:latin typeface="Consolas" panose="020B0609020204030204" pitchFamily="49" charset="0"/>
              </a:rPr>
              <a:t>-admin:</a:t>
            </a:r>
          </a:p>
          <a:p>
            <a:r>
              <a:rPr lang="it-IT" sz="1600" dirty="0">
                <a:latin typeface="Consolas" panose="020B0609020204030204" pitchFamily="49" charset="0"/>
              </a:rPr>
              <a:t>    image: </a:t>
            </a:r>
            <a:r>
              <a:rPr lang="it-IT" sz="1600" dirty="0" err="1">
                <a:latin typeface="Consolas" panose="020B0609020204030204" pitchFamily="49" charset="0"/>
              </a:rPr>
              <a:t>phpmyadmin:latest</a:t>
            </a:r>
            <a:endParaRPr lang="it-IT" sz="1600" dirty="0">
              <a:latin typeface="Consolas" panose="020B0609020204030204" pitchFamily="49" charset="0"/>
            </a:endParaRPr>
          </a:p>
          <a:p>
            <a:r>
              <a:rPr lang="it-IT" sz="1600" dirty="0">
                <a:latin typeface="Consolas" panose="020B0609020204030204" pitchFamily="49" charset="0"/>
              </a:rPr>
              <a:t>    </a:t>
            </a:r>
            <a:r>
              <a:rPr lang="it-IT" sz="1600" dirty="0" err="1">
                <a:latin typeface="Consolas" panose="020B0609020204030204" pitchFamily="49" charset="0"/>
              </a:rPr>
              <a:t>container_name</a:t>
            </a:r>
            <a:r>
              <a:rPr lang="it-IT" sz="1600" dirty="0">
                <a:latin typeface="Consolas" panose="020B0609020204030204" pitchFamily="49" charset="0"/>
              </a:rPr>
              <a:t>: </a:t>
            </a:r>
            <a:r>
              <a:rPr lang="it-IT" sz="1600" dirty="0" err="1">
                <a:latin typeface="Consolas" panose="020B0609020204030204" pitchFamily="49" charset="0"/>
              </a:rPr>
              <a:t>client_enterprise_phpmyadmin</a:t>
            </a:r>
            <a:endParaRPr lang="it-IT" sz="1600" dirty="0">
              <a:latin typeface="Consolas" panose="020B0609020204030204" pitchFamily="49" charset="0"/>
            </a:endParaRPr>
          </a:p>
          <a:p>
            <a:r>
              <a:rPr lang="it-IT" sz="1600" dirty="0">
                <a:latin typeface="Consolas" panose="020B0609020204030204" pitchFamily="49" charset="0"/>
              </a:rPr>
              <a:t>    ports:</a:t>
            </a:r>
          </a:p>
          <a:p>
            <a:r>
              <a:rPr lang="it-IT" sz="1600" dirty="0">
                <a:latin typeface="Consolas" panose="020B0609020204030204" pitchFamily="49" charset="0"/>
              </a:rPr>
              <a:t>      - "8080:80"   # Esposizione locale per lo sviluppo</a:t>
            </a:r>
          </a:p>
          <a:p>
            <a:r>
              <a:rPr lang="it-IT" sz="1600" dirty="0">
                <a:latin typeface="Consolas" panose="020B0609020204030204" pitchFamily="49" charset="0"/>
              </a:rPr>
              <a:t>    </a:t>
            </a:r>
            <a:r>
              <a:rPr lang="it-IT" sz="1600" dirty="0" err="1">
                <a:latin typeface="Consolas" panose="020B0609020204030204" pitchFamily="49" charset="0"/>
              </a:rPr>
              <a:t>environment</a:t>
            </a:r>
            <a:r>
              <a:rPr lang="it-IT" sz="1600" dirty="0">
                <a:latin typeface="Consolas" panose="020B0609020204030204" pitchFamily="49" charset="0"/>
              </a:rPr>
              <a:t>:</a:t>
            </a:r>
          </a:p>
          <a:p>
            <a:r>
              <a:rPr lang="it-IT" sz="1600" dirty="0">
                <a:latin typeface="Consolas" panose="020B0609020204030204" pitchFamily="49" charset="0"/>
              </a:rPr>
              <a:t>      PMA_HOST: </a:t>
            </a:r>
            <a:r>
              <a:rPr lang="it-IT" sz="1600" dirty="0" err="1">
                <a:latin typeface="Consolas" panose="020B0609020204030204" pitchFamily="49" charset="0"/>
              </a:rPr>
              <a:t>enterprise</a:t>
            </a:r>
            <a:r>
              <a:rPr lang="it-IT" sz="1600" dirty="0">
                <a:latin typeface="Consolas" panose="020B0609020204030204" pitchFamily="49" charset="0"/>
              </a:rPr>
              <a:t>-database</a:t>
            </a:r>
          </a:p>
          <a:p>
            <a:r>
              <a:rPr lang="it-IT" sz="1600" dirty="0">
                <a:latin typeface="Consolas" panose="020B0609020204030204" pitchFamily="49" charset="0"/>
              </a:rPr>
              <a:t>      PMA_USER: root</a:t>
            </a:r>
          </a:p>
          <a:p>
            <a:r>
              <a:rPr lang="it-IT" sz="1600" dirty="0">
                <a:latin typeface="Consolas" panose="020B0609020204030204" pitchFamily="49" charset="0"/>
              </a:rPr>
              <a:t>      PMA_PASSWORD: </a:t>
            </a:r>
            <a:r>
              <a:rPr lang="it-IT" sz="1600" dirty="0" err="1">
                <a:latin typeface="Consolas" panose="020B0609020204030204" pitchFamily="49" charset="0"/>
              </a:rPr>
              <a:t>root_password_skill</a:t>
            </a:r>
            <a:endParaRPr lang="it-IT" sz="1600" dirty="0">
              <a:latin typeface="Consolas" panose="020B0609020204030204" pitchFamily="49" charset="0"/>
            </a:endParaRPr>
          </a:p>
          <a:p>
            <a:r>
              <a:rPr lang="it-IT" sz="1600" dirty="0">
                <a:latin typeface="Consolas" panose="020B0609020204030204" pitchFamily="49" charset="0"/>
              </a:rPr>
              <a:t>    networks:</a:t>
            </a:r>
          </a:p>
          <a:p>
            <a:r>
              <a:rPr lang="it-IT" sz="1600" dirty="0">
                <a:latin typeface="Consolas" panose="020B0609020204030204" pitchFamily="49" charset="0"/>
              </a:rPr>
              <a:t>      - </a:t>
            </a:r>
            <a:r>
              <a:rPr lang="it-IT" sz="1600" dirty="0" err="1">
                <a:latin typeface="Consolas" panose="020B0609020204030204" pitchFamily="49" charset="0"/>
              </a:rPr>
              <a:t>rete_enterprise</a:t>
            </a:r>
            <a:endParaRPr lang="it-IT" sz="1600" dirty="0">
              <a:latin typeface="Consolas" panose="020B0609020204030204" pitchFamily="49" charset="0"/>
            </a:endParaRPr>
          </a:p>
          <a:p>
            <a:endParaRPr lang="it-IT" sz="1600" dirty="0">
              <a:latin typeface="Consolas" panose="020B0609020204030204" pitchFamily="49" charset="0"/>
            </a:endParaRPr>
          </a:p>
          <a:p>
            <a:r>
              <a:rPr lang="it-IT" sz="1600" dirty="0" err="1">
                <a:latin typeface="Consolas" panose="020B0609020204030204" pitchFamily="49" charset="0"/>
              </a:rPr>
              <a:t>volumes</a:t>
            </a:r>
            <a:r>
              <a:rPr lang="it-IT" sz="1600" dirty="0">
                <a:latin typeface="Consolas" panose="020B0609020204030204" pitchFamily="49" charset="0"/>
              </a:rPr>
              <a:t>:</a:t>
            </a:r>
          </a:p>
          <a:p>
            <a:r>
              <a:rPr lang="it-IT" sz="1600" dirty="0">
                <a:latin typeface="Consolas" panose="020B0609020204030204" pitchFamily="49" charset="0"/>
              </a:rPr>
              <a:t>  </a:t>
            </a:r>
            <a:r>
              <a:rPr lang="it-IT" sz="1600" dirty="0" err="1">
                <a:latin typeface="Consolas" panose="020B0609020204030204" pitchFamily="49" charset="0"/>
              </a:rPr>
              <a:t>data_enterprise_db</a:t>
            </a:r>
            <a:r>
              <a:rPr lang="it-IT" sz="1600" dirty="0">
                <a:latin typeface="Consolas" panose="020B0609020204030204" pitchFamily="49" charset="0"/>
              </a:rPr>
              <a:t>:</a:t>
            </a:r>
          </a:p>
          <a:p>
            <a:r>
              <a:rPr lang="it-IT" sz="1600" dirty="0">
                <a:latin typeface="Consolas" panose="020B0609020204030204" pitchFamily="49" charset="0"/>
              </a:rPr>
              <a:t>networks:</a:t>
            </a:r>
          </a:p>
          <a:p>
            <a:r>
              <a:rPr lang="it-IT" sz="1600" dirty="0">
                <a:latin typeface="Consolas" panose="020B0609020204030204" pitchFamily="49" charset="0"/>
              </a:rPr>
              <a:t>  </a:t>
            </a:r>
            <a:r>
              <a:rPr lang="it-IT" sz="1600" dirty="0" err="1">
                <a:latin typeface="Consolas" panose="020B0609020204030204" pitchFamily="49" charset="0"/>
              </a:rPr>
              <a:t>rete_enterprise</a:t>
            </a:r>
            <a:r>
              <a:rPr lang="it-IT" sz="1600" dirty="0">
                <a:latin typeface="Consolas" panose="020B0609020204030204" pitchFamily="49" charset="0"/>
              </a:rPr>
              <a:t>:</a:t>
            </a:r>
          </a:p>
          <a:p>
            <a:r>
              <a:rPr lang="it-IT" sz="1600" dirty="0">
                <a:latin typeface="Consolas" panose="020B0609020204030204" pitchFamily="49" charset="0"/>
              </a:rPr>
              <a:t>  </a:t>
            </a:r>
            <a:endParaRPr lang="it-IT" dirty="0"/>
          </a:p>
        </p:txBody>
      </p:sp>
      <p:sp>
        <p:nvSpPr>
          <p:cNvPr id="12" name="Segnaposto numero diapositiva 11">
            <a:extLst>
              <a:ext uri="{FF2B5EF4-FFF2-40B4-BE49-F238E27FC236}">
                <a16:creationId xmlns:a16="http://schemas.microsoft.com/office/drawing/2014/main" id="{845D9DE8-9A0B-C4FD-A9B5-DF7EC02B2A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it-IT" dirty="0"/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122948347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031757-2212-701A-F210-BABA41D649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della lezione">
            <a:extLst>
              <a:ext uri="{FF2B5EF4-FFF2-40B4-BE49-F238E27FC236}">
                <a16:creationId xmlns:a16="http://schemas.microsoft.com/office/drawing/2014/main" id="{6E1BC2E1-71DE-6FC4-5331-E09F6C29ED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31206"/>
            <a:ext cx="10515600" cy="314198"/>
          </a:xfrm>
        </p:spPr>
        <p:txBody>
          <a:bodyPr/>
          <a:lstStyle/>
          <a:p>
            <a:r>
              <a:rPr lang="it-IT" dirty="0"/>
              <a:t>Slide 7: Step 3 – Configurazione Iniziale di </a:t>
            </a:r>
            <a:r>
              <a:rPr lang="it-IT" dirty="0" err="1"/>
              <a:t>Nginx</a:t>
            </a:r>
            <a:r>
              <a:rPr lang="it-IT" dirty="0"/>
              <a:t> Proxy Manager</a:t>
            </a:r>
          </a:p>
        </p:txBody>
      </p:sp>
      <p:sp>
        <p:nvSpPr>
          <p:cNvPr id="3" name="Contenuto della lezione">
            <a:extLst>
              <a:ext uri="{FF2B5EF4-FFF2-40B4-BE49-F238E27FC236}">
                <a16:creationId xmlns:a16="http://schemas.microsoft.com/office/drawing/2014/main" id="{5703FBA4-8482-CE4B-40B9-208490F6CE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15438" y="1349192"/>
            <a:ext cx="9557362" cy="4803369"/>
          </a:xfrm>
        </p:spPr>
        <p:txBody>
          <a:bodyPr/>
          <a:lstStyle/>
          <a:p>
            <a:r>
              <a:rPr lang="it-IT" dirty="0"/>
              <a:t>Apriamo il browser e colleghiamoci alla dashboard amministrativa del proxy:</a:t>
            </a:r>
          </a:p>
          <a:p>
            <a:r>
              <a:rPr lang="it-IT" dirty="0"/>
              <a:t>http://localhost:81</a:t>
            </a:r>
          </a:p>
          <a:p>
            <a:r>
              <a:rPr lang="it-IT" dirty="0"/>
              <a:t>Il sistema risponderà con una maschera di login. </a:t>
            </a:r>
          </a:p>
          <a:p>
            <a:r>
              <a:rPr lang="it-IT" dirty="0"/>
              <a:t>Utilizzare le credenziali di fabbrica fornite dagli sviluppatori:</a:t>
            </a:r>
          </a:p>
          <a:p>
            <a:pPr lvl="1"/>
            <a:r>
              <a:rPr lang="it-IT" b="1" dirty="0"/>
              <a:t>Email:</a:t>
            </a:r>
            <a:r>
              <a:rPr lang="it-IT" dirty="0"/>
              <a:t> admin@example.com</a:t>
            </a:r>
          </a:p>
          <a:p>
            <a:pPr lvl="1"/>
            <a:r>
              <a:rPr lang="it-IT" b="1" dirty="0"/>
              <a:t>Password:</a:t>
            </a:r>
            <a:r>
              <a:rPr lang="it-IT" dirty="0"/>
              <a:t> </a:t>
            </a:r>
            <a:r>
              <a:rPr lang="it-IT" dirty="0" err="1"/>
              <a:t>changeme</a:t>
            </a:r>
            <a:r>
              <a:rPr lang="it-IT" dirty="0"/>
              <a:t> </a:t>
            </a:r>
          </a:p>
        </p:txBody>
      </p:sp>
      <p:sp>
        <p:nvSpPr>
          <p:cNvPr id="12" name="Segnaposto numero diapositiva 11">
            <a:extLst>
              <a:ext uri="{FF2B5EF4-FFF2-40B4-BE49-F238E27FC236}">
                <a16:creationId xmlns:a16="http://schemas.microsoft.com/office/drawing/2014/main" id="{932FFDB7-3508-CA2D-749F-EE78EA2D92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it-IT" dirty="0"/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389967138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BF1D42-B8A0-8B2A-890E-D8C19ED915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della lezione">
            <a:extLst>
              <a:ext uri="{FF2B5EF4-FFF2-40B4-BE49-F238E27FC236}">
                <a16:creationId xmlns:a16="http://schemas.microsoft.com/office/drawing/2014/main" id="{1984EADF-E583-0FC6-D21F-1920298E42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31206"/>
            <a:ext cx="10515600" cy="314198"/>
          </a:xfrm>
        </p:spPr>
        <p:txBody>
          <a:bodyPr/>
          <a:lstStyle/>
          <a:p>
            <a:r>
              <a:rPr lang="it-IT" dirty="0"/>
              <a:t>Slide 8: Step 4 – Struttura del Progetto Spring Boot</a:t>
            </a:r>
          </a:p>
        </p:txBody>
      </p:sp>
      <p:sp>
        <p:nvSpPr>
          <p:cNvPr id="3" name="Contenuto della lezione">
            <a:extLst>
              <a:ext uri="{FF2B5EF4-FFF2-40B4-BE49-F238E27FC236}">
                <a16:creationId xmlns:a16="http://schemas.microsoft.com/office/drawing/2014/main" id="{D537540A-ECDE-4AB2-7C9E-861F504E257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363070"/>
            <a:ext cx="3182257" cy="4803369"/>
          </a:xfrm>
        </p:spPr>
        <p:txBody>
          <a:bodyPr/>
          <a:lstStyle/>
          <a:p>
            <a:r>
              <a:rPr lang="it-IT" dirty="0"/>
              <a:t>All'interno della cartella </a:t>
            </a:r>
            <a:r>
              <a:rPr lang="it-IT" dirty="0" err="1"/>
              <a:t>backend</a:t>
            </a:r>
            <a:r>
              <a:rPr lang="it-IT" dirty="0"/>
              <a:t>/ creata in precedenza, dobbiamo strutturare il nostro applicativo Java seguendo le convenzioni standard di Spring Boot (architettura a strati: Controller, Service, Repository, </a:t>
            </a:r>
            <a:r>
              <a:rPr lang="it-IT" dirty="0" err="1"/>
              <a:t>Entity</a:t>
            </a:r>
            <a:r>
              <a:rPr lang="it-IT" dirty="0"/>
              <a:t>). Creiamo la seguente struttura di directory e file vuoti:</a:t>
            </a:r>
          </a:p>
          <a:p>
            <a:endParaRPr lang="it-IT" sz="1600" dirty="0"/>
          </a:p>
        </p:txBody>
      </p:sp>
      <p:sp>
        <p:nvSpPr>
          <p:cNvPr id="12" name="Segnaposto numero diapositiva 11">
            <a:extLst>
              <a:ext uri="{FF2B5EF4-FFF2-40B4-BE49-F238E27FC236}">
                <a16:creationId xmlns:a16="http://schemas.microsoft.com/office/drawing/2014/main" id="{63783CDB-F52A-CCA3-FAE6-6875F93B2F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it-IT" dirty="0"/>
              <a:t>8</a:t>
            </a:r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61215728-D077-B865-4F02-C7E95D283EE3}"/>
              </a:ext>
            </a:extLst>
          </p:cNvPr>
          <p:cNvSpPr txBox="1"/>
          <p:nvPr/>
        </p:nvSpPr>
        <p:spPr>
          <a:xfrm>
            <a:off x="4267200" y="1339592"/>
            <a:ext cx="4846135" cy="501675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2000" dirty="0"/>
              <a:t>progetto-</a:t>
            </a:r>
            <a:r>
              <a:rPr lang="it-IT" sz="2000" dirty="0" err="1"/>
              <a:t>enterprise</a:t>
            </a:r>
            <a:r>
              <a:rPr lang="it-IT" sz="2000" dirty="0"/>
              <a:t>/</a:t>
            </a:r>
          </a:p>
          <a:p>
            <a:r>
              <a:rPr lang="it-IT" sz="2000" dirty="0"/>
              <a:t>└── </a:t>
            </a:r>
            <a:r>
              <a:rPr lang="it-IT" sz="2000" dirty="0" err="1"/>
              <a:t>backend</a:t>
            </a:r>
            <a:r>
              <a:rPr lang="it-IT" sz="2000" dirty="0"/>
              <a:t>/</a:t>
            </a:r>
          </a:p>
          <a:p>
            <a:r>
              <a:rPr lang="it-IT" sz="2000" dirty="0"/>
              <a:t>    ├── pom.xml</a:t>
            </a:r>
          </a:p>
          <a:p>
            <a:r>
              <a:rPr lang="it-IT" sz="2000" dirty="0"/>
              <a:t>    └── </a:t>
            </a:r>
            <a:r>
              <a:rPr lang="it-IT" sz="2000" dirty="0" err="1"/>
              <a:t>src</a:t>
            </a:r>
            <a:r>
              <a:rPr lang="it-IT" sz="2000" dirty="0"/>
              <a:t>/</a:t>
            </a:r>
          </a:p>
          <a:p>
            <a:r>
              <a:rPr lang="it-IT" sz="2000" dirty="0"/>
              <a:t>        └── </a:t>
            </a:r>
            <a:r>
              <a:rPr lang="it-IT" sz="2000" dirty="0" err="1"/>
              <a:t>main</a:t>
            </a:r>
            <a:r>
              <a:rPr lang="it-IT" sz="2000" dirty="0"/>
              <a:t>/</a:t>
            </a:r>
          </a:p>
          <a:p>
            <a:r>
              <a:rPr lang="it-IT" sz="2000" dirty="0"/>
              <a:t>            └── java/</a:t>
            </a:r>
          </a:p>
          <a:p>
            <a:r>
              <a:rPr lang="it-IT" sz="2000" dirty="0"/>
              <a:t>                └── </a:t>
            </a:r>
            <a:r>
              <a:rPr lang="it-IT" sz="2000" dirty="0" err="1"/>
              <a:t>com</a:t>
            </a:r>
            <a:r>
              <a:rPr lang="it-IT" sz="2000" dirty="0"/>
              <a:t>/</a:t>
            </a:r>
          </a:p>
          <a:p>
            <a:r>
              <a:rPr lang="it-IT" sz="2000" dirty="0"/>
              <a:t>                    └── </a:t>
            </a:r>
            <a:r>
              <a:rPr lang="it-IT" sz="2000" dirty="0" err="1"/>
              <a:t>enterprise</a:t>
            </a:r>
            <a:r>
              <a:rPr lang="it-IT" sz="2000" dirty="0"/>
              <a:t>/</a:t>
            </a:r>
          </a:p>
          <a:p>
            <a:r>
              <a:rPr lang="it-IT" sz="2000" dirty="0"/>
              <a:t>                        └── app/</a:t>
            </a:r>
          </a:p>
          <a:p>
            <a:r>
              <a:rPr lang="it-IT" sz="2000" dirty="0"/>
              <a:t>                            ├── Application.java</a:t>
            </a:r>
          </a:p>
          <a:p>
            <a:r>
              <a:rPr lang="it-IT" sz="2000" dirty="0"/>
              <a:t>                            ├── model/</a:t>
            </a:r>
          </a:p>
          <a:p>
            <a:r>
              <a:rPr lang="it-IT" sz="2000" dirty="0"/>
              <a:t>                            │   └── Utente.java</a:t>
            </a:r>
          </a:p>
          <a:p>
            <a:r>
              <a:rPr lang="it-IT" sz="2000" dirty="0"/>
              <a:t>                            ├── repository/</a:t>
            </a:r>
          </a:p>
          <a:p>
            <a:r>
              <a:rPr lang="it-IT" sz="2000" dirty="0"/>
              <a:t>                            │   └── UtenteRepository.java</a:t>
            </a:r>
          </a:p>
          <a:p>
            <a:r>
              <a:rPr lang="it-IT" sz="2000" dirty="0"/>
              <a:t>                            └── controller/</a:t>
            </a:r>
          </a:p>
          <a:p>
            <a:r>
              <a:rPr lang="it-IT" sz="2000" dirty="0"/>
              <a:t>                                └── UtenteController.java</a:t>
            </a:r>
          </a:p>
        </p:txBody>
      </p:sp>
    </p:spTree>
    <p:extLst>
      <p:ext uri="{BB962C8B-B14F-4D97-AF65-F5344CB8AC3E}">
        <p14:creationId xmlns:p14="http://schemas.microsoft.com/office/powerpoint/2010/main" val="7852666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2931DE-924E-B773-2032-AFA2295F61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della lezione">
            <a:extLst>
              <a:ext uri="{FF2B5EF4-FFF2-40B4-BE49-F238E27FC236}">
                <a16:creationId xmlns:a16="http://schemas.microsoft.com/office/drawing/2014/main" id="{16C5D4B2-F257-46F9-62B8-58E6BA9B2F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31206"/>
            <a:ext cx="10515600" cy="314198"/>
          </a:xfrm>
        </p:spPr>
        <p:txBody>
          <a:bodyPr/>
          <a:lstStyle/>
          <a:p>
            <a:r>
              <a:rPr lang="it-IT" dirty="0"/>
              <a:t>Slide 9: Step 5 – </a:t>
            </a:r>
            <a:r>
              <a:rPr lang="it-IT" dirty="0" err="1"/>
              <a:t>application.properties</a:t>
            </a:r>
            <a:endParaRPr lang="it-IT" dirty="0"/>
          </a:p>
        </p:txBody>
      </p:sp>
      <p:sp>
        <p:nvSpPr>
          <p:cNvPr id="3" name="Contenuto della lezione">
            <a:extLst>
              <a:ext uri="{FF2B5EF4-FFF2-40B4-BE49-F238E27FC236}">
                <a16:creationId xmlns:a16="http://schemas.microsoft.com/office/drawing/2014/main" id="{7B928CF4-EF6D-CBA4-990B-B7026BF59D5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363070"/>
            <a:ext cx="10308772" cy="4803369"/>
          </a:xfrm>
        </p:spPr>
        <p:txBody>
          <a:bodyPr/>
          <a:lstStyle/>
          <a:p>
            <a:r>
              <a:rPr lang="it-IT" dirty="0"/>
              <a:t>spring.application.name=app</a:t>
            </a:r>
          </a:p>
          <a:p>
            <a:r>
              <a:rPr lang="it-IT" dirty="0"/>
              <a:t># URL di connessione: usiamo il nome del servizio </a:t>
            </a:r>
            <a:r>
              <a:rPr lang="it-IT" dirty="0" err="1"/>
              <a:t>docker</a:t>
            </a:r>
            <a:r>
              <a:rPr lang="it-IT" dirty="0"/>
              <a:t> '</a:t>
            </a:r>
            <a:r>
              <a:rPr lang="it-IT" dirty="0" err="1"/>
              <a:t>enterprise</a:t>
            </a:r>
            <a:r>
              <a:rPr lang="it-IT" dirty="0"/>
              <a:t>-database'</a:t>
            </a:r>
          </a:p>
          <a:p>
            <a:r>
              <a:rPr lang="it-IT" dirty="0"/>
              <a:t>spring.datasource.url=</a:t>
            </a:r>
            <a:r>
              <a:rPr lang="it-IT" dirty="0" err="1"/>
              <a:t>jdbc:mariadb</a:t>
            </a:r>
            <a:r>
              <a:rPr lang="it-IT" dirty="0"/>
              <a:t>://enterprise-database:3306/</a:t>
            </a:r>
            <a:r>
              <a:rPr lang="it-IT" dirty="0" err="1"/>
              <a:t>azienda_db</a:t>
            </a:r>
            <a:endParaRPr lang="it-IT" dirty="0"/>
          </a:p>
          <a:p>
            <a:r>
              <a:rPr lang="it-IT" dirty="0" err="1"/>
              <a:t>spring.datasource.username</a:t>
            </a:r>
            <a:r>
              <a:rPr lang="it-IT" dirty="0"/>
              <a:t>=</a:t>
            </a:r>
            <a:r>
              <a:rPr lang="it-IT" dirty="0" err="1"/>
              <a:t>user_enterprise</a:t>
            </a:r>
            <a:endParaRPr lang="it-IT" dirty="0"/>
          </a:p>
          <a:p>
            <a:r>
              <a:rPr lang="it-IT" dirty="0" err="1"/>
              <a:t>spring.datasource.password</a:t>
            </a:r>
            <a:r>
              <a:rPr lang="it-IT" dirty="0"/>
              <a:t>=</a:t>
            </a:r>
            <a:r>
              <a:rPr lang="it-IT" dirty="0" err="1"/>
              <a:t>user_password_skill</a:t>
            </a:r>
            <a:endParaRPr lang="it-IT" dirty="0"/>
          </a:p>
          <a:p>
            <a:r>
              <a:rPr lang="it-IT" dirty="0" err="1"/>
              <a:t>spring.datasource.driver</a:t>
            </a:r>
            <a:r>
              <a:rPr lang="it-IT" dirty="0"/>
              <a:t>-class-name=</a:t>
            </a:r>
            <a:r>
              <a:rPr lang="it-IT" dirty="0" err="1"/>
              <a:t>org.mariadb.jdbc.Driver</a:t>
            </a:r>
            <a:endParaRPr lang="it-IT" dirty="0"/>
          </a:p>
          <a:p>
            <a:endParaRPr lang="it-IT" dirty="0"/>
          </a:p>
          <a:p>
            <a:r>
              <a:rPr lang="it-IT" dirty="0"/>
              <a:t># Configurazione </a:t>
            </a:r>
            <a:r>
              <a:rPr lang="it-IT" dirty="0" err="1"/>
              <a:t>Hibernate</a:t>
            </a:r>
            <a:r>
              <a:rPr lang="it-IT" dirty="0"/>
              <a:t> (DDL Auto)</a:t>
            </a:r>
          </a:p>
          <a:p>
            <a:r>
              <a:rPr lang="it-IT" dirty="0"/>
              <a:t># 'update' istruisce </a:t>
            </a:r>
            <a:r>
              <a:rPr lang="it-IT" dirty="0" err="1"/>
              <a:t>Hibernate</a:t>
            </a:r>
            <a:r>
              <a:rPr lang="it-IT" dirty="0"/>
              <a:t> a creare automaticamente le tabelle se mancano o aggiornarle</a:t>
            </a:r>
          </a:p>
          <a:p>
            <a:r>
              <a:rPr lang="it-IT" dirty="0" err="1"/>
              <a:t>spring.jpa.hibernate.ddl</a:t>
            </a:r>
            <a:r>
              <a:rPr lang="it-IT" dirty="0"/>
              <a:t>-auto=update</a:t>
            </a:r>
          </a:p>
          <a:p>
            <a:endParaRPr lang="it-IT" dirty="0"/>
          </a:p>
          <a:p>
            <a:r>
              <a:rPr lang="it-IT" dirty="0"/>
              <a:t># Mostra le query SQL generate da </a:t>
            </a:r>
            <a:r>
              <a:rPr lang="it-IT" dirty="0" err="1"/>
              <a:t>Hibernate</a:t>
            </a:r>
            <a:r>
              <a:rPr lang="it-IT" dirty="0"/>
              <a:t> nel terminale (ottimo per il debug)</a:t>
            </a:r>
          </a:p>
          <a:p>
            <a:r>
              <a:rPr lang="it-IT" dirty="0" err="1"/>
              <a:t>spring.jpa.show-sql</a:t>
            </a:r>
            <a:r>
              <a:rPr lang="it-IT" dirty="0"/>
              <a:t>=</a:t>
            </a:r>
            <a:r>
              <a:rPr lang="it-IT" dirty="0" err="1"/>
              <a:t>true</a:t>
            </a:r>
            <a:endParaRPr lang="it-IT" dirty="0"/>
          </a:p>
          <a:p>
            <a:r>
              <a:rPr lang="it-IT" dirty="0" err="1"/>
              <a:t>spring.jpa.properties.hibernate.format_sql</a:t>
            </a:r>
            <a:r>
              <a:rPr lang="it-IT" dirty="0"/>
              <a:t>=</a:t>
            </a:r>
            <a:r>
              <a:rPr lang="it-IT" dirty="0" err="1"/>
              <a:t>true</a:t>
            </a:r>
            <a:endParaRPr lang="it-IT" sz="1600" dirty="0"/>
          </a:p>
        </p:txBody>
      </p:sp>
      <p:sp>
        <p:nvSpPr>
          <p:cNvPr id="12" name="Segnaposto numero diapositiva 11">
            <a:extLst>
              <a:ext uri="{FF2B5EF4-FFF2-40B4-BE49-F238E27FC236}">
                <a16:creationId xmlns:a16="http://schemas.microsoft.com/office/drawing/2014/main" id="{C549D413-0549-42D6-68D1-50F52108FF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it-IT" dirty="0"/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69428623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436888-2981-9CC1-2209-ADE672177F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della lezione">
            <a:extLst>
              <a:ext uri="{FF2B5EF4-FFF2-40B4-BE49-F238E27FC236}">
                <a16:creationId xmlns:a16="http://schemas.microsoft.com/office/drawing/2014/main" id="{D8201046-0348-7968-90F6-80508C747B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31206"/>
            <a:ext cx="10515600" cy="314198"/>
          </a:xfrm>
        </p:spPr>
        <p:txBody>
          <a:bodyPr/>
          <a:lstStyle/>
          <a:p>
            <a:r>
              <a:rPr lang="it-IT" dirty="0"/>
              <a:t>Slide 10: step 6/1 - </a:t>
            </a:r>
            <a:r>
              <a:rPr lang="it-IT" dirty="0" err="1"/>
              <a:t>dockerfile</a:t>
            </a:r>
            <a:r>
              <a:rPr lang="it-IT" dirty="0"/>
              <a:t> a due stage </a:t>
            </a:r>
          </a:p>
        </p:txBody>
      </p:sp>
      <p:sp>
        <p:nvSpPr>
          <p:cNvPr id="3" name="Contenuto della lezione">
            <a:extLst>
              <a:ext uri="{FF2B5EF4-FFF2-40B4-BE49-F238E27FC236}">
                <a16:creationId xmlns:a16="http://schemas.microsoft.com/office/drawing/2014/main" id="{AAD3E11C-B4C4-688B-C5A9-839F5DC695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363070"/>
            <a:ext cx="10308772" cy="4803369"/>
          </a:xfrm>
        </p:spPr>
        <p:txBody>
          <a:bodyPr/>
          <a:lstStyle/>
          <a:p>
            <a:r>
              <a:rPr lang="it-IT" dirty="0">
                <a:latin typeface="Consolas" panose="020B0609020204030204" pitchFamily="49" charset="0"/>
              </a:rPr>
              <a:t># Fase 1: Compilazione (Build)</a:t>
            </a:r>
          </a:p>
          <a:p>
            <a:r>
              <a:rPr lang="it-IT" dirty="0">
                <a:latin typeface="Consolas" panose="020B0609020204030204" pitchFamily="49" charset="0"/>
              </a:rPr>
              <a:t>FROM maven:3.9-eclipse-temurin-17-alpine AS build</a:t>
            </a:r>
          </a:p>
          <a:p>
            <a:r>
              <a:rPr lang="it-IT" dirty="0">
                <a:latin typeface="Consolas" panose="020B0609020204030204" pitchFamily="49" charset="0"/>
              </a:rPr>
              <a:t>WORKDIR /app</a:t>
            </a:r>
          </a:p>
          <a:p>
            <a:endParaRPr lang="it-IT" dirty="0">
              <a:latin typeface="Consolas" panose="020B0609020204030204" pitchFamily="49" charset="0"/>
            </a:endParaRPr>
          </a:p>
          <a:p>
            <a:r>
              <a:rPr lang="it-IT" dirty="0">
                <a:latin typeface="Consolas" panose="020B0609020204030204" pitchFamily="49" charset="0"/>
              </a:rPr>
              <a:t># Copiamo il </a:t>
            </a:r>
            <a:r>
              <a:rPr lang="it-IT" dirty="0" err="1">
                <a:latin typeface="Consolas" panose="020B0609020204030204" pitchFamily="49" charset="0"/>
              </a:rPr>
              <a:t>pom</a:t>
            </a:r>
            <a:r>
              <a:rPr lang="it-IT" dirty="0">
                <a:latin typeface="Consolas" panose="020B0609020204030204" pitchFamily="49" charset="0"/>
              </a:rPr>
              <a:t> e i sorgenti dentro il container</a:t>
            </a:r>
          </a:p>
          <a:p>
            <a:r>
              <a:rPr lang="it-IT" dirty="0">
                <a:latin typeface="Consolas" panose="020B0609020204030204" pitchFamily="49" charset="0"/>
              </a:rPr>
              <a:t>COPY pom.xml .</a:t>
            </a:r>
          </a:p>
          <a:p>
            <a:r>
              <a:rPr lang="it-IT" dirty="0">
                <a:latin typeface="Consolas" panose="020B0609020204030204" pitchFamily="49" charset="0"/>
              </a:rPr>
              <a:t>COPY </a:t>
            </a:r>
            <a:r>
              <a:rPr lang="it-IT" dirty="0" err="1">
                <a:latin typeface="Consolas" panose="020B0609020204030204" pitchFamily="49" charset="0"/>
              </a:rPr>
              <a:t>src</a:t>
            </a:r>
            <a:r>
              <a:rPr lang="it-IT" dirty="0">
                <a:latin typeface="Consolas" panose="020B0609020204030204" pitchFamily="49" charset="0"/>
              </a:rPr>
              <a:t> ./</a:t>
            </a:r>
            <a:r>
              <a:rPr lang="it-IT" dirty="0" err="1">
                <a:latin typeface="Consolas" panose="020B0609020204030204" pitchFamily="49" charset="0"/>
              </a:rPr>
              <a:t>src</a:t>
            </a:r>
            <a:endParaRPr lang="it-IT" dirty="0">
              <a:latin typeface="Consolas" panose="020B0609020204030204" pitchFamily="49" charset="0"/>
            </a:endParaRPr>
          </a:p>
          <a:p>
            <a:endParaRPr lang="it-IT" dirty="0">
              <a:latin typeface="Consolas" panose="020B0609020204030204" pitchFamily="49" charset="0"/>
            </a:endParaRPr>
          </a:p>
          <a:p>
            <a:r>
              <a:rPr lang="it-IT" dirty="0">
                <a:latin typeface="Consolas" panose="020B0609020204030204" pitchFamily="49" charset="0"/>
              </a:rPr>
              <a:t># Compiliamo il progetto creando il file .</a:t>
            </a:r>
            <a:r>
              <a:rPr lang="it-IT" dirty="0" err="1">
                <a:latin typeface="Consolas" panose="020B0609020204030204" pitchFamily="49" charset="0"/>
              </a:rPr>
              <a:t>jar</a:t>
            </a:r>
            <a:r>
              <a:rPr lang="it-IT" dirty="0">
                <a:latin typeface="Consolas" panose="020B0609020204030204" pitchFamily="49" charset="0"/>
              </a:rPr>
              <a:t> ed escludendo i test per velocizzare</a:t>
            </a:r>
          </a:p>
          <a:p>
            <a:r>
              <a:rPr lang="it-IT" dirty="0">
                <a:latin typeface="Consolas" panose="020B0609020204030204" pitchFamily="49" charset="0"/>
              </a:rPr>
              <a:t>RUN </a:t>
            </a:r>
            <a:r>
              <a:rPr lang="it-IT" dirty="0" err="1">
                <a:latin typeface="Consolas" panose="020B0609020204030204" pitchFamily="49" charset="0"/>
              </a:rPr>
              <a:t>mvn</a:t>
            </a:r>
            <a:r>
              <a:rPr lang="it-IT" dirty="0">
                <a:latin typeface="Consolas" panose="020B0609020204030204" pitchFamily="49" charset="0"/>
              </a:rPr>
              <a:t> </a:t>
            </a:r>
            <a:r>
              <a:rPr lang="it-IT" dirty="0" err="1">
                <a:latin typeface="Consolas" panose="020B0609020204030204" pitchFamily="49" charset="0"/>
              </a:rPr>
              <a:t>clean</a:t>
            </a:r>
            <a:r>
              <a:rPr lang="it-IT" dirty="0">
                <a:latin typeface="Consolas" panose="020B0609020204030204" pitchFamily="49" charset="0"/>
              </a:rPr>
              <a:t> package -</a:t>
            </a:r>
            <a:r>
              <a:rPr lang="it-IT" dirty="0" err="1">
                <a:latin typeface="Consolas" panose="020B0609020204030204" pitchFamily="49" charset="0"/>
              </a:rPr>
              <a:t>DskipTests</a:t>
            </a:r>
            <a:endParaRPr lang="it-IT" dirty="0">
              <a:latin typeface="Consolas" panose="020B0609020204030204" pitchFamily="49" charset="0"/>
            </a:endParaRPr>
          </a:p>
          <a:p>
            <a:endParaRPr lang="it-IT" dirty="0"/>
          </a:p>
        </p:txBody>
      </p:sp>
      <p:sp>
        <p:nvSpPr>
          <p:cNvPr id="12" name="Segnaposto numero diapositiva 11">
            <a:extLst>
              <a:ext uri="{FF2B5EF4-FFF2-40B4-BE49-F238E27FC236}">
                <a16:creationId xmlns:a16="http://schemas.microsoft.com/office/drawing/2014/main" id="{C21D622E-82E9-73C4-2E4B-536F730BA8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it-IT" dirty="0"/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297691283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0ED440-1156-7FDD-B613-8A54C6D841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della lezione">
            <a:extLst>
              <a:ext uri="{FF2B5EF4-FFF2-40B4-BE49-F238E27FC236}">
                <a16:creationId xmlns:a16="http://schemas.microsoft.com/office/drawing/2014/main" id="{6C4FE5B9-92A7-1CA8-B612-478C0A69CE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31206"/>
            <a:ext cx="10515600" cy="314198"/>
          </a:xfrm>
        </p:spPr>
        <p:txBody>
          <a:bodyPr/>
          <a:lstStyle/>
          <a:p>
            <a:r>
              <a:rPr lang="it-IT" dirty="0"/>
              <a:t>Slide 11: step 6/2 - </a:t>
            </a:r>
            <a:r>
              <a:rPr lang="it-IT" dirty="0" err="1"/>
              <a:t>dockerfile</a:t>
            </a:r>
            <a:r>
              <a:rPr lang="it-IT" dirty="0"/>
              <a:t> a due stage </a:t>
            </a:r>
          </a:p>
        </p:txBody>
      </p:sp>
      <p:sp>
        <p:nvSpPr>
          <p:cNvPr id="3" name="Contenuto della lezione">
            <a:extLst>
              <a:ext uri="{FF2B5EF4-FFF2-40B4-BE49-F238E27FC236}">
                <a16:creationId xmlns:a16="http://schemas.microsoft.com/office/drawing/2014/main" id="{84B38331-E5B9-DC98-5026-64C2EA4C68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363070"/>
            <a:ext cx="10308772" cy="4803369"/>
          </a:xfrm>
        </p:spPr>
        <p:txBody>
          <a:bodyPr/>
          <a:lstStyle/>
          <a:p>
            <a:r>
              <a:rPr lang="it-IT" dirty="0">
                <a:latin typeface="Consolas" panose="020B0609020204030204" pitchFamily="49" charset="0"/>
              </a:rPr>
              <a:t># Fase 2: Runtime leggero per l'esecuzione</a:t>
            </a:r>
          </a:p>
          <a:p>
            <a:r>
              <a:rPr lang="it-IT" dirty="0">
                <a:latin typeface="Consolas" panose="020B0609020204030204" pitchFamily="49" charset="0"/>
              </a:rPr>
              <a:t>FROM eclipse-temurin:17-jre-alpine</a:t>
            </a:r>
          </a:p>
          <a:p>
            <a:r>
              <a:rPr lang="it-IT" dirty="0">
                <a:latin typeface="Consolas" panose="020B0609020204030204" pitchFamily="49" charset="0"/>
              </a:rPr>
              <a:t>WORKDIR /app</a:t>
            </a:r>
          </a:p>
          <a:p>
            <a:endParaRPr lang="it-IT" dirty="0">
              <a:latin typeface="Consolas" panose="020B0609020204030204" pitchFamily="49" charset="0"/>
            </a:endParaRPr>
          </a:p>
          <a:p>
            <a:r>
              <a:rPr lang="it-IT" dirty="0">
                <a:latin typeface="Consolas" panose="020B0609020204030204" pitchFamily="49" charset="0"/>
              </a:rPr>
              <a:t># Copiamo solo il file .</a:t>
            </a:r>
            <a:r>
              <a:rPr lang="it-IT" dirty="0" err="1">
                <a:latin typeface="Consolas" panose="020B0609020204030204" pitchFamily="49" charset="0"/>
              </a:rPr>
              <a:t>jar</a:t>
            </a:r>
            <a:r>
              <a:rPr lang="it-IT" dirty="0">
                <a:latin typeface="Consolas" panose="020B0609020204030204" pitchFamily="49" charset="0"/>
              </a:rPr>
              <a:t> generato dalla fase precedente</a:t>
            </a:r>
          </a:p>
          <a:p>
            <a:r>
              <a:rPr lang="it-IT" dirty="0">
                <a:latin typeface="Consolas" panose="020B0609020204030204" pitchFamily="49" charset="0"/>
              </a:rPr>
              <a:t>COPY --from=build /app/target/*.</a:t>
            </a:r>
            <a:r>
              <a:rPr lang="it-IT" dirty="0" err="1">
                <a:latin typeface="Consolas" panose="020B0609020204030204" pitchFamily="49" charset="0"/>
              </a:rPr>
              <a:t>jar</a:t>
            </a:r>
            <a:r>
              <a:rPr lang="it-IT" dirty="0">
                <a:latin typeface="Consolas" panose="020B0609020204030204" pitchFamily="49" charset="0"/>
              </a:rPr>
              <a:t> app.jar</a:t>
            </a:r>
          </a:p>
          <a:p>
            <a:endParaRPr lang="it-IT" dirty="0">
              <a:latin typeface="Consolas" panose="020B0609020204030204" pitchFamily="49" charset="0"/>
            </a:endParaRPr>
          </a:p>
          <a:p>
            <a:r>
              <a:rPr lang="it-IT" dirty="0">
                <a:latin typeface="Consolas" panose="020B0609020204030204" pitchFamily="49" charset="0"/>
              </a:rPr>
              <a:t># Esponiamo la porta interna di Spring Boot</a:t>
            </a:r>
          </a:p>
          <a:p>
            <a:r>
              <a:rPr lang="it-IT" dirty="0">
                <a:latin typeface="Consolas" panose="020B0609020204030204" pitchFamily="49" charset="0"/>
              </a:rPr>
              <a:t>EXPOSE 8080</a:t>
            </a:r>
          </a:p>
          <a:p>
            <a:endParaRPr lang="it-IT" dirty="0">
              <a:latin typeface="Consolas" panose="020B0609020204030204" pitchFamily="49" charset="0"/>
            </a:endParaRPr>
          </a:p>
          <a:p>
            <a:r>
              <a:rPr lang="it-IT" dirty="0">
                <a:latin typeface="Consolas" panose="020B0609020204030204" pitchFamily="49" charset="0"/>
              </a:rPr>
              <a:t># Avviamo l'applicazione</a:t>
            </a:r>
          </a:p>
          <a:p>
            <a:r>
              <a:rPr lang="it-IT" dirty="0">
                <a:latin typeface="Consolas" panose="020B0609020204030204" pitchFamily="49" charset="0"/>
              </a:rPr>
              <a:t>ENTRYPOINT ["java", "-</a:t>
            </a:r>
            <a:r>
              <a:rPr lang="it-IT" dirty="0" err="1">
                <a:latin typeface="Consolas" panose="020B0609020204030204" pitchFamily="49" charset="0"/>
              </a:rPr>
              <a:t>jar</a:t>
            </a:r>
            <a:r>
              <a:rPr lang="it-IT" dirty="0">
                <a:latin typeface="Consolas" panose="020B0609020204030204" pitchFamily="49" charset="0"/>
              </a:rPr>
              <a:t>", "app.jar"]</a:t>
            </a:r>
            <a:endParaRPr lang="it-IT" dirty="0">
              <a:solidFill>
                <a:srgbClr val="171FE2"/>
              </a:solidFill>
              <a:latin typeface="Consolas" panose="020B0609020204030204" pitchFamily="49" charset="0"/>
            </a:endParaRPr>
          </a:p>
        </p:txBody>
      </p:sp>
      <p:sp>
        <p:nvSpPr>
          <p:cNvPr id="12" name="Segnaposto numero diapositiva 11">
            <a:extLst>
              <a:ext uri="{FF2B5EF4-FFF2-40B4-BE49-F238E27FC236}">
                <a16:creationId xmlns:a16="http://schemas.microsoft.com/office/drawing/2014/main" id="{B62545AB-A89D-3085-BD09-04A611171D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it-IT" dirty="0"/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81198310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B33A033-F80F-0341-855C-3483E0C4E1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Slide 12: Step 7 – Integrazione del </a:t>
            </a:r>
            <a:r>
              <a:rPr lang="it-IT" dirty="0" err="1"/>
              <a:t>Backend</a:t>
            </a:r>
            <a:r>
              <a:rPr lang="it-IT" dirty="0"/>
              <a:t> nel </a:t>
            </a:r>
            <a:r>
              <a:rPr lang="it-IT" dirty="0" err="1"/>
              <a:t>docker-compose.yml</a:t>
            </a:r>
            <a:br>
              <a:rPr lang="it-IT" dirty="0"/>
            </a:br>
            <a:endParaRPr lang="it-IT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50996758-1838-3643-7C7D-8C98EE7135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it-IT" dirty="0"/>
              <a:t>Aprire il file </a:t>
            </a:r>
            <a:r>
              <a:rPr lang="it-IT" dirty="0" err="1"/>
              <a:t>docker-compose.yml</a:t>
            </a:r>
            <a:r>
              <a:rPr lang="it-IT" dirty="0"/>
              <a:t> nella radice del progetto e aggiungere il servizio </a:t>
            </a:r>
            <a:r>
              <a:rPr lang="it-IT" dirty="0" err="1"/>
              <a:t>enterprise-backend</a:t>
            </a:r>
            <a:r>
              <a:rPr lang="it-IT" dirty="0"/>
              <a:t> subito sotto </a:t>
            </a:r>
            <a:r>
              <a:rPr lang="it-IT" dirty="0" err="1"/>
              <a:t>phpMyAdmin</a:t>
            </a:r>
            <a:r>
              <a:rPr lang="it-IT" dirty="0"/>
              <a:t>:</a:t>
            </a:r>
          </a:p>
          <a:p>
            <a:r>
              <a:rPr lang="en-US" dirty="0">
                <a:latin typeface="Consolas" panose="020B0609020204030204" pitchFamily="49" charset="0"/>
              </a:rPr>
              <a:t>enterprise-backend:</a:t>
            </a:r>
          </a:p>
          <a:p>
            <a:r>
              <a:rPr lang="en-US" dirty="0">
                <a:latin typeface="Consolas" panose="020B0609020204030204" pitchFamily="49" charset="0"/>
              </a:rPr>
              <a:t>    build: ./backend</a:t>
            </a:r>
          </a:p>
          <a:p>
            <a:r>
              <a:rPr lang="en-US" dirty="0">
                <a:latin typeface="Consolas" panose="020B0609020204030204" pitchFamily="49" charset="0"/>
              </a:rPr>
              <a:t>    </a:t>
            </a:r>
            <a:r>
              <a:rPr lang="en-US" dirty="0" err="1">
                <a:latin typeface="Consolas" panose="020B0609020204030204" pitchFamily="49" charset="0"/>
              </a:rPr>
              <a:t>container_name</a:t>
            </a:r>
            <a:r>
              <a:rPr lang="en-US" dirty="0">
                <a:latin typeface="Consolas" panose="020B0609020204030204" pitchFamily="49" charset="0"/>
              </a:rPr>
              <a:t>: </a:t>
            </a:r>
            <a:r>
              <a:rPr lang="en-US" dirty="0" err="1">
                <a:latin typeface="Consolas" panose="020B0609020204030204" pitchFamily="49" charset="0"/>
              </a:rPr>
              <a:t>app_enterprise_backend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</a:rPr>
              <a:t>    restart: unless-stopped</a:t>
            </a:r>
          </a:p>
          <a:p>
            <a:r>
              <a:rPr lang="en-US" dirty="0">
                <a:latin typeface="Consolas" panose="020B0609020204030204" pitchFamily="49" charset="0"/>
              </a:rPr>
              <a:t>    </a:t>
            </a:r>
            <a:r>
              <a:rPr lang="en-US" dirty="0" err="1">
                <a:latin typeface="Consolas" panose="020B0609020204030204" pitchFamily="49" charset="0"/>
              </a:rPr>
              <a:t>depends_on</a:t>
            </a:r>
            <a:r>
              <a:rPr lang="en-US" dirty="0">
                <a:latin typeface="Consolas" panose="020B0609020204030204" pitchFamily="49" charset="0"/>
              </a:rPr>
              <a:t>:</a:t>
            </a:r>
          </a:p>
          <a:p>
            <a:r>
              <a:rPr lang="en-US" dirty="0">
                <a:latin typeface="Consolas" panose="020B0609020204030204" pitchFamily="49" charset="0"/>
              </a:rPr>
              <a:t>      - enterprise-database</a:t>
            </a:r>
          </a:p>
          <a:p>
            <a:r>
              <a:rPr lang="en-US" dirty="0">
                <a:latin typeface="Consolas" panose="020B0609020204030204" pitchFamily="49" charset="0"/>
              </a:rPr>
              <a:t>    networks:</a:t>
            </a:r>
          </a:p>
          <a:p>
            <a:r>
              <a:rPr lang="en-US" dirty="0">
                <a:latin typeface="Consolas" panose="020B0609020204030204" pitchFamily="49" charset="0"/>
              </a:rPr>
              <a:t>      - </a:t>
            </a:r>
            <a:r>
              <a:rPr lang="en-US" dirty="0" err="1">
                <a:latin typeface="Consolas" panose="020B0609020204030204" pitchFamily="49" charset="0"/>
              </a:rPr>
              <a:t>rete_enterprise</a:t>
            </a:r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DA29D4ED-6E6F-745A-9F3F-D9BCCE9595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it-IT" dirty="0"/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301953100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F2DFE7-4682-1DA7-9CEA-46F5E22309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della lezione">
            <a:extLst>
              <a:ext uri="{FF2B5EF4-FFF2-40B4-BE49-F238E27FC236}">
                <a16:creationId xmlns:a16="http://schemas.microsoft.com/office/drawing/2014/main" id="{13F7E20A-B029-D672-F8C8-D0614BAE7E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31206"/>
            <a:ext cx="10515600" cy="314198"/>
          </a:xfrm>
        </p:spPr>
        <p:txBody>
          <a:bodyPr/>
          <a:lstStyle/>
          <a:p>
            <a:r>
              <a:rPr lang="it-IT" dirty="0"/>
              <a:t>Slide 13: Step 8 – Aggiornamento del Cluster Docker</a:t>
            </a:r>
          </a:p>
        </p:txBody>
      </p:sp>
      <p:sp>
        <p:nvSpPr>
          <p:cNvPr id="3" name="Contenuto della lezione">
            <a:extLst>
              <a:ext uri="{FF2B5EF4-FFF2-40B4-BE49-F238E27FC236}">
                <a16:creationId xmlns:a16="http://schemas.microsoft.com/office/drawing/2014/main" id="{8E39968D-74BE-978A-2C0B-39FD2E6CE3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363070"/>
            <a:ext cx="10308772" cy="4803369"/>
          </a:xfrm>
        </p:spPr>
        <p:txBody>
          <a:bodyPr/>
          <a:lstStyle/>
          <a:p>
            <a:r>
              <a:rPr lang="it-IT" dirty="0"/>
              <a:t>Lanciare nel terminale il comando per inserire il nuovo container all'interno della nostra rete virtuale:</a:t>
            </a:r>
          </a:p>
          <a:p>
            <a:r>
              <a:rPr lang="it-IT" dirty="0" err="1"/>
              <a:t>docker</a:t>
            </a:r>
            <a:r>
              <a:rPr lang="it-IT" dirty="0"/>
              <a:t> compose up -d </a:t>
            </a:r>
            <a:r>
              <a:rPr lang="it-IT" dirty="0" err="1"/>
              <a:t>enterprise-backend</a:t>
            </a:r>
            <a:endParaRPr lang="it-IT" dirty="0"/>
          </a:p>
          <a:p>
            <a:r>
              <a:rPr lang="it-IT" dirty="0"/>
              <a:t>Per verificare che Spring Boot stia partendo correttamente e che il server Tomcat integrato si stia accendendo sulla porta standard 8080 (interna), monitoriamo i log del container:</a:t>
            </a:r>
          </a:p>
          <a:p>
            <a:r>
              <a:rPr lang="it-IT" dirty="0" err="1"/>
              <a:t>docker</a:t>
            </a:r>
            <a:r>
              <a:rPr lang="it-IT" dirty="0"/>
              <a:t> compose logs -f </a:t>
            </a:r>
            <a:r>
              <a:rPr lang="it-IT" dirty="0" err="1"/>
              <a:t>enterprise-backend</a:t>
            </a:r>
            <a:endParaRPr lang="it-IT" dirty="0"/>
          </a:p>
          <a:p>
            <a:r>
              <a:rPr lang="it-IT" dirty="0"/>
              <a:t>Il primo avvio richiederà un po' di tempo perché Maven deve scaricare tutti i pacchetti dichiarati nel pom.xml. Al termine, nei log dovrà comparire la scritta: </a:t>
            </a:r>
            <a:r>
              <a:rPr lang="it-IT" dirty="0" err="1"/>
              <a:t>Started</a:t>
            </a:r>
            <a:r>
              <a:rPr lang="it-IT" dirty="0"/>
              <a:t> Application in X seconds.</a:t>
            </a:r>
          </a:p>
        </p:txBody>
      </p:sp>
      <p:sp>
        <p:nvSpPr>
          <p:cNvPr id="12" name="Segnaposto numero diapositiva 11">
            <a:extLst>
              <a:ext uri="{FF2B5EF4-FFF2-40B4-BE49-F238E27FC236}">
                <a16:creationId xmlns:a16="http://schemas.microsoft.com/office/drawing/2014/main" id="{B1EC4C4C-1ECC-0D2C-4FA4-178F95AE2D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it-IT" dirty="0"/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230694525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53FA3F-1B9A-F29E-9348-7BAD914A98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della lezione">
            <a:extLst>
              <a:ext uri="{FF2B5EF4-FFF2-40B4-BE49-F238E27FC236}">
                <a16:creationId xmlns:a16="http://schemas.microsoft.com/office/drawing/2014/main" id="{CA27FD0C-E061-FF6C-9107-1F48099C8D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31206"/>
            <a:ext cx="10515600" cy="314198"/>
          </a:xfrm>
        </p:spPr>
        <p:txBody>
          <a:bodyPr/>
          <a:lstStyle/>
          <a:p>
            <a:r>
              <a:rPr lang="it-IT" dirty="0"/>
              <a:t>Slide 14: Step 9 – Creazione del </a:t>
            </a:r>
            <a:r>
              <a:rPr lang="it-IT" dirty="0" err="1"/>
              <a:t>Frontend</a:t>
            </a:r>
            <a:r>
              <a:rPr lang="it-IT" dirty="0"/>
              <a:t> React Enterprise</a:t>
            </a:r>
          </a:p>
        </p:txBody>
      </p:sp>
      <p:sp>
        <p:nvSpPr>
          <p:cNvPr id="3" name="Contenuto della lezione">
            <a:extLst>
              <a:ext uri="{FF2B5EF4-FFF2-40B4-BE49-F238E27FC236}">
                <a16:creationId xmlns:a16="http://schemas.microsoft.com/office/drawing/2014/main" id="{8724D3EF-7109-7171-DA93-6BFBC1A35F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552981"/>
            <a:ext cx="10515599" cy="4803369"/>
          </a:xfrm>
        </p:spPr>
        <p:txBody>
          <a:bodyPr/>
          <a:lstStyle/>
          <a:p>
            <a:r>
              <a:rPr lang="it-IT" dirty="0"/>
              <a:t>Spostiamoci nella cartella </a:t>
            </a:r>
            <a:r>
              <a:rPr lang="it-IT" dirty="0" err="1"/>
              <a:t>frontend</a:t>
            </a:r>
            <a:r>
              <a:rPr lang="it-IT" dirty="0"/>
              <a:t>/ del nostro progetto. </a:t>
            </a:r>
          </a:p>
          <a:p>
            <a:r>
              <a:rPr lang="it-IT" dirty="0"/>
              <a:t>Aprire il file </a:t>
            </a:r>
            <a:r>
              <a:rPr lang="it-IT" dirty="0" err="1"/>
              <a:t>frontend</a:t>
            </a:r>
            <a:r>
              <a:rPr lang="it-IT" dirty="0"/>
              <a:t>/index.html e definire il nuovo stato React per raccogliere i dati aziendali richiesti: username ed email. </a:t>
            </a:r>
          </a:p>
          <a:p>
            <a:r>
              <a:rPr lang="it-IT" dirty="0"/>
              <a:t>L'URL della fetch punterà alla rotta del </a:t>
            </a:r>
            <a:r>
              <a:rPr lang="it-IT" dirty="0" err="1"/>
              <a:t>backend</a:t>
            </a:r>
            <a:r>
              <a:rPr lang="it-IT" dirty="0"/>
              <a:t> Spring Boot (/api/utenti).</a:t>
            </a:r>
          </a:p>
          <a:p>
            <a:endParaRPr lang="it-IT" dirty="0">
              <a:solidFill>
                <a:srgbClr val="171FE2"/>
              </a:solidFill>
            </a:endParaRPr>
          </a:p>
        </p:txBody>
      </p:sp>
      <p:sp>
        <p:nvSpPr>
          <p:cNvPr id="12" name="Segnaposto numero diapositiva 11">
            <a:extLst>
              <a:ext uri="{FF2B5EF4-FFF2-40B4-BE49-F238E27FC236}">
                <a16:creationId xmlns:a16="http://schemas.microsoft.com/office/drawing/2014/main" id="{E212C000-1193-EC9B-C121-7FB805A7D6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it-IT" dirty="0"/>
              <a:t>14</a:t>
            </a:r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C3B7397E-E0FA-B382-779C-AAEF2B3BE830}"/>
              </a:ext>
            </a:extLst>
          </p:cNvPr>
          <p:cNvSpPr txBox="1"/>
          <p:nvPr/>
        </p:nvSpPr>
        <p:spPr>
          <a:xfrm>
            <a:off x="838197" y="3226333"/>
            <a:ext cx="6429829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 err="1">
                <a:latin typeface="Consolas" panose="020B0609020204030204" pitchFamily="49" charset="0"/>
              </a:rPr>
              <a:t>enterprise-frontend</a:t>
            </a:r>
            <a:r>
              <a:rPr lang="it-IT" dirty="0">
                <a:latin typeface="Consolas" panose="020B0609020204030204" pitchFamily="49" charset="0"/>
              </a:rPr>
              <a:t>:</a:t>
            </a:r>
          </a:p>
          <a:p>
            <a:r>
              <a:rPr lang="it-IT" dirty="0">
                <a:latin typeface="Consolas" panose="020B0609020204030204" pitchFamily="49" charset="0"/>
              </a:rPr>
              <a:t>    image: '</a:t>
            </a:r>
            <a:r>
              <a:rPr lang="it-IT" dirty="0" err="1">
                <a:latin typeface="Consolas" panose="020B0609020204030204" pitchFamily="49" charset="0"/>
              </a:rPr>
              <a:t>nginx:alpine</a:t>
            </a:r>
            <a:r>
              <a:rPr lang="it-IT" dirty="0">
                <a:latin typeface="Consolas" panose="020B0609020204030204" pitchFamily="49" charset="0"/>
              </a:rPr>
              <a:t>'</a:t>
            </a:r>
          </a:p>
          <a:p>
            <a:r>
              <a:rPr lang="it-IT" dirty="0">
                <a:latin typeface="Consolas" panose="020B0609020204030204" pitchFamily="49" charset="0"/>
              </a:rPr>
              <a:t>    </a:t>
            </a:r>
            <a:r>
              <a:rPr lang="it-IT" dirty="0" err="1">
                <a:latin typeface="Consolas" panose="020B0609020204030204" pitchFamily="49" charset="0"/>
              </a:rPr>
              <a:t>container_name</a:t>
            </a:r>
            <a:r>
              <a:rPr lang="it-IT" dirty="0">
                <a:latin typeface="Consolas" panose="020B0609020204030204" pitchFamily="49" charset="0"/>
              </a:rPr>
              <a:t>: </a:t>
            </a:r>
            <a:r>
              <a:rPr lang="it-IT" dirty="0" err="1">
                <a:latin typeface="Consolas" panose="020B0609020204030204" pitchFamily="49" charset="0"/>
              </a:rPr>
              <a:t>app_enterprise_frontend</a:t>
            </a:r>
            <a:endParaRPr lang="it-IT" dirty="0">
              <a:latin typeface="Consolas" panose="020B0609020204030204" pitchFamily="49" charset="0"/>
            </a:endParaRPr>
          </a:p>
          <a:p>
            <a:r>
              <a:rPr lang="it-IT" dirty="0">
                <a:latin typeface="Consolas" panose="020B0609020204030204" pitchFamily="49" charset="0"/>
              </a:rPr>
              <a:t>    </a:t>
            </a:r>
            <a:r>
              <a:rPr lang="it-IT" dirty="0" err="1">
                <a:latin typeface="Consolas" panose="020B0609020204030204" pitchFamily="49" charset="0"/>
              </a:rPr>
              <a:t>restart</a:t>
            </a:r>
            <a:r>
              <a:rPr lang="it-IT" dirty="0">
                <a:latin typeface="Consolas" panose="020B0609020204030204" pitchFamily="49" charset="0"/>
              </a:rPr>
              <a:t>: </a:t>
            </a:r>
            <a:r>
              <a:rPr lang="it-IT" dirty="0" err="1">
                <a:latin typeface="Consolas" panose="020B0609020204030204" pitchFamily="49" charset="0"/>
              </a:rPr>
              <a:t>unless-stopped</a:t>
            </a:r>
            <a:endParaRPr lang="it-IT" dirty="0">
              <a:latin typeface="Consolas" panose="020B0609020204030204" pitchFamily="49" charset="0"/>
            </a:endParaRPr>
          </a:p>
          <a:p>
            <a:r>
              <a:rPr lang="it-IT" dirty="0">
                <a:latin typeface="Consolas" panose="020B0609020204030204" pitchFamily="49" charset="0"/>
              </a:rPr>
              <a:t>    </a:t>
            </a:r>
            <a:r>
              <a:rPr lang="it-IT" dirty="0" err="1">
                <a:latin typeface="Consolas" panose="020B0609020204030204" pitchFamily="49" charset="0"/>
              </a:rPr>
              <a:t>volumes</a:t>
            </a:r>
            <a:r>
              <a:rPr lang="it-IT" dirty="0">
                <a:latin typeface="Consolas" panose="020B0609020204030204" pitchFamily="49" charset="0"/>
              </a:rPr>
              <a:t>:</a:t>
            </a:r>
          </a:p>
          <a:p>
            <a:r>
              <a:rPr lang="it-IT" dirty="0">
                <a:latin typeface="Consolas" panose="020B0609020204030204" pitchFamily="49" charset="0"/>
              </a:rPr>
              <a:t>      - ./</a:t>
            </a:r>
            <a:r>
              <a:rPr lang="it-IT" dirty="0" err="1">
                <a:latin typeface="Consolas" panose="020B0609020204030204" pitchFamily="49" charset="0"/>
              </a:rPr>
              <a:t>frontend</a:t>
            </a:r>
            <a:r>
              <a:rPr lang="it-IT" dirty="0">
                <a:latin typeface="Consolas" panose="020B0609020204030204" pitchFamily="49" charset="0"/>
              </a:rPr>
              <a:t>:/</a:t>
            </a:r>
            <a:r>
              <a:rPr lang="it-IT" dirty="0" err="1">
                <a:latin typeface="Consolas" panose="020B0609020204030204" pitchFamily="49" charset="0"/>
              </a:rPr>
              <a:t>usr</a:t>
            </a:r>
            <a:r>
              <a:rPr lang="it-IT" dirty="0">
                <a:latin typeface="Consolas" panose="020B0609020204030204" pitchFamily="49" charset="0"/>
              </a:rPr>
              <a:t>/share/</a:t>
            </a:r>
            <a:r>
              <a:rPr lang="it-IT" dirty="0" err="1">
                <a:latin typeface="Consolas" panose="020B0609020204030204" pitchFamily="49" charset="0"/>
              </a:rPr>
              <a:t>nginx</a:t>
            </a:r>
            <a:r>
              <a:rPr lang="it-IT" dirty="0">
                <a:latin typeface="Consolas" panose="020B0609020204030204" pitchFamily="49" charset="0"/>
              </a:rPr>
              <a:t>/html</a:t>
            </a:r>
          </a:p>
          <a:p>
            <a:r>
              <a:rPr lang="it-IT" dirty="0">
                <a:latin typeface="Consolas" panose="020B0609020204030204" pitchFamily="49" charset="0"/>
              </a:rPr>
              <a:t>    networks:</a:t>
            </a:r>
          </a:p>
          <a:p>
            <a:r>
              <a:rPr lang="it-IT" dirty="0">
                <a:latin typeface="Consolas" panose="020B0609020204030204" pitchFamily="49" charset="0"/>
              </a:rPr>
              <a:t>      - </a:t>
            </a:r>
            <a:r>
              <a:rPr lang="it-IT" dirty="0" err="1">
                <a:latin typeface="Consolas" panose="020B0609020204030204" pitchFamily="49" charset="0"/>
              </a:rPr>
              <a:t>rete_enterprise</a:t>
            </a:r>
            <a:endParaRPr lang="it-IT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0580566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24B38C-2266-D00D-16D2-15F4A80B41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della lezione">
            <a:extLst>
              <a:ext uri="{FF2B5EF4-FFF2-40B4-BE49-F238E27FC236}">
                <a16:creationId xmlns:a16="http://schemas.microsoft.com/office/drawing/2014/main" id="{96719C03-9F15-16E1-FD28-B47DFA08FD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31206"/>
            <a:ext cx="10515600" cy="314198"/>
          </a:xfrm>
        </p:spPr>
        <p:txBody>
          <a:bodyPr/>
          <a:lstStyle/>
          <a:p>
            <a:r>
              <a:rPr lang="it-IT" dirty="0"/>
              <a:t>Slide 15: Caso di fallimento di rete (TLS </a:t>
            </a:r>
            <a:r>
              <a:rPr lang="it-IT" dirty="0" err="1"/>
              <a:t>handshake</a:t>
            </a:r>
            <a:r>
              <a:rPr lang="it-IT" dirty="0"/>
              <a:t> </a:t>
            </a:r>
            <a:r>
              <a:rPr lang="it-IT" dirty="0" err="1"/>
              <a:t>timeout</a:t>
            </a:r>
            <a:r>
              <a:rPr lang="it-IT" dirty="0"/>
              <a:t>)</a:t>
            </a:r>
          </a:p>
        </p:txBody>
      </p:sp>
      <p:sp>
        <p:nvSpPr>
          <p:cNvPr id="3" name="Contenuto della lezione">
            <a:extLst>
              <a:ext uri="{FF2B5EF4-FFF2-40B4-BE49-F238E27FC236}">
                <a16:creationId xmlns:a16="http://schemas.microsoft.com/office/drawing/2014/main" id="{9F63FC29-11E5-AB73-C045-F87F56C5A3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261008"/>
            <a:ext cx="10515599" cy="4803369"/>
          </a:xfrm>
        </p:spPr>
        <p:txBody>
          <a:bodyPr/>
          <a:lstStyle/>
          <a:p>
            <a:r>
              <a:rPr lang="it-IT" dirty="0"/>
              <a:t>Può capitare che Docker Desktop, nel provare a connettersi ai server ufficiali di Docker Hub per scaricare un'immagine (es. eclipse-temurin:17-jre-alpine), subisca una connessione che impiega troppo tempo andando in </a:t>
            </a:r>
            <a:r>
              <a:rPr lang="it-IT" dirty="0" err="1"/>
              <a:t>timeout</a:t>
            </a:r>
            <a:r>
              <a:rPr lang="it-IT" dirty="0"/>
              <a:t>.</a:t>
            </a:r>
          </a:p>
          <a:p>
            <a:r>
              <a:rPr lang="it-IT" dirty="0"/>
              <a:t>Invece di far fare tutto al build del compose, costringiamo Docker a scaricare l'immagine da sola, pulendo la sessione di rete. Eseguiamo da terminale il comando:</a:t>
            </a:r>
          </a:p>
          <a:p>
            <a:r>
              <a:rPr lang="it-IT" dirty="0" err="1">
                <a:solidFill>
                  <a:srgbClr val="171FE2"/>
                </a:solidFill>
                <a:latin typeface="Consolas" panose="020B0609020204030204" pitchFamily="49" charset="0"/>
              </a:rPr>
              <a:t>docker</a:t>
            </a:r>
            <a:r>
              <a:rPr lang="it-IT" dirty="0">
                <a:solidFill>
                  <a:srgbClr val="171FE2"/>
                </a:solidFill>
                <a:latin typeface="Consolas" panose="020B0609020204030204" pitchFamily="49" charset="0"/>
              </a:rPr>
              <a:t> pull eclipse-temurin:17-jre-alpine</a:t>
            </a:r>
          </a:p>
          <a:p>
            <a:r>
              <a:rPr lang="it-IT" dirty="0"/>
              <a:t>Se il comando va a buon fine: L'immagine viene salvata ed a quel punto possiamo rilanciare: </a:t>
            </a:r>
            <a:r>
              <a:rPr lang="it-IT" dirty="0" err="1">
                <a:solidFill>
                  <a:srgbClr val="171FE2"/>
                </a:solidFill>
                <a:latin typeface="Consolas" panose="020B0609020204030204" pitchFamily="49" charset="0"/>
              </a:rPr>
              <a:t>docker</a:t>
            </a:r>
            <a:r>
              <a:rPr lang="it-IT" dirty="0">
                <a:solidFill>
                  <a:srgbClr val="171FE2"/>
                </a:solidFill>
                <a:latin typeface="Consolas" panose="020B0609020204030204" pitchFamily="49" charset="0"/>
              </a:rPr>
              <a:t> compose up -d --build</a:t>
            </a:r>
          </a:p>
        </p:txBody>
      </p:sp>
      <p:sp>
        <p:nvSpPr>
          <p:cNvPr id="12" name="Segnaposto numero diapositiva 11">
            <a:extLst>
              <a:ext uri="{FF2B5EF4-FFF2-40B4-BE49-F238E27FC236}">
                <a16:creationId xmlns:a16="http://schemas.microsoft.com/office/drawing/2014/main" id="{625A3919-0E7A-DC1C-721E-49E9A7F438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it-IT" dirty="0"/>
              <a:t>15</a:t>
            </a:r>
          </a:p>
        </p:txBody>
      </p:sp>
      <p:pic>
        <p:nvPicPr>
          <p:cNvPr id="8" name="Immagine 7">
            <a:extLst>
              <a:ext uri="{FF2B5EF4-FFF2-40B4-BE49-F238E27FC236}">
                <a16:creationId xmlns:a16="http://schemas.microsoft.com/office/drawing/2014/main" id="{650309FA-469B-18CD-3817-264C40BD942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767328"/>
            <a:ext cx="11035522" cy="30906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503547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93C820-1F58-7775-22F4-FF27AD8968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della lezione">
            <a:extLst>
              <a:ext uri="{FF2B5EF4-FFF2-40B4-BE49-F238E27FC236}">
                <a16:creationId xmlns:a16="http://schemas.microsoft.com/office/drawing/2014/main" id="{34728EF4-6DDE-2D5B-765A-55776F913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31206"/>
            <a:ext cx="10515600" cy="314198"/>
          </a:xfrm>
        </p:spPr>
        <p:txBody>
          <a:bodyPr/>
          <a:lstStyle/>
          <a:p>
            <a:r>
              <a:rPr lang="it-IT" dirty="0"/>
              <a:t>Slide 16: Step 10/1 – Configurazione Visuale dell'Host in </a:t>
            </a:r>
            <a:r>
              <a:rPr lang="it-IT" dirty="0" err="1"/>
              <a:t>Nginx</a:t>
            </a:r>
            <a:r>
              <a:rPr lang="it-IT" dirty="0"/>
              <a:t> Proxy Manager(</a:t>
            </a:r>
            <a:r>
              <a:rPr lang="it-IT" dirty="0" err="1"/>
              <a:t>Prod</a:t>
            </a:r>
            <a:r>
              <a:rPr lang="it-IT" dirty="0"/>
              <a:t>)</a:t>
            </a:r>
          </a:p>
        </p:txBody>
      </p:sp>
      <p:sp>
        <p:nvSpPr>
          <p:cNvPr id="3" name="Contenuto della lezione">
            <a:extLst>
              <a:ext uri="{FF2B5EF4-FFF2-40B4-BE49-F238E27FC236}">
                <a16:creationId xmlns:a16="http://schemas.microsoft.com/office/drawing/2014/main" id="{E544CC1A-904F-1E7D-F19F-EF68B98601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52981"/>
            <a:ext cx="10308772" cy="4803369"/>
          </a:xfrm>
        </p:spPr>
        <p:txBody>
          <a:bodyPr/>
          <a:lstStyle/>
          <a:p>
            <a:r>
              <a:rPr lang="it-IT" dirty="0"/>
              <a:t>È il momento di configurare il </a:t>
            </a:r>
            <a:r>
              <a:rPr lang="it-IT" dirty="0" err="1"/>
              <a:t>routing</a:t>
            </a:r>
            <a:r>
              <a:rPr lang="it-IT" dirty="0"/>
              <a:t> senza toccare file di testo: </a:t>
            </a:r>
            <a:r>
              <a:rPr lang="it-IT" dirty="0" err="1"/>
              <a:t>nginx.conf</a:t>
            </a:r>
            <a:r>
              <a:rPr lang="it-IT" dirty="0"/>
              <a:t>.</a:t>
            </a:r>
          </a:p>
          <a:p>
            <a:r>
              <a:rPr lang="it-IT" dirty="0"/>
              <a:t>Accedere alla dashboard su </a:t>
            </a:r>
            <a:r>
              <a:rPr lang="it-IT" dirty="0">
                <a:hlinkClick r:id="rId3"/>
              </a:rPr>
              <a:t>http://localhost:81</a:t>
            </a:r>
            <a:r>
              <a:rPr lang="it-IT" dirty="0"/>
              <a:t>.</a:t>
            </a:r>
          </a:p>
          <a:p>
            <a:r>
              <a:rPr lang="it-IT" dirty="0"/>
              <a:t>Cliccare sulla scheda </a:t>
            </a:r>
            <a:r>
              <a:rPr lang="it-IT" dirty="0" err="1"/>
              <a:t>Hosts</a:t>
            </a:r>
            <a:r>
              <a:rPr lang="it-IT" dirty="0"/>
              <a:t> e poi su Proxy </a:t>
            </a:r>
            <a:r>
              <a:rPr lang="it-IT" dirty="0" err="1"/>
              <a:t>Hosts</a:t>
            </a:r>
            <a:r>
              <a:rPr lang="it-IT" dirty="0"/>
              <a:t>.</a:t>
            </a:r>
          </a:p>
          <a:p>
            <a:r>
              <a:rPr lang="it-IT" dirty="0"/>
              <a:t>Cliccare sul pulsante </a:t>
            </a:r>
            <a:r>
              <a:rPr lang="it-IT" dirty="0" err="1"/>
              <a:t>Add</a:t>
            </a:r>
            <a:r>
              <a:rPr lang="it-IT" dirty="0"/>
              <a:t> Proxy Host in alto a destra.</a:t>
            </a:r>
          </a:p>
          <a:p>
            <a:r>
              <a:rPr lang="it-IT" dirty="0"/>
              <a:t>Nella maschera di configurazione inserire i seguenti parametri:</a:t>
            </a:r>
          </a:p>
          <a:p>
            <a:r>
              <a:rPr lang="it-IT" dirty="0"/>
              <a:t>Domain Names: </a:t>
            </a:r>
            <a:r>
              <a:rPr lang="it-IT" dirty="0" err="1"/>
              <a:t>azienda.skillfactory.local</a:t>
            </a:r>
            <a:r>
              <a:rPr lang="it-IT" dirty="0"/>
              <a:t> (o un dominio di test a scelta) e </a:t>
            </a:r>
            <a:r>
              <a:rPr lang="it-IT" dirty="0" err="1"/>
              <a:t>localhost</a:t>
            </a:r>
            <a:r>
              <a:rPr lang="it-IT" dirty="0"/>
              <a:t>.</a:t>
            </a:r>
          </a:p>
          <a:p>
            <a:endParaRPr lang="it-IT" dirty="0"/>
          </a:p>
        </p:txBody>
      </p:sp>
      <p:sp>
        <p:nvSpPr>
          <p:cNvPr id="12" name="Segnaposto numero diapositiva 11">
            <a:extLst>
              <a:ext uri="{FF2B5EF4-FFF2-40B4-BE49-F238E27FC236}">
                <a16:creationId xmlns:a16="http://schemas.microsoft.com/office/drawing/2014/main" id="{4F3CB024-8B82-CA39-A636-97F4D65BA0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it-IT" dirty="0"/>
              <a:t>16</a:t>
            </a:r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A440C155-76ED-3C46-D9F2-01D79E58A8C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3954665"/>
            <a:ext cx="5039428" cy="2257740"/>
          </a:xfrm>
          <a:prstGeom prst="rect">
            <a:avLst/>
          </a:prstGeom>
        </p:spPr>
      </p:pic>
      <p:pic>
        <p:nvPicPr>
          <p:cNvPr id="7" name="Immagine 6">
            <a:extLst>
              <a:ext uri="{FF2B5EF4-FFF2-40B4-BE49-F238E27FC236}">
                <a16:creationId xmlns:a16="http://schemas.microsoft.com/office/drawing/2014/main" id="{D27BD8D9-96BA-98A1-038D-58123539D30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38517" y="3928465"/>
            <a:ext cx="4751987" cy="26460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045107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BC5896-A570-445C-1E5D-99128D68E1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della lezione">
            <a:extLst>
              <a:ext uri="{FF2B5EF4-FFF2-40B4-BE49-F238E27FC236}">
                <a16:creationId xmlns:a16="http://schemas.microsoft.com/office/drawing/2014/main" id="{F6D11410-AFAD-D6DF-FE3C-5C7BDC154F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31206"/>
            <a:ext cx="10515600" cy="314198"/>
          </a:xfrm>
        </p:spPr>
        <p:txBody>
          <a:bodyPr/>
          <a:lstStyle/>
          <a:p>
            <a:r>
              <a:rPr lang="it-IT" dirty="0"/>
              <a:t>Slide 17: Step 10/2 – Configurazione Visuale dell'Host in </a:t>
            </a:r>
            <a:r>
              <a:rPr lang="it-IT" dirty="0" err="1"/>
              <a:t>Nginx</a:t>
            </a:r>
            <a:r>
              <a:rPr lang="it-IT" dirty="0"/>
              <a:t> Proxy Manager(</a:t>
            </a:r>
            <a:r>
              <a:rPr lang="it-IT" dirty="0" err="1"/>
              <a:t>Prod</a:t>
            </a:r>
            <a:r>
              <a:rPr lang="it-IT" dirty="0"/>
              <a:t>)</a:t>
            </a:r>
          </a:p>
        </p:txBody>
      </p:sp>
      <p:sp>
        <p:nvSpPr>
          <p:cNvPr id="3" name="Contenuto della lezione">
            <a:extLst>
              <a:ext uri="{FF2B5EF4-FFF2-40B4-BE49-F238E27FC236}">
                <a16:creationId xmlns:a16="http://schemas.microsoft.com/office/drawing/2014/main" id="{54B990A2-6465-ED65-FC08-EEF1532C6F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1" y="1552981"/>
            <a:ext cx="7565135" cy="4803369"/>
          </a:xfrm>
        </p:spPr>
        <p:txBody>
          <a:bodyPr/>
          <a:lstStyle/>
          <a:p>
            <a:r>
              <a:rPr lang="it-IT" dirty="0"/>
              <a:t>In </a:t>
            </a:r>
            <a:r>
              <a:rPr lang="it-IT" b="1" dirty="0"/>
              <a:t>Dettagli </a:t>
            </a:r>
            <a:r>
              <a:rPr lang="it-IT" dirty="0"/>
              <a:t>definiamo l'</a:t>
            </a:r>
            <a:r>
              <a:rPr lang="it-IT" b="1" dirty="0"/>
              <a:t>ingresso principale</a:t>
            </a:r>
            <a:r>
              <a:rPr lang="it-IT" dirty="0"/>
              <a:t> del server, indicando a </a:t>
            </a:r>
            <a:r>
              <a:rPr lang="it-IT" dirty="0" err="1"/>
              <a:t>Nginx</a:t>
            </a:r>
            <a:r>
              <a:rPr lang="it-IT" dirty="0"/>
              <a:t> cosa deve ascoltare dall'esterno (il tuo browser) e dove deve mandare gli utenti di default.</a:t>
            </a:r>
          </a:p>
          <a:p>
            <a:r>
              <a:rPr lang="it-IT" b="1" dirty="0"/>
              <a:t>Nomi di Dominio (</a:t>
            </a:r>
            <a:r>
              <a:rPr lang="it-IT" b="1" dirty="0" err="1"/>
              <a:t>azienda.skillfactory.local</a:t>
            </a:r>
            <a:r>
              <a:rPr lang="it-IT" b="1" dirty="0"/>
              <a:t>, </a:t>
            </a:r>
            <a:r>
              <a:rPr lang="it-IT" b="1" dirty="0" err="1"/>
              <a:t>localhost</a:t>
            </a:r>
            <a:r>
              <a:rPr lang="it-IT" b="1" dirty="0"/>
              <a:t>):</a:t>
            </a:r>
            <a:endParaRPr lang="it-IT" dirty="0"/>
          </a:p>
          <a:p>
            <a:pPr lvl="1"/>
            <a:r>
              <a:rPr lang="it-IT" sz="1800" dirty="0">
                <a:latin typeface="Neue Haas Grotesk Text Pro" panose="020B0504020202020204" pitchFamily="34" charset="0"/>
              </a:rPr>
              <a:t>Sono gli indirizzi che digitiamo sulla barra del browser. </a:t>
            </a:r>
            <a:r>
              <a:rPr lang="it-IT" sz="1800" dirty="0" err="1">
                <a:latin typeface="Neue Haas Grotesk Text Pro" panose="020B0504020202020204" pitchFamily="34" charset="0"/>
              </a:rPr>
              <a:t>Nginx</a:t>
            </a:r>
            <a:r>
              <a:rPr lang="it-IT" sz="1800" dirty="0">
                <a:latin typeface="Neue Haas Grotesk Text Pro" panose="020B0504020202020204" pitchFamily="34" charset="0"/>
              </a:rPr>
              <a:t> rimarrà in ascolto e si attiverà solo quando scriviamo una di queste due parole.</a:t>
            </a:r>
          </a:p>
          <a:p>
            <a:r>
              <a:rPr lang="it-IT" b="1" dirty="0"/>
              <a:t>Schema (http):</a:t>
            </a:r>
            <a:endParaRPr lang="it-IT" dirty="0"/>
          </a:p>
          <a:p>
            <a:pPr lvl="1"/>
            <a:r>
              <a:rPr lang="it-IT" sz="1800" dirty="0">
                <a:latin typeface="Neue Haas Grotesk Text Pro" panose="020B0504020202020204" pitchFamily="34" charset="0"/>
              </a:rPr>
              <a:t>Indica il protocollo di connessione classico (porta 80), senza certificato SSL (che sarebbe HTTPS).</a:t>
            </a:r>
          </a:p>
          <a:p>
            <a:r>
              <a:rPr lang="it-IT" b="1" dirty="0" err="1"/>
              <a:t>Hostname</a:t>
            </a:r>
            <a:r>
              <a:rPr lang="it-IT" b="1" dirty="0"/>
              <a:t> / IP di Destinazione (</a:t>
            </a:r>
            <a:r>
              <a:rPr lang="it-IT" b="1" dirty="0" err="1"/>
              <a:t>enterprise-frontend</a:t>
            </a:r>
            <a:r>
              <a:rPr lang="it-IT" b="1" dirty="0"/>
              <a:t>):</a:t>
            </a:r>
            <a:endParaRPr lang="it-IT" dirty="0"/>
          </a:p>
          <a:p>
            <a:pPr lvl="1"/>
            <a:r>
              <a:rPr lang="it-IT" sz="1800" dirty="0">
                <a:latin typeface="Neue Haas Grotesk Text Pro" panose="020B0504020202020204" pitchFamily="34" charset="0"/>
              </a:rPr>
              <a:t>È la destinazione di default. Quando digitiamo semplicemente http://localhost, </a:t>
            </a:r>
            <a:r>
              <a:rPr lang="it-IT" sz="1800" dirty="0" err="1">
                <a:latin typeface="Neue Haas Grotesk Text Pro" panose="020B0504020202020204" pitchFamily="34" charset="0"/>
              </a:rPr>
              <a:t>Nginx</a:t>
            </a:r>
            <a:r>
              <a:rPr lang="it-IT" sz="1800" dirty="0">
                <a:latin typeface="Neue Haas Grotesk Text Pro" panose="020B0504020202020204" pitchFamily="34" charset="0"/>
              </a:rPr>
              <a:t> prende la richiesta e la devia immediatamente al container che contiene i file HTML/React. </a:t>
            </a:r>
            <a:r>
              <a:rPr lang="it-IT" sz="1800" b="1" dirty="0">
                <a:solidFill>
                  <a:srgbClr val="171FE2"/>
                </a:solidFill>
                <a:latin typeface="Neue Haas Grotesk Text Pro" panose="020B0504020202020204" pitchFamily="34" charset="0"/>
              </a:rPr>
              <a:t>Usiamo il nome del servizio del file compose (</a:t>
            </a:r>
            <a:r>
              <a:rPr lang="it-IT" sz="1800" b="1" dirty="0" err="1">
                <a:solidFill>
                  <a:srgbClr val="171FE2"/>
                </a:solidFill>
                <a:latin typeface="Neue Haas Grotesk Text Pro" panose="020B0504020202020204" pitchFamily="34" charset="0"/>
              </a:rPr>
              <a:t>enterprise-frontend</a:t>
            </a:r>
            <a:r>
              <a:rPr lang="it-IT" sz="1800" b="1" dirty="0">
                <a:solidFill>
                  <a:srgbClr val="171FE2"/>
                </a:solidFill>
                <a:latin typeface="Neue Haas Grotesk Text Pro" panose="020B0504020202020204" pitchFamily="34" charset="0"/>
              </a:rPr>
              <a:t>), non il nome del container.</a:t>
            </a:r>
          </a:p>
          <a:p>
            <a:endParaRPr lang="it-IT" dirty="0"/>
          </a:p>
        </p:txBody>
      </p:sp>
      <p:sp>
        <p:nvSpPr>
          <p:cNvPr id="12" name="Segnaposto numero diapositiva 11">
            <a:extLst>
              <a:ext uri="{FF2B5EF4-FFF2-40B4-BE49-F238E27FC236}">
                <a16:creationId xmlns:a16="http://schemas.microsoft.com/office/drawing/2014/main" id="{54C9CDC9-71D5-CEE0-47A9-F9F0775E52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it-IT" dirty="0"/>
              <a:t>17</a:t>
            </a:r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6F8B2B68-116D-9C48-BDE1-6EB8C930B09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65135" y="1472185"/>
            <a:ext cx="4623287" cy="2071302"/>
          </a:xfrm>
          <a:prstGeom prst="rect">
            <a:avLst/>
          </a:prstGeom>
        </p:spPr>
      </p:pic>
      <p:sp>
        <p:nvSpPr>
          <p:cNvPr id="4" name="CasellaDiTesto 3">
            <a:extLst>
              <a:ext uri="{FF2B5EF4-FFF2-40B4-BE49-F238E27FC236}">
                <a16:creationId xmlns:a16="http://schemas.microsoft.com/office/drawing/2014/main" id="{FD62AC97-FB47-14DF-FA1D-744EEBC52477}"/>
              </a:ext>
            </a:extLst>
          </p:cNvPr>
          <p:cNvSpPr txBox="1"/>
          <p:nvPr/>
        </p:nvSpPr>
        <p:spPr>
          <a:xfrm>
            <a:off x="-2" y="6121310"/>
            <a:ext cx="1063447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b="1" dirty="0">
                <a:latin typeface="Neue Haas Grotesk Text Pro" panose="020B0504020202020204" pitchFamily="34" charset="0"/>
              </a:rPr>
              <a:t>Porta di Destinazione (80):</a:t>
            </a:r>
          </a:p>
          <a:p>
            <a:pPr lvl="1"/>
            <a:r>
              <a:rPr lang="it-IT" dirty="0">
                <a:latin typeface="Neue Haas Grotesk Text Pro" panose="020B0504020202020204" pitchFamily="34" charset="0"/>
              </a:rPr>
              <a:t>È la porta interna su cui gira </a:t>
            </a:r>
            <a:r>
              <a:rPr lang="it-IT" dirty="0" err="1">
                <a:latin typeface="Neue Haas Grotesk Text Pro" panose="020B0504020202020204" pitchFamily="34" charset="0"/>
              </a:rPr>
              <a:t>Nginx</a:t>
            </a:r>
            <a:r>
              <a:rPr lang="it-IT" dirty="0">
                <a:latin typeface="Neue Haas Grotesk Text Pro" panose="020B0504020202020204" pitchFamily="34" charset="0"/>
              </a:rPr>
              <a:t> Alpine dentro il container del </a:t>
            </a:r>
            <a:r>
              <a:rPr lang="it-IT" dirty="0" err="1">
                <a:latin typeface="Neue Haas Grotesk Text Pro" panose="020B0504020202020204" pitchFamily="34" charset="0"/>
              </a:rPr>
              <a:t>frontend</a:t>
            </a:r>
            <a:r>
              <a:rPr lang="it-IT" dirty="0">
                <a:latin typeface="Neue Haas Grotesk Text Pro" panose="020B0504020202020204" pitchFamily="34" charset="0"/>
              </a:rPr>
              <a:t>.</a:t>
            </a:r>
          </a:p>
          <a:p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40490576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05ABCA-8791-0468-27D3-CD290B76DE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della lezione">
            <a:extLst>
              <a:ext uri="{FF2B5EF4-FFF2-40B4-BE49-F238E27FC236}">
                <a16:creationId xmlns:a16="http://schemas.microsoft.com/office/drawing/2014/main" id="{6ADE954E-CAA5-C594-3838-82A56D033E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31206"/>
            <a:ext cx="10515600" cy="314198"/>
          </a:xfrm>
        </p:spPr>
        <p:txBody>
          <a:bodyPr/>
          <a:lstStyle/>
          <a:p>
            <a:r>
              <a:rPr lang="it-IT" dirty="0"/>
              <a:t>Slide 18: Step 10/3 – Configurazione Visuale dell'Host in </a:t>
            </a:r>
            <a:r>
              <a:rPr lang="it-IT" dirty="0" err="1"/>
              <a:t>Nginx</a:t>
            </a:r>
            <a:r>
              <a:rPr lang="it-IT" dirty="0"/>
              <a:t> Proxy Manager(</a:t>
            </a:r>
            <a:r>
              <a:rPr lang="it-IT" dirty="0" err="1"/>
              <a:t>Prod</a:t>
            </a:r>
            <a:r>
              <a:rPr lang="it-IT" dirty="0"/>
              <a:t>)</a:t>
            </a:r>
          </a:p>
        </p:txBody>
      </p:sp>
      <p:sp>
        <p:nvSpPr>
          <p:cNvPr id="3" name="Contenuto della lezione">
            <a:extLst>
              <a:ext uri="{FF2B5EF4-FFF2-40B4-BE49-F238E27FC236}">
                <a16:creationId xmlns:a16="http://schemas.microsoft.com/office/drawing/2014/main" id="{700420B9-F7A6-0AAC-4D6F-70CD5CDF9D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1" y="1552981"/>
            <a:ext cx="7565135" cy="4803369"/>
          </a:xfrm>
        </p:spPr>
        <p:txBody>
          <a:bodyPr/>
          <a:lstStyle/>
          <a:p>
            <a:r>
              <a:rPr lang="it-IT" b="1" dirty="0"/>
              <a:t>Scheda "Percorsi Personalizzati" (Custom Locations)</a:t>
            </a:r>
          </a:p>
          <a:p>
            <a:r>
              <a:rPr lang="it-IT" dirty="0"/>
              <a:t>Questa schermata serve a creare un'</a:t>
            </a:r>
            <a:r>
              <a:rPr lang="it-IT" b="1" dirty="0"/>
              <a:t>eccezione alla regola precedente</a:t>
            </a:r>
            <a:r>
              <a:rPr lang="it-IT" dirty="0"/>
              <a:t>. Dice a </a:t>
            </a:r>
            <a:r>
              <a:rPr lang="it-IT" dirty="0" err="1"/>
              <a:t>Nginx</a:t>
            </a:r>
            <a:r>
              <a:rPr lang="it-IT" dirty="0"/>
              <a:t>: </a:t>
            </a:r>
            <a:r>
              <a:rPr lang="it-IT" i="1" dirty="0"/>
              <a:t>"Fai tutto quello che abbiamo detto prima, A MENO CHE l'utente non stia cercando di chiamare una rotta specifica."</a:t>
            </a:r>
            <a:endParaRPr lang="it-IT" dirty="0"/>
          </a:p>
          <a:p>
            <a:r>
              <a:rPr lang="it-IT" b="1" dirty="0"/>
              <a:t>Location (/api):</a:t>
            </a:r>
            <a:endParaRPr lang="it-IT" dirty="0"/>
          </a:p>
          <a:p>
            <a:pPr lvl="1"/>
            <a:r>
              <a:rPr lang="it-IT" sz="1800" i="1" dirty="0">
                <a:latin typeface="Neue Haas Grotesk Text Pro" panose="020B0504020202020204" pitchFamily="34" charset="0"/>
              </a:rPr>
              <a:t>È il percorso "sentinella". Se il </a:t>
            </a:r>
            <a:r>
              <a:rPr lang="it-IT" sz="1800" i="1" dirty="0" err="1">
                <a:latin typeface="Neue Haas Grotesk Text Pro" panose="020B0504020202020204" pitchFamily="34" charset="0"/>
              </a:rPr>
              <a:t>frontend</a:t>
            </a:r>
            <a:r>
              <a:rPr lang="it-IT" sz="1800" i="1" dirty="0">
                <a:latin typeface="Neue Haas Grotesk Text Pro" panose="020B0504020202020204" pitchFamily="34" charset="0"/>
              </a:rPr>
              <a:t> React fa una chiamata che inizia con /api (come il tuo fetch('/api/utenti')), questa regola scatta e ruba la priorità al </a:t>
            </a:r>
            <a:r>
              <a:rPr lang="it-IT" sz="1800" i="1" dirty="0" err="1">
                <a:latin typeface="Neue Haas Grotesk Text Pro" panose="020B0504020202020204" pitchFamily="34" charset="0"/>
              </a:rPr>
              <a:t>frontend</a:t>
            </a:r>
            <a:r>
              <a:rPr lang="it-IT" sz="1800" i="1" dirty="0">
                <a:latin typeface="Neue Haas Grotesk Text Pro" panose="020B0504020202020204" pitchFamily="34" charset="0"/>
              </a:rPr>
              <a:t>.</a:t>
            </a:r>
          </a:p>
          <a:p>
            <a:r>
              <a:rPr lang="it-IT" b="1" dirty="0"/>
              <a:t>Schema (http):</a:t>
            </a:r>
            <a:endParaRPr lang="it-IT" dirty="0"/>
          </a:p>
          <a:p>
            <a:pPr lvl="1"/>
            <a:r>
              <a:rPr lang="it-IT" sz="1800" i="1" dirty="0">
                <a:latin typeface="Neue Haas Grotesk Text Pro" panose="020B0504020202020204" pitchFamily="34" charset="0"/>
              </a:rPr>
              <a:t>La comunicazione interna tra i container Docker viaggia in HTTP semplice.</a:t>
            </a:r>
          </a:p>
          <a:p>
            <a:r>
              <a:rPr lang="it-IT" b="1" dirty="0" err="1"/>
              <a:t>Hostname</a:t>
            </a:r>
            <a:r>
              <a:rPr lang="it-IT" b="1" dirty="0"/>
              <a:t> / IP di Destinazione (</a:t>
            </a:r>
            <a:r>
              <a:rPr lang="it-IT" b="1" dirty="0" err="1"/>
              <a:t>enterprise-backend</a:t>
            </a:r>
            <a:r>
              <a:rPr lang="it-IT" b="1" dirty="0"/>
              <a:t>):</a:t>
            </a:r>
            <a:endParaRPr lang="it-IT" dirty="0"/>
          </a:p>
          <a:p>
            <a:pPr lvl="1"/>
            <a:r>
              <a:rPr lang="it-IT" sz="1800" i="1" dirty="0">
                <a:latin typeface="Neue Haas Grotesk Text Pro" panose="020B0504020202020204" pitchFamily="34" charset="0"/>
              </a:rPr>
              <a:t>Indica a quale container deviare la chiamata. Invece di mandarla al </a:t>
            </a:r>
            <a:r>
              <a:rPr lang="it-IT" sz="1800" i="1" dirty="0" err="1">
                <a:latin typeface="Neue Haas Grotesk Text Pro" panose="020B0504020202020204" pitchFamily="34" charset="0"/>
              </a:rPr>
              <a:t>frontend</a:t>
            </a:r>
            <a:r>
              <a:rPr lang="it-IT" sz="1800" i="1" dirty="0">
                <a:latin typeface="Neue Haas Grotesk Text Pro" panose="020B0504020202020204" pitchFamily="34" charset="0"/>
              </a:rPr>
              <a:t>, la spinge dentro il container di Spring Boot (</a:t>
            </a:r>
            <a:r>
              <a:rPr lang="it-IT" sz="1800" i="1" dirty="0" err="1">
                <a:latin typeface="Neue Haas Grotesk Text Pro" panose="020B0504020202020204" pitchFamily="34" charset="0"/>
              </a:rPr>
              <a:t>enterprise-backend</a:t>
            </a:r>
            <a:r>
              <a:rPr lang="it-IT" sz="1800" i="1" dirty="0">
                <a:latin typeface="Neue Haas Grotesk Text Pro" panose="020B0504020202020204" pitchFamily="34" charset="0"/>
              </a:rPr>
              <a:t>).</a:t>
            </a:r>
          </a:p>
          <a:p>
            <a:r>
              <a:rPr lang="it-IT" b="1" dirty="0"/>
              <a:t>Porta di Destinazione (8080):</a:t>
            </a:r>
            <a:endParaRPr lang="it-IT" dirty="0"/>
          </a:p>
          <a:p>
            <a:pPr lvl="1"/>
            <a:r>
              <a:rPr lang="it-IT" sz="1800" i="1" dirty="0">
                <a:latin typeface="Neue Haas Grotesk Text Pro" panose="020B0504020202020204" pitchFamily="34" charset="0"/>
              </a:rPr>
              <a:t>È la porta standard su cui Tomcat e Spring Boot rimangono in ascolto per ricevere i dati.</a:t>
            </a:r>
          </a:p>
          <a:p>
            <a:endParaRPr lang="it-IT" dirty="0"/>
          </a:p>
        </p:txBody>
      </p:sp>
      <p:sp>
        <p:nvSpPr>
          <p:cNvPr id="12" name="Segnaposto numero diapositiva 11">
            <a:extLst>
              <a:ext uri="{FF2B5EF4-FFF2-40B4-BE49-F238E27FC236}">
                <a16:creationId xmlns:a16="http://schemas.microsoft.com/office/drawing/2014/main" id="{FAD8DF8A-02A5-CF0A-F86B-F3C825FDBF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it-IT" dirty="0"/>
              <a:t>18</a:t>
            </a:r>
          </a:p>
        </p:txBody>
      </p:sp>
      <p:pic>
        <p:nvPicPr>
          <p:cNvPr id="6" name="Immagine 5">
            <a:extLst>
              <a:ext uri="{FF2B5EF4-FFF2-40B4-BE49-F238E27FC236}">
                <a16:creationId xmlns:a16="http://schemas.microsoft.com/office/drawing/2014/main" id="{109EC334-FE19-B16C-F8CB-BE3859FB1ED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65134" y="1552981"/>
            <a:ext cx="4626866" cy="25764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399356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8BF997-018D-B30A-A75E-94C38D8D09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della lezione">
            <a:extLst>
              <a:ext uri="{FF2B5EF4-FFF2-40B4-BE49-F238E27FC236}">
                <a16:creationId xmlns:a16="http://schemas.microsoft.com/office/drawing/2014/main" id="{F35F6826-6511-B4AC-31FD-A8FC258A4F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31206"/>
            <a:ext cx="10515600" cy="314198"/>
          </a:xfrm>
        </p:spPr>
        <p:txBody>
          <a:bodyPr/>
          <a:lstStyle/>
          <a:p>
            <a:r>
              <a:rPr lang="it-IT" dirty="0"/>
              <a:t>Slide 19: Step 11 - Salvare nel DNS locale</a:t>
            </a:r>
          </a:p>
        </p:txBody>
      </p:sp>
      <p:sp>
        <p:nvSpPr>
          <p:cNvPr id="3" name="Contenuto della lezione">
            <a:extLst>
              <a:ext uri="{FF2B5EF4-FFF2-40B4-BE49-F238E27FC236}">
                <a16:creationId xmlns:a16="http://schemas.microsoft.com/office/drawing/2014/main" id="{FFF00BF6-B752-5AAF-D074-ED998A2BDF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261008"/>
            <a:ext cx="10515599" cy="4803369"/>
          </a:xfrm>
        </p:spPr>
        <p:txBody>
          <a:bodyPr/>
          <a:lstStyle/>
          <a:p>
            <a:r>
              <a:rPr lang="it-IT" dirty="0"/>
              <a:t>Usando </a:t>
            </a:r>
            <a:r>
              <a:rPr lang="it-IT" dirty="0" err="1"/>
              <a:t>PowerShell</a:t>
            </a:r>
            <a:r>
              <a:rPr lang="it-IT" dirty="0"/>
              <a:t> come amministratore:</a:t>
            </a:r>
          </a:p>
          <a:p>
            <a:r>
              <a:rPr lang="en-US" dirty="0">
                <a:solidFill>
                  <a:srgbClr val="171FE2"/>
                </a:solidFill>
                <a:latin typeface="Consolas" panose="020B0609020204030204" pitchFamily="49" charset="0"/>
              </a:rPr>
              <a:t>notepad c:\windows\system32\drivers\etc\hosts</a:t>
            </a:r>
          </a:p>
          <a:p>
            <a:r>
              <a:rPr lang="en-US" dirty="0" err="1"/>
              <a:t>Aggiungere</a:t>
            </a:r>
            <a:r>
              <a:rPr lang="en-US" dirty="0"/>
              <a:t> la </a:t>
            </a:r>
            <a:r>
              <a:rPr lang="en-US" dirty="0" err="1"/>
              <a:t>coppia</a:t>
            </a:r>
            <a:r>
              <a:rPr lang="en-US" dirty="0"/>
              <a:t>:</a:t>
            </a:r>
          </a:p>
          <a:p>
            <a:r>
              <a:rPr lang="en-US" dirty="0">
                <a:solidFill>
                  <a:srgbClr val="171FE2"/>
                </a:solidFill>
                <a:latin typeface="Consolas" panose="020B0609020204030204" pitchFamily="49" charset="0"/>
              </a:rPr>
              <a:t>127.0.0.1 </a:t>
            </a:r>
            <a:r>
              <a:rPr lang="en-US" dirty="0" err="1">
                <a:solidFill>
                  <a:srgbClr val="171FE2"/>
                </a:solidFill>
                <a:latin typeface="Consolas" panose="020B0609020204030204" pitchFamily="49" charset="0"/>
              </a:rPr>
              <a:t>azienda.skillfactory.local</a:t>
            </a:r>
            <a:endParaRPr lang="en-US" dirty="0">
              <a:solidFill>
                <a:srgbClr val="171FE2"/>
              </a:solidFill>
              <a:latin typeface="Consolas" panose="020B0609020204030204" pitchFamily="49" charset="0"/>
            </a:endParaRPr>
          </a:p>
          <a:p>
            <a:endParaRPr lang="it-IT" dirty="0">
              <a:solidFill>
                <a:srgbClr val="171FE2"/>
              </a:solidFill>
              <a:latin typeface="Consolas" panose="020B0609020204030204" pitchFamily="49" charset="0"/>
            </a:endParaRPr>
          </a:p>
        </p:txBody>
      </p:sp>
      <p:sp>
        <p:nvSpPr>
          <p:cNvPr id="12" name="Segnaposto numero diapositiva 11">
            <a:extLst>
              <a:ext uri="{FF2B5EF4-FFF2-40B4-BE49-F238E27FC236}">
                <a16:creationId xmlns:a16="http://schemas.microsoft.com/office/drawing/2014/main" id="{4B79CD14-C9DC-5992-42CD-903B9A374D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it-IT" dirty="0"/>
              <a:t>19</a:t>
            </a:r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CA839DDD-9890-ADD3-670C-95482EC51A0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66782" y="724733"/>
            <a:ext cx="5325218" cy="4439270"/>
          </a:xfrm>
          <a:prstGeom prst="rect">
            <a:avLst/>
          </a:prstGeom>
        </p:spPr>
      </p:pic>
      <p:pic>
        <p:nvPicPr>
          <p:cNvPr id="7" name="Immagine 6">
            <a:extLst>
              <a:ext uri="{FF2B5EF4-FFF2-40B4-BE49-F238E27FC236}">
                <a16:creationId xmlns:a16="http://schemas.microsoft.com/office/drawing/2014/main" id="{5C15B9F9-6C67-29DF-5742-36E31256B35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47656" y="3050431"/>
            <a:ext cx="4429743" cy="33723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772007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E1232A-7F75-983E-087C-A9AA8CE51F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della lezione">
            <a:extLst>
              <a:ext uri="{FF2B5EF4-FFF2-40B4-BE49-F238E27FC236}">
                <a16:creationId xmlns:a16="http://schemas.microsoft.com/office/drawing/2014/main" id="{09D4308E-5D39-A805-502F-13DFFC9BD1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31206"/>
            <a:ext cx="10515600" cy="314198"/>
          </a:xfrm>
        </p:spPr>
        <p:txBody>
          <a:bodyPr/>
          <a:lstStyle/>
          <a:p>
            <a:r>
              <a:rPr lang="it-IT" dirty="0"/>
              <a:t>Slide 20: Step 12 - Generazione del certificato SSL</a:t>
            </a:r>
          </a:p>
        </p:txBody>
      </p:sp>
      <p:sp>
        <p:nvSpPr>
          <p:cNvPr id="3" name="Contenuto della lezione">
            <a:extLst>
              <a:ext uri="{FF2B5EF4-FFF2-40B4-BE49-F238E27FC236}">
                <a16:creationId xmlns:a16="http://schemas.microsoft.com/office/drawing/2014/main" id="{9584B10E-9A1E-698F-A8D9-12CE8CA7FA0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261008"/>
            <a:ext cx="10515599" cy="4803369"/>
          </a:xfrm>
        </p:spPr>
        <p:txBody>
          <a:bodyPr/>
          <a:lstStyle/>
          <a:p>
            <a:r>
              <a:rPr lang="it-IT" dirty="0"/>
              <a:t>Visto che </a:t>
            </a:r>
            <a:r>
              <a:rPr lang="it-IT" dirty="0" err="1"/>
              <a:t>azienda.skillfactory.local</a:t>
            </a:r>
            <a:r>
              <a:rPr lang="it-IT" dirty="0"/>
              <a:t> è un dominio locale (finto) inventato nel file </a:t>
            </a:r>
            <a:r>
              <a:rPr lang="it-IT" dirty="0" err="1"/>
              <a:t>hosts</a:t>
            </a:r>
            <a:r>
              <a:rPr lang="it-IT" dirty="0"/>
              <a:t>, non possiamo chiedere un certificato vero a </a:t>
            </a:r>
            <a:r>
              <a:rPr lang="it-IT" dirty="0" err="1"/>
              <a:t>Let's</a:t>
            </a:r>
            <a:r>
              <a:rPr lang="it-IT" dirty="0"/>
              <a:t> </a:t>
            </a:r>
            <a:r>
              <a:rPr lang="it-IT" dirty="0" err="1"/>
              <a:t>Encrypt</a:t>
            </a:r>
            <a:r>
              <a:rPr lang="it-IT" dirty="0"/>
              <a:t>. </a:t>
            </a:r>
          </a:p>
          <a:p>
            <a:r>
              <a:rPr lang="it-IT" dirty="0"/>
              <a:t>Creeremo quindi un </a:t>
            </a:r>
            <a:r>
              <a:rPr lang="it-IT" b="1" dirty="0"/>
              <a:t>certificato auto-firmato (Self-</a:t>
            </a:r>
            <a:r>
              <a:rPr lang="it-IT" b="1" dirty="0" err="1"/>
              <a:t>Signed</a:t>
            </a:r>
            <a:r>
              <a:rPr lang="it-IT" b="1" dirty="0"/>
              <a:t>)</a:t>
            </a:r>
            <a:r>
              <a:rPr lang="it-IT" dirty="0"/>
              <a:t> direttamente nella cartella del laboratorio e lo daremo in pasto a </a:t>
            </a:r>
            <a:r>
              <a:rPr lang="it-IT" dirty="0" err="1"/>
              <a:t>Nginx</a:t>
            </a:r>
            <a:r>
              <a:rPr lang="it-IT" dirty="0"/>
              <a:t> Proxy Manager.</a:t>
            </a:r>
          </a:p>
          <a:p>
            <a:r>
              <a:rPr lang="it-IT" dirty="0"/>
              <a:t>Ecco i 3 passaggi definitivi per vedere il lucchetto (o lo scudo di sicurezza) su HTTPS.</a:t>
            </a:r>
          </a:p>
          <a:p>
            <a:r>
              <a:rPr lang="it-IT" b="1" dirty="0"/>
              <a:t>Passo 1: Genera il certificato (Chiave + Certificato)</a:t>
            </a:r>
          </a:p>
          <a:p>
            <a:r>
              <a:rPr lang="it-IT" dirty="0"/>
              <a:t>Per farlo senza installare programmi complessi, possiamo usare una riga di comando al volo.</a:t>
            </a:r>
          </a:p>
          <a:p>
            <a:r>
              <a:rPr lang="it-IT" dirty="0"/>
              <a:t>Usando </a:t>
            </a:r>
            <a:r>
              <a:rPr lang="it-IT" b="1" dirty="0" err="1"/>
              <a:t>Git</a:t>
            </a:r>
            <a:r>
              <a:rPr lang="it-IT" b="1" dirty="0"/>
              <a:t> Bash</a:t>
            </a:r>
            <a:r>
              <a:rPr lang="it-IT" dirty="0"/>
              <a:t> incolliamo questo comando unico per generare i due file di sicurezza (validi per 365 giorni):</a:t>
            </a:r>
          </a:p>
          <a:p>
            <a:r>
              <a:rPr lang="it-IT" dirty="0" err="1">
                <a:latin typeface="Consolas" panose="020B0609020204030204" pitchFamily="49" charset="0"/>
              </a:rPr>
              <a:t>openssl</a:t>
            </a:r>
            <a:r>
              <a:rPr lang="it-IT" dirty="0">
                <a:latin typeface="Consolas" panose="020B0609020204030204" pitchFamily="49" charset="0"/>
              </a:rPr>
              <a:t> </a:t>
            </a:r>
            <a:r>
              <a:rPr lang="it-IT" dirty="0" err="1">
                <a:latin typeface="Consolas" panose="020B0609020204030204" pitchFamily="49" charset="0"/>
              </a:rPr>
              <a:t>req</a:t>
            </a:r>
            <a:r>
              <a:rPr lang="it-IT" dirty="0">
                <a:latin typeface="Consolas" panose="020B0609020204030204" pitchFamily="49" charset="0"/>
              </a:rPr>
              <a:t> -x509 -</a:t>
            </a:r>
            <a:r>
              <a:rPr lang="it-IT" dirty="0" err="1">
                <a:latin typeface="Consolas" panose="020B0609020204030204" pitchFamily="49" charset="0"/>
              </a:rPr>
              <a:t>nodes</a:t>
            </a:r>
            <a:r>
              <a:rPr lang="it-IT" dirty="0">
                <a:latin typeface="Consolas" panose="020B0609020204030204" pitchFamily="49" charset="0"/>
              </a:rPr>
              <a:t> -days 365 -</a:t>
            </a:r>
            <a:r>
              <a:rPr lang="it-IT" dirty="0" err="1">
                <a:latin typeface="Consolas" panose="020B0609020204030204" pitchFamily="49" charset="0"/>
              </a:rPr>
              <a:t>newkey</a:t>
            </a:r>
            <a:r>
              <a:rPr lang="it-IT" dirty="0">
                <a:latin typeface="Consolas" panose="020B0609020204030204" pitchFamily="49" charset="0"/>
              </a:rPr>
              <a:t> rsa:2048 -</a:t>
            </a:r>
            <a:r>
              <a:rPr lang="it-IT" dirty="0" err="1">
                <a:latin typeface="Consolas" panose="020B0609020204030204" pitchFamily="49" charset="0"/>
              </a:rPr>
              <a:t>keyout</a:t>
            </a:r>
            <a:r>
              <a:rPr lang="it-IT" dirty="0">
                <a:latin typeface="Consolas" panose="020B0609020204030204" pitchFamily="49" charset="0"/>
              </a:rPr>
              <a:t> </a:t>
            </a:r>
            <a:r>
              <a:rPr lang="it-IT" dirty="0" err="1">
                <a:latin typeface="Consolas" panose="020B0609020204030204" pitchFamily="49" charset="0"/>
              </a:rPr>
              <a:t>azienda.key</a:t>
            </a:r>
            <a:r>
              <a:rPr lang="it-IT" dirty="0">
                <a:latin typeface="Consolas" panose="020B0609020204030204" pitchFamily="49" charset="0"/>
              </a:rPr>
              <a:t> -out azienda.crt -</a:t>
            </a:r>
            <a:r>
              <a:rPr lang="it-IT" dirty="0" err="1">
                <a:latin typeface="Consolas" panose="020B0609020204030204" pitchFamily="49" charset="0"/>
              </a:rPr>
              <a:t>subj</a:t>
            </a:r>
            <a:r>
              <a:rPr lang="it-IT" dirty="0">
                <a:latin typeface="Consolas" panose="020B0609020204030204" pitchFamily="49" charset="0"/>
              </a:rPr>
              <a:t> "//CN=</a:t>
            </a:r>
            <a:r>
              <a:rPr lang="it-IT" dirty="0" err="1">
                <a:latin typeface="Consolas" panose="020B0609020204030204" pitchFamily="49" charset="0"/>
              </a:rPr>
              <a:t>azienda.skillfactory.local</a:t>
            </a:r>
            <a:r>
              <a:rPr lang="it-IT" dirty="0">
                <a:latin typeface="Consolas" panose="020B0609020204030204" pitchFamily="49" charset="0"/>
              </a:rPr>
              <a:t>"</a:t>
            </a:r>
          </a:p>
          <a:p>
            <a:r>
              <a:rPr lang="it-IT" dirty="0">
                <a:solidFill>
                  <a:srgbClr val="171FE2"/>
                </a:solidFill>
              </a:rPr>
              <a:t>Se vogliamo usare il comando per un altro esercizio basterà cambiare il valore del campo CN mettendo un nuovo dominio fittizio di terzo livello.</a:t>
            </a:r>
          </a:p>
        </p:txBody>
      </p:sp>
      <p:sp>
        <p:nvSpPr>
          <p:cNvPr id="12" name="Segnaposto numero diapositiva 11">
            <a:extLst>
              <a:ext uri="{FF2B5EF4-FFF2-40B4-BE49-F238E27FC236}">
                <a16:creationId xmlns:a16="http://schemas.microsoft.com/office/drawing/2014/main" id="{A159F0D5-EA4A-5D71-FAAD-E4D2B47A2D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it-IT" dirty="0"/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267554444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DE6AD2-680B-E7C3-E8AF-BB2B14A573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della lezione">
            <a:extLst>
              <a:ext uri="{FF2B5EF4-FFF2-40B4-BE49-F238E27FC236}">
                <a16:creationId xmlns:a16="http://schemas.microsoft.com/office/drawing/2014/main" id="{EFFDD007-5F5A-B300-33E2-C6BD03E809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31206"/>
            <a:ext cx="10515600" cy="314198"/>
          </a:xfrm>
        </p:spPr>
        <p:txBody>
          <a:bodyPr/>
          <a:lstStyle/>
          <a:p>
            <a:r>
              <a:rPr lang="it-IT" dirty="0"/>
              <a:t>Slide 21: Step 13 - Generazione del certificato SSL</a:t>
            </a:r>
          </a:p>
        </p:txBody>
      </p:sp>
      <p:sp>
        <p:nvSpPr>
          <p:cNvPr id="3" name="Contenuto della lezione">
            <a:extLst>
              <a:ext uri="{FF2B5EF4-FFF2-40B4-BE49-F238E27FC236}">
                <a16:creationId xmlns:a16="http://schemas.microsoft.com/office/drawing/2014/main" id="{BE89CE1C-705D-0D82-8C8B-854CC61DFC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261008"/>
            <a:ext cx="10515599" cy="4803369"/>
          </a:xfrm>
        </p:spPr>
        <p:txBody>
          <a:bodyPr/>
          <a:lstStyle/>
          <a:p>
            <a:r>
              <a:rPr lang="it-IT" dirty="0"/>
              <a:t>Ora che i due file (azienda.crt e </a:t>
            </a:r>
            <a:r>
              <a:rPr lang="it-IT" dirty="0" err="1"/>
              <a:t>azienda.key</a:t>
            </a:r>
            <a:r>
              <a:rPr lang="it-IT" dirty="0"/>
              <a:t>) sono apparsi nella cartella, dobbiamo solo fare l'ultimo passo: darli in pasto a </a:t>
            </a:r>
            <a:r>
              <a:rPr lang="it-IT" b="1" dirty="0" err="1"/>
              <a:t>Nginx</a:t>
            </a:r>
            <a:r>
              <a:rPr lang="it-IT" b="1" dirty="0"/>
              <a:t> Proxy Manager</a:t>
            </a:r>
            <a:r>
              <a:rPr lang="it-IT" dirty="0"/>
              <a:t> per attivare il lucchetto di sicurezza.</a:t>
            </a:r>
          </a:p>
          <a:p>
            <a:r>
              <a:rPr lang="it-IT" b="1" dirty="0"/>
              <a:t>1. Entra nel pannello di </a:t>
            </a:r>
            <a:r>
              <a:rPr lang="it-IT" b="1" dirty="0" err="1"/>
              <a:t>Nginx</a:t>
            </a:r>
            <a:r>
              <a:rPr lang="it-IT" b="1" dirty="0"/>
              <a:t> Proxy Manager</a:t>
            </a:r>
          </a:p>
          <a:p>
            <a:r>
              <a:rPr lang="it-IT" dirty="0"/>
              <a:t>Apri Google Chrome e vai all'indirizzo dove gestisci i tuoi proxy:  http://localhost:81 </a:t>
            </a:r>
          </a:p>
          <a:p>
            <a:r>
              <a:rPr lang="it-IT" b="1" dirty="0"/>
              <a:t>2. Carica i file dentro </a:t>
            </a:r>
            <a:r>
              <a:rPr lang="it-IT" b="1" dirty="0" err="1"/>
              <a:t>Nginx</a:t>
            </a:r>
            <a:r>
              <a:rPr lang="it-IT" b="1" dirty="0"/>
              <a:t> Proxy Manager</a:t>
            </a:r>
          </a:p>
          <a:p>
            <a:r>
              <a:rPr lang="it-IT" dirty="0"/>
              <a:t>Dobbiamo spiegare al proxy che questi due nuovi file sono il tuo certificato.</a:t>
            </a:r>
          </a:p>
          <a:p>
            <a:r>
              <a:rPr lang="it-IT" dirty="0"/>
              <a:t>In alto nella barra dei menu, clicca sulla voce </a:t>
            </a:r>
            <a:r>
              <a:rPr lang="it-IT" b="1" dirty="0"/>
              <a:t>SSL Certificates</a:t>
            </a:r>
            <a:r>
              <a:rPr lang="it-IT" dirty="0"/>
              <a:t>.</a:t>
            </a:r>
          </a:p>
          <a:p>
            <a:r>
              <a:rPr lang="it-IT" dirty="0"/>
              <a:t>Clicca sul pulsante a destra </a:t>
            </a:r>
            <a:r>
              <a:rPr lang="it-IT" b="1" dirty="0" err="1"/>
              <a:t>Add</a:t>
            </a:r>
            <a:r>
              <a:rPr lang="it-IT" b="1" dirty="0"/>
              <a:t> SSL Certificate</a:t>
            </a:r>
            <a:r>
              <a:rPr lang="it-IT" dirty="0"/>
              <a:t> (Aggiungi certificato SSL).</a:t>
            </a:r>
          </a:p>
          <a:p>
            <a:r>
              <a:rPr lang="it-IT" dirty="0"/>
              <a:t>Nel menu a tendina che si apre, seleziona </a:t>
            </a:r>
            <a:r>
              <a:rPr lang="it-IT" b="1" dirty="0"/>
              <a:t>Custom</a:t>
            </a:r>
            <a:r>
              <a:rPr lang="it-IT" dirty="0"/>
              <a:t> (Personalizzato).</a:t>
            </a:r>
          </a:p>
          <a:p>
            <a:r>
              <a:rPr lang="it-IT" dirty="0"/>
              <a:t>Si aprirà una finestra con dei campi da riempire:</a:t>
            </a:r>
          </a:p>
          <a:p>
            <a:r>
              <a:rPr lang="it-IT" b="1" dirty="0"/>
              <a:t>Name (Nome):</a:t>
            </a:r>
            <a:r>
              <a:rPr lang="it-IT" dirty="0"/>
              <a:t> Scrivi un nome facile, ad esempio Certificato Locale </a:t>
            </a:r>
            <a:r>
              <a:rPr lang="it-IT" dirty="0" err="1"/>
              <a:t>Skillfactory</a:t>
            </a:r>
            <a:r>
              <a:rPr lang="it-IT" dirty="0"/>
              <a:t>.</a:t>
            </a:r>
          </a:p>
          <a:p>
            <a:r>
              <a:rPr lang="it-IT" b="1" dirty="0"/>
              <a:t>Certificate Key (Chiave del certificato):</a:t>
            </a:r>
            <a:r>
              <a:rPr lang="it-IT" dirty="0"/>
              <a:t> selezioniamo il file </a:t>
            </a:r>
            <a:r>
              <a:rPr lang="it-IT" b="1" dirty="0" err="1"/>
              <a:t>azienda.key</a:t>
            </a:r>
            <a:r>
              <a:rPr lang="it-IT" dirty="0"/>
              <a:t>.</a:t>
            </a:r>
          </a:p>
          <a:p>
            <a:r>
              <a:rPr lang="it-IT" b="1" dirty="0"/>
              <a:t>Certificate (Certificato):</a:t>
            </a:r>
            <a:r>
              <a:rPr lang="it-IT" dirty="0"/>
              <a:t> selezioniamo il file </a:t>
            </a:r>
            <a:r>
              <a:rPr lang="it-IT" b="1" dirty="0"/>
              <a:t>azienda.crt</a:t>
            </a:r>
            <a:r>
              <a:rPr lang="it-IT" dirty="0"/>
              <a:t>.</a:t>
            </a:r>
          </a:p>
          <a:p>
            <a:r>
              <a:rPr lang="it-IT" dirty="0"/>
              <a:t>Fatto questo, clicchiamo sul pulsante verde </a:t>
            </a:r>
            <a:r>
              <a:rPr lang="it-IT" b="1" dirty="0"/>
              <a:t>Save</a:t>
            </a:r>
            <a:r>
              <a:rPr lang="it-IT" dirty="0"/>
              <a:t> in basso. </a:t>
            </a:r>
          </a:p>
          <a:p>
            <a:r>
              <a:rPr lang="it-IT" dirty="0">
                <a:solidFill>
                  <a:srgbClr val="171FE2"/>
                </a:solidFill>
              </a:rPr>
              <a:t>Ora NPM ha memorizzato i file di sicurezza.</a:t>
            </a:r>
          </a:p>
        </p:txBody>
      </p:sp>
      <p:sp>
        <p:nvSpPr>
          <p:cNvPr id="12" name="Segnaposto numero diapositiva 11">
            <a:extLst>
              <a:ext uri="{FF2B5EF4-FFF2-40B4-BE49-F238E27FC236}">
                <a16:creationId xmlns:a16="http://schemas.microsoft.com/office/drawing/2014/main" id="{14B4E893-0BD3-8958-91A0-F6C5BBA034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it-IT" dirty="0"/>
              <a:t>21</a:t>
            </a:r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08F16E02-39E6-DBD9-0DC4-A1F5E012BEF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83516" y="2521911"/>
            <a:ext cx="2977451" cy="23792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338871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B0710D-8506-6EEF-07CA-85A6AA4115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della lezione">
            <a:extLst>
              <a:ext uri="{FF2B5EF4-FFF2-40B4-BE49-F238E27FC236}">
                <a16:creationId xmlns:a16="http://schemas.microsoft.com/office/drawing/2014/main" id="{83A98D03-C688-2492-DAEC-431EB84FCD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31206"/>
            <a:ext cx="10515600" cy="314198"/>
          </a:xfrm>
        </p:spPr>
        <p:txBody>
          <a:bodyPr/>
          <a:lstStyle/>
          <a:p>
            <a:r>
              <a:rPr lang="it-IT" dirty="0"/>
              <a:t>Slide 22: Step 14 – Collegare il certificato SSL al sito</a:t>
            </a:r>
          </a:p>
        </p:txBody>
      </p:sp>
      <p:sp>
        <p:nvSpPr>
          <p:cNvPr id="3" name="Contenuto della lezione">
            <a:extLst>
              <a:ext uri="{FF2B5EF4-FFF2-40B4-BE49-F238E27FC236}">
                <a16:creationId xmlns:a16="http://schemas.microsoft.com/office/drawing/2014/main" id="{C0448354-0A30-6959-2B11-CB6A741747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261008"/>
            <a:ext cx="10515599" cy="4803369"/>
          </a:xfrm>
        </p:spPr>
        <p:txBody>
          <a:bodyPr/>
          <a:lstStyle/>
          <a:p>
            <a:r>
              <a:rPr lang="it-IT" dirty="0"/>
              <a:t>Ora dobbiamo dire a NPM di usare questo specifico certificato quando qualcuno digita il dominio.</a:t>
            </a:r>
          </a:p>
          <a:p>
            <a:r>
              <a:rPr lang="it-IT" dirty="0"/>
              <a:t>Torniamo nella scheda principale cliccando su </a:t>
            </a:r>
            <a:r>
              <a:rPr lang="it-IT" b="1" dirty="0" err="1"/>
              <a:t>Hosts</a:t>
            </a:r>
            <a:r>
              <a:rPr lang="it-IT" dirty="0"/>
              <a:t> -&gt; </a:t>
            </a:r>
            <a:r>
              <a:rPr lang="it-IT" b="1" dirty="0"/>
              <a:t>Proxy </a:t>
            </a:r>
            <a:r>
              <a:rPr lang="it-IT" b="1" dirty="0" err="1"/>
              <a:t>Hosts</a:t>
            </a:r>
            <a:r>
              <a:rPr lang="it-IT" dirty="0"/>
              <a:t>.</a:t>
            </a:r>
          </a:p>
          <a:p>
            <a:r>
              <a:rPr lang="it-IT" dirty="0"/>
              <a:t>Editiamo la riga </a:t>
            </a:r>
            <a:r>
              <a:rPr lang="it-IT" dirty="0" err="1"/>
              <a:t>azienda.skillfactory.local</a:t>
            </a:r>
            <a:r>
              <a:rPr lang="it-IT" dirty="0"/>
              <a:t> (clicchiamo sui 3 puntini verticali). </a:t>
            </a:r>
          </a:p>
          <a:p>
            <a:r>
              <a:rPr lang="it-IT" dirty="0"/>
              <a:t>Clicchiamo sulla terza scheda in alto, quella chiamata </a:t>
            </a:r>
            <a:r>
              <a:rPr lang="it-IT" b="1" dirty="0"/>
              <a:t>SSL</a:t>
            </a:r>
            <a:r>
              <a:rPr lang="it-IT" dirty="0"/>
              <a:t>.</a:t>
            </a:r>
          </a:p>
          <a:p>
            <a:r>
              <a:rPr lang="it-IT" dirty="0"/>
              <a:t>Sotto la voce </a:t>
            </a:r>
            <a:r>
              <a:rPr lang="it-IT" i="1" dirty="0"/>
              <a:t>SSL Certificate</a:t>
            </a:r>
            <a:r>
              <a:rPr lang="it-IT" dirty="0"/>
              <a:t>, vedrai un menu a tendina con scritto </a:t>
            </a:r>
            <a:r>
              <a:rPr lang="it-IT" i="1" dirty="0"/>
              <a:t>None</a:t>
            </a:r>
            <a:r>
              <a:rPr lang="it-IT" dirty="0"/>
              <a:t>. Cliccaci sopra e seleziona il certificato che hai appena caricato (Certificato Locale </a:t>
            </a:r>
            <a:r>
              <a:rPr lang="it-IT" dirty="0" err="1"/>
              <a:t>Skillfactory</a:t>
            </a:r>
            <a:r>
              <a:rPr lang="it-IT" dirty="0"/>
              <a:t>).</a:t>
            </a:r>
          </a:p>
          <a:p>
            <a:endParaRPr lang="it-IT" dirty="0"/>
          </a:p>
          <a:p>
            <a:endParaRPr lang="it-IT" dirty="0"/>
          </a:p>
          <a:p>
            <a:endParaRPr lang="it-IT" dirty="0"/>
          </a:p>
          <a:p>
            <a:endParaRPr lang="it-IT" dirty="0"/>
          </a:p>
          <a:p>
            <a:endParaRPr lang="it-IT" dirty="0">
              <a:solidFill>
                <a:srgbClr val="171FE2"/>
              </a:solidFill>
            </a:endParaRPr>
          </a:p>
        </p:txBody>
      </p:sp>
      <p:sp>
        <p:nvSpPr>
          <p:cNvPr id="12" name="Segnaposto numero diapositiva 11">
            <a:extLst>
              <a:ext uri="{FF2B5EF4-FFF2-40B4-BE49-F238E27FC236}">
                <a16:creationId xmlns:a16="http://schemas.microsoft.com/office/drawing/2014/main" id="{8F2B2254-7F36-4C04-D259-D5A6F1BC5A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it-IT" dirty="0"/>
              <a:t>22</a:t>
            </a:r>
          </a:p>
        </p:txBody>
      </p:sp>
      <p:pic>
        <p:nvPicPr>
          <p:cNvPr id="6" name="Immagine 5">
            <a:extLst>
              <a:ext uri="{FF2B5EF4-FFF2-40B4-BE49-F238E27FC236}">
                <a16:creationId xmlns:a16="http://schemas.microsoft.com/office/drawing/2014/main" id="{3437E22D-23C0-21EC-BE27-0CB6CCCB36F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3445292"/>
            <a:ext cx="4757928" cy="3412708"/>
          </a:xfrm>
          <a:prstGeom prst="rect">
            <a:avLst/>
          </a:prstGeom>
        </p:spPr>
      </p:pic>
      <p:sp>
        <p:nvSpPr>
          <p:cNvPr id="7" name="CasellaDiTesto 6">
            <a:extLst>
              <a:ext uri="{FF2B5EF4-FFF2-40B4-BE49-F238E27FC236}">
                <a16:creationId xmlns:a16="http://schemas.microsoft.com/office/drawing/2014/main" id="{6AE88741-5028-CD9D-2DB8-FEA5B3524479}"/>
              </a:ext>
            </a:extLst>
          </p:cNvPr>
          <p:cNvSpPr txBox="1"/>
          <p:nvPr/>
        </p:nvSpPr>
        <p:spPr>
          <a:xfrm>
            <a:off x="6096000" y="4272468"/>
            <a:ext cx="5339347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/>
              <a:t>Accendiamo (facciamo diventare verde) </a:t>
            </a:r>
          </a:p>
          <a:p>
            <a:r>
              <a:rPr lang="it-IT" dirty="0"/>
              <a:t>l'interruttore con scritto </a:t>
            </a:r>
            <a:r>
              <a:rPr lang="it-IT" b="1" dirty="0"/>
              <a:t>Force SSL</a:t>
            </a:r>
            <a:r>
              <a:rPr lang="it-IT" dirty="0"/>
              <a:t>. </a:t>
            </a:r>
          </a:p>
          <a:p>
            <a:endParaRPr lang="it-IT" dirty="0"/>
          </a:p>
          <a:p>
            <a:r>
              <a:rPr lang="it-IT" dirty="0">
                <a:solidFill>
                  <a:srgbClr val="171FE2"/>
                </a:solidFill>
              </a:rPr>
              <a:t>Questo interruttore serve a fare in modo che scrivendo</a:t>
            </a:r>
          </a:p>
          <a:p>
            <a:r>
              <a:rPr lang="it-IT" dirty="0">
                <a:solidFill>
                  <a:srgbClr val="171FE2"/>
                </a:solidFill>
              </a:rPr>
              <a:t>http://, il proxy ci sposta da solo su https://</a:t>
            </a:r>
            <a:r>
              <a:rPr lang="it-IT" dirty="0"/>
              <a:t>.</a:t>
            </a:r>
          </a:p>
          <a:p>
            <a:endParaRPr lang="it-IT" dirty="0"/>
          </a:p>
          <a:p>
            <a:r>
              <a:rPr lang="it-IT" dirty="0"/>
              <a:t>Clicchiamo su </a:t>
            </a:r>
            <a:r>
              <a:rPr lang="it-IT" b="1" dirty="0"/>
              <a:t>Save</a:t>
            </a:r>
            <a:r>
              <a:rPr lang="it-IT" dirty="0"/>
              <a:t>.</a:t>
            </a:r>
          </a:p>
          <a:p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97281656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A1E9AB-778D-D5F1-A7CD-9927E3ADE8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della lezione">
            <a:extLst>
              <a:ext uri="{FF2B5EF4-FFF2-40B4-BE49-F238E27FC236}">
                <a16:creationId xmlns:a16="http://schemas.microsoft.com/office/drawing/2014/main" id="{CABAC1BF-1A36-9B7B-A651-D501BE76E3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31206"/>
            <a:ext cx="10515600" cy="314198"/>
          </a:xfrm>
        </p:spPr>
        <p:txBody>
          <a:bodyPr/>
          <a:lstStyle/>
          <a:p>
            <a:r>
              <a:rPr lang="it-IT" dirty="0"/>
              <a:t>Slide 23: Rinnovo automatico del certificato</a:t>
            </a:r>
          </a:p>
        </p:txBody>
      </p:sp>
      <p:sp>
        <p:nvSpPr>
          <p:cNvPr id="3" name="Contenuto della lezione">
            <a:extLst>
              <a:ext uri="{FF2B5EF4-FFF2-40B4-BE49-F238E27FC236}">
                <a16:creationId xmlns:a16="http://schemas.microsoft.com/office/drawing/2014/main" id="{8936E18C-4C69-F016-3C79-7EF7D8D59A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261008"/>
            <a:ext cx="10515599" cy="4803369"/>
          </a:xfrm>
        </p:spPr>
        <p:txBody>
          <a:bodyPr/>
          <a:lstStyle/>
          <a:p>
            <a:r>
              <a:rPr lang="it-IT" dirty="0"/>
              <a:t>Nel mondo reale (in produzione), il rinnovo automatico si imposta con un click perché </a:t>
            </a:r>
            <a:r>
              <a:rPr lang="it-IT" dirty="0" err="1"/>
              <a:t>Nginx</a:t>
            </a:r>
            <a:r>
              <a:rPr lang="it-IT" dirty="0"/>
              <a:t> Proxy Manager parla direttamente con i server di </a:t>
            </a:r>
            <a:r>
              <a:rPr lang="it-IT" b="1" dirty="0" err="1"/>
              <a:t>Let's</a:t>
            </a:r>
            <a:r>
              <a:rPr lang="it-IT" b="1" dirty="0"/>
              <a:t> </a:t>
            </a:r>
            <a:r>
              <a:rPr lang="it-IT" b="1" dirty="0" err="1"/>
              <a:t>Encrypt</a:t>
            </a:r>
            <a:r>
              <a:rPr lang="it-IT" dirty="0"/>
              <a:t>. </a:t>
            </a:r>
          </a:p>
          <a:p>
            <a:r>
              <a:rPr lang="it-IT" dirty="0"/>
              <a:t>Ogni 90 giorni, NPM bussa a internet, dimostra di essere il vero proprietario del dominio e scarica il rinnovo da solo.</a:t>
            </a:r>
          </a:p>
          <a:p>
            <a:r>
              <a:rPr lang="it-IT" dirty="0"/>
              <a:t>Nel nostro caso, invece:</a:t>
            </a:r>
          </a:p>
          <a:p>
            <a:r>
              <a:rPr lang="it-IT" dirty="0"/>
              <a:t>Il dominio </a:t>
            </a:r>
            <a:r>
              <a:rPr lang="it-IT" dirty="0" err="1"/>
              <a:t>azienda.skillfactory.local</a:t>
            </a:r>
            <a:r>
              <a:rPr lang="it-IT" dirty="0"/>
              <a:t> esiste </a:t>
            </a:r>
            <a:r>
              <a:rPr lang="it-IT" b="1" dirty="0"/>
              <a:t>solo dentro il  PC</a:t>
            </a:r>
            <a:r>
              <a:rPr lang="it-IT" dirty="0"/>
              <a:t> (grazie al file </a:t>
            </a:r>
            <a:r>
              <a:rPr lang="it-IT" dirty="0" err="1"/>
              <a:t>hosts</a:t>
            </a:r>
            <a:r>
              <a:rPr lang="it-IT" dirty="0"/>
              <a:t>).</a:t>
            </a:r>
          </a:p>
          <a:p>
            <a:r>
              <a:rPr lang="it-IT" dirty="0">
                <a:solidFill>
                  <a:srgbClr val="171FE2"/>
                </a:solidFill>
              </a:rPr>
              <a:t>Il certificato non arriva da internet, ma lo abbiamo fabbricato a mano con il comando </a:t>
            </a:r>
            <a:r>
              <a:rPr lang="it-IT" dirty="0" err="1">
                <a:solidFill>
                  <a:srgbClr val="171FE2"/>
                </a:solidFill>
              </a:rPr>
              <a:t>openssl</a:t>
            </a:r>
            <a:r>
              <a:rPr lang="it-IT" dirty="0">
                <a:solidFill>
                  <a:srgbClr val="171FE2"/>
                </a:solidFill>
              </a:rPr>
              <a:t>.</a:t>
            </a:r>
          </a:p>
          <a:p>
            <a:r>
              <a:rPr lang="it-IT" dirty="0" err="1"/>
              <a:t>Nginx</a:t>
            </a:r>
            <a:r>
              <a:rPr lang="it-IT" dirty="0"/>
              <a:t> Proxy Manager non ha nessun server esterno a cui appoggiarsi per chiedere un aggiornamento automatico, perché quei file .</a:t>
            </a:r>
            <a:r>
              <a:rPr lang="it-IT" dirty="0" err="1"/>
              <a:t>crt</a:t>
            </a:r>
            <a:r>
              <a:rPr lang="it-IT" dirty="0"/>
              <a:t> e .key li abbiamo caricati come file statici ("Custom").</a:t>
            </a:r>
          </a:p>
          <a:p>
            <a:endParaRPr lang="it-IT" dirty="0"/>
          </a:p>
          <a:p>
            <a:endParaRPr lang="it-IT" dirty="0"/>
          </a:p>
          <a:p>
            <a:endParaRPr lang="it-IT" dirty="0"/>
          </a:p>
          <a:p>
            <a:endParaRPr lang="it-IT" dirty="0"/>
          </a:p>
          <a:p>
            <a:endParaRPr lang="it-IT" dirty="0">
              <a:solidFill>
                <a:srgbClr val="171FE2"/>
              </a:solidFill>
            </a:endParaRPr>
          </a:p>
        </p:txBody>
      </p:sp>
      <p:sp>
        <p:nvSpPr>
          <p:cNvPr id="12" name="Segnaposto numero diapositiva 11">
            <a:extLst>
              <a:ext uri="{FF2B5EF4-FFF2-40B4-BE49-F238E27FC236}">
                <a16:creationId xmlns:a16="http://schemas.microsoft.com/office/drawing/2014/main" id="{3F90B2F1-E9C2-B963-7814-A9D57A78DF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it-IT" dirty="0"/>
              <a:t>23</a:t>
            </a:r>
          </a:p>
        </p:txBody>
      </p:sp>
    </p:spTree>
    <p:extLst>
      <p:ext uri="{BB962C8B-B14F-4D97-AF65-F5344CB8AC3E}">
        <p14:creationId xmlns:p14="http://schemas.microsoft.com/office/powerpoint/2010/main" val="250951648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5E02355-4941-9C10-CA1D-649F04DB51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spc="0" dirty="0">
                <a:latin typeface="Neue Haas Grotesk Text Pro" panose="020B0504020202020204" pitchFamily="34" charset="0"/>
              </a:rPr>
              <a:t>GRAZIE PER L’ATTENZIONE</a:t>
            </a:r>
          </a:p>
        </p:txBody>
      </p:sp>
    </p:spTree>
    <p:extLst>
      <p:ext uri="{BB962C8B-B14F-4D97-AF65-F5344CB8AC3E}">
        <p14:creationId xmlns:p14="http://schemas.microsoft.com/office/powerpoint/2010/main" val="3003246572"/>
      </p:ext>
    </p:extLst>
  </p:cSld>
  <p:clrMapOvr>
    <a:masterClrMapping/>
  </p:clrMapOvr>
</p:sld>
</file>

<file path=ppt/theme/theme1.xml><?xml version="1.0" encoding="utf-8"?>
<a:theme xmlns:a="http://schemas.openxmlformats.org/drawingml/2006/main" name="Intro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21b72fd8-e7d0-49ac-9795-d1b0bc6b7e1c" xsi:nil="true"/>
    <lcf76f155ced4ddcb4097134ff3c332f xmlns="8b3acf13-3a58-43b2-a29e-f23503de136d">
      <Terms xmlns="http://schemas.microsoft.com/office/infopath/2007/PartnerControls"/>
    </lcf76f155ced4ddcb4097134ff3c332f>
    <Argomento xmlns="8b3acf13-3a58-43b2-a29e-f23503de136d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D3455C6CD0B9BF4DB2CA3009677D9668" ma:contentTypeVersion="17" ma:contentTypeDescription="Create a new document." ma:contentTypeScope="" ma:versionID="6361f2605a906a42d9630ca59d277a8b">
  <xsd:schema xmlns:xsd="http://www.w3.org/2001/XMLSchema" xmlns:xs="http://www.w3.org/2001/XMLSchema" xmlns:p="http://schemas.microsoft.com/office/2006/metadata/properties" xmlns:ns2="8b3acf13-3a58-43b2-a29e-f23503de136d" xmlns:ns3="21b72fd8-e7d0-49ac-9795-d1b0bc6b7e1c" targetNamespace="http://schemas.microsoft.com/office/2006/metadata/properties" ma:root="true" ma:fieldsID="ae4eb9e2c998b5efed80ec6126f835fa" ns2:_="" ns3:_="">
    <xsd:import namespace="8b3acf13-3a58-43b2-a29e-f23503de136d"/>
    <xsd:import namespace="21b72fd8-e7d0-49ac-9795-d1b0bc6b7e1c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KeyPoints" minOccurs="0"/>
                <xsd:element ref="ns2:MediaServiceKeyPoints" minOccurs="0"/>
                <xsd:element ref="ns3:SharedWithUsers" minOccurs="0"/>
                <xsd:element ref="ns3:SharedWithDetails" minOccurs="0"/>
                <xsd:element ref="ns2:lcf76f155ced4ddcb4097134ff3c332f" minOccurs="0"/>
                <xsd:element ref="ns3:TaxCatchAll" minOccurs="0"/>
                <xsd:element ref="ns2:MediaServiceObjectDetectorVersion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LengthInSeconds" minOccurs="0"/>
                <xsd:element ref="ns2:MediaServiceSearchProperties" minOccurs="0"/>
                <xsd:element ref="ns2:Argomento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b3acf13-3a58-43b2-a29e-f23503de136d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lcf76f155ced4ddcb4097134ff3c332f" ma:index="15" nillable="true" ma:taxonomy="true" ma:internalName="lcf76f155ced4ddcb4097134ff3c332f" ma:taxonomyFieldName="MediaServiceImageTags" ma:displayName="Image Tags" ma:readOnly="false" ma:fieldId="{5cf76f15-5ced-4ddc-b409-7134ff3c332f}" ma:taxonomyMulti="true" ma:sspId="6f31c764-9f90-46cb-b927-e7c76de0672c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17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9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20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2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22" nillable="true" ma:displayName="MediaLengthInSeconds" ma:hidden="true" ma:internalName="MediaLengthInSeconds" ma:readOnly="true">
      <xsd:simpleType>
        <xsd:restriction base="dms:Unknown"/>
      </xsd:simpleType>
    </xsd:element>
    <xsd:element name="MediaServiceSearchProperties" ma:index="23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Argomento" ma:index="24" nillable="true" ma:displayName="Argomento" ma:format="Dropdown" ma:internalName="Argomento">
      <xsd:simpleType>
        <xsd:restriction base="dms:Text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1b72fd8-e7d0-49ac-9795-d1b0bc6b7e1c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16" nillable="true" ma:displayName="Taxonomy Catch All Column" ma:hidden="true" ma:list="{40603bf2-5c45-4900-ad6d-aa2e93470d68}" ma:internalName="TaxCatchAll" ma:showField="CatchAllData" ma:web="21b72fd8-e7d0-49ac-9795-d1b0bc6b7e1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6766878A-54ED-4867-B478-72A29DC19B89}">
  <ds:schemaRefs>
    <ds:schemaRef ds:uri="http://schemas.microsoft.com/office/2006/metadata/properties"/>
    <ds:schemaRef ds:uri="http://schemas.microsoft.com/office/infopath/2007/PartnerControls"/>
    <ds:schemaRef ds:uri="21b72fd8-e7d0-49ac-9795-d1b0bc6b7e1c"/>
    <ds:schemaRef ds:uri="8b3acf13-3a58-43b2-a29e-f23503de136d"/>
  </ds:schemaRefs>
</ds:datastoreItem>
</file>

<file path=customXml/itemProps2.xml><?xml version="1.0" encoding="utf-8"?>
<ds:datastoreItem xmlns:ds="http://schemas.openxmlformats.org/officeDocument/2006/customXml" ds:itemID="{67C65656-B2D8-4C19-A873-091B25A5212E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70468F63-B318-4D5F-A1DF-86BE98AC229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8b3acf13-3a58-43b2-a29e-f23503de136d"/>
    <ds:schemaRef ds:uri="21b72fd8-e7d0-49ac-9795-d1b0bc6b7e1c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1750</TotalTime>
  <Words>2738</Words>
  <Application>Microsoft Office PowerPoint</Application>
  <PresentationFormat>Widescreen</PresentationFormat>
  <Paragraphs>308</Paragraphs>
  <Slides>26</Slides>
  <Notes>23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5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26</vt:i4>
      </vt:variant>
    </vt:vector>
  </HeadingPairs>
  <TitlesOfParts>
    <vt:vector size="32" baseType="lpstr">
      <vt:lpstr>Arial</vt:lpstr>
      <vt:lpstr>Calibri</vt:lpstr>
      <vt:lpstr>Consolas</vt:lpstr>
      <vt:lpstr>Neue Haas Grotesk Display Pro</vt:lpstr>
      <vt:lpstr>Neue Haas Grotesk Text Pro</vt:lpstr>
      <vt:lpstr>Intro</vt:lpstr>
      <vt:lpstr>Presentazione standard di PowerPoint</vt:lpstr>
      <vt:lpstr>Presentazione standard di PowerPoint</vt:lpstr>
      <vt:lpstr>Slide 1: Obiettivo del Modulo – Stack Enterprise con Nginx Proxy Manager</vt:lpstr>
      <vt:lpstr>Slide 2: Topologia di Rete e Flusso dei Dati Interno</vt:lpstr>
      <vt:lpstr>Slide 3: Step 1 – Preparazione dello Spazio di Lavoro</vt:lpstr>
      <vt:lpstr>Slide 4: Step 2/1 – Scrittura del file docker-compose.yml (La Nuova Flotta)  </vt:lpstr>
      <vt:lpstr>Slide 5: Step 2/2 – Scrittura del file docker-compose.yml (La Nuova Flotta)  </vt:lpstr>
      <vt:lpstr>Slide 6: Step 2/3 – Scrittura del file docker-compose.yml (La Nuova Flotta)  </vt:lpstr>
      <vt:lpstr>Slide 7: Step 3 – Configurazione Iniziale di Nginx Proxy Manager</vt:lpstr>
      <vt:lpstr>Slide 8: Step 4 – Struttura del Progetto Spring Boot</vt:lpstr>
      <vt:lpstr>Slide 9: Step 5 – application.properties</vt:lpstr>
      <vt:lpstr>Slide 10: step 6/1 - dockerfile a due stage </vt:lpstr>
      <vt:lpstr>Slide 11: step 6/2 - dockerfile a due stage </vt:lpstr>
      <vt:lpstr>Slide 12: Step 7 – Integrazione del Backend nel docker-compose.yml </vt:lpstr>
      <vt:lpstr>Slide 13: Step 8 – Aggiornamento del Cluster Docker</vt:lpstr>
      <vt:lpstr>Slide 14: Step 9 – Creazione del Frontend React Enterprise</vt:lpstr>
      <vt:lpstr>Slide 15: Caso di fallimento di rete (TLS handshake timeout)</vt:lpstr>
      <vt:lpstr>Slide 16: Step 10/1 – Configurazione Visuale dell'Host in Nginx Proxy Manager(Prod)</vt:lpstr>
      <vt:lpstr>Slide 17: Step 10/2 – Configurazione Visuale dell'Host in Nginx Proxy Manager(Prod)</vt:lpstr>
      <vt:lpstr>Slide 18: Step 10/3 – Configurazione Visuale dell'Host in Nginx Proxy Manager(Prod)</vt:lpstr>
      <vt:lpstr>Slide 19: Step 11 - Salvare nel DNS locale</vt:lpstr>
      <vt:lpstr>Slide 20: Step 12 - Generazione del certificato SSL</vt:lpstr>
      <vt:lpstr>Slide 21: Step 13 - Generazione del certificato SSL</vt:lpstr>
      <vt:lpstr>Slide 22: Step 14 – Collegare il certificato SSL al sito</vt:lpstr>
      <vt:lpstr>Slide 23: Rinnovo automatico del certificato</vt:lpstr>
      <vt:lpstr>GRAZIE PER L’ATTENZIONE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Presentazione standard di PowerPoint</dc:title>
  <dc:creator>Davide Grillo</dc:creator>
  <cp:lastModifiedBy>Mirko Onorato</cp:lastModifiedBy>
  <cp:revision>279</cp:revision>
  <dcterms:created xsi:type="dcterms:W3CDTF">2023-09-21T07:59:23Z</dcterms:created>
  <dcterms:modified xsi:type="dcterms:W3CDTF">2026-06-11T23:21:14Z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0x010100D3455C6CD0B9BF4DB2CA3009677D9668</vt:lpwstr>
  </property>
</Properties>
</file>