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3"/>
  </p:notesMasterIdLst>
  <p:handoutMasterIdLst>
    <p:handoutMasterId r:id="rId24"/>
  </p:handoutMasterIdLst>
  <p:sldIdLst>
    <p:sldId id="262" r:id="rId5"/>
    <p:sldId id="259" r:id="rId6"/>
    <p:sldId id="258" r:id="rId7"/>
    <p:sldId id="263" r:id="rId8"/>
    <p:sldId id="267" r:id="rId9"/>
    <p:sldId id="264" r:id="rId10"/>
    <p:sldId id="265" r:id="rId11"/>
    <p:sldId id="266" r:id="rId12"/>
    <p:sldId id="268" r:id="rId13"/>
    <p:sldId id="269" r:id="rId14"/>
    <p:sldId id="271" r:id="rId15"/>
    <p:sldId id="273" r:id="rId16"/>
    <p:sldId id="277" r:id="rId17"/>
    <p:sldId id="270" r:id="rId18"/>
    <p:sldId id="272" r:id="rId19"/>
    <p:sldId id="275" r:id="rId20"/>
    <p:sldId id="276" r:id="rId21"/>
    <p:sldId id="261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3" autoAdjust="0"/>
    <p:restoredTop sz="92907" autoAdjust="0"/>
  </p:normalViewPr>
  <p:slideViewPr>
    <p:cSldViewPr snapToGrid="0" showGuides="1">
      <p:cViewPr varScale="1">
        <p:scale>
          <a:sx n="66" d="100"/>
          <a:sy n="66" d="100"/>
        </p:scale>
        <p:origin x="6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11/06/2026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9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0C29-26D8-1FFE-BE34-F39DC79C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155357D-16CD-88FE-C819-D164316FC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B74A603-A271-2CE1-5FC0-6204AED8A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BB8038-BEE5-316D-5E1A-2060E0C1E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048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D825-6DB9-E84F-BD4A-9AAB32753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694FAA2-7F61-0F50-9D49-AF7671D77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0C00F96-DA60-DFDD-0A34-EA701C163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C431F2E-B574-2E01-2196-80FCEE6AE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7044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A66FF-8BE5-60E8-329A-31D645C0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6E73ED9-CE0F-3C37-0811-C15F2E4B8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92AA66E-557F-949E-0196-B5184F084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13A06D-9BC4-A4B1-5546-90B4C80AE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3135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3C4C-7795-6F97-7BC3-0D16910D8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3ECC8BF-8DC6-4664-0D7B-34DD17069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1CCB78F-55C0-0DA2-818A-96BC5CCC5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1BD979-C9F2-E51D-273D-70094CC2D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82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2F62-EDFD-FD1C-34B0-3BCDB7C2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0357E2F-FAF0-1EF0-E3B6-2C50FCA44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169E1B0-0E5E-8EE4-8CC1-4891635FB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01E716-47EC-619C-3D65-855CA3A1A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174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C8D7-A701-5F38-E71F-6796054E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CFC9644-CE98-A858-F0E4-CA3719B0B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0F38F9A-BA6B-0CF9-42CE-C172D3E31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2D082A-D7B9-9E6E-99AD-1E56ED9C9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75444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68A9E-A326-5366-CFC6-2522A820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E80D1E-8994-B1E3-4AFB-2A6BBA302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57083EA-661A-A9BF-8365-641A5AE0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63F04F-E2C5-8ED5-235E-3B91E98DF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8535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42B8B-2A1C-3550-B6E7-B1FB0537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8FD4F47-25CD-EAD1-F2AF-F47F29EF4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2A93806-1688-29FA-2860-A96B852EB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759E6CA-F010-00CC-7C88-C57DC3DC1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441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0A730-7A6E-B555-0C9C-0A1239D04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F1B440A-5015-86C7-53F9-A6AB90CD25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DEEA9C9-1693-9F5D-A119-9CFE1FA05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3F25BB-C08C-FD26-BA55-B688557E2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35167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7635-7706-C7DC-E327-FBF3CF84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C298A2E-FAFF-1BDE-7BB8-41FB1A35B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881984D-3030-E8BD-9CEC-436C994B3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7787A01-363E-45DD-D3C8-DDD728F10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6180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FB9F-AFBB-A8E8-2D97-3E2ADB4ED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E40D606-5300-8650-1D9D-761D6D51C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2610B75-08AE-1ED4-FA47-6A65B4CD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715C53-AA56-AD53-DAD8-FAFC7FE46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616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9F05C-AE69-361E-3947-3C9ED37E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B44BB06-9764-AE1D-248D-39C4D5305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624FA2F-E90C-ADA8-B18D-0C94D616E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2787335-2933-2DE8-FADE-1B6969DE8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8859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1A4A6-004A-C9D6-7365-049988264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C3CA44C-6574-94E0-9944-4BAB4A75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D0068C1-2121-A6DD-4155-A82CBCAFB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1CA7F4D-25D0-A2AD-1439-A3C4B63F9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9441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5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1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MODULO 3.b: Stack Enterprise con </a:t>
            </a:r>
            <a:r>
              <a:rPr lang="it-IT" dirty="0" err="1"/>
              <a:t>Nginx</a:t>
            </a:r>
            <a:r>
              <a:rPr lang="it-IT" dirty="0"/>
              <a:t> Proxy Manager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Obiettivo del Modulo – Stack Enterprise con </a:t>
            </a:r>
            <a:r>
              <a:rPr lang="it-IT" dirty="0" err="1"/>
              <a:t>Nginx</a:t>
            </a:r>
            <a:r>
              <a:rPr lang="it-IT" dirty="0"/>
              <a:t> Proxy Manager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L'obiettivo è testare, interamente all'interno del proprio computer di sviluppo locale, un'infrastruttura di rete sicura e invertita (Reverse Proxy) basata sulla cooperazione di tre entità distinte orchestrate da Docker Compose. </a:t>
            </a:r>
          </a:p>
          <a:p>
            <a:r>
              <a:rPr lang="it-IT" dirty="0"/>
              <a:t>Nello specifico, configureremo:</a:t>
            </a:r>
          </a:p>
          <a:p>
            <a:r>
              <a:rPr lang="it-IT" dirty="0"/>
              <a:t>un container </a:t>
            </a:r>
            <a:r>
              <a:rPr lang="it-IT" dirty="0" err="1"/>
              <a:t>Nginx</a:t>
            </a:r>
            <a:r>
              <a:rPr lang="it-IT" dirty="0"/>
              <a:t> che fungerà da vigile unico del sistema, intercettando il traffico HTTPS sulla porta 443.</a:t>
            </a:r>
          </a:p>
          <a:p>
            <a:r>
              <a:rPr lang="it-IT" dirty="0"/>
              <a:t>Un container </a:t>
            </a:r>
            <a:r>
              <a:rPr lang="it-IT" dirty="0" err="1"/>
              <a:t>Certbot</a:t>
            </a:r>
            <a:r>
              <a:rPr lang="it-IT" dirty="0"/>
              <a:t> deputato a simulare il ciclo di rilascio e rinnovo automatico dei certificati crittografici SSL.</a:t>
            </a:r>
          </a:p>
          <a:p>
            <a:r>
              <a:rPr lang="it-IT" dirty="0"/>
              <a:t>Un'applicazione </a:t>
            </a:r>
            <a:r>
              <a:rPr lang="it-IT" dirty="0" err="1"/>
              <a:t>Backend</a:t>
            </a:r>
            <a:r>
              <a:rPr lang="it-IT" dirty="0"/>
              <a:t> finta (</a:t>
            </a:r>
            <a:r>
              <a:rPr lang="it-IT" dirty="0" err="1"/>
              <a:t>Mock</a:t>
            </a:r>
            <a:r>
              <a:rPr lang="it-IT" dirty="0"/>
              <a:t>) posizionata nella stessa rete bridge, che riceverà il traffico pulito da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r>
              <a:rPr lang="it-IT" dirty="0"/>
              <a:t>Grazie a questo allestimento, simuleremo un vero ambiente Cloud di produzione a "Zero </a:t>
            </a:r>
            <a:r>
              <a:rPr lang="it-IT" dirty="0" err="1"/>
              <a:t>Downtime</a:t>
            </a:r>
            <a:r>
              <a:rPr lang="it-IT" dirty="0"/>
              <a:t>".</a:t>
            </a:r>
          </a:p>
          <a:p>
            <a:r>
              <a:rPr lang="it-IT" dirty="0"/>
              <a:t>Questo schema rappresenta lo standard industriale per la protezione dei microservizi. Nessuna applicazione aziendale viene mai esposta direttamente su Internet senza lo scudo di un Reverse Proxy.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0A34DE43-08B1-290A-D6C2-1F28E294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7B1B-DAC1-F2CC-321E-A2D99E2AA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96A9CD3-B44A-5810-1756-FE710BC4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Topologia di Rete e Flusso dei Dati Interno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94960E4-63F0-3D45-D15B-4155BC4D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L'intera flotta di container coopererà all'interno di una rete virtuale isolata chiamata </a:t>
            </a:r>
            <a:r>
              <a:rPr lang="it-IT" b="1" dirty="0" err="1">
                <a:solidFill>
                  <a:srgbClr val="171FE2"/>
                </a:solidFill>
              </a:rPr>
              <a:t>rete_enterprise</a:t>
            </a:r>
            <a:r>
              <a:rPr lang="it-IT" dirty="0"/>
              <a:t>. </a:t>
            </a:r>
          </a:p>
          <a:p>
            <a:r>
              <a:rPr lang="it-IT" dirty="0"/>
              <a:t>Analizziamo i punti di ingresso del traffico:</a:t>
            </a:r>
          </a:p>
          <a:p>
            <a:r>
              <a:rPr lang="it-IT" dirty="0"/>
              <a:t>Il client interroga il proxy sulle porte pubbliche standard HTTP (80) e HTTPS (443).</a:t>
            </a:r>
          </a:p>
          <a:p>
            <a:r>
              <a:rPr lang="it-IT" dirty="0"/>
              <a:t>L'amministratore accede alla dashboard visiva del proxy sulla porta 81.</a:t>
            </a:r>
          </a:p>
          <a:p>
            <a:r>
              <a:rPr lang="it-IT" dirty="0"/>
              <a:t>L'amministratore ispeziona i dati di </a:t>
            </a:r>
            <a:r>
              <a:rPr lang="it-IT" dirty="0" err="1"/>
              <a:t>MariaDB</a:t>
            </a:r>
            <a:r>
              <a:rPr lang="it-IT" dirty="0"/>
              <a:t> tramite </a:t>
            </a:r>
            <a:r>
              <a:rPr lang="it-IT" dirty="0" err="1"/>
              <a:t>phpMyAdmin</a:t>
            </a:r>
            <a:r>
              <a:rPr lang="it-IT" dirty="0"/>
              <a:t> sulla porta 8080.</a:t>
            </a:r>
          </a:p>
          <a:p>
            <a:r>
              <a:rPr lang="it-IT" dirty="0"/>
              <a:t>Il Database e il </a:t>
            </a:r>
            <a:r>
              <a:rPr lang="it-IT" dirty="0" err="1"/>
              <a:t>Backend</a:t>
            </a:r>
            <a:r>
              <a:rPr lang="it-IT" dirty="0"/>
              <a:t> comunicano in totale isolamento all'interno della rete Docker, senza esporre porte vulnerabili verso l'esterno del PC </a:t>
            </a:r>
            <a:r>
              <a:rPr lang="it-IT" dirty="0" err="1"/>
              <a:t>host</a:t>
            </a:r>
            <a:r>
              <a:rPr lang="it-IT" dirty="0"/>
              <a:t>.</a:t>
            </a:r>
          </a:p>
          <a:p>
            <a:r>
              <a:rPr lang="it-IT" dirty="0"/>
              <a:t>Il database non risponde al mondo esterno, ma solo al </a:t>
            </a:r>
            <a:r>
              <a:rPr lang="it-IT" dirty="0" err="1"/>
              <a:t>backend</a:t>
            </a:r>
            <a:r>
              <a:rPr lang="it-IT" dirty="0"/>
              <a:t> e a </a:t>
            </a:r>
            <a:r>
              <a:rPr lang="it-IT" dirty="0" err="1"/>
              <a:t>phpMyAdmin</a:t>
            </a:r>
            <a:r>
              <a:rPr lang="it-IT" dirty="0"/>
              <a:t>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49E5B036-C568-37B0-9454-147E2FE0A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303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ED32-1C45-30B3-620C-AFB6266C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FCDEB302-4B28-54BE-850E-A3E0B787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Step 1 – Preparazione dello Spazio di Lavoro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B562542-05E8-55F1-B91F-A2DF2239F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Creiamo una directory di progetto totalmente nuova sul nostro computer. </a:t>
            </a:r>
          </a:p>
          <a:p>
            <a:r>
              <a:rPr lang="it-IT" dirty="0"/>
              <a:t>Aprire il terminale (o </a:t>
            </a:r>
            <a:r>
              <a:rPr lang="it-IT" dirty="0" err="1"/>
              <a:t>PowerShell</a:t>
            </a:r>
            <a:r>
              <a:rPr lang="it-IT" dirty="0"/>
              <a:t>) e configurare l'albero delle cartelle:</a:t>
            </a:r>
          </a:p>
          <a:p>
            <a:endParaRPr lang="it-IT" dirty="0"/>
          </a:p>
          <a:p>
            <a:r>
              <a:rPr lang="it-IT" dirty="0">
                <a:latin typeface="Consolas" panose="020B0609020204030204" pitchFamily="49" charset="0"/>
              </a:rPr>
              <a:t># Creazione della cartella principale sul Desktop</a:t>
            </a:r>
          </a:p>
          <a:p>
            <a:r>
              <a:rPr lang="it-IT" dirty="0" err="1">
                <a:latin typeface="Consolas" panose="020B0609020204030204" pitchFamily="49" charset="0"/>
              </a:rPr>
              <a:t>mkdir</a:t>
            </a:r>
            <a:r>
              <a:rPr lang="it-IT" dirty="0">
                <a:latin typeface="Consolas" panose="020B0609020204030204" pitchFamily="49" charset="0"/>
              </a:rPr>
              <a:t> ~/Desktop/progetto-</a:t>
            </a:r>
            <a:r>
              <a:rPr lang="it-IT" dirty="0" err="1">
                <a:latin typeface="Consolas" panose="020B0609020204030204" pitchFamily="49" charset="0"/>
              </a:rPr>
              <a:t>enterprise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cd ~/Desktop/progetto-</a:t>
            </a:r>
            <a:r>
              <a:rPr lang="it-IT" dirty="0" err="1">
                <a:latin typeface="Consolas" panose="020B0609020204030204" pitchFamily="49" charset="0"/>
              </a:rPr>
              <a:t>enterprise</a:t>
            </a:r>
            <a:endParaRPr lang="it-IT" dirty="0">
              <a:latin typeface="Consolas" panose="020B0609020204030204" pitchFamily="49" charset="0"/>
            </a:endParaRP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Creazione delle sottocartelle per i moduli sorgente</a:t>
            </a:r>
          </a:p>
          <a:p>
            <a:r>
              <a:rPr lang="it-IT" dirty="0" err="1">
                <a:latin typeface="Consolas" panose="020B0609020204030204" pitchFamily="49" charset="0"/>
              </a:rPr>
              <a:t>mkdir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frontend</a:t>
            </a:r>
            <a:endParaRPr lang="it-IT" dirty="0">
              <a:latin typeface="Consolas" panose="020B0609020204030204" pitchFamily="49" charset="0"/>
            </a:endParaRPr>
          </a:p>
          <a:p>
            <a:r>
              <a:rPr lang="it-IT" dirty="0" err="1">
                <a:latin typeface="Consolas" panose="020B0609020204030204" pitchFamily="49" charset="0"/>
              </a:rPr>
              <a:t>mkdir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backend</a:t>
            </a:r>
            <a:endParaRPr lang="it-IT" dirty="0">
              <a:latin typeface="Consolas" panose="020B0609020204030204" pitchFamily="49" charset="0"/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F0AED0E0-DDA0-0828-A547-89D0B44F5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55741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6973-54BD-A175-D023-CD5A2DBD7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F037D0C5-FCEE-082B-8017-066AF4F4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Step 2/1 – Scrittura del file </a:t>
            </a:r>
            <a:r>
              <a:rPr lang="it-IT" dirty="0" err="1"/>
              <a:t>docker-compose.yml</a:t>
            </a:r>
            <a:r>
              <a:rPr lang="it-IT" dirty="0"/>
              <a:t> (La Nuova Flotta)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94D6EF1-EDE7-F5E1-5074-D896FC4B4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886" y="1291772"/>
            <a:ext cx="9564914" cy="4860790"/>
          </a:xfrm>
        </p:spPr>
        <p:txBody>
          <a:bodyPr/>
          <a:lstStyle/>
          <a:p>
            <a:r>
              <a:rPr lang="it-IT" dirty="0"/>
              <a:t>All'interno della radice di progetto-</a:t>
            </a:r>
            <a:r>
              <a:rPr lang="it-IT" dirty="0" err="1"/>
              <a:t>enterprise</a:t>
            </a:r>
            <a:r>
              <a:rPr lang="it-IT" dirty="0"/>
              <a:t>/, creare il file </a:t>
            </a:r>
            <a:r>
              <a:rPr lang="it-IT" dirty="0" err="1"/>
              <a:t>docker-compose.yml</a:t>
            </a:r>
            <a:r>
              <a:rPr lang="it-IT" dirty="0"/>
              <a:t> per dichiarare i primi tre servizi pronti all'uso (Proxy, Database e Pannello Admin):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services: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proxy-manager: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image: 'jc21/</a:t>
            </a:r>
            <a:r>
              <a:rPr lang="it-IT" sz="1600" dirty="0" err="1">
                <a:latin typeface="Consolas" panose="020B0609020204030204" pitchFamily="49" charset="0"/>
              </a:rPr>
              <a:t>nginx-proxy-manager:latest</a:t>
            </a:r>
            <a:r>
              <a:rPr lang="it-IT" sz="1600" dirty="0">
                <a:latin typeface="Consolas" panose="020B0609020204030204" pitchFamily="49" charset="0"/>
              </a:rPr>
              <a:t>'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container_name</a:t>
            </a:r>
            <a:r>
              <a:rPr lang="it-IT" sz="1600" dirty="0">
                <a:latin typeface="Consolas" panose="020B0609020204030204" pitchFamily="49" charset="0"/>
              </a:rPr>
              <a:t>: </a:t>
            </a:r>
            <a:r>
              <a:rPr lang="it-IT" sz="1600" dirty="0" err="1">
                <a:latin typeface="Consolas" panose="020B0609020204030204" pitchFamily="49" charset="0"/>
              </a:rPr>
              <a:t>enterprise_proxy_manager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restart</a:t>
            </a:r>
            <a:r>
              <a:rPr lang="it-IT" sz="1600" dirty="0">
                <a:latin typeface="Consolas" panose="020B0609020204030204" pitchFamily="49" charset="0"/>
              </a:rPr>
              <a:t>: </a:t>
            </a:r>
            <a:r>
              <a:rPr lang="it-IT" sz="1600" dirty="0" err="1">
                <a:latin typeface="Consolas" panose="020B0609020204030204" pitchFamily="49" charset="0"/>
              </a:rPr>
              <a:t>unless-stopped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ports: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'80:80'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'443:443'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'81:81'   # Porta di amministrazione visuale di NPM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volumes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./data:/data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./</a:t>
            </a:r>
            <a:r>
              <a:rPr lang="it-IT" sz="1600" dirty="0" err="1">
                <a:latin typeface="Consolas" panose="020B0609020204030204" pitchFamily="49" charset="0"/>
              </a:rPr>
              <a:t>letsencrypt</a:t>
            </a:r>
            <a:r>
              <a:rPr lang="it-IT" sz="1600" dirty="0">
                <a:latin typeface="Consolas" panose="020B0609020204030204" pitchFamily="49" charset="0"/>
              </a:rPr>
              <a:t>:/</a:t>
            </a:r>
            <a:r>
              <a:rPr lang="it-IT" sz="1600" dirty="0" err="1">
                <a:latin typeface="Consolas" panose="020B0609020204030204" pitchFamily="49" charset="0"/>
              </a:rPr>
              <a:t>etc</a:t>
            </a:r>
            <a:r>
              <a:rPr lang="it-IT" sz="1600" dirty="0">
                <a:latin typeface="Consolas" panose="020B0609020204030204" pitchFamily="49" charset="0"/>
              </a:rPr>
              <a:t>/</a:t>
            </a:r>
            <a:r>
              <a:rPr lang="it-IT" sz="1600" dirty="0" err="1">
                <a:latin typeface="Consolas" panose="020B0609020204030204" pitchFamily="49" charset="0"/>
              </a:rPr>
              <a:t>letsencrypt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networks: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latin typeface="Consolas" panose="020B0609020204030204" pitchFamily="49" charset="0"/>
              </a:rPr>
              <a:t>rete_enterprise</a:t>
            </a:r>
            <a:endParaRPr lang="it-IT" sz="1600" dirty="0"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  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BAF9984A-C837-7BBA-1571-D0761BB9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41721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C1A2-2403-9ABF-A0AA-C9B1A64F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8CCD1C7-B7A8-4C7C-CE37-6847B355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Step 2/2 – Scrittura del file </a:t>
            </a:r>
            <a:r>
              <a:rPr lang="it-IT" dirty="0" err="1"/>
              <a:t>docker-compose.yml</a:t>
            </a:r>
            <a:r>
              <a:rPr lang="it-IT" dirty="0"/>
              <a:t> (La Nuova Flotta)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44EA26B-5AD0-563B-44F6-D183A7E2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886" y="1291772"/>
            <a:ext cx="9564914" cy="4860790"/>
          </a:xfrm>
        </p:spPr>
        <p:txBody>
          <a:bodyPr/>
          <a:lstStyle/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r>
              <a:rPr lang="it-IT" sz="1600" dirty="0" err="1">
                <a:latin typeface="Consolas" panose="020B0609020204030204" pitchFamily="49" charset="0"/>
              </a:rPr>
              <a:t>enterprise</a:t>
            </a:r>
            <a:r>
              <a:rPr lang="it-IT" sz="1600" dirty="0">
                <a:latin typeface="Consolas" panose="020B0609020204030204" pitchFamily="49" charset="0"/>
              </a:rPr>
              <a:t>-database: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image: </a:t>
            </a:r>
            <a:r>
              <a:rPr lang="it-IT" sz="1600" dirty="0" err="1">
                <a:latin typeface="Consolas" panose="020B0609020204030204" pitchFamily="49" charset="0"/>
              </a:rPr>
              <a:t>mariadb:latest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container_name</a:t>
            </a:r>
            <a:r>
              <a:rPr lang="it-IT" sz="1600" dirty="0">
                <a:latin typeface="Consolas" panose="020B0609020204030204" pitchFamily="49" charset="0"/>
              </a:rPr>
              <a:t>: </a:t>
            </a:r>
            <a:r>
              <a:rPr lang="it-IT" sz="1600" dirty="0" err="1">
                <a:latin typeface="Consolas" panose="020B0609020204030204" pitchFamily="49" charset="0"/>
              </a:rPr>
              <a:t>db_enterprise_mariadb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restart</a:t>
            </a:r>
            <a:r>
              <a:rPr lang="it-IT" sz="1600" dirty="0">
                <a:latin typeface="Consolas" panose="020B0609020204030204" pitchFamily="49" charset="0"/>
              </a:rPr>
              <a:t>: </a:t>
            </a:r>
            <a:r>
              <a:rPr lang="it-IT" sz="1600" dirty="0" err="1">
                <a:latin typeface="Consolas" panose="020B0609020204030204" pitchFamily="49" charset="0"/>
              </a:rPr>
              <a:t>unless-stopped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environment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MYSQL_ROOT_PASSWORD: </a:t>
            </a:r>
            <a:r>
              <a:rPr lang="it-IT" sz="1600" dirty="0" err="1">
                <a:latin typeface="Consolas" panose="020B0609020204030204" pitchFamily="49" charset="0"/>
              </a:rPr>
              <a:t>root_password_skill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  MYSQL_DATABASE: </a:t>
            </a:r>
            <a:r>
              <a:rPr lang="it-IT" sz="1600" dirty="0" err="1">
                <a:latin typeface="Consolas" panose="020B0609020204030204" pitchFamily="49" charset="0"/>
              </a:rPr>
              <a:t>azienda_db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  MYSQL_USER: </a:t>
            </a:r>
            <a:r>
              <a:rPr lang="it-IT" sz="1600" dirty="0" err="1">
                <a:latin typeface="Consolas" panose="020B0609020204030204" pitchFamily="49" charset="0"/>
              </a:rPr>
              <a:t>user_enterprise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  MYSQL_PASSWORD: </a:t>
            </a:r>
            <a:r>
              <a:rPr lang="it-IT" sz="1600" dirty="0" err="1">
                <a:latin typeface="Consolas" panose="020B0609020204030204" pitchFamily="49" charset="0"/>
              </a:rPr>
              <a:t>user_password_skill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volumes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latin typeface="Consolas" panose="020B0609020204030204" pitchFamily="49" charset="0"/>
              </a:rPr>
              <a:t>data_enterprise_db</a:t>
            </a:r>
            <a:r>
              <a:rPr lang="it-IT" sz="1600" dirty="0">
                <a:latin typeface="Consolas" panose="020B0609020204030204" pitchFamily="49" charset="0"/>
              </a:rPr>
              <a:t>:/var/</a:t>
            </a:r>
            <a:r>
              <a:rPr lang="it-IT" sz="1600" dirty="0" err="1">
                <a:latin typeface="Consolas" panose="020B0609020204030204" pitchFamily="49" charset="0"/>
              </a:rPr>
              <a:t>lib</a:t>
            </a:r>
            <a:r>
              <a:rPr lang="it-IT" sz="1600" dirty="0">
                <a:latin typeface="Consolas" panose="020B0609020204030204" pitchFamily="49" charset="0"/>
              </a:rPr>
              <a:t>/</a:t>
            </a:r>
            <a:r>
              <a:rPr lang="it-IT" sz="1600" dirty="0" err="1">
                <a:latin typeface="Consolas" panose="020B0609020204030204" pitchFamily="49" charset="0"/>
              </a:rPr>
              <a:t>mysql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networks: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latin typeface="Consolas" panose="020B0609020204030204" pitchFamily="49" charset="0"/>
              </a:rPr>
              <a:t>rete_enterprise</a:t>
            </a:r>
            <a:endParaRPr lang="it-IT" sz="1600" dirty="0">
              <a:latin typeface="Consolas" panose="020B0609020204030204" pitchFamily="49" charset="0"/>
            </a:endParaRPr>
          </a:p>
          <a:p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7E85E93F-A904-EA2D-8F36-97EB3601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8135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E96C8-3EAF-E3CD-FBBA-8E1D4DA2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21CAC46-768B-1297-3833-9DD9D183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6: Step 2/3 – Scrittura del file </a:t>
            </a:r>
            <a:r>
              <a:rPr lang="it-IT" dirty="0" err="1"/>
              <a:t>docker-compose.yml</a:t>
            </a:r>
            <a:r>
              <a:rPr lang="it-IT" dirty="0"/>
              <a:t> (La Nuova Flotta)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2B60BDA-4B81-822F-5EC6-BD9C8C893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7886" y="1291772"/>
            <a:ext cx="9564914" cy="4860790"/>
          </a:xfrm>
        </p:spPr>
        <p:txBody>
          <a:bodyPr/>
          <a:lstStyle/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r>
              <a:rPr lang="it-IT" sz="1600" dirty="0" err="1">
                <a:latin typeface="Consolas" panose="020B0609020204030204" pitchFamily="49" charset="0"/>
              </a:rPr>
              <a:t>enterprise</a:t>
            </a:r>
            <a:r>
              <a:rPr lang="it-IT" sz="1600" dirty="0">
                <a:latin typeface="Consolas" panose="020B0609020204030204" pitchFamily="49" charset="0"/>
              </a:rPr>
              <a:t>-admin: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image: </a:t>
            </a:r>
            <a:r>
              <a:rPr lang="it-IT" sz="1600" dirty="0" err="1">
                <a:latin typeface="Consolas" panose="020B0609020204030204" pitchFamily="49" charset="0"/>
              </a:rPr>
              <a:t>phpmyadmin:latest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container_name</a:t>
            </a:r>
            <a:r>
              <a:rPr lang="it-IT" sz="1600" dirty="0">
                <a:latin typeface="Consolas" panose="020B0609020204030204" pitchFamily="49" charset="0"/>
              </a:rPr>
              <a:t>: </a:t>
            </a:r>
            <a:r>
              <a:rPr lang="it-IT" sz="1600" dirty="0" err="1">
                <a:latin typeface="Consolas" panose="020B0609020204030204" pitchFamily="49" charset="0"/>
              </a:rPr>
              <a:t>client_enterprise_phpmyadmin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ports: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"8080:80"   # Esposizione locale per lo sviluppo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</a:t>
            </a:r>
            <a:r>
              <a:rPr lang="it-IT" sz="1600" dirty="0" err="1">
                <a:latin typeface="Consolas" panose="020B0609020204030204" pitchFamily="49" charset="0"/>
              </a:rPr>
              <a:t>environment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PMA_HOST: </a:t>
            </a:r>
            <a:r>
              <a:rPr lang="it-IT" sz="1600" dirty="0" err="1">
                <a:latin typeface="Consolas" panose="020B0609020204030204" pitchFamily="49" charset="0"/>
              </a:rPr>
              <a:t>enterprise</a:t>
            </a:r>
            <a:r>
              <a:rPr lang="it-IT" sz="1600" dirty="0">
                <a:latin typeface="Consolas" panose="020B0609020204030204" pitchFamily="49" charset="0"/>
              </a:rPr>
              <a:t>-database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PMA_USER: root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PMA_PASSWORD: </a:t>
            </a:r>
            <a:r>
              <a:rPr lang="it-IT" sz="1600" dirty="0" err="1">
                <a:latin typeface="Consolas" panose="020B0609020204030204" pitchFamily="49" charset="0"/>
              </a:rPr>
              <a:t>root_password_skill</a:t>
            </a:r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>
                <a:latin typeface="Consolas" panose="020B0609020204030204" pitchFamily="49" charset="0"/>
              </a:rPr>
              <a:t>    networks: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    - </a:t>
            </a:r>
            <a:r>
              <a:rPr lang="it-IT" sz="1600" dirty="0" err="1">
                <a:latin typeface="Consolas" panose="020B0609020204030204" pitchFamily="49" charset="0"/>
              </a:rPr>
              <a:t>rete_enterprise</a:t>
            </a:r>
            <a:endParaRPr lang="it-IT" sz="1600" dirty="0">
              <a:latin typeface="Consolas" panose="020B0609020204030204" pitchFamily="49" charset="0"/>
            </a:endParaRPr>
          </a:p>
          <a:p>
            <a:endParaRPr lang="it-IT" sz="1600" dirty="0">
              <a:latin typeface="Consolas" panose="020B0609020204030204" pitchFamily="49" charset="0"/>
            </a:endParaRPr>
          </a:p>
          <a:p>
            <a:r>
              <a:rPr lang="it-IT" sz="1600" dirty="0" err="1">
                <a:latin typeface="Consolas" panose="020B0609020204030204" pitchFamily="49" charset="0"/>
              </a:rPr>
              <a:t>volumes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r>
              <a:rPr lang="it-IT" sz="1600" dirty="0" err="1">
                <a:latin typeface="Consolas" panose="020B0609020204030204" pitchFamily="49" charset="0"/>
              </a:rPr>
              <a:t>data_enterprise_db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networks: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r>
              <a:rPr lang="it-IT" sz="1600" dirty="0" err="1">
                <a:latin typeface="Consolas" panose="020B0609020204030204" pitchFamily="49" charset="0"/>
              </a:rPr>
              <a:t>rete_enterprise</a:t>
            </a:r>
            <a:r>
              <a:rPr lang="it-IT" sz="1600" dirty="0">
                <a:latin typeface="Consolas" panose="020B0609020204030204" pitchFamily="49" charset="0"/>
              </a:rPr>
              <a:t>:</a:t>
            </a:r>
          </a:p>
          <a:p>
            <a:r>
              <a:rPr lang="it-IT" sz="1600" dirty="0">
                <a:latin typeface="Consolas" panose="020B0609020204030204" pitchFamily="49" charset="0"/>
              </a:rPr>
              <a:t>  </a:t>
            </a:r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845D9DE8-9A0B-C4FD-A9B5-DF7EC02B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29483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1757-2212-701A-F210-BABA41D6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6E1BC2E1-71DE-6FC4-5331-E09F6C29E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7: Step 3 – Configurazione Iniziale di </a:t>
            </a:r>
            <a:r>
              <a:rPr lang="it-IT" dirty="0" err="1"/>
              <a:t>Nginx</a:t>
            </a:r>
            <a:r>
              <a:rPr lang="it-IT" dirty="0"/>
              <a:t> Proxy Manager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703FBA4-8482-CE4B-40B9-208490F6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Apriamo il browser e colleghiamoci alla dashboard amministrativa del proxy:</a:t>
            </a:r>
          </a:p>
          <a:p>
            <a:r>
              <a:rPr lang="it-IT" dirty="0"/>
              <a:t>http://localhost:81</a:t>
            </a:r>
          </a:p>
          <a:p>
            <a:r>
              <a:rPr lang="it-IT" dirty="0"/>
              <a:t>Il sistema risponderà con una maschera di login. </a:t>
            </a:r>
          </a:p>
          <a:p>
            <a:r>
              <a:rPr lang="it-IT" dirty="0"/>
              <a:t>Utilizzare le credenziali di fabbrica fornite dagli sviluppatori:</a:t>
            </a:r>
          </a:p>
          <a:p>
            <a:pPr lvl="1"/>
            <a:r>
              <a:rPr lang="it-IT" b="1" dirty="0"/>
              <a:t>Email:</a:t>
            </a:r>
            <a:r>
              <a:rPr lang="it-IT" dirty="0"/>
              <a:t> admin@example.com</a:t>
            </a:r>
          </a:p>
          <a:p>
            <a:pPr lvl="1"/>
            <a:r>
              <a:rPr lang="it-IT" b="1" dirty="0"/>
              <a:t>Password:</a:t>
            </a:r>
            <a:r>
              <a:rPr lang="it-IT" dirty="0"/>
              <a:t> </a:t>
            </a:r>
            <a:r>
              <a:rPr lang="it-IT" dirty="0" err="1"/>
              <a:t>changeme</a:t>
            </a:r>
            <a:r>
              <a:rPr lang="it-IT" dirty="0"/>
              <a:t> 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932FFDB7-3508-CA2D-749F-EE78EA2D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89967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F1D42-B8A0-8B2A-890E-D8C19ED9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984EADF-E583-0FC6-D21F-1920298E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8: Step 4 – Struttura del Progetto Spring Boot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537540A-ECDE-4AB2-7C9E-861F504E2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070"/>
            <a:ext cx="3182257" cy="4803369"/>
          </a:xfrm>
        </p:spPr>
        <p:txBody>
          <a:bodyPr/>
          <a:lstStyle/>
          <a:p>
            <a:r>
              <a:rPr lang="it-IT" dirty="0"/>
              <a:t>All'interno della cartella </a:t>
            </a:r>
            <a:r>
              <a:rPr lang="it-IT" dirty="0" err="1"/>
              <a:t>backend</a:t>
            </a:r>
            <a:r>
              <a:rPr lang="it-IT" dirty="0"/>
              <a:t>/ creata in precedenza, dobbiamo strutturare il nostro applicativo Java seguendo le convenzioni standard di Spring Boot (architettura a strati: Controller, Service, Repository, </a:t>
            </a:r>
            <a:r>
              <a:rPr lang="it-IT" dirty="0" err="1"/>
              <a:t>Entity</a:t>
            </a:r>
            <a:r>
              <a:rPr lang="it-IT" dirty="0"/>
              <a:t>). Creiamo la seguente struttura di directory e file vuoti:</a:t>
            </a:r>
          </a:p>
          <a:p>
            <a:endParaRPr lang="it-IT" sz="1600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63783CDB-F52A-CCA3-FAE6-6875F93B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8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1215728-D077-B865-4F02-C7E95D283EE3}"/>
              </a:ext>
            </a:extLst>
          </p:cNvPr>
          <p:cNvSpPr txBox="1"/>
          <p:nvPr/>
        </p:nvSpPr>
        <p:spPr>
          <a:xfrm>
            <a:off x="4267200" y="1339592"/>
            <a:ext cx="4846135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/>
              <a:t>progetto-</a:t>
            </a:r>
            <a:r>
              <a:rPr lang="it-IT" sz="2000" dirty="0" err="1"/>
              <a:t>enterprise</a:t>
            </a:r>
            <a:r>
              <a:rPr lang="it-IT" sz="2000" dirty="0"/>
              <a:t>/</a:t>
            </a:r>
          </a:p>
          <a:p>
            <a:r>
              <a:rPr lang="it-IT" sz="2000" dirty="0"/>
              <a:t>└── </a:t>
            </a:r>
            <a:r>
              <a:rPr lang="it-IT" sz="2000" dirty="0" err="1"/>
              <a:t>backend</a:t>
            </a:r>
            <a:r>
              <a:rPr lang="it-IT" sz="2000" dirty="0"/>
              <a:t>/</a:t>
            </a:r>
          </a:p>
          <a:p>
            <a:r>
              <a:rPr lang="it-IT" sz="2000" dirty="0"/>
              <a:t>    ├── pom.xml</a:t>
            </a:r>
          </a:p>
          <a:p>
            <a:r>
              <a:rPr lang="it-IT" sz="2000" dirty="0"/>
              <a:t>    └── </a:t>
            </a:r>
            <a:r>
              <a:rPr lang="it-IT" sz="2000" dirty="0" err="1"/>
              <a:t>src</a:t>
            </a:r>
            <a:r>
              <a:rPr lang="it-IT" sz="2000" dirty="0"/>
              <a:t>/</a:t>
            </a:r>
          </a:p>
          <a:p>
            <a:r>
              <a:rPr lang="it-IT" sz="2000" dirty="0"/>
              <a:t>        └── </a:t>
            </a:r>
            <a:r>
              <a:rPr lang="it-IT" sz="2000" dirty="0" err="1"/>
              <a:t>main</a:t>
            </a:r>
            <a:r>
              <a:rPr lang="it-IT" sz="2000" dirty="0"/>
              <a:t>/</a:t>
            </a:r>
          </a:p>
          <a:p>
            <a:r>
              <a:rPr lang="it-IT" sz="2000" dirty="0"/>
              <a:t>            └── java/</a:t>
            </a:r>
          </a:p>
          <a:p>
            <a:r>
              <a:rPr lang="it-IT" sz="2000" dirty="0"/>
              <a:t>                └── </a:t>
            </a:r>
            <a:r>
              <a:rPr lang="it-IT" sz="2000" dirty="0" err="1"/>
              <a:t>com</a:t>
            </a:r>
            <a:r>
              <a:rPr lang="it-IT" sz="2000" dirty="0"/>
              <a:t>/</a:t>
            </a:r>
          </a:p>
          <a:p>
            <a:r>
              <a:rPr lang="it-IT" sz="2000" dirty="0"/>
              <a:t>                    └── </a:t>
            </a:r>
            <a:r>
              <a:rPr lang="it-IT" sz="2000" dirty="0" err="1"/>
              <a:t>enterprise</a:t>
            </a:r>
            <a:r>
              <a:rPr lang="it-IT" sz="2000" dirty="0"/>
              <a:t>/</a:t>
            </a:r>
          </a:p>
          <a:p>
            <a:r>
              <a:rPr lang="it-IT" sz="2000" dirty="0"/>
              <a:t>                        └── app/</a:t>
            </a:r>
          </a:p>
          <a:p>
            <a:r>
              <a:rPr lang="it-IT" sz="2000" dirty="0"/>
              <a:t>                            ├── Application.java</a:t>
            </a:r>
          </a:p>
          <a:p>
            <a:r>
              <a:rPr lang="it-IT" sz="2000" dirty="0"/>
              <a:t>                            ├── model/</a:t>
            </a:r>
          </a:p>
          <a:p>
            <a:r>
              <a:rPr lang="it-IT" sz="2000" dirty="0"/>
              <a:t>                            │   └── Utente.java</a:t>
            </a:r>
          </a:p>
          <a:p>
            <a:r>
              <a:rPr lang="it-IT" sz="2000" dirty="0"/>
              <a:t>                            ├── repository/</a:t>
            </a:r>
          </a:p>
          <a:p>
            <a:r>
              <a:rPr lang="it-IT" sz="2000" dirty="0"/>
              <a:t>                            │   └── UtenteRepository.java</a:t>
            </a:r>
          </a:p>
          <a:p>
            <a:r>
              <a:rPr lang="it-IT" sz="2000" dirty="0"/>
              <a:t>                            └── controller/</a:t>
            </a:r>
          </a:p>
          <a:p>
            <a:r>
              <a:rPr lang="it-IT" sz="2000" dirty="0"/>
              <a:t>                                └── UtenteController.java</a:t>
            </a:r>
          </a:p>
        </p:txBody>
      </p:sp>
    </p:spTree>
    <p:extLst>
      <p:ext uri="{BB962C8B-B14F-4D97-AF65-F5344CB8AC3E}">
        <p14:creationId xmlns:p14="http://schemas.microsoft.com/office/powerpoint/2010/main" val="7852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31DE-924E-B773-2032-AFA2295F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6C5D4B2-F257-46F9-62B8-58E6BA9B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9: Step 5 – </a:t>
            </a:r>
            <a:r>
              <a:rPr lang="it-IT" dirty="0" err="1"/>
              <a:t>application.properties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B928CF4-EF6D-CBA4-990B-B7026BF59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070"/>
            <a:ext cx="10308772" cy="4803369"/>
          </a:xfrm>
        </p:spPr>
        <p:txBody>
          <a:bodyPr/>
          <a:lstStyle/>
          <a:p>
            <a:r>
              <a:rPr lang="it-IT" dirty="0"/>
              <a:t>spring.application.name=app</a:t>
            </a:r>
          </a:p>
          <a:p>
            <a:r>
              <a:rPr lang="it-IT" dirty="0"/>
              <a:t># URL di connessione: usiamo il nome del servizio </a:t>
            </a:r>
            <a:r>
              <a:rPr lang="it-IT" dirty="0" err="1"/>
              <a:t>docker</a:t>
            </a:r>
            <a:r>
              <a:rPr lang="it-IT" dirty="0"/>
              <a:t> '</a:t>
            </a:r>
            <a:r>
              <a:rPr lang="it-IT" dirty="0" err="1"/>
              <a:t>enterprise</a:t>
            </a:r>
            <a:r>
              <a:rPr lang="it-IT" dirty="0"/>
              <a:t>-database'</a:t>
            </a:r>
          </a:p>
          <a:p>
            <a:r>
              <a:rPr lang="it-IT" dirty="0"/>
              <a:t>spring.datasource.url=</a:t>
            </a:r>
            <a:r>
              <a:rPr lang="it-IT" dirty="0" err="1"/>
              <a:t>jdbc:mariadb</a:t>
            </a:r>
            <a:r>
              <a:rPr lang="it-IT" dirty="0"/>
              <a:t>://enterprise-database:3306/</a:t>
            </a:r>
            <a:r>
              <a:rPr lang="it-IT" dirty="0" err="1"/>
              <a:t>azienda_db</a:t>
            </a:r>
            <a:endParaRPr lang="it-IT" dirty="0"/>
          </a:p>
          <a:p>
            <a:r>
              <a:rPr lang="it-IT" dirty="0" err="1"/>
              <a:t>spring.datasource.username</a:t>
            </a:r>
            <a:r>
              <a:rPr lang="it-IT" dirty="0"/>
              <a:t>=</a:t>
            </a:r>
            <a:r>
              <a:rPr lang="it-IT" dirty="0" err="1"/>
              <a:t>user_enterprise</a:t>
            </a:r>
            <a:endParaRPr lang="it-IT" dirty="0"/>
          </a:p>
          <a:p>
            <a:r>
              <a:rPr lang="it-IT" dirty="0" err="1"/>
              <a:t>spring.datasource.password</a:t>
            </a:r>
            <a:r>
              <a:rPr lang="it-IT" dirty="0"/>
              <a:t>=</a:t>
            </a:r>
            <a:r>
              <a:rPr lang="it-IT" dirty="0" err="1"/>
              <a:t>user_password_skill</a:t>
            </a:r>
            <a:endParaRPr lang="it-IT" dirty="0"/>
          </a:p>
          <a:p>
            <a:r>
              <a:rPr lang="it-IT" dirty="0" err="1"/>
              <a:t>spring.datasource.driver</a:t>
            </a:r>
            <a:r>
              <a:rPr lang="it-IT" dirty="0"/>
              <a:t>-class-name=</a:t>
            </a:r>
            <a:r>
              <a:rPr lang="it-IT" dirty="0" err="1"/>
              <a:t>org.mariadb.jdbc.Driver</a:t>
            </a:r>
            <a:endParaRPr lang="it-IT" dirty="0"/>
          </a:p>
          <a:p>
            <a:endParaRPr lang="it-IT" dirty="0"/>
          </a:p>
          <a:p>
            <a:r>
              <a:rPr lang="it-IT" dirty="0"/>
              <a:t># Configurazione </a:t>
            </a:r>
            <a:r>
              <a:rPr lang="it-IT" dirty="0" err="1"/>
              <a:t>Hibernate</a:t>
            </a:r>
            <a:r>
              <a:rPr lang="it-IT" dirty="0"/>
              <a:t> (DDL Auto)</a:t>
            </a:r>
          </a:p>
          <a:p>
            <a:r>
              <a:rPr lang="it-IT" dirty="0"/>
              <a:t># 'update' istruisce </a:t>
            </a:r>
            <a:r>
              <a:rPr lang="it-IT" dirty="0" err="1"/>
              <a:t>Hibernate</a:t>
            </a:r>
            <a:r>
              <a:rPr lang="it-IT" dirty="0"/>
              <a:t> a creare automaticamente le tabelle se mancano o aggiornarle</a:t>
            </a:r>
          </a:p>
          <a:p>
            <a:r>
              <a:rPr lang="it-IT" dirty="0" err="1"/>
              <a:t>spring.jpa.hibernate.ddl</a:t>
            </a:r>
            <a:r>
              <a:rPr lang="it-IT" dirty="0"/>
              <a:t>-auto=update</a:t>
            </a:r>
          </a:p>
          <a:p>
            <a:endParaRPr lang="it-IT" dirty="0"/>
          </a:p>
          <a:p>
            <a:r>
              <a:rPr lang="it-IT" dirty="0"/>
              <a:t># Mostra le query SQL generate da </a:t>
            </a:r>
            <a:r>
              <a:rPr lang="it-IT" dirty="0" err="1"/>
              <a:t>Hibernate</a:t>
            </a:r>
            <a:r>
              <a:rPr lang="it-IT" dirty="0"/>
              <a:t> nel terminale (ottimo per il debug)</a:t>
            </a:r>
          </a:p>
          <a:p>
            <a:r>
              <a:rPr lang="it-IT" dirty="0" err="1"/>
              <a:t>spring.jpa.show-sql</a:t>
            </a:r>
            <a:r>
              <a:rPr lang="it-IT" dirty="0"/>
              <a:t>=</a:t>
            </a:r>
            <a:r>
              <a:rPr lang="it-IT" dirty="0" err="1"/>
              <a:t>true</a:t>
            </a:r>
            <a:endParaRPr lang="it-IT" dirty="0"/>
          </a:p>
          <a:p>
            <a:r>
              <a:rPr lang="it-IT" dirty="0" err="1"/>
              <a:t>spring.jpa.properties.hibernate.format_sql</a:t>
            </a:r>
            <a:r>
              <a:rPr lang="it-IT" dirty="0"/>
              <a:t>=</a:t>
            </a:r>
            <a:r>
              <a:rPr lang="it-IT" dirty="0" err="1"/>
              <a:t>true</a:t>
            </a:r>
            <a:endParaRPr lang="it-IT" sz="1600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C549D413-0549-42D6-68D1-50F52108F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94286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6888-2981-9CC1-2209-ADE67217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D8201046-0348-7968-90F6-80508C74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10: step 6/1 - </a:t>
            </a:r>
            <a:r>
              <a:rPr lang="it-IT" dirty="0" err="1"/>
              <a:t>dockerfile</a:t>
            </a:r>
            <a:r>
              <a:rPr lang="it-IT" dirty="0"/>
              <a:t> a due stage 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AD3E11C-B4C4-688B-C5A9-839F5DC6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070"/>
            <a:ext cx="10308772" cy="4803369"/>
          </a:xfrm>
        </p:spPr>
        <p:txBody>
          <a:bodyPr/>
          <a:lstStyle/>
          <a:p>
            <a:r>
              <a:rPr lang="it-IT" dirty="0">
                <a:latin typeface="Consolas" panose="020B0609020204030204" pitchFamily="49" charset="0"/>
              </a:rPr>
              <a:t># Fase 1: Compilazione (Build)</a:t>
            </a:r>
          </a:p>
          <a:p>
            <a:r>
              <a:rPr lang="it-IT" dirty="0">
                <a:latin typeface="Consolas" panose="020B0609020204030204" pitchFamily="49" charset="0"/>
              </a:rPr>
              <a:t>FROM maven:3.9-eclipse-temurin-17-alpine AS build</a:t>
            </a:r>
          </a:p>
          <a:p>
            <a:r>
              <a:rPr lang="it-IT" dirty="0">
                <a:latin typeface="Consolas" panose="020B0609020204030204" pitchFamily="49" charset="0"/>
              </a:rPr>
              <a:t>WORKDIR /app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Copiamo il </a:t>
            </a:r>
            <a:r>
              <a:rPr lang="it-IT" dirty="0" err="1">
                <a:latin typeface="Consolas" panose="020B0609020204030204" pitchFamily="49" charset="0"/>
              </a:rPr>
              <a:t>pom</a:t>
            </a:r>
            <a:r>
              <a:rPr lang="it-IT" dirty="0">
                <a:latin typeface="Consolas" panose="020B0609020204030204" pitchFamily="49" charset="0"/>
              </a:rPr>
              <a:t> e i sorgenti dentro il container</a:t>
            </a:r>
          </a:p>
          <a:p>
            <a:r>
              <a:rPr lang="it-IT" dirty="0">
                <a:latin typeface="Consolas" panose="020B0609020204030204" pitchFamily="49" charset="0"/>
              </a:rPr>
              <a:t>COPY pom.xml .</a:t>
            </a:r>
          </a:p>
          <a:p>
            <a:r>
              <a:rPr lang="it-IT" dirty="0">
                <a:latin typeface="Consolas" panose="020B0609020204030204" pitchFamily="49" charset="0"/>
              </a:rPr>
              <a:t>COPY </a:t>
            </a:r>
            <a:r>
              <a:rPr lang="it-IT" dirty="0" err="1">
                <a:latin typeface="Consolas" panose="020B0609020204030204" pitchFamily="49" charset="0"/>
              </a:rPr>
              <a:t>src</a:t>
            </a:r>
            <a:r>
              <a:rPr lang="it-IT" dirty="0">
                <a:latin typeface="Consolas" panose="020B0609020204030204" pitchFamily="49" charset="0"/>
              </a:rPr>
              <a:t> ./</a:t>
            </a:r>
            <a:r>
              <a:rPr lang="it-IT" dirty="0" err="1">
                <a:latin typeface="Consolas" panose="020B0609020204030204" pitchFamily="49" charset="0"/>
              </a:rPr>
              <a:t>src</a:t>
            </a:r>
            <a:endParaRPr lang="it-IT" dirty="0">
              <a:latin typeface="Consolas" panose="020B0609020204030204" pitchFamily="49" charset="0"/>
            </a:endParaRP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Compiliamo il progetto creando il file .</a:t>
            </a:r>
            <a:r>
              <a:rPr lang="it-IT" dirty="0" err="1">
                <a:latin typeface="Consolas" panose="020B0609020204030204" pitchFamily="49" charset="0"/>
              </a:rPr>
              <a:t>jar</a:t>
            </a:r>
            <a:r>
              <a:rPr lang="it-IT" dirty="0">
                <a:latin typeface="Consolas" panose="020B0609020204030204" pitchFamily="49" charset="0"/>
              </a:rPr>
              <a:t> ed escludendo i test per velocizzare</a:t>
            </a:r>
          </a:p>
          <a:p>
            <a:r>
              <a:rPr lang="it-IT" dirty="0">
                <a:latin typeface="Consolas" panose="020B0609020204030204" pitchFamily="49" charset="0"/>
              </a:rPr>
              <a:t>RUN </a:t>
            </a:r>
            <a:r>
              <a:rPr lang="it-IT" dirty="0" err="1">
                <a:latin typeface="Consolas" panose="020B0609020204030204" pitchFamily="49" charset="0"/>
              </a:rPr>
              <a:t>mvn</a:t>
            </a:r>
            <a:r>
              <a:rPr lang="it-IT" dirty="0">
                <a:latin typeface="Consolas" panose="020B0609020204030204" pitchFamily="49" charset="0"/>
              </a:rPr>
              <a:t> </a:t>
            </a:r>
            <a:r>
              <a:rPr lang="it-IT" dirty="0" err="1">
                <a:latin typeface="Consolas" panose="020B0609020204030204" pitchFamily="49" charset="0"/>
              </a:rPr>
              <a:t>clean</a:t>
            </a:r>
            <a:r>
              <a:rPr lang="it-IT" dirty="0">
                <a:latin typeface="Consolas" panose="020B0609020204030204" pitchFamily="49" charset="0"/>
              </a:rPr>
              <a:t> package -</a:t>
            </a:r>
            <a:r>
              <a:rPr lang="it-IT" dirty="0" err="1">
                <a:latin typeface="Consolas" panose="020B0609020204030204" pitchFamily="49" charset="0"/>
              </a:rPr>
              <a:t>DskipTests</a:t>
            </a:r>
            <a:endParaRPr lang="it-IT" dirty="0">
              <a:latin typeface="Consolas" panose="020B0609020204030204" pitchFamily="49" charset="0"/>
            </a:endParaRPr>
          </a:p>
          <a:p>
            <a:endParaRPr lang="it-IT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C21D622E-82E9-73C4-2E4B-536F730BA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7691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ED440-1156-7FDD-B613-8A54C6D8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6C4FE5B9-92A7-1CA8-B612-478C0A69C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11: step 6/2 - </a:t>
            </a:r>
            <a:r>
              <a:rPr lang="it-IT" dirty="0" err="1"/>
              <a:t>dockerfile</a:t>
            </a:r>
            <a:r>
              <a:rPr lang="it-IT" dirty="0"/>
              <a:t> a due stage 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84B38331-E5B9-DC98-5026-64C2EA4C6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070"/>
            <a:ext cx="10308772" cy="4803369"/>
          </a:xfrm>
        </p:spPr>
        <p:txBody>
          <a:bodyPr/>
          <a:lstStyle/>
          <a:p>
            <a:r>
              <a:rPr lang="it-IT" dirty="0">
                <a:latin typeface="Consolas" panose="020B0609020204030204" pitchFamily="49" charset="0"/>
              </a:rPr>
              <a:t># Fase 2: Runtime leggero per l'esecuzione</a:t>
            </a:r>
          </a:p>
          <a:p>
            <a:r>
              <a:rPr lang="it-IT" dirty="0">
                <a:latin typeface="Consolas" panose="020B0609020204030204" pitchFamily="49" charset="0"/>
              </a:rPr>
              <a:t>FROM eclipse-temurin:17-jre-alpine</a:t>
            </a:r>
          </a:p>
          <a:p>
            <a:r>
              <a:rPr lang="it-IT" dirty="0">
                <a:latin typeface="Consolas" panose="020B0609020204030204" pitchFamily="49" charset="0"/>
              </a:rPr>
              <a:t>WORKDIR /app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Copiamo solo il file .</a:t>
            </a:r>
            <a:r>
              <a:rPr lang="it-IT" dirty="0" err="1">
                <a:latin typeface="Consolas" panose="020B0609020204030204" pitchFamily="49" charset="0"/>
              </a:rPr>
              <a:t>jar</a:t>
            </a:r>
            <a:r>
              <a:rPr lang="it-IT" dirty="0">
                <a:latin typeface="Consolas" panose="020B0609020204030204" pitchFamily="49" charset="0"/>
              </a:rPr>
              <a:t> generato dalla fase precedente</a:t>
            </a:r>
          </a:p>
          <a:p>
            <a:r>
              <a:rPr lang="it-IT" dirty="0">
                <a:latin typeface="Consolas" panose="020B0609020204030204" pitchFamily="49" charset="0"/>
              </a:rPr>
              <a:t>COPY --from=build /app/target/*.</a:t>
            </a:r>
            <a:r>
              <a:rPr lang="it-IT" dirty="0" err="1">
                <a:latin typeface="Consolas" panose="020B0609020204030204" pitchFamily="49" charset="0"/>
              </a:rPr>
              <a:t>jar</a:t>
            </a:r>
            <a:r>
              <a:rPr lang="it-IT" dirty="0">
                <a:latin typeface="Consolas" panose="020B0609020204030204" pitchFamily="49" charset="0"/>
              </a:rPr>
              <a:t> app.jar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Esponiamo la porta interna di Spring Boot</a:t>
            </a:r>
          </a:p>
          <a:p>
            <a:r>
              <a:rPr lang="it-IT" dirty="0">
                <a:latin typeface="Consolas" panose="020B0609020204030204" pitchFamily="49" charset="0"/>
              </a:rPr>
              <a:t>EXPOSE 8080</a:t>
            </a:r>
          </a:p>
          <a:p>
            <a:endParaRPr lang="it-IT" dirty="0">
              <a:latin typeface="Consolas" panose="020B0609020204030204" pitchFamily="49" charset="0"/>
            </a:endParaRPr>
          </a:p>
          <a:p>
            <a:r>
              <a:rPr lang="it-IT" dirty="0">
                <a:latin typeface="Consolas" panose="020B0609020204030204" pitchFamily="49" charset="0"/>
              </a:rPr>
              <a:t># Avviamo l'applicazione</a:t>
            </a:r>
          </a:p>
          <a:p>
            <a:r>
              <a:rPr lang="it-IT" dirty="0">
                <a:latin typeface="Consolas" panose="020B0609020204030204" pitchFamily="49" charset="0"/>
              </a:rPr>
              <a:t>ENTRYPOINT ["java", "-</a:t>
            </a:r>
            <a:r>
              <a:rPr lang="it-IT" dirty="0" err="1">
                <a:latin typeface="Consolas" panose="020B0609020204030204" pitchFamily="49" charset="0"/>
              </a:rPr>
              <a:t>jar</a:t>
            </a:r>
            <a:r>
              <a:rPr lang="it-IT" dirty="0">
                <a:latin typeface="Consolas" panose="020B0609020204030204" pitchFamily="49" charset="0"/>
              </a:rPr>
              <a:t>", "app.jar"]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B62545AB-A89D-3085-BD09-04A61117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11983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33A033-F80F-0341-855C-3483E0C4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Slide 12: Step 7 – Integrazione del </a:t>
            </a:r>
            <a:r>
              <a:rPr lang="it-IT" dirty="0" err="1"/>
              <a:t>Backend</a:t>
            </a:r>
            <a:r>
              <a:rPr lang="it-IT" dirty="0"/>
              <a:t> nel </a:t>
            </a:r>
            <a:r>
              <a:rPr lang="it-IT" dirty="0" err="1"/>
              <a:t>docker-compose.yml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996758-1838-3643-7C7D-8C98EE71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Aprire il file </a:t>
            </a:r>
            <a:r>
              <a:rPr lang="it-IT" dirty="0" err="1"/>
              <a:t>docker-compose.yml</a:t>
            </a:r>
            <a:r>
              <a:rPr lang="it-IT" dirty="0"/>
              <a:t> nella radice del progetto e aggiungere il servizio </a:t>
            </a:r>
            <a:r>
              <a:rPr lang="it-IT" dirty="0" err="1"/>
              <a:t>enterprise-backend</a:t>
            </a:r>
            <a:r>
              <a:rPr lang="it-IT" dirty="0"/>
              <a:t> subito sotto </a:t>
            </a:r>
            <a:r>
              <a:rPr lang="it-IT" dirty="0" err="1"/>
              <a:t>phpMyAdmin</a:t>
            </a:r>
            <a:r>
              <a:rPr lang="it-IT" dirty="0"/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enterprise-backend:</a:t>
            </a:r>
          </a:p>
          <a:p>
            <a:r>
              <a:rPr lang="en-US" dirty="0">
                <a:latin typeface="Consolas" panose="020B0609020204030204" pitchFamily="49" charset="0"/>
              </a:rPr>
              <a:t>    build: ./backend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container_name</a:t>
            </a:r>
            <a:r>
              <a:rPr lang="en-US" dirty="0">
                <a:latin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</a:rPr>
              <a:t>app_enterprise_backend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restart: unless-stopped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depends_on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latin typeface="Consolas" panose="020B0609020204030204" pitchFamily="49" charset="0"/>
              </a:rPr>
              <a:t>      - enterprise-database</a:t>
            </a:r>
          </a:p>
          <a:p>
            <a:r>
              <a:rPr lang="en-US" dirty="0">
                <a:latin typeface="Consolas" panose="020B0609020204030204" pitchFamily="49" charset="0"/>
              </a:rPr>
              <a:t>    networks:</a:t>
            </a:r>
          </a:p>
          <a:p>
            <a:r>
              <a:rPr lang="en-US" dirty="0">
                <a:latin typeface="Consolas" panose="020B0609020204030204" pitchFamily="49" charset="0"/>
              </a:rPr>
              <a:t>      - </a:t>
            </a:r>
            <a:r>
              <a:rPr lang="en-US" dirty="0" err="1">
                <a:latin typeface="Consolas" panose="020B0609020204030204" pitchFamily="49" charset="0"/>
              </a:rPr>
              <a:t>rete_enterprise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29D4ED-6E6F-745A-9F3F-D9BCCE959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19531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2DFE7-4682-1DA7-9CEA-46F5E223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3F7E20A-B029-D672-F8C8-D0614BAE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13: Step 8 – Aggiornamento del Cluster Docker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8E39968D-74BE-978A-2C0B-39FD2E6C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070"/>
            <a:ext cx="10308772" cy="4803369"/>
          </a:xfrm>
        </p:spPr>
        <p:txBody>
          <a:bodyPr/>
          <a:lstStyle/>
          <a:p>
            <a:r>
              <a:rPr lang="it-IT" dirty="0"/>
              <a:t>Lanciare nel terminale il comando per inserire il nuovo container all'interno della nostra rete virtuale:</a:t>
            </a:r>
          </a:p>
          <a:p>
            <a:r>
              <a:rPr lang="it-IT" dirty="0" err="1"/>
              <a:t>docker</a:t>
            </a:r>
            <a:r>
              <a:rPr lang="it-IT" dirty="0"/>
              <a:t> compose up -d </a:t>
            </a:r>
            <a:r>
              <a:rPr lang="it-IT" dirty="0" err="1"/>
              <a:t>enterprise-backend</a:t>
            </a:r>
            <a:endParaRPr lang="it-IT" dirty="0"/>
          </a:p>
          <a:p>
            <a:r>
              <a:rPr lang="it-IT" dirty="0"/>
              <a:t>Per verificare che Spring Boot stia partendo correttamente e che il server Tomcat integrato si stia accendendo sulla porta standard 8080 (interna), monitoriamo i log del container:</a:t>
            </a:r>
          </a:p>
          <a:p>
            <a:r>
              <a:rPr lang="it-IT" dirty="0" err="1"/>
              <a:t>docker</a:t>
            </a:r>
            <a:r>
              <a:rPr lang="it-IT" dirty="0"/>
              <a:t> compose logs -f </a:t>
            </a:r>
            <a:r>
              <a:rPr lang="it-IT" dirty="0" err="1"/>
              <a:t>enterprise-backend</a:t>
            </a:r>
            <a:endParaRPr lang="it-IT" dirty="0"/>
          </a:p>
          <a:p>
            <a:r>
              <a:rPr lang="it-IT" dirty="0"/>
              <a:t>Il primo avvio richiederà un po' di tempo perché Maven deve scaricare tutti i pacchetti dichiarati nel pom.xml. Al termine, nei log dovrà comparire la scritta: </a:t>
            </a:r>
            <a:r>
              <a:rPr lang="it-IT" dirty="0" err="1"/>
              <a:t>Started</a:t>
            </a:r>
            <a:r>
              <a:rPr lang="it-IT" dirty="0"/>
              <a:t> Application in X seconds.</a:t>
            </a:r>
          </a:p>
          <a:p>
            <a:r>
              <a:rPr lang="it-IT" dirty="0">
                <a:solidFill>
                  <a:srgbClr val="171FE2"/>
                </a:solidFill>
              </a:rPr>
              <a:t>NB: a volte Windows perde il .xml del </a:t>
            </a:r>
            <a:r>
              <a:rPr lang="it-IT" dirty="0" err="1">
                <a:solidFill>
                  <a:srgbClr val="171FE2"/>
                </a:solidFill>
              </a:rPr>
              <a:t>pom</a:t>
            </a:r>
            <a:r>
              <a:rPr lang="it-IT" dirty="0">
                <a:solidFill>
                  <a:srgbClr val="171FE2"/>
                </a:solidFill>
              </a:rPr>
              <a:t>. Aggiungere l’estensione manualmente in quel caso.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B1EC4C4C-1ECC-0D2C-4FA4-178F95AE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0694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3FA3F-1B9A-F29E-9348-7BAD914A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A27FD0C-E061-FF6C-9107-1F48099C8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14: Step 9 – Creazione del </a:t>
            </a:r>
            <a:r>
              <a:rPr lang="it-IT" dirty="0" err="1"/>
              <a:t>Frontend</a:t>
            </a:r>
            <a:r>
              <a:rPr lang="it-IT" dirty="0"/>
              <a:t> React Enterprise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8724D3EF-7109-7171-DA93-6BFBC1A35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981"/>
            <a:ext cx="4648200" cy="4803369"/>
          </a:xfrm>
        </p:spPr>
        <p:txBody>
          <a:bodyPr/>
          <a:lstStyle/>
          <a:p>
            <a:r>
              <a:rPr lang="it-IT" dirty="0"/>
              <a:t>Spostiamoci nella cartella </a:t>
            </a:r>
            <a:r>
              <a:rPr lang="it-IT" dirty="0" err="1"/>
              <a:t>frontend</a:t>
            </a:r>
            <a:r>
              <a:rPr lang="it-IT" dirty="0"/>
              <a:t>/ del nostro progetto. </a:t>
            </a:r>
          </a:p>
          <a:p>
            <a:r>
              <a:rPr lang="it-IT" dirty="0"/>
              <a:t>Aprire il file </a:t>
            </a:r>
            <a:r>
              <a:rPr lang="it-IT" dirty="0" err="1"/>
              <a:t>frontend</a:t>
            </a:r>
            <a:r>
              <a:rPr lang="it-IT" dirty="0"/>
              <a:t>/index.html e definire il nuovo stato React per raccogliere i dati aziendali richiesti: username ed email. </a:t>
            </a:r>
          </a:p>
          <a:p>
            <a:r>
              <a:rPr lang="it-IT" dirty="0"/>
              <a:t>L'URL della fetch punterà alla rotta del </a:t>
            </a:r>
            <a:r>
              <a:rPr lang="it-IT" dirty="0" err="1"/>
              <a:t>backend</a:t>
            </a:r>
            <a:r>
              <a:rPr lang="it-IT" dirty="0"/>
              <a:t> Spring Boot (/api/utenti).</a:t>
            </a:r>
          </a:p>
          <a:p>
            <a:r>
              <a:rPr lang="it-IT" dirty="0">
                <a:solidFill>
                  <a:srgbClr val="171FE2"/>
                </a:solidFill>
              </a:rPr>
              <a:t>Per fare in modo che </a:t>
            </a:r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 Proxy Manager possa pescare e mostrare la nostra pagina web, dobbiamo mappare la cartella del </a:t>
            </a:r>
            <a:r>
              <a:rPr lang="it-IT" dirty="0" err="1">
                <a:solidFill>
                  <a:srgbClr val="171FE2"/>
                </a:solidFill>
              </a:rPr>
              <a:t>frontend</a:t>
            </a:r>
            <a:r>
              <a:rPr lang="it-IT" dirty="0">
                <a:solidFill>
                  <a:srgbClr val="171FE2"/>
                </a:solidFill>
              </a:rPr>
              <a:t> all'interno del cluster. </a:t>
            </a:r>
          </a:p>
          <a:p>
            <a:r>
              <a:rPr lang="it-IT" dirty="0">
                <a:solidFill>
                  <a:srgbClr val="171FE2"/>
                </a:solidFill>
              </a:rPr>
              <a:t>Per uno sviluppo rapido locale</a:t>
            </a:r>
            <a:r>
              <a:rPr lang="it-IT" dirty="0"/>
              <a:t>, possiamo agganciare la cartella </a:t>
            </a:r>
            <a:r>
              <a:rPr lang="it-IT" dirty="0" err="1"/>
              <a:t>frontend</a:t>
            </a:r>
            <a:r>
              <a:rPr lang="it-IT" dirty="0"/>
              <a:t> direttamente come volume statico leggibile dal Proxy. </a:t>
            </a:r>
          </a:p>
          <a:p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E212C000-1193-EC9B-C121-7FB805A7D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14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B7397E-E0FA-B382-779C-AAEF2B3BE830}"/>
              </a:ext>
            </a:extLst>
          </p:cNvPr>
          <p:cNvSpPr txBox="1"/>
          <p:nvPr/>
        </p:nvSpPr>
        <p:spPr>
          <a:xfrm>
            <a:off x="5762171" y="1552981"/>
            <a:ext cx="64298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proxy-manager:</a:t>
            </a:r>
          </a:p>
          <a:p>
            <a:r>
              <a:rPr lang="en-US" dirty="0"/>
              <a:t>    image: 'jc21/</a:t>
            </a:r>
            <a:r>
              <a:rPr lang="en-US" dirty="0" err="1"/>
              <a:t>nginx-proxy-manager:latest</a:t>
            </a:r>
            <a:r>
              <a:rPr lang="en-US" dirty="0"/>
              <a:t>'</a:t>
            </a:r>
          </a:p>
          <a:p>
            <a:r>
              <a:rPr lang="en-US" dirty="0"/>
              <a:t>    </a:t>
            </a:r>
            <a:r>
              <a:rPr lang="en-US" dirty="0" err="1"/>
              <a:t>container_name</a:t>
            </a:r>
            <a:r>
              <a:rPr lang="en-US" dirty="0"/>
              <a:t>: </a:t>
            </a:r>
            <a:r>
              <a:rPr lang="en-US" dirty="0" err="1"/>
              <a:t>enterprise_proxy_manager</a:t>
            </a:r>
            <a:endParaRPr lang="en-US" dirty="0"/>
          </a:p>
          <a:p>
            <a:r>
              <a:rPr lang="en-US" dirty="0"/>
              <a:t>    restart: unless-stopped</a:t>
            </a:r>
          </a:p>
          <a:p>
            <a:r>
              <a:rPr lang="en-US" dirty="0"/>
              <a:t>    ports:</a:t>
            </a:r>
          </a:p>
          <a:p>
            <a:r>
              <a:rPr lang="en-US" dirty="0"/>
              <a:t>      - '80:80'</a:t>
            </a:r>
          </a:p>
          <a:p>
            <a:r>
              <a:rPr lang="en-US" dirty="0"/>
              <a:t>      - '443:443'</a:t>
            </a:r>
          </a:p>
          <a:p>
            <a:r>
              <a:rPr lang="en-US" dirty="0"/>
              <a:t>      - '81:81'</a:t>
            </a:r>
          </a:p>
          <a:p>
            <a:r>
              <a:rPr lang="en-US" dirty="0"/>
              <a:t>    volumes:</a:t>
            </a:r>
          </a:p>
          <a:p>
            <a:r>
              <a:rPr lang="en-US" dirty="0"/>
              <a:t>      - ./data:/data</a:t>
            </a:r>
          </a:p>
          <a:p>
            <a:r>
              <a:rPr lang="en-US" dirty="0"/>
              <a:t>      - ./</a:t>
            </a:r>
            <a:r>
              <a:rPr lang="en-US" dirty="0" err="1"/>
              <a:t>letsencrypt</a:t>
            </a:r>
            <a:r>
              <a:rPr lang="en-US" dirty="0"/>
              <a:t>:/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letsencrypt</a:t>
            </a:r>
            <a:endParaRPr lang="en-US" dirty="0"/>
          </a:p>
          <a:p>
            <a:r>
              <a:rPr lang="en-US" dirty="0"/>
              <a:t>      - ./frontend:/var/www/html </a:t>
            </a:r>
            <a:r>
              <a:rPr lang="en-US" dirty="0">
                <a:solidFill>
                  <a:srgbClr val="171FE2"/>
                </a:solidFill>
              </a:rPr>
              <a:t># &lt;-- AGGIUNGERE QUESTA RIGA:     </a:t>
            </a:r>
            <a:r>
              <a:rPr lang="en-US" dirty="0"/>
              <a:t>			</a:t>
            </a:r>
            <a:r>
              <a:rPr lang="en-US" dirty="0" err="1">
                <a:solidFill>
                  <a:srgbClr val="171FE2"/>
                </a:solidFill>
              </a:rPr>
              <a:t>mappa</a:t>
            </a:r>
            <a:r>
              <a:rPr lang="en-US" dirty="0">
                <a:solidFill>
                  <a:srgbClr val="171FE2"/>
                </a:solidFill>
              </a:rPr>
              <a:t> </a:t>
            </a:r>
            <a:r>
              <a:rPr lang="en-US" dirty="0" err="1">
                <a:solidFill>
                  <a:srgbClr val="171FE2"/>
                </a:solidFill>
              </a:rPr>
              <a:t>i</a:t>
            </a:r>
            <a:r>
              <a:rPr lang="en-US" dirty="0">
                <a:solidFill>
                  <a:srgbClr val="171FE2"/>
                </a:solidFill>
              </a:rPr>
              <a:t> file </a:t>
            </a:r>
            <a:r>
              <a:rPr lang="en-US" dirty="0" err="1">
                <a:solidFill>
                  <a:srgbClr val="171FE2"/>
                </a:solidFill>
              </a:rPr>
              <a:t>statici</a:t>
            </a:r>
            <a:r>
              <a:rPr lang="en-US" dirty="0">
                <a:solidFill>
                  <a:srgbClr val="171FE2"/>
                </a:solidFill>
              </a:rPr>
              <a:t> del frontend</a:t>
            </a:r>
          </a:p>
          <a:p>
            <a:r>
              <a:rPr lang="en-US" dirty="0"/>
              <a:t>    networks:</a:t>
            </a:r>
          </a:p>
          <a:p>
            <a:r>
              <a:rPr lang="en-US" dirty="0"/>
              <a:t>      - </a:t>
            </a:r>
            <a:r>
              <a:rPr lang="en-US" dirty="0" err="1"/>
              <a:t>rete_enterprise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5805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3C820-1F58-7775-22F4-FF27AD89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34728EF4-6DDE-2D5B-765A-55776F913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15: Step 10 – Configurazione Visuale dell'Host in </a:t>
            </a:r>
            <a:r>
              <a:rPr lang="it-IT" dirty="0" err="1"/>
              <a:t>Nginx</a:t>
            </a:r>
            <a:r>
              <a:rPr lang="it-IT" dirty="0"/>
              <a:t> Proxy Manager(</a:t>
            </a:r>
            <a:r>
              <a:rPr lang="it-IT" dirty="0" err="1"/>
              <a:t>Prod</a:t>
            </a:r>
            <a:r>
              <a:rPr lang="it-IT" dirty="0"/>
              <a:t>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544CC1A-904F-1E7D-F19F-EF68B9860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981"/>
            <a:ext cx="10308772" cy="4803369"/>
          </a:xfrm>
        </p:spPr>
        <p:txBody>
          <a:bodyPr/>
          <a:lstStyle/>
          <a:p>
            <a:r>
              <a:rPr lang="it-IT" dirty="0"/>
              <a:t>È il momento di configurare il </a:t>
            </a:r>
            <a:r>
              <a:rPr lang="it-IT" dirty="0" err="1"/>
              <a:t>routing</a:t>
            </a:r>
            <a:r>
              <a:rPr lang="it-IT" dirty="0"/>
              <a:t> senza toccare file di testo: </a:t>
            </a:r>
            <a:r>
              <a:rPr lang="it-IT" dirty="0" err="1"/>
              <a:t>nginx.conf</a:t>
            </a:r>
            <a:r>
              <a:rPr lang="it-IT" dirty="0"/>
              <a:t>.</a:t>
            </a:r>
          </a:p>
          <a:p>
            <a:r>
              <a:rPr lang="it-IT" dirty="0"/>
              <a:t>Accedere alla dashboard su </a:t>
            </a:r>
            <a:r>
              <a:rPr lang="it-IT" dirty="0">
                <a:hlinkClick r:id="rId3"/>
              </a:rPr>
              <a:t>http://localhost:81</a:t>
            </a:r>
            <a:r>
              <a:rPr lang="it-IT" dirty="0"/>
              <a:t>.</a:t>
            </a:r>
          </a:p>
          <a:p>
            <a:r>
              <a:rPr lang="it-IT" dirty="0"/>
              <a:t>Cliccare sulla scheda </a:t>
            </a:r>
            <a:r>
              <a:rPr lang="it-IT" dirty="0" err="1"/>
              <a:t>Hosts</a:t>
            </a:r>
            <a:r>
              <a:rPr lang="it-IT" dirty="0"/>
              <a:t> e poi su Proxy </a:t>
            </a:r>
            <a:r>
              <a:rPr lang="it-IT" dirty="0" err="1"/>
              <a:t>Hosts</a:t>
            </a:r>
            <a:r>
              <a:rPr lang="it-IT" dirty="0"/>
              <a:t>.</a:t>
            </a:r>
          </a:p>
          <a:p>
            <a:r>
              <a:rPr lang="it-IT" dirty="0"/>
              <a:t>Cliccare sul pulsante </a:t>
            </a:r>
            <a:r>
              <a:rPr lang="it-IT" dirty="0" err="1"/>
              <a:t>Add</a:t>
            </a:r>
            <a:r>
              <a:rPr lang="it-IT" dirty="0"/>
              <a:t> Proxy Host in alto a destra.</a:t>
            </a:r>
          </a:p>
          <a:p>
            <a:r>
              <a:rPr lang="it-IT" dirty="0"/>
              <a:t>Nella maschera di configurazione inserire i seguenti parametri:</a:t>
            </a:r>
          </a:p>
          <a:p>
            <a:r>
              <a:rPr lang="it-IT" dirty="0"/>
              <a:t>Domain Names: </a:t>
            </a:r>
            <a:r>
              <a:rPr lang="it-IT" dirty="0" err="1"/>
              <a:t>azienda.skillfactory.local</a:t>
            </a:r>
            <a:r>
              <a:rPr lang="it-IT" dirty="0"/>
              <a:t> (o un dominio di test a scelta).</a:t>
            </a:r>
          </a:p>
          <a:p>
            <a:r>
              <a:rPr lang="it-IT" dirty="0" err="1"/>
              <a:t>Scheme</a:t>
            </a:r>
            <a:r>
              <a:rPr lang="it-IT" dirty="0"/>
              <a:t>: </a:t>
            </a:r>
            <a:r>
              <a:rPr lang="it-IT" dirty="0" err="1"/>
              <a:t>httpForward</a:t>
            </a:r>
            <a:r>
              <a:rPr lang="it-IT" dirty="0"/>
              <a:t> </a:t>
            </a:r>
            <a:r>
              <a:rPr lang="it-IT" dirty="0" err="1"/>
              <a:t>Hostname</a:t>
            </a:r>
            <a:r>
              <a:rPr lang="it-IT" dirty="0"/>
              <a:t> / IP: </a:t>
            </a:r>
            <a:r>
              <a:rPr lang="it-IT" dirty="0" err="1"/>
              <a:t>enterprise-backend</a:t>
            </a:r>
            <a:r>
              <a:rPr lang="it-IT" dirty="0"/>
              <a:t> (il nome del servizio Docker di Spring Boot!)</a:t>
            </a:r>
          </a:p>
          <a:p>
            <a:r>
              <a:rPr lang="it-IT" dirty="0"/>
              <a:t>Forward Port: 8080</a:t>
            </a:r>
          </a:p>
          <a:p>
            <a:r>
              <a:rPr lang="it-IT" dirty="0"/>
              <a:t>Cliccare su Save.</a:t>
            </a:r>
          </a:p>
          <a:p>
            <a:r>
              <a:rPr lang="it-IT" dirty="0"/>
              <a:t>Grazie alla rete condivisa </a:t>
            </a:r>
            <a:r>
              <a:rPr lang="it-IT" dirty="0" err="1"/>
              <a:t>rete_enterprise</a:t>
            </a:r>
            <a:r>
              <a:rPr lang="it-IT" dirty="0"/>
              <a:t>, NPM è in grado di risolvere il nome del container </a:t>
            </a:r>
            <a:r>
              <a:rPr lang="it-IT" dirty="0" err="1"/>
              <a:t>enterprise-backend</a:t>
            </a:r>
            <a:r>
              <a:rPr lang="it-IT" dirty="0"/>
              <a:t> come se fosse un vero indirizzo IP di rete locale, instradando le chiamate HTTP alla porta di Tomcat.</a:t>
            </a:r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4F3CB024-8B82-CA39-A636-97F4D65B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960451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Props1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1552</TotalTime>
  <Words>1727</Words>
  <Application>Microsoft Office PowerPoint</Application>
  <PresentationFormat>Widescreen</PresentationFormat>
  <Paragraphs>224</Paragraphs>
  <Slides>18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4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Obiettivo del Modulo – Stack Enterprise con Nginx Proxy Manager</vt:lpstr>
      <vt:lpstr>Slide 2: Topologia di Rete e Flusso dei Dati Interno</vt:lpstr>
      <vt:lpstr>Slide 3: Step 1 – Preparazione dello Spazio di Lavoro</vt:lpstr>
      <vt:lpstr>Slide 4: Step 2/1 – Scrittura del file docker-compose.yml (La Nuova Flotta)  </vt:lpstr>
      <vt:lpstr>Slide 5: Step 2/2 – Scrittura del file docker-compose.yml (La Nuova Flotta)  </vt:lpstr>
      <vt:lpstr>Slide 6: Step 2/3 – Scrittura del file docker-compose.yml (La Nuova Flotta)  </vt:lpstr>
      <vt:lpstr>Slide 7: Step 3 – Configurazione Iniziale di Nginx Proxy Manager</vt:lpstr>
      <vt:lpstr>Slide 8: Step 4 – Struttura del Progetto Spring Boot</vt:lpstr>
      <vt:lpstr>Slide 9: Step 5 – application.properties</vt:lpstr>
      <vt:lpstr>Slide 10: step 6/1 - dockerfile a due stage </vt:lpstr>
      <vt:lpstr>Slide 11: step 6/2 - dockerfile a due stage </vt:lpstr>
      <vt:lpstr>Slide 12: Step 7 – Integrazione del Backend nel docker-compose.yml </vt:lpstr>
      <vt:lpstr>Slide 13: Step 8 – Aggiornamento del Cluster Docker</vt:lpstr>
      <vt:lpstr>Slide 14: Step 9 – Creazione del Frontend React Enterprise</vt:lpstr>
      <vt:lpstr>Slide 15: Step 10 – Configurazione Visuale dell'Host in Nginx Proxy Manager(Prod)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246</cp:revision>
  <dcterms:created xsi:type="dcterms:W3CDTF">2023-09-21T07:59:23Z</dcterms:created>
  <dcterms:modified xsi:type="dcterms:W3CDTF">2026-06-11T15:52:52Z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