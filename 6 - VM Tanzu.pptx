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62" r:id="rId5"/>
    <p:sldId id="259" r:id="rId6"/>
    <p:sldId id="258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FE2"/>
    <a:srgbClr val="0C0C0D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33" autoAdjust="0"/>
    <p:restoredTop sz="92907" autoAdjust="0"/>
  </p:normalViewPr>
  <p:slideViewPr>
    <p:cSldViewPr snapToGrid="0" showGuides="1">
      <p:cViewPr varScale="1">
        <p:scale>
          <a:sx n="151" d="100"/>
          <a:sy n="151" d="100"/>
        </p:scale>
        <p:origin x="192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19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BF59EF6-0FF4-3C26-C2BB-DB4C81646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684938-E2E5-17C8-EF87-D39DC23A0C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D21-D55F-4A7B-94FF-7608FD989819}" type="datetimeFigureOut">
              <a:rPr lang="it-IT" smtClean="0"/>
              <a:t>20/06/2026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588DC1-54E0-DA10-6330-B5B85E54BE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F496F1-A8FC-84F6-A381-661BDD027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F2323-8915-4474-89BB-0944B80755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4586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2B73-14A8-482F-9803-A95CC73B5B34}" type="datetimeFigureOut">
              <a:rPr lang="it-IT" smtClean="0"/>
              <a:t>20/06/2026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FDE81-C331-4896-AC61-55381248B1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80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24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Logo">
            <a:extLst>
              <a:ext uri="{FF2B5EF4-FFF2-40B4-BE49-F238E27FC236}">
                <a16:creationId xmlns:a16="http://schemas.microsoft.com/office/drawing/2014/main" id="{4C834844-A2F7-AC9C-2087-6061FCF61E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8E5D1B6-A890-892D-9858-91BBCF4C4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16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olo della 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3BCE473-8FC3-9F4F-E292-BFC28ABE7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498" b="7498"/>
          <a:stretch/>
        </p:blipFill>
        <p:spPr>
          <a:xfrm>
            <a:off x="8" y="4"/>
            <a:ext cx="12191984" cy="685799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6FDB36-122C-6ED3-0E68-A044407591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49604" y="2315869"/>
            <a:ext cx="2692791" cy="5580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j-ea"/>
                <a:cs typeface="+mj-cs"/>
              </a:defRPr>
            </a:lvl1pPr>
          </a:lstStyle>
          <a:p>
            <a:r>
              <a:rPr lang="it-IT" dirty="0"/>
              <a:t>Lezione 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0F8F589-6BFD-59A4-6E34-32CA9C30E5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152912"/>
            <a:ext cx="10515600" cy="67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TITOLO DELLA LEZIONE</a:t>
            </a:r>
          </a:p>
        </p:txBody>
      </p:sp>
      <p:sp>
        <p:nvSpPr>
          <p:cNvPr id="7" name="Autore">
            <a:extLst>
              <a:ext uri="{FF2B5EF4-FFF2-40B4-BE49-F238E27FC236}">
                <a16:creationId xmlns:a16="http://schemas.microsoft.com/office/drawing/2014/main" id="{21C9F551-AFE9-0973-2117-C6CBF8585A06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bg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C4425D4D-A67B-8DB9-9A03-E768C2FD3E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  <p:sp>
        <p:nvSpPr>
          <p:cNvPr id="13" name="Segnaposto numero diapositiva 6" hidden="1">
            <a:extLst>
              <a:ext uri="{FF2B5EF4-FFF2-40B4-BE49-F238E27FC236}">
                <a16:creationId xmlns:a16="http://schemas.microsoft.com/office/drawing/2014/main" id="{F8AAF250-B3FA-F808-9996-FA310B7EE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81FF4BB-6EC3-F2A7-6542-58D51086A02D}"/>
              </a:ext>
            </a:extLst>
          </p:cNvPr>
          <p:cNvPicPr preferRelativeResize="0"/>
          <p:nvPr userDrawn="1"/>
        </p:nvPicPr>
        <p:blipFill rotWithShape="1">
          <a:blip r:embed="rId6" cstate="print"/>
          <a:srcRect l="1386" t="187" r="342" b="95555"/>
          <a:stretch/>
        </p:blipFill>
        <p:spPr>
          <a:xfrm>
            <a:off x="0" y="0"/>
            <a:ext cx="12191992" cy="2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171FE2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Contenuto della lezione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rgbClr val="171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borato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5DB3A6F7-B730-F638-2762-1FD1042E5D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r>
              <a:rPr lang="it-IT" dirty="0"/>
              <a:t>Titolo del laboratorio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Traccia del laboratorio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Nome Cognome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28854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73610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fondo">
            <a:extLst>
              <a:ext uri="{FF2B5EF4-FFF2-40B4-BE49-F238E27FC236}">
                <a16:creationId xmlns:a16="http://schemas.microsoft.com/office/drawing/2014/main" id="{0871CBC8-6163-D253-2648-0C5B2A35DA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7" name="bg object 16">
              <a:extLst>
                <a:ext uri="{FF2B5EF4-FFF2-40B4-BE49-F238E27FC236}">
                  <a16:creationId xmlns:a16="http://schemas.microsoft.com/office/drawing/2014/main" id="{D3B481F3-FDD2-E9B0-AAF0-6B05C97B7493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8" name="Sfondo nero">
              <a:extLst>
                <a:ext uri="{FF2B5EF4-FFF2-40B4-BE49-F238E27FC236}">
                  <a16:creationId xmlns:a16="http://schemas.microsoft.com/office/drawing/2014/main" id="{2B2124EE-D2EC-EB26-C788-2D1671E2C0D4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Segnaposto numero diapositiva 5" hidden="1">
            <a:extLst>
              <a:ext uri="{FF2B5EF4-FFF2-40B4-BE49-F238E27FC236}">
                <a16:creationId xmlns:a16="http://schemas.microsoft.com/office/drawing/2014/main" id="{8BF62DA6-567D-9738-C9B4-B35130FB0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AF4DDA-AF5C-9192-0A90-B2EE16B1979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1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74" r:id="rId3"/>
    <p:sldLayoutId id="2147483692" r:id="rId4"/>
    <p:sldLayoutId id="2147483678" r:id="rId5"/>
    <p:sldLayoutId id="214748369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65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14AE908-95ED-7A3B-515A-275CA8318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795046"/>
            <a:ext cx="10515600" cy="1445982"/>
          </a:xfrm>
        </p:spPr>
        <p:txBody>
          <a:bodyPr/>
          <a:lstStyle/>
          <a:p>
            <a:r>
              <a:rPr lang="it-IT" dirty="0"/>
              <a:t>MODULO 6: VM </a:t>
            </a:r>
            <a:r>
              <a:rPr lang="it-IT" dirty="0" err="1"/>
              <a:t>Tanzu</a:t>
            </a:r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AC5512-E772-1D07-1956-6544F273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5E91E-B103-4211-9892-B5CF4BF06646}" type="slidenum">
              <a:rPr lang="it-IT" smtClean="0">
                <a:solidFill>
                  <a:srgbClr val="0C0C0D"/>
                </a:solidFill>
              </a:rPr>
              <a:pPr/>
              <a:t>2</a:t>
            </a:fld>
            <a:endParaRPr lang="it-IT" dirty="0">
              <a:solidFill>
                <a:srgbClr val="0C0C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232A863-9AB2-F1DD-0EBE-01D055E0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1: I Limiti di Scala di </a:t>
            </a:r>
            <a:r>
              <a:rPr lang="it-IT" dirty="0" err="1"/>
              <a:t>Kubernetes</a:t>
            </a:r>
            <a:r>
              <a:rPr lang="it-IT" dirty="0"/>
              <a:t> Puro e la Genesi di VMware </a:t>
            </a:r>
            <a:r>
              <a:rPr lang="it-IT" dirty="0" err="1"/>
              <a:t>Tanzu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B7AE27A-7139-F647-C23C-B014C3A3B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673042"/>
            <a:ext cx="9557362" cy="4803369"/>
          </a:xfrm>
        </p:spPr>
        <p:txBody>
          <a:bodyPr/>
          <a:lstStyle/>
          <a:p>
            <a:r>
              <a:rPr lang="it-IT" dirty="0"/>
              <a:t>La comprensione degli oggetti fondamentali di </a:t>
            </a:r>
            <a:r>
              <a:rPr lang="it-IT" dirty="0" err="1"/>
              <a:t>Kubernetes</a:t>
            </a:r>
            <a:r>
              <a:rPr lang="it-IT" dirty="0"/>
              <a:t> quali </a:t>
            </a:r>
            <a:r>
              <a:rPr lang="it-IT" dirty="0" err="1"/>
              <a:t>Pod</a:t>
            </a:r>
            <a:r>
              <a:rPr lang="it-IT" dirty="0"/>
              <a:t>, Deployment e Service permette di padroneggiare la gestione del ciclo di vita di un'applicazione </a:t>
            </a:r>
            <a:r>
              <a:rPr lang="it-IT" dirty="0">
                <a:solidFill>
                  <a:srgbClr val="171FE2"/>
                </a:solidFill>
              </a:rPr>
              <a:t>all'interno di un singolo cluster isolato</a:t>
            </a:r>
            <a:r>
              <a:rPr lang="it-IT" dirty="0"/>
              <a:t>, ma quando questa architettura viene proiettata all'interno di un contesto aziendale </a:t>
            </a:r>
            <a:r>
              <a:rPr lang="it-IT" dirty="0" err="1"/>
              <a:t>enterprise</a:t>
            </a:r>
            <a:r>
              <a:rPr lang="it-IT" dirty="0"/>
              <a:t> emergono sfide di scalabilità e governance che la distribuzione nativa di </a:t>
            </a:r>
            <a:r>
              <a:rPr lang="it-IT" dirty="0" err="1"/>
              <a:t>Kubernetes</a:t>
            </a:r>
            <a:r>
              <a:rPr lang="it-IT" dirty="0"/>
              <a:t> non è in grado di risolvere da sola.</a:t>
            </a:r>
          </a:p>
          <a:p>
            <a:endParaRPr lang="it-IT" dirty="0"/>
          </a:p>
          <a:p>
            <a:r>
              <a:rPr lang="it-IT" dirty="0"/>
              <a:t>In uno scenario reale, </a:t>
            </a:r>
            <a:r>
              <a:rPr lang="it-IT" dirty="0">
                <a:solidFill>
                  <a:srgbClr val="171FE2"/>
                </a:solidFill>
              </a:rPr>
              <a:t>un'organizzazione non gestisce mai un unico cluster locale</a:t>
            </a:r>
            <a:r>
              <a:rPr lang="it-IT" dirty="0"/>
              <a:t>, ma si trova a dover governare decine o centinaia di cluster distribuiti in ambienti eterogenei, che spaziano dai server fisici dei data center privati fino alle infrastrutture cloud pubbliche di AWS, Azure e Google Cloud. </a:t>
            </a:r>
          </a:p>
        </p:txBody>
      </p:sp>
    </p:spTree>
    <p:extLst>
      <p:ext uri="{BB962C8B-B14F-4D97-AF65-F5344CB8AC3E}">
        <p14:creationId xmlns:p14="http://schemas.microsoft.com/office/powerpoint/2010/main" val="52617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D11F5-0D1A-15B6-B757-2BA40832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2F91D77C-18A0-88E2-6FE1-E9DAD097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2: I Limiti di Scala di </a:t>
            </a:r>
            <a:r>
              <a:rPr lang="it-IT" dirty="0" err="1"/>
              <a:t>Kubernetes</a:t>
            </a:r>
            <a:r>
              <a:rPr lang="it-IT" dirty="0"/>
              <a:t> Puro e la Genesi di VMware </a:t>
            </a:r>
            <a:r>
              <a:rPr lang="it-IT" dirty="0" err="1"/>
              <a:t>Tanzu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BBAEFCFD-BF96-2443-F1A1-74B483C03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673042"/>
            <a:ext cx="9557362" cy="4803369"/>
          </a:xfrm>
        </p:spPr>
        <p:txBody>
          <a:bodyPr/>
          <a:lstStyle/>
          <a:p>
            <a:r>
              <a:rPr lang="it-IT" dirty="0"/>
              <a:t>Gestire manualmente l'allineamento dei manifesti YAML, la sicurezza dei canali di rete, la rotazione dei certificati crittografici e i permessi di accesso per team composti da centinaia di sviluppatori </a:t>
            </a:r>
            <a:r>
              <a:rPr lang="it-IT" dirty="0">
                <a:solidFill>
                  <a:srgbClr val="171FE2"/>
                </a:solidFill>
              </a:rPr>
              <a:t>genera un carico di lavoro per i sistemisti che diventa rapidamente insostenibile </a:t>
            </a:r>
            <a:r>
              <a:rPr lang="it-IT" dirty="0"/>
              <a:t>ed esposto a gravissimi rischi di sicurezza. </a:t>
            </a:r>
          </a:p>
          <a:p>
            <a:endParaRPr lang="it-IT" dirty="0"/>
          </a:p>
          <a:p>
            <a:r>
              <a:rPr lang="it-IT" dirty="0"/>
              <a:t>È esattamente in questa frattura tecnologica che si colloca </a:t>
            </a:r>
            <a:r>
              <a:rPr lang="it-IT" b="1" dirty="0"/>
              <a:t>VMware </a:t>
            </a:r>
            <a:r>
              <a:rPr lang="it-IT" b="1" dirty="0" err="1"/>
              <a:t>Tanzu</a:t>
            </a:r>
            <a:r>
              <a:rPr lang="it-IT" dirty="0"/>
              <a:t>, </a:t>
            </a:r>
            <a:r>
              <a:rPr lang="it-IT" b="1" dirty="0">
                <a:solidFill>
                  <a:srgbClr val="171FE2"/>
                </a:solidFill>
              </a:rPr>
              <a:t>una suite software</a:t>
            </a:r>
            <a:r>
              <a:rPr lang="it-IT" dirty="0"/>
              <a:t> di livello superiore </a:t>
            </a:r>
            <a:r>
              <a:rPr lang="it-IT" dirty="0">
                <a:solidFill>
                  <a:srgbClr val="171FE2"/>
                </a:solidFill>
              </a:rPr>
              <a:t>progettata non per sostituire il motore di orchestrazione </a:t>
            </a:r>
            <a:r>
              <a:rPr lang="it-IT" dirty="0"/>
              <a:t>ma per porsi al di sopra di esso con </a:t>
            </a:r>
            <a:r>
              <a:rPr lang="it-IT" dirty="0">
                <a:solidFill>
                  <a:srgbClr val="171FE2"/>
                </a:solidFill>
              </a:rPr>
              <a:t>l'obiettivo di centralizzare il controllo di tutti i cluster </a:t>
            </a:r>
            <a:r>
              <a:rPr lang="it-IT" dirty="0"/>
              <a:t>aziendali </a:t>
            </a:r>
            <a:r>
              <a:rPr lang="it-IT" dirty="0">
                <a:solidFill>
                  <a:srgbClr val="171FE2"/>
                </a:solidFill>
              </a:rPr>
              <a:t>sotto un'unica cabina di regia logica</a:t>
            </a:r>
            <a:r>
              <a:rPr lang="it-IT" dirty="0"/>
              <a:t>.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8611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C69D7-06CC-D124-EDD9-6533E7D2C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B8C51A2B-7E5D-350C-1342-ECDF28B6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3: L'Evoluzione del Progetto </a:t>
            </a:r>
            <a:r>
              <a:rPr lang="it-IT" dirty="0" err="1"/>
              <a:t>Tanzu</a:t>
            </a:r>
            <a:r>
              <a:rPr lang="it-IT" dirty="0"/>
              <a:t> dalla Dimissione di TCE alla Nuova Platform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FF7B1EDC-3F99-EE9D-B3BB-4A29B0CBA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673042"/>
            <a:ext cx="9557362" cy="4803369"/>
          </a:xfrm>
        </p:spPr>
        <p:txBody>
          <a:bodyPr/>
          <a:lstStyle/>
          <a:p>
            <a:r>
              <a:rPr lang="it-IT" dirty="0"/>
              <a:t>Dopo il 2022, </a:t>
            </a:r>
            <a:r>
              <a:rPr lang="it-IT" b="1" dirty="0" err="1"/>
              <a:t>Tanzu</a:t>
            </a:r>
            <a:r>
              <a:rPr lang="it-IT" b="1" dirty="0"/>
              <a:t> Community Edition</a:t>
            </a:r>
            <a:r>
              <a:rPr lang="it-IT" dirty="0"/>
              <a:t>, la distribuzione open source gratuita che era stata originariamente concepita per scopi didattici ed esplorativi, </a:t>
            </a:r>
            <a:r>
              <a:rPr lang="it-IT" dirty="0">
                <a:solidFill>
                  <a:srgbClr val="171FE2"/>
                </a:solidFill>
              </a:rPr>
              <a:t>è stata formalmente dichiarata deprecata e non più mantenuta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A seguito della transizione societaria sotto la guida di </a:t>
            </a:r>
            <a:r>
              <a:rPr lang="it-IT" b="1" dirty="0"/>
              <a:t>Broadcom</a:t>
            </a:r>
            <a:r>
              <a:rPr lang="it-IT" dirty="0"/>
              <a:t>, la strategia di </a:t>
            </a:r>
            <a:r>
              <a:rPr lang="it-IT" dirty="0" err="1"/>
              <a:t>Tanzu</a:t>
            </a:r>
            <a:r>
              <a:rPr lang="it-IT" dirty="0"/>
              <a:t> è stata radicalmente semplificata e unificata attorno al concetto di </a:t>
            </a:r>
            <a:r>
              <a:rPr lang="it-IT" b="1" dirty="0"/>
              <a:t>VMware </a:t>
            </a:r>
            <a:r>
              <a:rPr lang="it-IT" b="1" dirty="0" err="1"/>
              <a:t>Tanzu</a:t>
            </a:r>
            <a:r>
              <a:rPr lang="it-IT" b="1" dirty="0"/>
              <a:t> Platform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La frammentazione del passato, caratterizzata da una miriade di moduli separati come </a:t>
            </a:r>
            <a:r>
              <a:rPr lang="it-IT" dirty="0" err="1">
                <a:solidFill>
                  <a:srgbClr val="171FE2"/>
                </a:solidFill>
              </a:rPr>
              <a:t>Tanzu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dirty="0" err="1">
                <a:solidFill>
                  <a:srgbClr val="171FE2"/>
                </a:solidFill>
              </a:rPr>
              <a:t>Kubernetes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dirty="0" err="1">
                <a:solidFill>
                  <a:srgbClr val="171FE2"/>
                </a:solidFill>
              </a:rPr>
              <a:t>Grid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dirty="0"/>
              <a:t>o </a:t>
            </a:r>
            <a:r>
              <a:rPr lang="it-IT" dirty="0" err="1">
                <a:solidFill>
                  <a:srgbClr val="171FE2"/>
                </a:solidFill>
              </a:rPr>
              <a:t>Tanzu</a:t>
            </a:r>
            <a:r>
              <a:rPr lang="it-IT" dirty="0">
                <a:solidFill>
                  <a:srgbClr val="171FE2"/>
                </a:solidFill>
              </a:rPr>
              <a:t> Mission Control</a:t>
            </a:r>
            <a:r>
              <a:rPr lang="it-IT" dirty="0"/>
              <a:t>, è stata superata per dare vita a una piattaforma coesa che si focalizza sul </a:t>
            </a:r>
            <a:r>
              <a:rPr lang="it-IT" dirty="0" err="1"/>
              <a:t>DevOps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9877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573D-8B79-4E02-87DE-0C3D5E726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466B48A1-9804-EA34-7BE3-4078CCDB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4: Perché Usare </a:t>
            </a:r>
            <a:r>
              <a:rPr lang="it-IT" dirty="0" err="1"/>
              <a:t>Tanzu</a:t>
            </a:r>
            <a:r>
              <a:rPr lang="it-IT" dirty="0"/>
              <a:t>? Il Valore per Sviluppatori Java e Platform </a:t>
            </a:r>
            <a:r>
              <a:rPr lang="it-IT" dirty="0" err="1"/>
              <a:t>Engineers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0F1AB5C0-5CF6-6608-3DC5-C961CAAD2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673042"/>
            <a:ext cx="9557362" cy="4803369"/>
          </a:xfrm>
        </p:spPr>
        <p:txBody>
          <a:bodyPr/>
          <a:lstStyle/>
          <a:p>
            <a:r>
              <a:rPr lang="it-IT" dirty="0"/>
              <a:t>Il valore fondamentale che giustifica l'adozione di una piattaforma come </a:t>
            </a:r>
            <a:r>
              <a:rPr lang="it-IT" dirty="0" err="1"/>
              <a:t>Tanzu</a:t>
            </a:r>
            <a:r>
              <a:rPr lang="it-IT" dirty="0"/>
              <a:t> all'interno di un ecosistema aziendale risiede nella netta separazione dei compiti che essa introduce tra il team di sviluppo e il team che gestisce le operazioni sui server. </a:t>
            </a:r>
          </a:p>
          <a:p>
            <a:endParaRPr lang="it-IT" dirty="0"/>
          </a:p>
          <a:p>
            <a:r>
              <a:rPr lang="it-IT" b="1" dirty="0" err="1">
                <a:solidFill>
                  <a:srgbClr val="171FE2"/>
                </a:solidFill>
              </a:rPr>
              <a:t>Tanzu</a:t>
            </a:r>
            <a:r>
              <a:rPr lang="it-IT" b="1" dirty="0">
                <a:solidFill>
                  <a:srgbClr val="171FE2"/>
                </a:solidFill>
              </a:rPr>
              <a:t> Platform </a:t>
            </a:r>
            <a:r>
              <a:rPr lang="it-IT" dirty="0"/>
              <a:t>offre agli sviluppatori un modello di interazione astratto in cui ci si limita a consegnare il proprio codice sorgente Java o il proprio pacchetto applicativo, </a:t>
            </a:r>
            <a:r>
              <a:rPr lang="it-IT" dirty="0">
                <a:solidFill>
                  <a:srgbClr val="171FE2"/>
                </a:solidFill>
              </a:rPr>
              <a:t>lasciando che sia la piattaforma stessa a occuparsi automaticamente della generazione dei container sicuri e del loro rilascio orchestrato </a:t>
            </a:r>
            <a:r>
              <a:rPr lang="it-IT" dirty="0"/>
              <a:t>nei vari ambienti di collaudo e produzione. </a:t>
            </a:r>
          </a:p>
          <a:p>
            <a:endParaRPr lang="it-IT" dirty="0"/>
          </a:p>
          <a:p>
            <a:r>
              <a:rPr lang="it-IT" dirty="0"/>
              <a:t>Parallelamente, per i professionisti del cloud e i sistemisti, </a:t>
            </a:r>
            <a:r>
              <a:rPr lang="it-IT" dirty="0" err="1"/>
              <a:t>Tanzu</a:t>
            </a:r>
            <a:r>
              <a:rPr lang="it-IT" dirty="0"/>
              <a:t> mette a disposizione una console di monitoraggio e controllo centralizzata che consente di </a:t>
            </a:r>
            <a:r>
              <a:rPr lang="it-IT" dirty="0">
                <a:solidFill>
                  <a:srgbClr val="171FE2"/>
                </a:solidFill>
              </a:rPr>
              <a:t>applicare politiche di sicurezza unificate su tutti i cluster aziendali contemporaneamente</a:t>
            </a:r>
            <a:r>
              <a:rPr lang="it-IT" dirty="0"/>
              <a:t>, garantendo che nessun container venga avviato se non rispetta i criteri di conformità aziendali. </a:t>
            </a:r>
          </a:p>
        </p:txBody>
      </p:sp>
    </p:spTree>
    <p:extLst>
      <p:ext uri="{BB962C8B-B14F-4D97-AF65-F5344CB8AC3E}">
        <p14:creationId xmlns:p14="http://schemas.microsoft.com/office/powerpoint/2010/main" val="300694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221A-3D44-5DED-B060-C37E589C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ACC88EA1-01B6-F263-2E8D-15CEA534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5: Il Futuro delle Architetture Enterprise e l'Integrazione con gli Agenti AI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0C94C3A6-38BE-B48F-61E2-35C5859D4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673042"/>
            <a:ext cx="9557362" cy="4803369"/>
          </a:xfrm>
        </p:spPr>
        <p:txBody>
          <a:bodyPr/>
          <a:lstStyle/>
          <a:p>
            <a:r>
              <a:rPr lang="it-IT" dirty="0"/>
              <a:t>L'orizzonte tecnologico verso cui si stanno muovendo i data center delle grandi organizzazioni richiede un'infrastruttura che sia nativamente predisposta per ospitare carichi di lavoro legati all'Intelligenza Artificiale Generativa e all'esecuzione di agenti autonomi. </a:t>
            </a:r>
          </a:p>
          <a:p>
            <a:endParaRPr lang="it-IT" dirty="0"/>
          </a:p>
          <a:p>
            <a:r>
              <a:rPr lang="it-IT" dirty="0"/>
              <a:t>L'ultima evoluzione di VMware </a:t>
            </a:r>
            <a:r>
              <a:rPr lang="it-IT" dirty="0" err="1"/>
              <a:t>Tanzu</a:t>
            </a:r>
            <a:r>
              <a:rPr lang="it-IT" dirty="0"/>
              <a:t> risponde a questa specifica esigenza di mercato integrando tecnologie avanzate per la gestione dei modelli linguistici privati e dei sistemi di orchestrazione dell'intelligenza artificiale in contesti dove la protezione del dato sensibile è un vincolo di legge insindacabile</a:t>
            </a:r>
            <a:r>
              <a:rPr lang="it-IT"/>
              <a:t>. </a:t>
            </a:r>
          </a:p>
          <a:p>
            <a:endParaRPr lang="it-IT" dirty="0"/>
          </a:p>
          <a:p>
            <a:r>
              <a:rPr lang="it-IT" dirty="0"/>
              <a:t>La piattaforma si occupa di garantire che i flussi di dati inviati agli agenti AI rimangano confinati all'interno del perimetro di sicurezza aziendale, monitorando le risorse di calcolo per evitare che l'addestramento o l'interrogazione dei modelli saturino la memoria dei nodi e compromettano le applicazioni aziendali </a:t>
            </a:r>
            <a:r>
              <a:rPr lang="it-IT" dirty="0" err="1"/>
              <a:t>standardindustriale</a:t>
            </a:r>
            <a:r>
              <a:rPr lang="it-IT" dirty="0"/>
              <a:t> mondiale.</a:t>
            </a:r>
          </a:p>
        </p:txBody>
      </p:sp>
    </p:spTree>
    <p:extLst>
      <p:ext uri="{BB962C8B-B14F-4D97-AF65-F5344CB8AC3E}">
        <p14:creationId xmlns:p14="http://schemas.microsoft.com/office/powerpoint/2010/main" val="400979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E02355-4941-9C10-CA1D-649F04DB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0" dirty="0">
                <a:latin typeface="Neue Haas Grotesk Text Pro" panose="020B0504020202020204" pitchFamily="34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00324657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b72fd8-e7d0-49ac-9795-d1b0bc6b7e1c" xsi:nil="true"/>
    <lcf76f155ced4ddcb4097134ff3c332f xmlns="8b3acf13-3a58-43b2-a29e-f23503de136d">
      <Terms xmlns="http://schemas.microsoft.com/office/infopath/2007/PartnerControls"/>
    </lcf76f155ced4ddcb4097134ff3c332f>
    <Argomento xmlns="8b3acf13-3a58-43b2-a29e-f23503de136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55C6CD0B9BF4DB2CA3009677D9668" ma:contentTypeVersion="17" ma:contentTypeDescription="Create a new document." ma:contentTypeScope="" ma:versionID="6361f2605a906a42d9630ca59d277a8b">
  <xsd:schema xmlns:xsd="http://www.w3.org/2001/XMLSchema" xmlns:xs="http://www.w3.org/2001/XMLSchema" xmlns:p="http://schemas.microsoft.com/office/2006/metadata/properties" xmlns:ns2="8b3acf13-3a58-43b2-a29e-f23503de136d" xmlns:ns3="21b72fd8-e7d0-49ac-9795-d1b0bc6b7e1c" targetNamespace="http://schemas.microsoft.com/office/2006/metadata/properties" ma:root="true" ma:fieldsID="ae4eb9e2c998b5efed80ec6126f835fa" ns2:_="" ns3:_="">
    <xsd:import namespace="8b3acf13-3a58-43b2-a29e-f23503de136d"/>
    <xsd:import namespace="21b72fd8-e7d0-49ac-9795-d1b0bc6b7e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Argom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acf13-3a58-43b2-a29e-f23503de1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f31c764-9f90-46cb-b927-e7c76de067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gomento" ma:index="24" nillable="true" ma:displayName="Argomento" ma:format="Dropdown" ma:internalName="Argomen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72fd8-e7d0-49ac-9795-d1b0bc6b7e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0603bf2-5c45-4900-ad6d-aa2e93470d68}" ma:internalName="TaxCatchAll" ma:showField="CatchAllData" ma:web="21b72fd8-e7d0-49ac-9795-d1b0bc6b7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66878A-54ED-4867-B478-72A29DC19B89}">
  <ds:schemaRefs>
    <ds:schemaRef ds:uri="http://schemas.microsoft.com/office/2006/metadata/properties"/>
    <ds:schemaRef ds:uri="http://schemas.microsoft.com/office/infopath/2007/PartnerControls"/>
    <ds:schemaRef ds:uri="21b72fd8-e7d0-49ac-9795-d1b0bc6b7e1c"/>
    <ds:schemaRef ds:uri="8b3acf13-3a58-43b2-a29e-f23503de136d"/>
  </ds:schemaRefs>
</ds:datastoreItem>
</file>

<file path=customXml/itemProps2.xml><?xml version="1.0" encoding="utf-8"?>
<ds:datastoreItem xmlns:ds="http://schemas.openxmlformats.org/officeDocument/2006/customXml" ds:itemID="{70468F63-B318-4D5F-A1DF-86BE98AC2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3acf13-3a58-43b2-a29e-f23503de136d"/>
    <ds:schemaRef ds:uri="21b72fd8-e7d0-49ac-9795-d1b0bc6b7e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C65656-B2D8-4C19-A873-091B25A521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1369</TotalTime>
  <Words>679</Words>
  <Application>Microsoft Office PowerPoint</Application>
  <PresentationFormat>Widescreen</PresentationFormat>
  <Paragraphs>30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Arial</vt:lpstr>
      <vt:lpstr>Calibri</vt:lpstr>
      <vt:lpstr>Neue Haas Grotesk Display Pro</vt:lpstr>
      <vt:lpstr>Neue Haas Grotesk Text Pro</vt:lpstr>
      <vt:lpstr>Intro</vt:lpstr>
      <vt:lpstr>Presentazione standard di PowerPoint</vt:lpstr>
      <vt:lpstr>Presentazione standard di PowerPoint</vt:lpstr>
      <vt:lpstr>Slide 1: I Limiti di Scala di Kubernetes Puro e la Genesi di VMware Tanzu</vt:lpstr>
      <vt:lpstr>Slide 2: I Limiti di Scala di Kubernetes Puro e la Genesi di VMware Tanzu</vt:lpstr>
      <vt:lpstr>Slide 3: L'Evoluzione del Progetto Tanzu dalla Dimissione di TCE alla Nuova Platform</vt:lpstr>
      <vt:lpstr>Slide 4: Perché Usare Tanzu? Il Valore per Sviluppatori Java e Platform Engineers</vt:lpstr>
      <vt:lpstr>Slide 5: Il Futuro delle Architetture Enterprise e l'Integrazione con gli Agenti AI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Grillo</dc:creator>
  <cp:lastModifiedBy>Mirko Ony</cp:lastModifiedBy>
  <cp:revision>236</cp:revision>
  <dcterms:created xsi:type="dcterms:W3CDTF">2023-09-21T07:59:23Z</dcterms:created>
  <dcterms:modified xsi:type="dcterms:W3CDTF">2026-06-20T15:54:35Z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0x010100D3455C6CD0B9BF4DB2CA3009677D9668</vt:lpwstr>
  </property>
</Properties>
</file>